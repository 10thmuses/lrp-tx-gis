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B2D"/>
                </a:solidFill>
                <a:latin typeface="Arial"/>
              </a:defRPr>
            </a:pPr>
            <a:r>
              <a:rPr sz="1200" b="0" i="0" u="none" strike="noStrike">
                <a:solidFill>
                  <a:srgbClr val="0F1B2D"/>
                </a:solidFill>
                <a:latin typeface="Arial"/>
              </a:rPr>
              <a:t>New-drill wells since 2020, by county</a:t>
            </a:r>
          </a:p>
        </c:rich>
      </c:tx>
      <c:layout/>
      <c:overlay val="0"/>
    </c:title>
    <c:autoTitleDeleted val="0"/>
    <c:plotArea>
      <c:layout/>
      <c:barChart>
        <c:barDir val="bar"/>
        <c:grouping val="clustered"/>
        <c:varyColors val="0"/>
        <c:ser>
          <c:idx val="0"/>
          <c:order val="0"/>
          <c:tx>
            <c:strRef>
              <c:f>Sheet1!$B$1</c:f>
              <c:strCache>
                <c:ptCount val="1"/>
                <c:pt idx="0">
                  <c:v>New-drill wells since 2020</c:v>
                </c:pt>
              </c:strCache>
            </c:strRef>
          </c:tx>
          <c:spPr>
            <a:solidFill>
              <a:srgbClr val="9C6B14"/>
            </a:solidFill>
            <a:effectLst/>
          </c:spPr>
          <c:invertIfNegative val="0"/>
          <c:dLbls>
            <c:numFmt formatCode="#,##0" sourceLinked="0"/>
            <c:txPr>
              <a:bodyPr/>
              <a:lstStyle/>
              <a:p>
                <a:pPr>
                  <a:defRPr b="0" i="0" strike="noStrike" sz="900" u="none">
                    <a:solidFill>
                      <a:srgbClr val="16202E"/>
                    </a:solidFill>
                    <a:latin typeface="Arial"/>
                  </a:defRPr>
                </a:pPr>
              </a:p>
            </c:txPr>
            <c:showLegendKey val="0"/>
            <c:showVal val="1"/>
            <c:showCatName val="0"/>
            <c:showSerName val="0"/>
            <c:showPercent val="0"/>
            <c:showBubbleSize val="0"/>
            <c:showLeaderLines val="0"/>
          </c:dLbls>
          <c:dPt>
            <c:idx val="0"/>
            <c:invertIfNegative val="0"/>
            <c:bubble3D val="0"/>
            <c:spPr>
              <a:solidFill>
                <a:srgbClr val="9C6B14"/>
              </a:solidFill>
              <a:effectLst/>
            </c:spPr>
          </c:dPt>
          <c:dPt>
            <c:idx val="1"/>
            <c:invertIfNegative val="0"/>
            <c:bubble3D val="0"/>
            <c:spPr>
              <a:solidFill>
                <a:srgbClr val="94A3B8"/>
              </a:solidFill>
              <a:effectLst/>
            </c:spPr>
          </c:dPt>
          <c:dPt>
            <c:idx val="2"/>
            <c:invertIfNegative val="0"/>
            <c:bubble3D val="0"/>
            <c:spPr>
              <a:solidFill>
                <a:srgbClr val="94A3B8"/>
              </a:solidFill>
              <a:effectLst/>
            </c:spPr>
          </c:dPt>
          <c:dPt>
            <c:idx val="3"/>
            <c:invertIfNegative val="0"/>
            <c:bubble3D val="0"/>
            <c:spPr>
              <a:solidFill>
                <a:srgbClr val="94A3B8"/>
              </a:solidFill>
              <a:effectLst/>
            </c:spPr>
          </c:dPt>
          <c:dPt>
            <c:idx val="4"/>
            <c:invertIfNegative val="0"/>
            <c:bubble3D val="0"/>
            <c:spPr>
              <a:solidFill>
                <a:srgbClr val="94A3B8"/>
              </a:solidFill>
              <a:effectLst/>
            </c:spPr>
          </c:dPt>
          <c:dPt>
            <c:idx val="5"/>
            <c:invertIfNegative val="0"/>
            <c:bubble3D val="0"/>
            <c:spPr>
              <a:solidFill>
                <a:srgbClr val="94A3B8"/>
              </a:solidFill>
              <a:effectLst/>
            </c:spPr>
          </c:dPt>
          <c:dPt>
            <c:idx val="6"/>
            <c:invertIfNegative val="0"/>
            <c:bubble3D val="0"/>
            <c:spPr>
              <a:solidFill>
                <a:srgbClr val="94A3B8"/>
              </a:solidFill>
              <a:effectLst/>
            </c:spPr>
          </c:dPt>
          <c:cat>
            <c:multiLvlStrRef>
              <c:f>Sheet1!$A$2:$A$8</c:f>
              <c:multiLvlStrCache>
                <c:ptCount val="7"/>
                <c:lvl>
                  <c:pt idx="0">
                    <c:v>Pecos</c:v>
                  </c:pt>
                  <c:pt idx="1">
                    <c:v>Reagan</c:v>
                  </c:pt>
                  <c:pt idx="2">
                    <c:v>Howard</c:v>
                  </c:pt>
                  <c:pt idx="3">
                    <c:v>Reeves</c:v>
                  </c:pt>
                  <c:pt idx="4">
                    <c:v>Loving</c:v>
                  </c:pt>
                  <c:pt idx="5">
                    <c:v>Midland</c:v>
                  </c:pt>
                  <c:pt idx="6">
                    <c:v>Martin</c:v>
                  </c:pt>
                </c:lvl>
              </c:multiLvlStrCache>
            </c:multiLvlStrRef>
          </c:cat>
          <c:val>
            <c:numRef>
              <c:f>Sheet1!$B$2:$B$8</c:f>
              <c:numCache>
                <c:formatCode>General</c:formatCode>
                <c:ptCount val="7"/>
                <c:pt idx="0">
                  <c:v>115</c:v>
                </c:pt>
                <c:pt idx="1">
                  <c:v>668</c:v>
                </c:pt>
                <c:pt idx="2">
                  <c:v>990</c:v>
                </c:pt>
                <c:pt idx="3">
                  <c:v>1053</c:v>
                </c:pt>
                <c:pt idx="4">
                  <c:v>1121</c:v>
                </c:pt>
                <c:pt idx="5">
                  <c:v>1569</c:v>
                </c:pt>
                <c:pt idx="6">
                  <c:v>1685</c:v>
                </c:pt>
              </c:numCache>
            </c:numRef>
          </c:val>
        </c:ser>
        <c:dLbls>
          <c:numFmt formatCode="#,##0" sourceLinked="0"/>
          <c:txPr>
            <a:bodyPr/>
            <a:lstStyle/>
            <a:p>
              <a:pPr>
                <a:defRPr b="0" i="0" strike="noStrike" sz="900" u="none">
                  <a:solidFill>
                    <a:srgbClr val="1620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D4E63"/>
                </a:solidFill>
                <a:latin typeface="Arial"/>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DC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3D4E6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640080" y="685800"/>
            <a:ext cx="7315200" cy="365760"/>
          </a:xfrm>
          <a:prstGeom prst="rect">
            <a:avLst/>
          </a:prstGeom>
          <a:noFill/>
          <a:ln/>
        </p:spPr>
        <p:txBody>
          <a:bodyPr wrap="square" rtlCol="0" anchor="ctr"/>
          <a:lstStyle/>
          <a:p>
            <a:pPr indent="0" marL="0">
              <a:buNone/>
            </a:pPr>
            <a:r>
              <a:rPr lang="en-US" sz="1250" b="1" spc="220" kern="0" dirty="0">
                <a:solidFill>
                  <a:srgbClr val="D4A73D"/>
                </a:solidFill>
                <a:latin typeface="Calibri" pitchFamily="34" charset="0"/>
                <a:ea typeface="Calibri" pitchFamily="34" charset="-122"/>
                <a:cs typeface="Calibri" pitchFamily="34" charset="-120"/>
              </a:rPr>
              <a:t>STRICTLY CONFIDENTIAL  ·  OFFERING MEMORANDUM</a:t>
            </a:r>
            <a:endParaRPr lang="en-US" sz="1250" dirty="0"/>
          </a:p>
        </p:txBody>
      </p:sp>
      <p:sp>
        <p:nvSpPr>
          <p:cNvPr id="3" name="Text 1"/>
          <p:cNvSpPr/>
          <p:nvPr/>
        </p:nvSpPr>
        <p:spPr>
          <a:xfrm>
            <a:off x="594360" y="1024128"/>
            <a:ext cx="7498080" cy="118872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CARAMBA NORTH</a:t>
            </a:r>
            <a:endParaRPr lang="en-US" sz="5200" dirty="0"/>
          </a:p>
        </p:txBody>
      </p:sp>
      <p:sp>
        <p:nvSpPr>
          <p:cNvPr id="4" name="Text 2"/>
          <p:cNvSpPr/>
          <p:nvPr/>
        </p:nvSpPr>
        <p:spPr>
          <a:xfrm>
            <a:off x="640080" y="2212848"/>
            <a:ext cx="6492240" cy="1508760"/>
          </a:xfrm>
          <a:prstGeom prst="rect">
            <a:avLst/>
          </a:prstGeom>
          <a:noFill/>
          <a:ln/>
        </p:spPr>
        <p:txBody>
          <a:bodyPr wrap="square" rtlCol="0" anchor="t"/>
          <a:lstStyle/>
          <a:p>
            <a:pPr indent="0" marL="0">
              <a:lnSpc>
                <a:spcPct val="118000"/>
              </a:lnSpc>
              <a:buNone/>
            </a:pPr>
            <a:r>
              <a:rPr lang="en-US" sz="1400" i="1" dirty="0">
                <a:solidFill>
                  <a:srgbClr val="CADCFC"/>
                </a:solidFill>
                <a:latin typeface="Cambria" pitchFamily="34" charset="0"/>
                <a:ea typeface="Cambria" pitchFamily="34" charset="-122"/>
                <a:cs typeface="Cambria" pitchFamily="34" charset="-120"/>
              </a:rPr>
              <a:t>A 1,300-acre powered land position on the same north–south line as two hyperscale-scale power campuses — 15.5 and 19.3 miles out — inside a 32.7 GW regional cluster already forming around it.</a:t>
            </a:r>
            <a:endParaRPr lang="en-US" sz="1400" dirty="0"/>
          </a:p>
        </p:txBody>
      </p:sp>
      <p:sp>
        <p:nvSpPr>
          <p:cNvPr id="5" name="Text 3"/>
          <p:cNvSpPr/>
          <p:nvPr/>
        </p:nvSpPr>
        <p:spPr>
          <a:xfrm>
            <a:off x="640080" y="3611880"/>
            <a:ext cx="6858000" cy="365760"/>
          </a:xfrm>
          <a:prstGeom prst="rect">
            <a:avLst/>
          </a:prstGeom>
          <a:noFill/>
          <a:ln/>
        </p:spPr>
        <p:txBody>
          <a:bodyPr wrap="square" rtlCol="0" anchor="ctr"/>
          <a:lstStyle/>
          <a:p>
            <a:pPr indent="0" marL="0">
              <a:buNone/>
            </a:pPr>
            <a:r>
              <a:rPr lang="en-US" sz="1000" spc="150" kern="0" dirty="0">
                <a:solidFill>
                  <a:srgbClr val="8291A6"/>
                </a:solidFill>
                <a:latin typeface="Calibri" pitchFamily="34" charset="0"/>
                <a:ea typeface="Calibri" pitchFamily="34" charset="-122"/>
                <a:cs typeface="Calibri" pitchFamily="34" charset="-120"/>
              </a:rPr>
              <a:t>PECOS COUNTY, TEXAS  ·  FAR WEST ERCOT  ·  PERMIAN BASIN  ·  I-10 CORRIDOR</a:t>
            </a:r>
            <a:endParaRPr lang="en-US" sz="1000" dirty="0"/>
          </a:p>
        </p:txBody>
      </p:sp>
      <p:pic>
        <p:nvPicPr>
          <p:cNvPr id="6" name="Image 0" descr="/home/claude/repo/outputs/reports/om_exhibits/exhibit_power_gravity_dark.png">    </p:cNvPr>
          <p:cNvPicPr>
            <a:picLocks noChangeAspect="1"/>
          </p:cNvPicPr>
          <p:nvPr/>
        </p:nvPicPr>
        <p:blipFill>
          <a:blip r:embed="rId1"/>
          <a:stretch>
            <a:fillRect/>
          </a:stretch>
        </p:blipFill>
        <p:spPr>
          <a:xfrm>
            <a:off x="7360920" y="868680"/>
            <a:ext cx="5166360" cy="5166360"/>
          </a:xfrm>
          <a:prstGeom prst="rect">
            <a:avLst/>
          </a:prstGeom>
        </p:spPr>
      </p:pic>
      <p:sp>
        <p:nvSpPr>
          <p:cNvPr id="7" name="Text 4"/>
          <p:cNvSpPr/>
          <p:nvPr/>
        </p:nvSpPr>
        <p:spPr>
          <a:xfrm>
            <a:off x="7360920" y="6053328"/>
            <a:ext cx="51663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 regional power-gravity, radius rings from the tract.</a:t>
            </a:r>
            <a:endParaRPr lang="en-US" sz="900" dirty="0"/>
          </a:p>
        </p:txBody>
      </p:sp>
      <p:sp>
        <p:nvSpPr>
          <p:cNvPr id="8" name="Shape 5"/>
          <p:cNvSpPr/>
          <p:nvPr/>
        </p:nvSpPr>
        <p:spPr>
          <a:xfrm>
            <a:off x="640080" y="4160520"/>
            <a:ext cx="6400800" cy="0"/>
          </a:xfrm>
          <a:prstGeom prst="line">
            <a:avLst/>
          </a:prstGeom>
          <a:noFill/>
          <a:ln w="12700">
            <a:solidFill>
              <a:srgbClr val="2A3A50"/>
            </a:solidFill>
            <a:prstDash val="solid"/>
          </a:ln>
        </p:spPr>
      </p:sp>
      <p:sp>
        <p:nvSpPr>
          <p:cNvPr id="9" name="Text 6"/>
          <p:cNvSpPr/>
          <p:nvPr/>
        </p:nvSpPr>
        <p:spPr>
          <a:xfrm>
            <a:off x="640080" y="4297680"/>
            <a:ext cx="1170432"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1,300</a:t>
            </a:r>
            <a:endParaRPr lang="en-US" sz="1700" dirty="0"/>
          </a:p>
        </p:txBody>
      </p:sp>
      <p:sp>
        <p:nvSpPr>
          <p:cNvPr id="10" name="Text 7"/>
          <p:cNvSpPr/>
          <p:nvPr/>
        </p:nvSpPr>
        <p:spPr>
          <a:xfrm>
            <a:off x="640080" y="4736592"/>
            <a:ext cx="1170432" cy="502920"/>
          </a:xfrm>
          <a:prstGeom prst="rect">
            <a:avLst/>
          </a:prstGeom>
          <a:noFill/>
          <a:ln/>
        </p:spPr>
        <p:txBody>
          <a:bodyPr wrap="square" rtlCol="0" anchor="ctr"/>
          <a:lstStyle/>
          <a:p>
            <a:pPr indent="0" marL="0">
              <a:lnSpc>
                <a:spcPct val="95000"/>
              </a:lnSpc>
              <a:buNone/>
            </a:pPr>
            <a:r>
              <a:rPr lang="en-US" sz="730" spc="30" kern="0" dirty="0">
                <a:solidFill>
                  <a:srgbClr val="8291A6"/>
                </a:solidFill>
                <a:latin typeface="Calibri" pitchFamily="34" charset="0"/>
                <a:ea typeface="Calibri" pitchFamily="34" charset="-122"/>
                <a:cs typeface="Calibri" pitchFamily="34" charset="-120"/>
              </a:rPr>
              <a:t>CONTIGUOUS ACRES</a:t>
            </a:r>
            <a:endParaRPr lang="en-US" sz="730" dirty="0"/>
          </a:p>
        </p:txBody>
      </p:sp>
      <p:sp>
        <p:nvSpPr>
          <p:cNvPr id="11" name="Text 8"/>
          <p:cNvSpPr/>
          <p:nvPr/>
        </p:nvSpPr>
        <p:spPr>
          <a:xfrm>
            <a:off x="1920240" y="4297680"/>
            <a:ext cx="1170432"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47,418</a:t>
            </a:r>
            <a:endParaRPr lang="en-US" sz="1700" dirty="0"/>
          </a:p>
        </p:txBody>
      </p:sp>
      <p:sp>
        <p:nvSpPr>
          <p:cNvPr id="12" name="Text 9"/>
          <p:cNvSpPr/>
          <p:nvPr/>
        </p:nvSpPr>
        <p:spPr>
          <a:xfrm>
            <a:off x="1920240" y="4736592"/>
            <a:ext cx="1170432" cy="502920"/>
          </a:xfrm>
          <a:prstGeom prst="rect">
            <a:avLst/>
          </a:prstGeom>
          <a:noFill/>
          <a:ln/>
        </p:spPr>
        <p:txBody>
          <a:bodyPr wrap="square" rtlCol="0" anchor="ctr"/>
          <a:lstStyle/>
          <a:p>
            <a:pPr indent="0" marL="0">
              <a:lnSpc>
                <a:spcPct val="95000"/>
              </a:lnSpc>
              <a:buNone/>
            </a:pPr>
            <a:r>
              <a:rPr lang="en-US" sz="730" spc="30" kern="0" dirty="0">
                <a:solidFill>
                  <a:srgbClr val="8291A6"/>
                </a:solidFill>
                <a:latin typeface="Calibri" pitchFamily="34" charset="0"/>
                <a:ea typeface="Calibri" pitchFamily="34" charset="-122"/>
                <a:cs typeface="Calibri" pitchFamily="34" charset="-120"/>
              </a:rPr>
              <a:t>AF/YR WATER RIGHTS</a:t>
            </a:r>
            <a:endParaRPr lang="en-US" sz="730" dirty="0"/>
          </a:p>
        </p:txBody>
      </p:sp>
      <p:sp>
        <p:nvSpPr>
          <p:cNvPr id="13" name="Text 10"/>
          <p:cNvSpPr/>
          <p:nvPr/>
        </p:nvSpPr>
        <p:spPr>
          <a:xfrm>
            <a:off x="3200400" y="4297680"/>
            <a:ext cx="1170432"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15 mi</a:t>
            </a:r>
            <a:endParaRPr lang="en-US" sz="1700" dirty="0"/>
          </a:p>
        </p:txBody>
      </p:sp>
      <p:sp>
        <p:nvSpPr>
          <p:cNvPr id="14" name="Text 11"/>
          <p:cNvSpPr/>
          <p:nvPr/>
        </p:nvSpPr>
        <p:spPr>
          <a:xfrm>
            <a:off x="3200400" y="4736592"/>
            <a:ext cx="1170432" cy="502920"/>
          </a:xfrm>
          <a:prstGeom prst="rect">
            <a:avLst/>
          </a:prstGeom>
          <a:noFill/>
          <a:ln/>
        </p:spPr>
        <p:txBody>
          <a:bodyPr wrap="square" rtlCol="0" anchor="ctr"/>
          <a:lstStyle/>
          <a:p>
            <a:pPr indent="0" marL="0">
              <a:lnSpc>
                <a:spcPct val="95000"/>
              </a:lnSpc>
              <a:buNone/>
            </a:pPr>
            <a:r>
              <a:rPr lang="en-US" sz="730" spc="30" kern="0" dirty="0">
                <a:solidFill>
                  <a:srgbClr val="8291A6"/>
                </a:solidFill>
                <a:latin typeface="Calibri" pitchFamily="34" charset="0"/>
                <a:ea typeface="Calibri" pitchFamily="34" charset="-122"/>
                <a:cs typeface="Calibri" pitchFamily="34" charset="-120"/>
              </a:rPr>
              <a:t>TO 765 KV SOLSTICE SUB</a:t>
            </a:r>
            <a:endParaRPr lang="en-US" sz="730" dirty="0"/>
          </a:p>
        </p:txBody>
      </p:sp>
      <p:sp>
        <p:nvSpPr>
          <p:cNvPr id="15" name="Text 12"/>
          <p:cNvSpPr/>
          <p:nvPr/>
        </p:nvSpPr>
        <p:spPr>
          <a:xfrm>
            <a:off x="4480560" y="4297680"/>
            <a:ext cx="1170432"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20 mi</a:t>
            </a:r>
            <a:endParaRPr lang="en-US" sz="1700" dirty="0"/>
          </a:p>
        </p:txBody>
      </p:sp>
      <p:sp>
        <p:nvSpPr>
          <p:cNvPr id="16" name="Text 13"/>
          <p:cNvSpPr/>
          <p:nvPr/>
        </p:nvSpPr>
        <p:spPr>
          <a:xfrm>
            <a:off x="4480560" y="4736592"/>
            <a:ext cx="1170432" cy="502920"/>
          </a:xfrm>
          <a:prstGeom prst="rect">
            <a:avLst/>
          </a:prstGeom>
          <a:noFill/>
          <a:ln/>
        </p:spPr>
        <p:txBody>
          <a:bodyPr wrap="square" rtlCol="0" anchor="ctr"/>
          <a:lstStyle/>
          <a:p>
            <a:pPr indent="0" marL="0">
              <a:lnSpc>
                <a:spcPct val="95000"/>
              </a:lnSpc>
              <a:buNone/>
            </a:pPr>
            <a:r>
              <a:rPr lang="en-US" sz="730" spc="30" kern="0" dirty="0">
                <a:solidFill>
                  <a:srgbClr val="8291A6"/>
                </a:solidFill>
                <a:latin typeface="Calibri" pitchFamily="34" charset="0"/>
                <a:ea typeface="Calibri" pitchFamily="34" charset="-122"/>
                <a:cs typeface="Calibri" pitchFamily="34" charset="-120"/>
              </a:rPr>
              <a:t>TO WAHA GAS HUB</a:t>
            </a:r>
            <a:endParaRPr lang="en-US" sz="730" dirty="0"/>
          </a:p>
        </p:txBody>
      </p:sp>
      <p:sp>
        <p:nvSpPr>
          <p:cNvPr id="17" name="Text 14"/>
          <p:cNvSpPr/>
          <p:nvPr/>
        </p:nvSpPr>
        <p:spPr>
          <a:xfrm>
            <a:off x="5760720" y="4297680"/>
            <a:ext cx="1170432"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32.7 GW</a:t>
            </a:r>
            <a:endParaRPr lang="en-US" sz="1700" dirty="0"/>
          </a:p>
        </p:txBody>
      </p:sp>
      <p:sp>
        <p:nvSpPr>
          <p:cNvPr id="18" name="Text 15"/>
          <p:cNvSpPr/>
          <p:nvPr/>
        </p:nvSpPr>
        <p:spPr>
          <a:xfrm>
            <a:off x="5760720" y="4736592"/>
            <a:ext cx="1170432" cy="502920"/>
          </a:xfrm>
          <a:prstGeom prst="rect">
            <a:avLst/>
          </a:prstGeom>
          <a:noFill/>
          <a:ln/>
        </p:spPr>
        <p:txBody>
          <a:bodyPr wrap="square" rtlCol="0" anchor="ctr"/>
          <a:lstStyle/>
          <a:p>
            <a:pPr indent="0" marL="0">
              <a:lnSpc>
                <a:spcPct val="95000"/>
              </a:lnSpc>
              <a:buNone/>
            </a:pPr>
            <a:r>
              <a:rPr lang="en-US" sz="730" spc="30" kern="0" dirty="0">
                <a:solidFill>
                  <a:srgbClr val="8291A6"/>
                </a:solidFill>
                <a:latin typeface="Calibri" pitchFamily="34" charset="0"/>
                <a:ea typeface="Calibri" pitchFamily="34" charset="-122"/>
                <a:cs typeface="Calibri" pitchFamily="34" charset="-120"/>
              </a:rPr>
              <a:t>OPERATING + QUEUE, ≤60 MI</a:t>
            </a:r>
            <a:endParaRPr lang="en-US" sz="730" dirty="0"/>
          </a:p>
        </p:txBody>
      </p:sp>
      <p:sp>
        <p:nvSpPr>
          <p:cNvPr id="19" name="Shape 16"/>
          <p:cNvSpPr/>
          <p:nvPr/>
        </p:nvSpPr>
        <p:spPr>
          <a:xfrm>
            <a:off x="640080" y="5349240"/>
            <a:ext cx="6400800" cy="0"/>
          </a:xfrm>
          <a:prstGeom prst="line">
            <a:avLst/>
          </a:prstGeom>
          <a:noFill/>
          <a:ln w="12700">
            <a:solidFill>
              <a:srgbClr val="2A3A50"/>
            </a:solidFill>
            <a:prstDash val="solid"/>
          </a:ln>
        </p:spPr>
      </p:sp>
      <p:sp>
        <p:nvSpPr>
          <p:cNvPr id="20" name="Text 17"/>
          <p:cNvSpPr/>
          <p:nvPr/>
        </p:nvSpPr>
        <p:spPr>
          <a:xfrm>
            <a:off x="640080" y="5486400"/>
            <a:ext cx="5486400" cy="365760"/>
          </a:xfrm>
          <a:prstGeom prst="rect">
            <a:avLst/>
          </a:prstGeom>
          <a:noFill/>
          <a:ln/>
        </p:spPr>
        <p:txBody>
          <a:bodyPr wrap="square" rtlCol="0" anchor="ctr"/>
          <a:lstStyle/>
          <a:p>
            <a:pPr indent="0" marL="0">
              <a:buNone/>
            </a:pPr>
            <a:r>
              <a:rPr lang="en-US" sz="950" dirty="0">
                <a:solidFill>
                  <a:srgbClr val="8291A6"/>
                </a:solidFill>
                <a:latin typeface="Calibri" pitchFamily="34" charset="0"/>
                <a:ea typeface="Calibri" pitchFamily="34" charset="-122"/>
                <a:cs typeface="Calibri" pitchFamily="34" charset="-120"/>
              </a:rPr>
              <a:t>Prepared by Land Resource Partners  ·  lrp-tx-gis.netlify.app</a:t>
            </a:r>
            <a:endParaRPr lang="en-US" sz="950" dirty="0"/>
          </a:p>
        </p:txBody>
      </p:sp>
      <p:sp>
        <p:nvSpPr>
          <p:cNvPr id="21" name="Text 18"/>
          <p:cNvSpPr/>
          <p:nvPr/>
        </p:nvSpPr>
        <p:spPr>
          <a:xfrm>
            <a:off x="640080" y="5779008"/>
            <a:ext cx="5486400" cy="320040"/>
          </a:xfrm>
          <a:prstGeom prst="rect">
            <a:avLst/>
          </a:prstGeom>
          <a:noFill/>
          <a:ln/>
        </p:spPr>
        <p:txBody>
          <a:bodyPr wrap="square" rtlCol="0" anchor="ctr"/>
          <a:lstStyle/>
          <a:p>
            <a:pPr indent="0" marL="0">
              <a:buNone/>
            </a:pPr>
            <a:r>
              <a:rPr lang="en-US" sz="950" dirty="0">
                <a:solidFill>
                  <a:srgbClr val="8291A6"/>
                </a:solidFill>
                <a:latin typeface="Calibri" pitchFamily="34" charset="0"/>
                <a:ea typeface="Calibri" pitchFamily="34" charset="-122"/>
                <a:cs typeface="Calibri" pitchFamily="34" charset="-120"/>
              </a:rPr>
              <a:t>2026-08-24  ·  Institutional deck</a:t>
            </a:r>
            <a:endParaRPr lang="en-US" sz="950" dirty="0"/>
          </a:p>
        </p:txBody>
      </p:sp>
      <p:sp>
        <p:nvSpPr>
          <p:cNvPr id="22" name="Text 19"/>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8291A6"/>
                </a:solidFill>
                <a:latin typeface="Calibri" pitchFamily="34" charset="0"/>
                <a:ea typeface="Calibri" pitchFamily="34" charset="-122"/>
                <a:cs typeface="Calibri" pitchFamily="34" charset="-120"/>
              </a:rPr>
              <a:t>CARAMBA NORTH  ·  CONFIDENTIAL OFFERING MEMORANDUM</a:t>
            </a:r>
            <a:endParaRPr lang="en-US" sz="800" dirty="0"/>
          </a:p>
        </p:txBody>
      </p:sp>
      <p:sp>
        <p:nvSpPr>
          <p:cNvPr id="23" name="Text 20"/>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8291A6"/>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CONTENTS</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Eighteen sections, property through appendix</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Every stat in this deck traces to the source register in the closing appendix — this is a data-room summary, not a broker narrative.</a:t>
            </a:r>
            <a:endParaRPr lang="en-US" sz="1250" dirty="0"/>
          </a:p>
        </p:txBody>
      </p:sp>
      <p:sp>
        <p:nvSpPr>
          <p:cNvPr id="7" name="Shape 4"/>
          <p:cNvSpPr/>
          <p:nvPr/>
        </p:nvSpPr>
        <p:spPr>
          <a:xfrm>
            <a:off x="548640" y="2167128"/>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8" name="Image 1" descr="preencoded.png">    </p:cNvPr>
          <p:cNvPicPr>
            <a:picLocks noChangeAspect="1"/>
          </p:cNvPicPr>
          <p:nvPr/>
        </p:nvPicPr>
        <p:blipFill>
          <a:blip r:embed="rId2"/>
          <a:stretch>
            <a:fillRect/>
          </a:stretch>
        </p:blipFill>
        <p:spPr>
          <a:xfrm>
            <a:off x="642457" y="2260945"/>
            <a:ext cx="159837" cy="159837"/>
          </a:xfrm>
          <a:prstGeom prst="rect">
            <a:avLst/>
          </a:prstGeom>
        </p:spPr>
      </p:pic>
      <p:sp>
        <p:nvSpPr>
          <p:cNvPr id="9" name="Text 5"/>
          <p:cNvSpPr/>
          <p:nvPr/>
        </p:nvSpPr>
        <p:spPr>
          <a:xfrm>
            <a:off x="1024128" y="2148840"/>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03  Investment Thesis</a:t>
            </a:r>
            <a:endParaRPr lang="en-US" sz="1350" dirty="0"/>
          </a:p>
        </p:txBody>
      </p:sp>
      <p:sp>
        <p:nvSpPr>
          <p:cNvPr id="10" name="Shape 6"/>
          <p:cNvSpPr/>
          <p:nvPr/>
        </p:nvSpPr>
        <p:spPr>
          <a:xfrm>
            <a:off x="548640" y="2642616"/>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11" name="Image 2" descr="preencoded.png">    </p:cNvPr>
          <p:cNvPicPr>
            <a:picLocks noChangeAspect="1"/>
          </p:cNvPicPr>
          <p:nvPr/>
        </p:nvPicPr>
        <p:blipFill>
          <a:blip r:embed="rId3"/>
          <a:stretch>
            <a:fillRect/>
          </a:stretch>
        </p:blipFill>
        <p:spPr>
          <a:xfrm>
            <a:off x="642457" y="2736433"/>
            <a:ext cx="159837" cy="159837"/>
          </a:xfrm>
          <a:prstGeom prst="rect">
            <a:avLst/>
          </a:prstGeom>
        </p:spPr>
      </p:pic>
      <p:sp>
        <p:nvSpPr>
          <p:cNvPr id="12" name="Text 7"/>
          <p:cNvSpPr/>
          <p:nvPr/>
        </p:nvSpPr>
        <p:spPr>
          <a:xfrm>
            <a:off x="1024128" y="2624328"/>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04  Executive Summary</a:t>
            </a:r>
            <a:endParaRPr lang="en-US" sz="1350" dirty="0"/>
          </a:p>
        </p:txBody>
      </p:sp>
      <p:sp>
        <p:nvSpPr>
          <p:cNvPr id="13" name="Shape 8"/>
          <p:cNvSpPr/>
          <p:nvPr/>
        </p:nvSpPr>
        <p:spPr>
          <a:xfrm>
            <a:off x="548640" y="3118104"/>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14" name="Image 3" descr="preencoded.png">    </p:cNvPr>
          <p:cNvPicPr>
            <a:picLocks noChangeAspect="1"/>
          </p:cNvPicPr>
          <p:nvPr/>
        </p:nvPicPr>
        <p:blipFill>
          <a:blip r:embed="rId4"/>
          <a:stretch>
            <a:fillRect/>
          </a:stretch>
        </p:blipFill>
        <p:spPr>
          <a:xfrm>
            <a:off x="642457" y="3211921"/>
            <a:ext cx="159837" cy="159837"/>
          </a:xfrm>
          <a:prstGeom prst="rect">
            <a:avLst/>
          </a:prstGeom>
        </p:spPr>
      </p:pic>
      <p:sp>
        <p:nvSpPr>
          <p:cNvPr id="15" name="Text 9"/>
          <p:cNvSpPr/>
          <p:nvPr/>
        </p:nvSpPr>
        <p:spPr>
          <a:xfrm>
            <a:off x="1024128" y="3099816"/>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05  The Property</a:t>
            </a:r>
            <a:endParaRPr lang="en-US" sz="1350" dirty="0"/>
          </a:p>
        </p:txBody>
      </p:sp>
      <p:sp>
        <p:nvSpPr>
          <p:cNvPr id="16" name="Shape 10"/>
          <p:cNvSpPr/>
          <p:nvPr/>
        </p:nvSpPr>
        <p:spPr>
          <a:xfrm>
            <a:off x="548640" y="3593592"/>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17" name="Image 4" descr="preencoded.png">    </p:cNvPr>
          <p:cNvPicPr>
            <a:picLocks noChangeAspect="1"/>
          </p:cNvPicPr>
          <p:nvPr/>
        </p:nvPicPr>
        <p:blipFill>
          <a:blip r:embed="rId5"/>
          <a:stretch>
            <a:fillRect/>
          </a:stretch>
        </p:blipFill>
        <p:spPr>
          <a:xfrm>
            <a:off x="642457" y="3687409"/>
            <a:ext cx="159837" cy="159837"/>
          </a:xfrm>
          <a:prstGeom prst="rect">
            <a:avLst/>
          </a:prstGeom>
        </p:spPr>
      </p:pic>
      <p:sp>
        <p:nvSpPr>
          <p:cNvPr id="18" name="Text 11"/>
          <p:cNvSpPr/>
          <p:nvPr/>
        </p:nvSpPr>
        <p:spPr>
          <a:xfrm>
            <a:off x="1024128" y="3575304"/>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06  Transmission</a:t>
            </a:r>
            <a:endParaRPr lang="en-US" sz="1350" dirty="0"/>
          </a:p>
        </p:txBody>
      </p:sp>
      <p:sp>
        <p:nvSpPr>
          <p:cNvPr id="19" name="Shape 12"/>
          <p:cNvSpPr/>
          <p:nvPr/>
        </p:nvSpPr>
        <p:spPr>
          <a:xfrm>
            <a:off x="548640" y="4069080"/>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20" name="Image 5" descr="preencoded.png">    </p:cNvPr>
          <p:cNvPicPr>
            <a:picLocks noChangeAspect="1"/>
          </p:cNvPicPr>
          <p:nvPr/>
        </p:nvPicPr>
        <p:blipFill>
          <a:blip r:embed="rId6"/>
          <a:stretch>
            <a:fillRect/>
          </a:stretch>
        </p:blipFill>
        <p:spPr>
          <a:xfrm>
            <a:off x="642457" y="4162897"/>
            <a:ext cx="159837" cy="159837"/>
          </a:xfrm>
          <a:prstGeom prst="rect">
            <a:avLst/>
          </a:prstGeom>
        </p:spPr>
      </p:pic>
      <p:sp>
        <p:nvSpPr>
          <p:cNvPr id="21" name="Text 13"/>
          <p:cNvSpPr/>
          <p:nvPr/>
        </p:nvSpPr>
        <p:spPr>
          <a:xfrm>
            <a:off x="1024128" y="4050792"/>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07  Regional Power Cluster</a:t>
            </a:r>
            <a:endParaRPr lang="en-US" sz="1350" dirty="0"/>
          </a:p>
        </p:txBody>
      </p:sp>
      <p:sp>
        <p:nvSpPr>
          <p:cNvPr id="22" name="Shape 14"/>
          <p:cNvSpPr/>
          <p:nvPr/>
        </p:nvSpPr>
        <p:spPr>
          <a:xfrm>
            <a:off x="548640" y="4544568"/>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23" name="Image 6" descr="preencoded.png">    </p:cNvPr>
          <p:cNvPicPr>
            <a:picLocks noChangeAspect="1"/>
          </p:cNvPicPr>
          <p:nvPr/>
        </p:nvPicPr>
        <p:blipFill>
          <a:blip r:embed="rId7"/>
          <a:stretch>
            <a:fillRect/>
          </a:stretch>
        </p:blipFill>
        <p:spPr>
          <a:xfrm>
            <a:off x="642457" y="4638385"/>
            <a:ext cx="159837" cy="159837"/>
          </a:xfrm>
          <a:prstGeom prst="rect">
            <a:avLst/>
          </a:prstGeom>
        </p:spPr>
      </p:pic>
      <p:sp>
        <p:nvSpPr>
          <p:cNvPr id="24" name="Text 15"/>
          <p:cNvSpPr/>
          <p:nvPr/>
        </p:nvSpPr>
        <p:spPr>
          <a:xfrm>
            <a:off x="1024128" y="4526280"/>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08  Ring Analysis / Power-Gravity</a:t>
            </a:r>
            <a:endParaRPr lang="en-US" sz="1350" dirty="0"/>
          </a:p>
        </p:txBody>
      </p:sp>
      <p:sp>
        <p:nvSpPr>
          <p:cNvPr id="25" name="Shape 16"/>
          <p:cNvSpPr/>
          <p:nvPr/>
        </p:nvSpPr>
        <p:spPr>
          <a:xfrm>
            <a:off x="548640" y="5020056"/>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26" name="Image 7" descr="preencoded.png">    </p:cNvPr>
          <p:cNvPicPr>
            <a:picLocks noChangeAspect="1"/>
          </p:cNvPicPr>
          <p:nvPr/>
        </p:nvPicPr>
        <p:blipFill>
          <a:blip r:embed="rId8"/>
          <a:stretch>
            <a:fillRect/>
          </a:stretch>
        </p:blipFill>
        <p:spPr>
          <a:xfrm>
            <a:off x="642457" y="5113873"/>
            <a:ext cx="159837" cy="159837"/>
          </a:xfrm>
          <a:prstGeom prst="rect">
            <a:avLst/>
          </a:prstGeom>
        </p:spPr>
      </p:pic>
      <p:sp>
        <p:nvSpPr>
          <p:cNvPr id="27" name="Text 17"/>
          <p:cNvSpPr/>
          <p:nvPr/>
        </p:nvSpPr>
        <p:spPr>
          <a:xfrm>
            <a:off x="1024128" y="5001768"/>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09  Regional Data-Center Pipeline</a:t>
            </a:r>
            <a:endParaRPr lang="en-US" sz="1350" dirty="0"/>
          </a:p>
        </p:txBody>
      </p:sp>
      <p:sp>
        <p:nvSpPr>
          <p:cNvPr id="28" name="Shape 18"/>
          <p:cNvSpPr/>
          <p:nvPr/>
        </p:nvSpPr>
        <p:spPr>
          <a:xfrm>
            <a:off x="548640" y="5495544"/>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29" name="Image 8" descr="preencoded.png">    </p:cNvPr>
          <p:cNvPicPr>
            <a:picLocks noChangeAspect="1"/>
          </p:cNvPicPr>
          <p:nvPr/>
        </p:nvPicPr>
        <p:blipFill>
          <a:blip r:embed="rId9"/>
          <a:stretch>
            <a:fillRect/>
          </a:stretch>
        </p:blipFill>
        <p:spPr>
          <a:xfrm>
            <a:off x="642457" y="5589361"/>
            <a:ext cx="159837" cy="159837"/>
          </a:xfrm>
          <a:prstGeom prst="rect">
            <a:avLst/>
          </a:prstGeom>
        </p:spPr>
      </p:pic>
      <p:sp>
        <p:nvSpPr>
          <p:cNvPr id="30" name="Text 19"/>
          <p:cNvSpPr/>
          <p:nvPr/>
        </p:nvSpPr>
        <p:spPr>
          <a:xfrm>
            <a:off x="1024128" y="5477256"/>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10  Feature — GW Ranch (Amazon)</a:t>
            </a:r>
            <a:endParaRPr lang="en-US" sz="1350" dirty="0"/>
          </a:p>
        </p:txBody>
      </p:sp>
      <p:sp>
        <p:nvSpPr>
          <p:cNvPr id="31" name="Shape 20"/>
          <p:cNvSpPr/>
          <p:nvPr/>
        </p:nvSpPr>
        <p:spPr>
          <a:xfrm>
            <a:off x="6400800" y="2167128"/>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2" name="Image 9" descr="preencoded.png">    </p:cNvPr>
          <p:cNvPicPr>
            <a:picLocks noChangeAspect="1"/>
          </p:cNvPicPr>
          <p:nvPr/>
        </p:nvPicPr>
        <p:blipFill>
          <a:blip r:embed="rId10"/>
          <a:stretch>
            <a:fillRect/>
          </a:stretch>
        </p:blipFill>
        <p:spPr>
          <a:xfrm>
            <a:off x="6494617" y="2260945"/>
            <a:ext cx="159837" cy="159837"/>
          </a:xfrm>
          <a:prstGeom prst="rect">
            <a:avLst/>
          </a:prstGeom>
        </p:spPr>
      </p:pic>
      <p:sp>
        <p:nvSpPr>
          <p:cNvPr id="33" name="Text 21"/>
          <p:cNvSpPr/>
          <p:nvPr/>
        </p:nvSpPr>
        <p:spPr>
          <a:xfrm>
            <a:off x="6876288" y="2148840"/>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11  Feature — Longfellow</a:t>
            </a:r>
            <a:endParaRPr lang="en-US" sz="1350" dirty="0"/>
          </a:p>
        </p:txBody>
      </p:sp>
      <p:sp>
        <p:nvSpPr>
          <p:cNvPr id="34" name="Shape 22"/>
          <p:cNvSpPr/>
          <p:nvPr/>
        </p:nvSpPr>
        <p:spPr>
          <a:xfrm>
            <a:off x="6400800" y="2642616"/>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5" name="Image 10" descr="preencoded.png">    </p:cNvPr>
          <p:cNvPicPr>
            <a:picLocks noChangeAspect="1"/>
          </p:cNvPicPr>
          <p:nvPr/>
        </p:nvPicPr>
        <p:blipFill>
          <a:blip r:embed="rId11"/>
          <a:stretch>
            <a:fillRect/>
          </a:stretch>
        </p:blipFill>
        <p:spPr>
          <a:xfrm>
            <a:off x="6494617" y="2736433"/>
            <a:ext cx="159837" cy="159837"/>
          </a:xfrm>
          <a:prstGeom prst="rect">
            <a:avLst/>
          </a:prstGeom>
        </p:spPr>
      </p:pic>
      <p:sp>
        <p:nvSpPr>
          <p:cNvPr id="36" name="Text 23"/>
          <p:cNvSpPr/>
          <p:nvPr/>
        </p:nvSpPr>
        <p:spPr>
          <a:xfrm>
            <a:off x="6876288" y="2624328"/>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12  Water</a:t>
            </a:r>
            <a:endParaRPr lang="en-US" sz="1350" dirty="0"/>
          </a:p>
        </p:txBody>
      </p:sp>
      <p:sp>
        <p:nvSpPr>
          <p:cNvPr id="37" name="Shape 24"/>
          <p:cNvSpPr/>
          <p:nvPr/>
        </p:nvSpPr>
        <p:spPr>
          <a:xfrm>
            <a:off x="6400800" y="3118104"/>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8" name="Image 11" descr="preencoded.png">    </p:cNvPr>
          <p:cNvPicPr>
            <a:picLocks noChangeAspect="1"/>
          </p:cNvPicPr>
          <p:nvPr/>
        </p:nvPicPr>
        <p:blipFill>
          <a:blip r:embed="rId12"/>
          <a:stretch>
            <a:fillRect/>
          </a:stretch>
        </p:blipFill>
        <p:spPr>
          <a:xfrm>
            <a:off x="6494617" y="3211921"/>
            <a:ext cx="159837" cy="159837"/>
          </a:xfrm>
          <a:prstGeom prst="rect">
            <a:avLst/>
          </a:prstGeom>
        </p:spPr>
      </p:pic>
      <p:sp>
        <p:nvSpPr>
          <p:cNvPr id="39" name="Text 25"/>
          <p:cNvSpPr/>
          <p:nvPr/>
        </p:nvSpPr>
        <p:spPr>
          <a:xfrm>
            <a:off x="6876288" y="3099816"/>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13  Natural Gas</a:t>
            </a:r>
            <a:endParaRPr lang="en-US" sz="1350" dirty="0"/>
          </a:p>
        </p:txBody>
      </p:sp>
      <p:sp>
        <p:nvSpPr>
          <p:cNvPr id="40" name="Shape 26"/>
          <p:cNvSpPr/>
          <p:nvPr/>
        </p:nvSpPr>
        <p:spPr>
          <a:xfrm>
            <a:off x="6400800" y="3593592"/>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41" name="Image 12" descr="preencoded.png">    </p:cNvPr>
          <p:cNvPicPr>
            <a:picLocks noChangeAspect="1"/>
          </p:cNvPicPr>
          <p:nvPr/>
        </p:nvPicPr>
        <p:blipFill>
          <a:blip r:embed="rId13"/>
          <a:stretch>
            <a:fillRect/>
          </a:stretch>
        </p:blipFill>
        <p:spPr>
          <a:xfrm>
            <a:off x="6494617" y="3687409"/>
            <a:ext cx="159837" cy="159837"/>
          </a:xfrm>
          <a:prstGeom prst="rect">
            <a:avLst/>
          </a:prstGeom>
        </p:spPr>
      </p:pic>
      <p:sp>
        <p:nvSpPr>
          <p:cNvPr id="42" name="Text 27"/>
          <p:cNvSpPr/>
          <p:nvPr/>
        </p:nvSpPr>
        <p:spPr>
          <a:xfrm>
            <a:off x="6876288" y="3575304"/>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14  Macro Context — ERCOT Backlog</a:t>
            </a:r>
            <a:endParaRPr lang="en-US" sz="1350" dirty="0"/>
          </a:p>
        </p:txBody>
      </p:sp>
      <p:sp>
        <p:nvSpPr>
          <p:cNvPr id="43" name="Shape 28"/>
          <p:cNvSpPr/>
          <p:nvPr/>
        </p:nvSpPr>
        <p:spPr>
          <a:xfrm>
            <a:off x="6400800" y="4069080"/>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44" name="Image 13" descr="preencoded.png">    </p:cNvPr>
          <p:cNvPicPr>
            <a:picLocks noChangeAspect="1"/>
          </p:cNvPicPr>
          <p:nvPr/>
        </p:nvPicPr>
        <p:blipFill>
          <a:blip r:embed="rId14"/>
          <a:stretch>
            <a:fillRect/>
          </a:stretch>
        </p:blipFill>
        <p:spPr>
          <a:xfrm>
            <a:off x="6494617" y="4162897"/>
            <a:ext cx="159837" cy="159837"/>
          </a:xfrm>
          <a:prstGeom prst="rect">
            <a:avLst/>
          </a:prstGeom>
        </p:spPr>
      </p:pic>
      <p:sp>
        <p:nvSpPr>
          <p:cNvPr id="45" name="Text 29"/>
          <p:cNvSpPr/>
          <p:nvPr/>
        </p:nvSpPr>
        <p:spPr>
          <a:xfrm>
            <a:off x="6876288" y="4050792"/>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15  The Diligence Platform</a:t>
            </a:r>
            <a:endParaRPr lang="en-US" sz="1350" dirty="0"/>
          </a:p>
        </p:txBody>
      </p:sp>
      <p:sp>
        <p:nvSpPr>
          <p:cNvPr id="46" name="Shape 30"/>
          <p:cNvSpPr/>
          <p:nvPr/>
        </p:nvSpPr>
        <p:spPr>
          <a:xfrm>
            <a:off x="6400800" y="4544568"/>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47" name="Image 14" descr="preencoded.png">    </p:cNvPr>
          <p:cNvPicPr>
            <a:picLocks noChangeAspect="1"/>
          </p:cNvPicPr>
          <p:nvPr/>
        </p:nvPicPr>
        <p:blipFill>
          <a:blip r:embed="rId15"/>
          <a:stretch>
            <a:fillRect/>
          </a:stretch>
        </p:blipFill>
        <p:spPr>
          <a:xfrm>
            <a:off x="6494617" y="4638385"/>
            <a:ext cx="159837" cy="159837"/>
          </a:xfrm>
          <a:prstGeom prst="rect">
            <a:avLst/>
          </a:prstGeom>
        </p:spPr>
      </p:pic>
      <p:sp>
        <p:nvSpPr>
          <p:cNvPr id="48" name="Text 31"/>
          <p:cNvSpPr/>
          <p:nvPr/>
        </p:nvSpPr>
        <p:spPr>
          <a:xfrm>
            <a:off x="6876288" y="4526280"/>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16  Subsurface &amp; Drilling Activity</a:t>
            </a:r>
            <a:endParaRPr lang="en-US" sz="1350" dirty="0"/>
          </a:p>
        </p:txBody>
      </p:sp>
      <p:sp>
        <p:nvSpPr>
          <p:cNvPr id="49" name="Shape 32"/>
          <p:cNvSpPr/>
          <p:nvPr/>
        </p:nvSpPr>
        <p:spPr>
          <a:xfrm>
            <a:off x="6400800" y="5020056"/>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50" name="Image 15" descr="preencoded.png">    </p:cNvPr>
          <p:cNvPicPr>
            <a:picLocks noChangeAspect="1"/>
          </p:cNvPicPr>
          <p:nvPr/>
        </p:nvPicPr>
        <p:blipFill>
          <a:blip r:embed="rId16"/>
          <a:stretch>
            <a:fillRect/>
          </a:stretch>
        </p:blipFill>
        <p:spPr>
          <a:xfrm>
            <a:off x="6494617" y="5113873"/>
            <a:ext cx="159837" cy="159837"/>
          </a:xfrm>
          <a:prstGeom prst="rect">
            <a:avLst/>
          </a:prstGeom>
        </p:spPr>
      </p:pic>
      <p:sp>
        <p:nvSpPr>
          <p:cNvPr id="51" name="Text 33"/>
          <p:cNvSpPr/>
          <p:nvPr/>
        </p:nvSpPr>
        <p:spPr>
          <a:xfrm>
            <a:off x="6876288" y="5001768"/>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17  Appendix — Distances &amp; Sources</a:t>
            </a:r>
            <a:endParaRPr lang="en-US" sz="1350" dirty="0"/>
          </a:p>
        </p:txBody>
      </p:sp>
      <p:sp>
        <p:nvSpPr>
          <p:cNvPr id="52" name="Shape 34"/>
          <p:cNvSpPr/>
          <p:nvPr/>
        </p:nvSpPr>
        <p:spPr>
          <a:xfrm>
            <a:off x="6400800" y="5495544"/>
            <a:ext cx="347472" cy="347472"/>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53" name="Image 16" descr="preencoded.png">    </p:cNvPr>
          <p:cNvPicPr>
            <a:picLocks noChangeAspect="1"/>
          </p:cNvPicPr>
          <p:nvPr/>
        </p:nvPicPr>
        <p:blipFill>
          <a:blip r:embed="rId17"/>
          <a:stretch>
            <a:fillRect/>
          </a:stretch>
        </p:blipFill>
        <p:spPr>
          <a:xfrm>
            <a:off x="6494617" y="5589361"/>
            <a:ext cx="159837" cy="159837"/>
          </a:xfrm>
          <a:prstGeom prst="rect">
            <a:avLst/>
          </a:prstGeom>
        </p:spPr>
      </p:pic>
      <p:sp>
        <p:nvSpPr>
          <p:cNvPr id="54" name="Text 35"/>
          <p:cNvSpPr/>
          <p:nvPr/>
        </p:nvSpPr>
        <p:spPr>
          <a:xfrm>
            <a:off x="6876288" y="5477256"/>
            <a:ext cx="4919472" cy="402336"/>
          </a:xfrm>
          <a:prstGeom prst="rect">
            <a:avLst/>
          </a:prstGeom>
          <a:noFill/>
          <a:ln/>
        </p:spPr>
        <p:txBody>
          <a:bodyPr wrap="square" rtlCol="0" anchor="ctr"/>
          <a:lstStyle/>
          <a:p>
            <a:pPr indent="0" marL="0">
              <a:buNone/>
            </a:pPr>
            <a:r>
              <a:rPr lang="en-US" sz="1350" b="1" dirty="0">
                <a:solidFill>
                  <a:srgbClr val="0F1B2D"/>
                </a:solidFill>
                <a:latin typeface="Calibri" pitchFamily="34" charset="0"/>
                <a:ea typeface="Calibri" pitchFamily="34" charset="-122"/>
                <a:cs typeface="Calibri" pitchFamily="34" charset="-120"/>
              </a:rPr>
              <a:t>18  Important Notices</a:t>
            </a:r>
            <a:endParaRPr lang="en-US" sz="1350" dirty="0"/>
          </a:p>
        </p:txBody>
      </p:sp>
      <p:sp>
        <p:nvSpPr>
          <p:cNvPr id="55" name="Text 36"/>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56" name="Text 37"/>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03 · INVESTMENT THESIS</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Inside the corridor, not adjacent to it</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Two hyperscale-scale projects — 7.65 GW and 2 GW — sit on the same north–south line through the property at 15.5 and 19.3 miles; the region's own numbers do the selling, not the site's.</a:t>
            </a:r>
            <a:endParaRPr lang="en-US" sz="1250" dirty="0"/>
          </a:p>
        </p:txBody>
      </p:sp>
      <p:sp>
        <p:nvSpPr>
          <p:cNvPr id="7" name="Shape 4"/>
          <p:cNvSpPr/>
          <p:nvPr/>
        </p:nvSpPr>
        <p:spPr>
          <a:xfrm>
            <a:off x="548640" y="2240280"/>
            <a:ext cx="11064240" cy="1691640"/>
          </a:xfrm>
          <a:prstGeom prst="roundRect">
            <a:avLst>
              <a:gd name="adj" fmla="val 2703"/>
            </a:avLst>
          </a:prstGeom>
          <a:solidFill>
            <a:srgbClr val="F1F5F9"/>
          </a:solidFill>
          <a:ln w="9525">
            <a:solidFill>
              <a:srgbClr val="DCE3EC"/>
            </a:solidFill>
            <a:prstDash val="solid"/>
          </a:ln>
        </p:spPr>
      </p:sp>
      <p:sp>
        <p:nvSpPr>
          <p:cNvPr id="8" name="Text 5"/>
          <p:cNvSpPr/>
          <p:nvPr/>
        </p:nvSpPr>
        <p:spPr>
          <a:xfrm>
            <a:off x="777240" y="2377440"/>
            <a:ext cx="10607040" cy="1417320"/>
          </a:xfrm>
          <a:prstGeom prst="rect">
            <a:avLst/>
          </a:prstGeom>
          <a:noFill/>
          <a:ln/>
        </p:spPr>
        <p:txBody>
          <a:bodyPr wrap="square" rtlCol="0" anchor="t"/>
          <a:lstStyle/>
          <a:p>
            <a:pPr indent="0" marL="0">
              <a:lnSpc>
                <a:spcPct val="116000"/>
              </a:lnSpc>
              <a:buNone/>
            </a:pPr>
            <a:r>
              <a:rPr lang="en-US" sz="1250" dirty="0">
                <a:solidFill>
                  <a:srgbClr val="16202E"/>
                </a:solidFill>
                <a:latin typeface="Calibri" pitchFamily="34" charset="0"/>
                <a:ea typeface="Calibri" pitchFamily="34" charset="-122"/>
                <a:cs typeface="Calibri" pitchFamily="34" charset="-120"/>
              </a:rPr>
              <a:t>Caramba North is not a speculative land bet — it is a 1,300-acre parcel sitting inside an already-forming power and data-center corridor. The region's own numbers do the selling: 32.7 GW of operating and queued power capacity within 60 miles, in a state where the interconnection backlog just got large enough to trigger a gubernatorial audit and a queue-processing pause. Caramba North is positioned to benefit from the same infrastructure buildout without carrying the exposure of being the marginal, unproven project in that queue — it already has water and gas under contract-ready terms, not just an application.</a:t>
            </a:r>
            <a:endParaRPr lang="en-US" sz="1250" dirty="0"/>
          </a:p>
        </p:txBody>
      </p:sp>
      <p:sp>
        <p:nvSpPr>
          <p:cNvPr id="9" name="Shape 6"/>
          <p:cNvSpPr/>
          <p:nvPr/>
        </p:nvSpPr>
        <p:spPr>
          <a:xfrm>
            <a:off x="548640"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0" name="Text 7"/>
          <p:cNvSpPr/>
          <p:nvPr/>
        </p:nvSpPr>
        <p:spPr>
          <a:xfrm>
            <a:off x="658368"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1,300</a:t>
            </a:r>
            <a:endParaRPr lang="en-US" sz="1800" dirty="0"/>
          </a:p>
        </p:txBody>
      </p:sp>
      <p:sp>
        <p:nvSpPr>
          <p:cNvPr id="11" name="Text 8"/>
          <p:cNvSpPr/>
          <p:nvPr/>
        </p:nvSpPr>
        <p:spPr>
          <a:xfrm>
            <a:off x="658368"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MAX CONTIGUOUS ACRES</a:t>
            </a:r>
            <a:endParaRPr lang="en-US" sz="730" dirty="0"/>
          </a:p>
        </p:txBody>
      </p:sp>
      <p:sp>
        <p:nvSpPr>
          <p:cNvPr id="12" name="Shape 9"/>
          <p:cNvSpPr/>
          <p:nvPr/>
        </p:nvSpPr>
        <p:spPr>
          <a:xfrm>
            <a:off x="2420112"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3" name="Text 10"/>
          <p:cNvSpPr/>
          <p:nvPr/>
        </p:nvSpPr>
        <p:spPr>
          <a:xfrm>
            <a:off x="2529840"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15.5 mi</a:t>
            </a:r>
            <a:endParaRPr lang="en-US" sz="1800" dirty="0"/>
          </a:p>
        </p:txBody>
      </p:sp>
      <p:sp>
        <p:nvSpPr>
          <p:cNvPr id="14" name="Text 11"/>
          <p:cNvSpPr/>
          <p:nvPr/>
        </p:nvSpPr>
        <p:spPr>
          <a:xfrm>
            <a:off x="2529840"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GW RANCH, EDGE-TO-EDGE</a:t>
            </a:r>
            <a:endParaRPr lang="en-US" sz="730" dirty="0"/>
          </a:p>
        </p:txBody>
      </p:sp>
      <p:sp>
        <p:nvSpPr>
          <p:cNvPr id="15" name="Shape 12"/>
          <p:cNvSpPr/>
          <p:nvPr/>
        </p:nvSpPr>
        <p:spPr>
          <a:xfrm>
            <a:off x="4291584"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6" name="Text 13"/>
          <p:cNvSpPr/>
          <p:nvPr/>
        </p:nvSpPr>
        <p:spPr>
          <a:xfrm>
            <a:off x="4401312"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19.3 mi</a:t>
            </a:r>
            <a:endParaRPr lang="en-US" sz="1800" dirty="0"/>
          </a:p>
        </p:txBody>
      </p:sp>
      <p:sp>
        <p:nvSpPr>
          <p:cNvPr id="17" name="Text 14"/>
          <p:cNvSpPr/>
          <p:nvPr/>
        </p:nvSpPr>
        <p:spPr>
          <a:xfrm>
            <a:off x="4401312"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LONGFELLOW, EDGE-TO-EDGE</a:t>
            </a:r>
            <a:endParaRPr lang="en-US" sz="730" dirty="0"/>
          </a:p>
        </p:txBody>
      </p:sp>
      <p:sp>
        <p:nvSpPr>
          <p:cNvPr id="18" name="Shape 15"/>
          <p:cNvSpPr/>
          <p:nvPr/>
        </p:nvSpPr>
        <p:spPr>
          <a:xfrm>
            <a:off x="6163056"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9" name="Text 16"/>
          <p:cNvSpPr/>
          <p:nvPr/>
        </p:nvSpPr>
        <p:spPr>
          <a:xfrm>
            <a:off x="6272784"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32.7 GW</a:t>
            </a:r>
            <a:endParaRPr lang="en-US" sz="1800" dirty="0"/>
          </a:p>
        </p:txBody>
      </p:sp>
      <p:sp>
        <p:nvSpPr>
          <p:cNvPr id="20" name="Text 17"/>
          <p:cNvSpPr/>
          <p:nvPr/>
        </p:nvSpPr>
        <p:spPr>
          <a:xfrm>
            <a:off x="6272784"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OPERATING + QUEUE, ≤60 MI</a:t>
            </a:r>
            <a:endParaRPr lang="en-US" sz="730" dirty="0"/>
          </a:p>
        </p:txBody>
      </p:sp>
      <p:sp>
        <p:nvSpPr>
          <p:cNvPr id="21" name="Shape 18"/>
          <p:cNvSpPr/>
          <p:nvPr/>
        </p:nvSpPr>
        <p:spPr>
          <a:xfrm>
            <a:off x="8034528"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2" name="Text 19"/>
          <p:cNvSpPr/>
          <p:nvPr/>
        </p:nvSpPr>
        <p:spPr>
          <a:xfrm>
            <a:off x="8144256"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47,418</a:t>
            </a:r>
            <a:endParaRPr lang="en-US" sz="1800" dirty="0"/>
          </a:p>
        </p:txBody>
      </p:sp>
      <p:sp>
        <p:nvSpPr>
          <p:cNvPr id="23" name="Text 20"/>
          <p:cNvSpPr/>
          <p:nvPr/>
        </p:nvSpPr>
        <p:spPr>
          <a:xfrm>
            <a:off x="8144256"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AF/YR WATER, CONTRACT-READY</a:t>
            </a:r>
            <a:endParaRPr lang="en-US" sz="730" dirty="0"/>
          </a:p>
        </p:txBody>
      </p:sp>
      <p:sp>
        <p:nvSpPr>
          <p:cNvPr id="24" name="Shape 21"/>
          <p:cNvSpPr/>
          <p:nvPr/>
        </p:nvSpPr>
        <p:spPr>
          <a:xfrm>
            <a:off x="9906000" y="4160520"/>
            <a:ext cx="1706880" cy="1417320"/>
          </a:xfrm>
          <a:prstGeom prst="roundRect">
            <a:avLst>
              <a:gd name="adj" fmla="val 322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5" name="Text 22"/>
          <p:cNvSpPr/>
          <p:nvPr/>
        </p:nvSpPr>
        <p:spPr>
          <a:xfrm>
            <a:off x="10015728" y="4233672"/>
            <a:ext cx="1487424" cy="960120"/>
          </a:xfrm>
          <a:prstGeom prst="rect">
            <a:avLst/>
          </a:prstGeom>
          <a:noFill/>
          <a:ln/>
        </p:spPr>
        <p:txBody>
          <a:bodyPr wrap="square" rtlCol="0" anchor="b"/>
          <a:lstStyle/>
          <a:p>
            <a:pPr indent="0" marL="0">
              <a:buNone/>
            </a:pPr>
            <a:r>
              <a:rPr lang="en-US" sz="1800" b="1" dirty="0">
                <a:solidFill>
                  <a:srgbClr val="0F1B2D"/>
                </a:solidFill>
                <a:latin typeface="Calibri" pitchFamily="34" charset="0"/>
                <a:ea typeface="Calibri" pitchFamily="34" charset="-122"/>
                <a:cs typeface="Calibri" pitchFamily="34" charset="-120"/>
              </a:rPr>
              <a:t>79.3%</a:t>
            </a:r>
            <a:endParaRPr lang="en-US" sz="1800" dirty="0"/>
          </a:p>
        </p:txBody>
      </p:sp>
      <p:sp>
        <p:nvSpPr>
          <p:cNvPr id="26" name="Text 23"/>
          <p:cNvSpPr/>
          <p:nvPr/>
        </p:nvSpPr>
        <p:spPr>
          <a:xfrm>
            <a:off x="10015728" y="5212080"/>
            <a:ext cx="148742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OF ANNOUNCED LOCAL MW UNDER CONSTRUCTION</a:t>
            </a:r>
            <a:endParaRPr lang="en-US" sz="730" dirty="0"/>
          </a:p>
        </p:txBody>
      </p:sp>
      <p:sp>
        <p:nvSpPr>
          <p:cNvPr id="27" name="Text 24"/>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28" name="Text 25"/>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04 · EXECUTIVE SUMMARY</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The numbers across every diligence track, on one page</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Ten figures spanning land, transmission, power, water, and gas — each sourced to the underlying data model, none of them estimated.</a:t>
            </a:r>
            <a:endParaRPr lang="en-US" sz="1250" dirty="0"/>
          </a:p>
        </p:txBody>
      </p:sp>
      <p:sp>
        <p:nvSpPr>
          <p:cNvPr id="7" name="Shape 4"/>
          <p:cNvSpPr/>
          <p:nvPr/>
        </p:nvSpPr>
        <p:spPr>
          <a:xfrm>
            <a:off x="548640" y="2286000"/>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8" name="Text 5"/>
          <p:cNvSpPr/>
          <p:nvPr/>
        </p:nvSpPr>
        <p:spPr>
          <a:xfrm>
            <a:off x="658368" y="2359152"/>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1,300</a:t>
            </a:r>
            <a:endParaRPr lang="en-US" sz="1900" dirty="0"/>
          </a:p>
        </p:txBody>
      </p:sp>
      <p:sp>
        <p:nvSpPr>
          <p:cNvPr id="9" name="Text 6"/>
          <p:cNvSpPr/>
          <p:nvPr/>
        </p:nvSpPr>
        <p:spPr>
          <a:xfrm>
            <a:off x="658368" y="3401568"/>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CONTIGUOUS ACRES, NORTH OF I-10</a:t>
            </a:r>
            <a:endParaRPr lang="en-US" sz="730" dirty="0"/>
          </a:p>
        </p:txBody>
      </p:sp>
      <p:sp>
        <p:nvSpPr>
          <p:cNvPr id="10" name="Shape 7"/>
          <p:cNvSpPr/>
          <p:nvPr/>
        </p:nvSpPr>
        <p:spPr>
          <a:xfrm>
            <a:off x="2790749" y="2286000"/>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1" name="Text 8"/>
          <p:cNvSpPr/>
          <p:nvPr/>
        </p:nvSpPr>
        <p:spPr>
          <a:xfrm>
            <a:off x="2900477" y="2359152"/>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47,418</a:t>
            </a:r>
            <a:endParaRPr lang="en-US" sz="1900" dirty="0"/>
          </a:p>
        </p:txBody>
      </p:sp>
      <p:sp>
        <p:nvSpPr>
          <p:cNvPr id="12" name="Text 9"/>
          <p:cNvSpPr/>
          <p:nvPr/>
        </p:nvSpPr>
        <p:spPr>
          <a:xfrm>
            <a:off x="2900477" y="3401568"/>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AF/YR WATER PERMITTED</a:t>
            </a:r>
            <a:endParaRPr lang="en-US" sz="730" dirty="0"/>
          </a:p>
        </p:txBody>
      </p:sp>
      <p:sp>
        <p:nvSpPr>
          <p:cNvPr id="13" name="Shape 10"/>
          <p:cNvSpPr/>
          <p:nvPr/>
        </p:nvSpPr>
        <p:spPr>
          <a:xfrm>
            <a:off x="5032858" y="2286000"/>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4" name="Text 11"/>
          <p:cNvSpPr/>
          <p:nvPr/>
        </p:nvSpPr>
        <p:spPr>
          <a:xfrm>
            <a:off x="5142586" y="2359152"/>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15 mi</a:t>
            </a:r>
            <a:endParaRPr lang="en-US" sz="1900" dirty="0"/>
          </a:p>
        </p:txBody>
      </p:sp>
      <p:sp>
        <p:nvSpPr>
          <p:cNvPr id="15" name="Text 12"/>
          <p:cNvSpPr/>
          <p:nvPr/>
        </p:nvSpPr>
        <p:spPr>
          <a:xfrm>
            <a:off x="5142586" y="3401568"/>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765 KV SOLSTICE SUBSTATION</a:t>
            </a:r>
            <a:endParaRPr lang="en-US" sz="730" dirty="0"/>
          </a:p>
        </p:txBody>
      </p:sp>
      <p:sp>
        <p:nvSpPr>
          <p:cNvPr id="16" name="Shape 13"/>
          <p:cNvSpPr/>
          <p:nvPr/>
        </p:nvSpPr>
        <p:spPr>
          <a:xfrm>
            <a:off x="7274966" y="2286000"/>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7" name="Text 14"/>
          <p:cNvSpPr/>
          <p:nvPr/>
        </p:nvSpPr>
        <p:spPr>
          <a:xfrm>
            <a:off x="7384694" y="2359152"/>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20 mi</a:t>
            </a:r>
            <a:endParaRPr lang="en-US" sz="1900" dirty="0"/>
          </a:p>
        </p:txBody>
      </p:sp>
      <p:sp>
        <p:nvSpPr>
          <p:cNvPr id="18" name="Text 15"/>
          <p:cNvSpPr/>
          <p:nvPr/>
        </p:nvSpPr>
        <p:spPr>
          <a:xfrm>
            <a:off x="7384694" y="3401568"/>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WAHA GAS HUB</a:t>
            </a:r>
            <a:endParaRPr lang="en-US" sz="730" dirty="0"/>
          </a:p>
        </p:txBody>
      </p:sp>
      <p:sp>
        <p:nvSpPr>
          <p:cNvPr id="19" name="Shape 16"/>
          <p:cNvSpPr/>
          <p:nvPr/>
        </p:nvSpPr>
        <p:spPr>
          <a:xfrm>
            <a:off x="9517075" y="2286000"/>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0" name="Text 17"/>
          <p:cNvSpPr/>
          <p:nvPr/>
        </p:nvSpPr>
        <p:spPr>
          <a:xfrm>
            <a:off x="9626803" y="2359152"/>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12.0 GW</a:t>
            </a:r>
            <a:endParaRPr lang="en-US" sz="1900" dirty="0"/>
          </a:p>
        </p:txBody>
      </p:sp>
      <p:sp>
        <p:nvSpPr>
          <p:cNvPr id="21" name="Text 18"/>
          <p:cNvSpPr/>
          <p:nvPr/>
        </p:nvSpPr>
        <p:spPr>
          <a:xfrm>
            <a:off x="9626803" y="3401568"/>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ERCOT QUEUE, PECOS CO. ALONE</a:t>
            </a:r>
            <a:endParaRPr lang="en-US" sz="730" dirty="0"/>
          </a:p>
        </p:txBody>
      </p:sp>
      <p:sp>
        <p:nvSpPr>
          <p:cNvPr id="22" name="Shape 19"/>
          <p:cNvSpPr/>
          <p:nvPr/>
        </p:nvSpPr>
        <p:spPr>
          <a:xfrm>
            <a:off x="548640" y="3913632"/>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3" name="Text 20"/>
          <p:cNvSpPr/>
          <p:nvPr/>
        </p:nvSpPr>
        <p:spPr>
          <a:xfrm>
            <a:off x="658368" y="3986784"/>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32.7 GW</a:t>
            </a:r>
            <a:endParaRPr lang="en-US" sz="1900" dirty="0"/>
          </a:p>
        </p:txBody>
      </p:sp>
      <p:sp>
        <p:nvSpPr>
          <p:cNvPr id="24" name="Text 21"/>
          <p:cNvSpPr/>
          <p:nvPr/>
        </p:nvSpPr>
        <p:spPr>
          <a:xfrm>
            <a:off x="658368" y="5029200"/>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OPERATING + QUEUE, ≤60 MI RADIUS</a:t>
            </a:r>
            <a:endParaRPr lang="en-US" sz="730" dirty="0"/>
          </a:p>
        </p:txBody>
      </p:sp>
      <p:sp>
        <p:nvSpPr>
          <p:cNvPr id="25" name="Shape 22"/>
          <p:cNvSpPr/>
          <p:nvPr/>
        </p:nvSpPr>
        <p:spPr>
          <a:xfrm>
            <a:off x="2790749" y="3913632"/>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6" name="Text 23"/>
          <p:cNvSpPr/>
          <p:nvPr/>
        </p:nvSpPr>
        <p:spPr>
          <a:xfrm>
            <a:off x="2900477" y="3986784"/>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15.5 mi</a:t>
            </a:r>
            <a:endParaRPr lang="en-US" sz="1900" dirty="0"/>
          </a:p>
        </p:txBody>
      </p:sp>
      <p:sp>
        <p:nvSpPr>
          <p:cNvPr id="27" name="Text 24"/>
          <p:cNvSpPr/>
          <p:nvPr/>
        </p:nvSpPr>
        <p:spPr>
          <a:xfrm>
            <a:off x="2900477" y="5029200"/>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GW RANCH (7.65 GW PERMIT)</a:t>
            </a:r>
            <a:endParaRPr lang="en-US" sz="730" dirty="0"/>
          </a:p>
        </p:txBody>
      </p:sp>
      <p:sp>
        <p:nvSpPr>
          <p:cNvPr id="28" name="Shape 25"/>
          <p:cNvSpPr/>
          <p:nvPr/>
        </p:nvSpPr>
        <p:spPr>
          <a:xfrm>
            <a:off x="5032858" y="3913632"/>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29" name="Text 26"/>
          <p:cNvSpPr/>
          <p:nvPr/>
        </p:nvSpPr>
        <p:spPr>
          <a:xfrm>
            <a:off x="5142586" y="3986784"/>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19.3 mi</a:t>
            </a:r>
            <a:endParaRPr lang="en-US" sz="1900" dirty="0"/>
          </a:p>
        </p:txBody>
      </p:sp>
      <p:sp>
        <p:nvSpPr>
          <p:cNvPr id="30" name="Text 27"/>
          <p:cNvSpPr/>
          <p:nvPr/>
        </p:nvSpPr>
        <p:spPr>
          <a:xfrm>
            <a:off x="5142586" y="5029200"/>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LONGFELLOW (2 GW PLANNED)</a:t>
            </a:r>
            <a:endParaRPr lang="en-US" sz="730" dirty="0"/>
          </a:p>
        </p:txBody>
      </p:sp>
      <p:sp>
        <p:nvSpPr>
          <p:cNvPr id="31" name="Shape 28"/>
          <p:cNvSpPr/>
          <p:nvPr/>
        </p:nvSpPr>
        <p:spPr>
          <a:xfrm>
            <a:off x="7274966" y="3913632"/>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32" name="Text 29"/>
          <p:cNvSpPr/>
          <p:nvPr/>
        </p:nvSpPr>
        <p:spPr>
          <a:xfrm>
            <a:off x="7384694" y="3986784"/>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79.3%</a:t>
            </a:r>
            <a:endParaRPr lang="en-US" sz="1900" dirty="0"/>
          </a:p>
        </p:txBody>
      </p:sp>
      <p:sp>
        <p:nvSpPr>
          <p:cNvPr id="33" name="Text 30"/>
          <p:cNvSpPr/>
          <p:nvPr/>
        </p:nvSpPr>
        <p:spPr>
          <a:xfrm>
            <a:off x="7384694" y="5029200"/>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OF LOCAL ANNOUNCED MW UNDER CONSTRUCTION</a:t>
            </a:r>
            <a:endParaRPr lang="en-US" sz="730" dirty="0"/>
          </a:p>
        </p:txBody>
      </p:sp>
      <p:sp>
        <p:nvSpPr>
          <p:cNvPr id="34" name="Shape 31"/>
          <p:cNvSpPr/>
          <p:nvPr/>
        </p:nvSpPr>
        <p:spPr>
          <a:xfrm>
            <a:off x="9517075" y="3913632"/>
            <a:ext cx="2095805" cy="1481328"/>
          </a:xfrm>
          <a:prstGeom prst="roundRect">
            <a:avLst>
              <a:gd name="adj" fmla="val 3086"/>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35" name="Text 32"/>
          <p:cNvSpPr/>
          <p:nvPr/>
        </p:nvSpPr>
        <p:spPr>
          <a:xfrm>
            <a:off x="9626803" y="3986784"/>
            <a:ext cx="1876349" cy="1024128"/>
          </a:xfrm>
          <a:prstGeom prst="rect">
            <a:avLst/>
          </a:prstGeom>
          <a:noFill/>
          <a:ln/>
        </p:spPr>
        <p:txBody>
          <a:bodyPr wrap="square" rtlCol="0" anchor="b"/>
          <a:lstStyle/>
          <a:p>
            <a:pPr indent="0" marL="0">
              <a:buNone/>
            </a:pPr>
            <a:r>
              <a:rPr lang="en-US" sz="1900" b="1" dirty="0">
                <a:solidFill>
                  <a:srgbClr val="0F1B2D"/>
                </a:solidFill>
                <a:latin typeface="Calibri" pitchFamily="34" charset="0"/>
                <a:ea typeface="Calibri" pitchFamily="34" charset="-122"/>
                <a:cs typeface="Calibri" pitchFamily="34" charset="-120"/>
              </a:rPr>
              <a:t>474 GW</a:t>
            </a:r>
            <a:endParaRPr lang="en-US" sz="1900" dirty="0"/>
          </a:p>
        </p:txBody>
      </p:sp>
      <p:sp>
        <p:nvSpPr>
          <p:cNvPr id="36" name="Text 33"/>
          <p:cNvSpPr/>
          <p:nvPr/>
        </p:nvSpPr>
        <p:spPr>
          <a:xfrm>
            <a:off x="9626803" y="5029200"/>
            <a:ext cx="1876349"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STATEWIDE ERCOT BACKLOG, AUG 2026</a:t>
            </a:r>
            <a:endParaRPr lang="en-US" sz="730" dirty="0"/>
          </a:p>
        </p:txBody>
      </p:sp>
      <p:sp>
        <p:nvSpPr>
          <p:cNvPr id="37" name="Text 34"/>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38" name="Text 35"/>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05 · THE PROPERTY</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As-of-right industrial land, five miles from Fort Stockton</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No zoning ordinance inside ERCOT's fastest-growing large-load pocket — a permitting-timeline story, not a rezoning story.</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394960" cy="914400"/>
        </p:xfrm>
        <a:graphic>
          <a:graphicData uri="http://schemas.openxmlformats.org/drawingml/2006/table">
            <a:tbl>
              <a:tblPr/>
              <a:tblGrid>
                <a:gridCol w="1737360"/>
                <a:gridCol w="3657600"/>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ATTRIBUTE</a:t>
                      </a:r>
                      <a:endParaRPr lang="en-US" sz="10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DETAIL</a:t>
                      </a:r>
                      <a:endParaRPr lang="en-US" sz="10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Size / configuration</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Up to 1,300 contiguous acres, north side of I-10</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Access</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Direct I-10 frontage; long-haul fiber and rail proximate</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Municipal services</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Fort Stockton, ~5 mi — services and regional airport</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Land-use regime</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No zoning ordinance; industrial/energy uses as of right</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ERCOT weather zone</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Far West — ERCOT's highest-growth large-load pocket</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County</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6202E"/>
                          </a:solidFill>
                          <a:latin typeface="Calibri" pitchFamily="34" charset="0"/>
                          <a:ea typeface="Calibri" pitchFamily="34" charset="-122"/>
                          <a:cs typeface="Calibri" pitchFamily="34" charset="-120"/>
                        </a:rPr>
                        <a:t>Pecos County, Texas</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pic>
        <p:nvPicPr>
          <p:cNvPr id="8" name="Image 1" descr="/home/claude/repo/outputs/reports/om_exhibits/exhibit_2_1_site-setting.jpg">    </p:cNvPr>
          <p:cNvPicPr>
            <a:picLocks noChangeAspect="1"/>
          </p:cNvPicPr>
          <p:nvPr/>
        </p:nvPicPr>
        <p:blipFill>
          <a:blip r:embed="rId2"/>
          <a:stretch>
            <a:fillRect/>
          </a:stretch>
        </p:blipFill>
        <p:spPr>
          <a:xfrm>
            <a:off x="6263640" y="1965960"/>
            <a:ext cx="5394960" cy="3371850"/>
          </a:xfrm>
          <a:prstGeom prst="rect">
            <a:avLst/>
          </a:prstGeom>
          <a:effectLst>
            <a:outerShdw sx="100000" sy="100000" kx="0" ky="0" algn="bl" rotWithShape="0" blurRad="88900" dist="25400" dir="5400000">
              <a:srgbClr val="0F1B2D">
                <a:alpha val="15000"/>
              </a:srgbClr>
            </a:outerShdw>
          </a:effectLst>
        </p:spPr>
      </p:pic>
      <p:sp>
        <p:nvSpPr>
          <p:cNvPr id="9" name="Shape 4"/>
          <p:cNvSpPr/>
          <p:nvPr/>
        </p:nvSpPr>
        <p:spPr>
          <a:xfrm>
            <a:off x="6263640" y="1965960"/>
            <a:ext cx="5394960" cy="3371850"/>
          </a:xfrm>
          <a:prstGeom prst="rect">
            <a:avLst/>
          </a:prstGeom>
          <a:ln w="12700">
            <a:solidFill>
              <a:srgbClr val="DCE3EC"/>
            </a:solidFill>
            <a:prstDash val="solid"/>
          </a:ln>
        </p:spPr>
      </p:sp>
      <p:sp>
        <p:nvSpPr>
          <p:cNvPr id="10" name="Text 5"/>
          <p:cNvSpPr/>
          <p:nvPr/>
        </p:nvSpPr>
        <p:spPr>
          <a:xfrm>
            <a:off x="6263640" y="5429250"/>
            <a:ext cx="53949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2.1 — the Caramba North tract on the north side of I-10, five miles from Fort Stockton.</a:t>
            </a:r>
            <a:endParaRPr lang="en-US" sz="900" dirty="0"/>
          </a:p>
        </p:txBody>
      </p:sp>
      <p:sp>
        <p:nvSpPr>
          <p:cNvPr id="11" name="Text 6"/>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2" name="Text 7"/>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06 · TRANSMISSION</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Fifteen miles from the delivery point of all three approved 765 kV lines</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The transmission decision is already made, upstream of this site — six local substations sit within ten miles.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6537960" cy="914400"/>
        </p:xfrm>
        <a:graphic>
          <a:graphicData uri="http://schemas.openxmlformats.org/drawingml/2006/table">
            <a:tbl>
              <a:tblPr/>
              <a:tblGrid>
                <a:gridCol w="2148840"/>
                <a:gridCol w="777240"/>
                <a:gridCol w="3611880"/>
              </a:tblGrid>
              <a:tr h="0">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ELEMENT</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930" b="1" dirty="0">
                          <a:solidFill>
                            <a:srgbClr val="FFFFFF"/>
                          </a:solidFill>
                          <a:latin typeface="Calibri" pitchFamily="34" charset="0"/>
                          <a:ea typeface="Calibri" pitchFamily="34" charset="-122"/>
                          <a:cs typeface="Calibri" pitchFamily="34" charset="-120"/>
                        </a:rPr>
                        <a:t>DISTANCE</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DETAIL</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Solstice Substation (AEP/CPS Energy)</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15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Terminus of 3 PUCT-approved 765 kV Permian import paths (No. 55718, Apr 24 2025)</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Fort Stockton Plant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2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138 kV/69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Airport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3.3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138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Fort Stockton</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5.4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69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16th Street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6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138 kV/69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Northern Natural</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7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69 kV/4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Gomez</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9.7 mi</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69 kV/25 kV</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TPIT pipeline, ERCOT-wide</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141 substation + 133 line upgrades tracked (planned, not yet built)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pic>
        <p:nvPicPr>
          <p:cNvPr id="8" name="Image 1" descr="/home/claude/repo/outputs/reports/om_exhibits/exhibit_3_1_planned-grid-upgrades.jpg">    </p:cNvPr>
          <p:cNvPicPr>
            <a:picLocks noChangeAspect="1"/>
          </p:cNvPicPr>
          <p:nvPr/>
        </p:nvPicPr>
        <p:blipFill>
          <a:blip r:embed="rId2"/>
          <a:stretch>
            <a:fillRect/>
          </a:stretch>
        </p:blipFill>
        <p:spPr>
          <a:xfrm>
            <a:off x="7315200" y="1965960"/>
            <a:ext cx="4343400" cy="2486597"/>
          </a:xfrm>
          <a:prstGeom prst="rect">
            <a:avLst/>
          </a:prstGeom>
          <a:effectLst>
            <a:outerShdw sx="100000" sy="100000" kx="0" ky="0" algn="bl" rotWithShape="0" blurRad="88900" dist="25400" dir="5400000">
              <a:srgbClr val="0F1B2D">
                <a:alpha val="15000"/>
              </a:srgbClr>
            </a:outerShdw>
          </a:effectLst>
        </p:spPr>
      </p:pic>
      <p:sp>
        <p:nvSpPr>
          <p:cNvPr id="9" name="Shape 4"/>
          <p:cNvSpPr/>
          <p:nvPr/>
        </p:nvSpPr>
        <p:spPr>
          <a:xfrm>
            <a:off x="7315200" y="1965960"/>
            <a:ext cx="4343400" cy="2486597"/>
          </a:xfrm>
          <a:prstGeom prst="rect">
            <a:avLst/>
          </a:prstGeom>
          <a:ln w="12700">
            <a:solidFill>
              <a:srgbClr val="DCE3EC"/>
            </a:solidFill>
            <a:prstDash val="solid"/>
          </a:ln>
        </p:spPr>
      </p:sp>
      <p:sp>
        <p:nvSpPr>
          <p:cNvPr id="10" name="Text 5"/>
          <p:cNvSpPr/>
          <p:nvPr/>
        </p:nvSpPr>
        <p:spPr>
          <a:xfrm>
            <a:off x="7315200" y="4525709"/>
            <a:ext cx="434340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3.1 — planned grid upgrades only (ERCOT TPIT); Solstice terminus circled.</a:t>
            </a:r>
            <a:endParaRPr lang="en-US" sz="900" dirty="0"/>
          </a:p>
        </p:txBody>
      </p:sp>
      <p:sp>
        <p:nvSpPr>
          <p:cNvPr id="11" name="Text 6"/>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2" name="Text 7"/>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07 · REGIONAL POWER CLUSTER</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12.0 GW already queued in Pecos County alone</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Before counting the two hyperscale campuses profiled in the ring-analysis and feature pages — adjacent counties add 24,585 MW more.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394960" cy="914400"/>
        </p:xfrm>
        <a:graphic>
          <a:graphicData uri="http://schemas.openxmlformats.org/drawingml/2006/table">
            <a:tbl>
              <a:tblPr/>
              <a:tblGrid>
                <a:gridCol w="1554480"/>
                <a:gridCol w="1920240"/>
                <a:gridCol w="1920240"/>
              </a:tblGrid>
              <a:tr h="0">
                <a:tc>
                  <a:txBody>
                    <a:bodyPr/>
                    <a:lstStyle/>
                    <a:p>
                      <a:pPr algn="l" indent="0" marL="0">
                        <a:buNone/>
                      </a:pPr>
                      <a:r>
                        <a:rPr lang="en-US" sz="970" b="1" dirty="0">
                          <a:solidFill>
                            <a:srgbClr val="FFFFFF"/>
                          </a:solidFill>
                          <a:latin typeface="Calibri" pitchFamily="34" charset="0"/>
                          <a:ea typeface="Calibri" pitchFamily="34" charset="-122"/>
                          <a:cs typeface="Calibri" pitchFamily="34" charset="-120"/>
                        </a:rPr>
                        <a:t>TECHNOLOGY</a:t>
                      </a:r>
                      <a:endParaRPr lang="en-US" sz="9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970" b="1" dirty="0">
                          <a:solidFill>
                            <a:srgbClr val="FFFFFF"/>
                          </a:solidFill>
                          <a:latin typeface="Calibri" pitchFamily="34" charset="0"/>
                          <a:ea typeface="Calibri" pitchFamily="34" charset="-122"/>
                          <a:cs typeface="Calibri" pitchFamily="34" charset="-120"/>
                        </a:rPr>
                        <a:t>OPERATING</a:t>
                      </a:r>
                      <a:endParaRPr lang="en-US" sz="9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970" b="1" dirty="0">
                          <a:solidFill>
                            <a:srgbClr val="FFFFFF"/>
                          </a:solidFill>
                          <a:latin typeface="Calibri" pitchFamily="34" charset="0"/>
                          <a:ea typeface="Calibri" pitchFamily="34" charset="-122"/>
                          <a:cs typeface="Calibri" pitchFamily="34" charset="-120"/>
                        </a:rPr>
                        <a:t>ERCOT QUEUE</a:t>
                      </a:r>
                      <a:endParaRPr lang="en-US" sz="9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020" dirty="0">
                          <a:solidFill>
                            <a:srgbClr val="16202E"/>
                          </a:solidFill>
                          <a:latin typeface="Calibri" pitchFamily="34" charset="0"/>
                          <a:ea typeface="Calibri" pitchFamily="34" charset="-122"/>
                          <a:cs typeface="Calibri" pitchFamily="34" charset="-120"/>
                        </a:rPr>
                        <a:t>Solar</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13 · 2.2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16 · 6.3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020" dirty="0">
                          <a:solidFill>
                            <a:srgbClr val="16202E"/>
                          </a:solidFill>
                          <a:latin typeface="Calibri" pitchFamily="34" charset="0"/>
                          <a:ea typeface="Calibri" pitchFamily="34" charset="-122"/>
                          <a:cs typeface="Calibri" pitchFamily="34" charset="-120"/>
                        </a:rPr>
                        <a:t>Wind</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5 · 542 MW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10 · 3.0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020" dirty="0">
                          <a:solidFill>
                            <a:srgbClr val="16202E"/>
                          </a:solidFill>
                          <a:latin typeface="Calibri" pitchFamily="34" charset="0"/>
                          <a:ea typeface="Calibri" pitchFamily="34" charset="-122"/>
                          <a:cs typeface="Calibri" pitchFamily="34" charset="-120"/>
                        </a:rPr>
                        <a:t>BESS</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6 · 505 MW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11 · 1.4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020" dirty="0">
                          <a:solidFill>
                            <a:srgbClr val="16202E"/>
                          </a:solidFill>
                          <a:latin typeface="Calibri" pitchFamily="34" charset="0"/>
                          <a:ea typeface="Calibri" pitchFamily="34" charset="-122"/>
                          <a:cs typeface="Calibri" pitchFamily="34" charset="-120"/>
                        </a:rPr>
                        <a:t>Gas</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1 · 1 MW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020" dirty="0">
                          <a:solidFill>
                            <a:srgbClr val="16202E"/>
                          </a:solidFill>
                          <a:latin typeface="Calibri" pitchFamily="34" charset="0"/>
                          <a:ea typeface="Calibri" pitchFamily="34" charset="-122"/>
                          <a:cs typeface="Calibri" pitchFamily="34" charset="-120"/>
                        </a:rPr>
                        <a:t>2 · 1.4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020" b="1" dirty="0">
                          <a:solidFill>
                            <a:srgbClr val="16202E"/>
                          </a:solidFill>
                          <a:latin typeface="Calibri" pitchFamily="34" charset="0"/>
                          <a:ea typeface="Calibri" pitchFamily="34" charset="-122"/>
                          <a:cs typeface="Calibri" pitchFamily="34" charset="-120"/>
                        </a:rPr>
                        <a:t>Total, Pecos County</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E7ECF3"/>
                    </a:solidFill>
                  </a:tcPr>
                </a:tc>
                <a:tc>
                  <a:txBody>
                    <a:bodyPr/>
                    <a:lstStyle/>
                    <a:p>
                      <a:pPr algn="r" indent="0" marL="0">
                        <a:buNone/>
                      </a:pPr>
                      <a:r>
                        <a:rPr lang="en-US" sz="1020" b="1" dirty="0">
                          <a:solidFill>
                            <a:srgbClr val="16202E"/>
                          </a:solidFill>
                          <a:latin typeface="Calibri" pitchFamily="34" charset="0"/>
                          <a:ea typeface="Calibri" pitchFamily="34" charset="-122"/>
                          <a:cs typeface="Calibri" pitchFamily="34" charset="-120"/>
                        </a:rPr>
                        <a:t>3.2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E7ECF3"/>
                    </a:solidFill>
                  </a:tcPr>
                </a:tc>
                <a:tc>
                  <a:txBody>
                    <a:bodyPr/>
                    <a:lstStyle/>
                    <a:p>
                      <a:pPr algn="r" indent="0" marL="0">
                        <a:buNone/>
                      </a:pPr>
                      <a:r>
                        <a:rPr lang="en-US" sz="1020" b="1" dirty="0">
                          <a:solidFill>
                            <a:srgbClr val="16202E"/>
                          </a:solidFill>
                          <a:latin typeface="Calibri" pitchFamily="34" charset="0"/>
                          <a:ea typeface="Calibri" pitchFamily="34" charset="-122"/>
                          <a:cs typeface="Calibri" pitchFamily="34" charset="-120"/>
                        </a:rPr>
                        <a:t>12.0 GW</a:t>
                      </a:r>
                      <a:endParaRPr lang="en-US" sz="10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E7ECF3"/>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48640" y="4343400"/>
          <a:ext cx="5394960" cy="914400"/>
        </p:xfrm>
        <a:graphic>
          <a:graphicData uri="http://schemas.openxmlformats.org/drawingml/2006/table">
            <a:tbl>
              <a:tblPr/>
              <a:tblGrid>
                <a:gridCol w="1554480"/>
                <a:gridCol w="1920240"/>
                <a:gridCol w="1920240"/>
              </a:tblGrid>
              <a:tr h="0">
                <a:tc>
                  <a:txBody>
                    <a:bodyPr/>
                    <a:lstStyle/>
                    <a:p>
                      <a:pPr algn="l" indent="0" marL="0">
                        <a:buNone/>
                      </a:pPr>
                      <a:r>
                        <a:rPr lang="en-US" sz="930" b="1" dirty="0">
                          <a:solidFill>
                            <a:srgbClr val="FFFFFF"/>
                          </a:solidFill>
                          <a:latin typeface="Calibri" pitchFamily="34" charset="0"/>
                          <a:ea typeface="Calibri" pitchFamily="34" charset="-122"/>
                          <a:cs typeface="Calibri" pitchFamily="34" charset="-120"/>
                        </a:rPr>
                        <a:t>RING</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930" b="1" dirty="0">
                          <a:solidFill>
                            <a:srgbClr val="FFFFFF"/>
                          </a:solidFill>
                          <a:latin typeface="Calibri" pitchFamily="34" charset="0"/>
                          <a:ea typeface="Calibri" pitchFamily="34" charset="-122"/>
                          <a:cs typeface="Calibri" pitchFamily="34" charset="-120"/>
                        </a:rPr>
                        <a:t>OPERATING</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930" b="1" dirty="0">
                          <a:solidFill>
                            <a:srgbClr val="FFFFFF"/>
                          </a:solidFill>
                          <a:latin typeface="Calibri" pitchFamily="34" charset="0"/>
                          <a:ea typeface="Calibri" pitchFamily="34" charset="-122"/>
                          <a:cs typeface="Calibri" pitchFamily="34" charset="-120"/>
                        </a:rPr>
                        <a:t>ERCOT QUEUE</a:t>
                      </a:r>
                      <a:endParaRPr lang="en-US" sz="93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Adjacent 6 counties*</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7.0 GW</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24.6 GW</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980" dirty="0">
                          <a:solidFill>
                            <a:srgbClr val="16202E"/>
                          </a:solidFill>
                          <a:latin typeface="Calibri" pitchFamily="34" charset="0"/>
                          <a:ea typeface="Calibri" pitchFamily="34" charset="-122"/>
                          <a:cs typeface="Calibri" pitchFamily="34" charset="-120"/>
                        </a:rPr>
                        <a:t>Within 20 mi (queue only)</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980" dirty="0">
                          <a:solidFill>
                            <a:srgbClr val="16202E"/>
                          </a:solidFill>
                          <a:latin typeface="Calibri" pitchFamily="34" charset="0"/>
                          <a:ea typeface="Calibri" pitchFamily="34" charset="-122"/>
                          <a:cs typeface="Calibri" pitchFamily="34" charset="-120"/>
                        </a:rPr>
                        <a:t>13 proj · 3,973 MW</a:t>
                      </a:r>
                      <a:endParaRPr lang="en-US" sz="98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9" name="Text 4"/>
          <p:cNvSpPr/>
          <p:nvPr/>
        </p:nvSpPr>
        <p:spPr>
          <a:xfrm>
            <a:off x="548640" y="5532120"/>
            <a:ext cx="53949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*Reeves, Crane, Ward, Upton, Ector, Crockett. Nearest operating storage: St. Gall Energy Storage I, 1.9 mi (103 MW BESS).</a:t>
            </a:r>
            <a:endParaRPr lang="en-US" sz="900" dirty="0"/>
          </a:p>
        </p:txBody>
      </p:sp>
      <p:pic>
        <p:nvPicPr>
          <p:cNvPr id="10" name="Image 1" descr="/home/claude/repo/outputs/reports/om_exhibits/exhibit_4_1_generation-cluster.jpg">    </p:cNvPr>
          <p:cNvPicPr>
            <a:picLocks noChangeAspect="1"/>
          </p:cNvPicPr>
          <p:nvPr/>
        </p:nvPicPr>
        <p:blipFill>
          <a:blip r:embed="rId2"/>
          <a:stretch>
            <a:fillRect/>
          </a:stretch>
        </p:blipFill>
        <p:spPr>
          <a:xfrm>
            <a:off x="6263640" y="1965960"/>
            <a:ext cx="5394960" cy="3088615"/>
          </a:xfrm>
          <a:prstGeom prst="rect">
            <a:avLst/>
          </a:prstGeom>
          <a:effectLst>
            <a:outerShdw sx="100000" sy="100000" kx="0" ky="0" algn="bl" rotWithShape="0" blurRad="88900" dist="25400" dir="5400000">
              <a:srgbClr val="0F1B2D">
                <a:alpha val="15000"/>
              </a:srgbClr>
            </a:outerShdw>
          </a:effectLst>
        </p:spPr>
      </p:pic>
      <p:sp>
        <p:nvSpPr>
          <p:cNvPr id="11" name="Shape 5"/>
          <p:cNvSpPr/>
          <p:nvPr/>
        </p:nvSpPr>
        <p:spPr>
          <a:xfrm>
            <a:off x="6263640" y="1965960"/>
            <a:ext cx="5394960" cy="3088615"/>
          </a:xfrm>
          <a:prstGeom prst="rect">
            <a:avLst/>
          </a:prstGeom>
          <a:ln w="12700">
            <a:solidFill>
              <a:srgbClr val="DCE3EC"/>
            </a:solidFill>
            <a:prstDash val="solid"/>
          </a:ln>
        </p:spPr>
      </p:sp>
      <p:sp>
        <p:nvSpPr>
          <p:cNvPr id="12" name="Text 6"/>
          <p:cNvSpPr/>
          <p:nvPr/>
        </p:nvSpPr>
        <p:spPr>
          <a:xfrm>
            <a:off x="6263640" y="5146015"/>
            <a:ext cx="53949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4.1 — operating fleet and ERCOT interconnection queue over one footprint.</a:t>
            </a:r>
            <a:endParaRPr lang="en-US" sz="900" dirty="0"/>
          </a:p>
        </p:txBody>
      </p:sp>
      <p:sp>
        <p:nvSpPr>
          <p:cNvPr id="13" name="Text 7"/>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4" name="Text 8"/>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08 · RING ANALYSIS / POWER-GRAVITY</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32.7 GW inside 60 miles — measured by radius, not by county line</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Region-wide operating + ERCOT-queue capacity, computed from the same EIA-860 and ERCOT-queue layers used throughout — not county-bounded.</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349240" cy="914400"/>
        </p:xfrm>
        <a:graphic>
          <a:graphicData uri="http://schemas.openxmlformats.org/drawingml/2006/table">
            <a:tbl>
              <a:tblPr/>
              <a:tblGrid>
                <a:gridCol w="1417320"/>
                <a:gridCol w="1371600"/>
                <a:gridCol w="1371600"/>
                <a:gridCol w="11887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RADIUS</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OPERATING</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ERCOT QUEUE</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COMBINED</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 15 mi</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0.1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0.4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0.5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 30 mi</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1.2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7.7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8.9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 60 mi</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6.3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26.4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32.7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16202E"/>
                          </a:solidFill>
                          <a:latin typeface="Calibri" pitchFamily="34" charset="0"/>
                          <a:ea typeface="Calibri" pitchFamily="34" charset="-122"/>
                          <a:cs typeface="Calibri" pitchFamily="34" charset="-120"/>
                        </a:rPr>
                        <a:t>≤ 100 mi</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11.8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41.7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200" dirty="0">
                          <a:solidFill>
                            <a:srgbClr val="16202E"/>
                          </a:solidFill>
                          <a:latin typeface="Calibri" pitchFamily="34" charset="0"/>
                          <a:ea typeface="Calibri" pitchFamily="34" charset="-122"/>
                          <a:cs typeface="Calibri" pitchFamily="34" charset="-120"/>
                        </a:rPr>
                        <a:t>53.5 GW</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8" name="Shape 4"/>
          <p:cNvSpPr/>
          <p:nvPr/>
        </p:nvSpPr>
        <p:spPr>
          <a:xfrm>
            <a:off x="548640" y="4114800"/>
            <a:ext cx="5349240" cy="1965960"/>
          </a:xfrm>
          <a:prstGeom prst="roundRect">
            <a:avLst>
              <a:gd name="adj" fmla="val 2326"/>
            </a:avLst>
          </a:prstGeom>
          <a:solidFill>
            <a:srgbClr val="F1F5F9"/>
          </a:solidFill>
          <a:ln w="9525">
            <a:solidFill>
              <a:srgbClr val="DCE3EC"/>
            </a:solidFill>
            <a:prstDash val="solid"/>
          </a:ln>
        </p:spPr>
      </p:sp>
      <p:sp>
        <p:nvSpPr>
          <p:cNvPr id="9" name="Text 5"/>
          <p:cNvSpPr/>
          <p:nvPr/>
        </p:nvSpPr>
        <p:spPr>
          <a:xfrm>
            <a:off x="749808" y="4251960"/>
            <a:ext cx="4937760" cy="914400"/>
          </a:xfrm>
          <a:prstGeom prst="rect">
            <a:avLst/>
          </a:prstGeom>
          <a:noFill/>
          <a:ln/>
        </p:spPr>
        <p:txBody>
          <a:bodyPr wrap="square" rtlCol="0" anchor="t"/>
          <a:lstStyle/>
          <a:p>
            <a:pPr indent="0" marL="0">
              <a:lnSpc>
                <a:spcPct val="110000"/>
              </a:lnSpc>
              <a:buNone/>
            </a:pPr>
            <a:r>
              <a:rPr lang="en-US" sz="1050" b="1" dirty="0">
                <a:solidFill>
                  <a:srgbClr val="0F1B2D"/>
                </a:solidFill>
                <a:latin typeface="Calibri" pitchFamily="34" charset="0"/>
                <a:ea typeface="Calibri" pitchFamily="34" charset="-122"/>
                <a:cs typeface="Calibri" pitchFamily="34" charset="-120"/>
              </a:rPr>
              <a:t>Bearing:  </a:t>
            </a:r>
            <a:pPr indent="0" marL="0">
              <a:lnSpc>
                <a:spcPct val="110000"/>
              </a:lnSpc>
              <a:buNone/>
            </a:pPr>
            <a:r>
              <a:rPr lang="en-US" sz="1050" dirty="0">
                <a:solidFill>
                  <a:srgbClr val="3D4E63"/>
                </a:solidFill>
                <a:latin typeface="Calibri" pitchFamily="34" charset="0"/>
                <a:ea typeface="Calibri" pitchFamily="34" charset="-122"/>
                <a:cs typeface="Calibri" pitchFamily="34" charset="-120"/>
              </a:rPr>
              <a:t>GW Ranch sits almost due north (~19°) and Longfellow almost due south (~188°) of Caramba North — the property sits on the north–south line between them, not off to one side.</a:t>
            </a:r>
            <a:endParaRPr lang="en-US" sz="1050" dirty="0"/>
          </a:p>
        </p:txBody>
      </p:sp>
      <p:sp>
        <p:nvSpPr>
          <p:cNvPr id="10" name="Text 6"/>
          <p:cNvSpPr/>
          <p:nvPr/>
        </p:nvSpPr>
        <p:spPr>
          <a:xfrm>
            <a:off x="749808" y="5138928"/>
            <a:ext cx="4937760" cy="868680"/>
          </a:xfrm>
          <a:prstGeom prst="rect">
            <a:avLst/>
          </a:prstGeom>
          <a:noFill/>
          <a:ln/>
        </p:spPr>
        <p:txBody>
          <a:bodyPr wrap="square" rtlCol="0" anchor="t"/>
          <a:lstStyle/>
          <a:p>
            <a:pPr indent="0" marL="0">
              <a:lnSpc>
                <a:spcPct val="110000"/>
              </a:lnSpc>
              <a:buNone/>
            </a:pPr>
            <a:r>
              <a:rPr lang="en-US" sz="1050" b="1" dirty="0">
                <a:solidFill>
                  <a:srgbClr val="0F1B2D"/>
                </a:solidFill>
                <a:latin typeface="Calibri" pitchFamily="34" charset="0"/>
                <a:ea typeface="Calibri" pitchFamily="34" charset="-122"/>
                <a:cs typeface="Calibri" pitchFamily="34" charset="-120"/>
              </a:rPr>
              <a:t>Maturity:  </a:t>
            </a:r>
            <a:pPr indent="0" marL="0">
              <a:lnSpc>
                <a:spcPct val="110000"/>
              </a:lnSpc>
              <a:buNone/>
            </a:pPr>
            <a:r>
              <a:rPr lang="en-US" sz="1050" dirty="0">
                <a:solidFill>
                  <a:srgbClr val="3D4E63"/>
                </a:solidFill>
                <a:latin typeface="Calibri" pitchFamily="34" charset="0"/>
                <a:ea typeface="Calibri" pitchFamily="34" charset="-122"/>
                <a:cs typeface="Calibri" pitchFamily="34" charset="-120"/>
              </a:rPr>
              <a:t>79.3% of the two anchors' combined announced MW is already under construction (GW Ranch); 20.7% is planned / phase-1 (Longfellow) — the regional pipeline is majority-built, not majority-speculative.</a:t>
            </a:r>
            <a:endParaRPr lang="en-US" sz="1050" dirty="0"/>
          </a:p>
        </p:txBody>
      </p:sp>
      <p:pic>
        <p:nvPicPr>
          <p:cNvPr id="11" name="Image 1" descr="/home/claude/repo/outputs/reports/om_exhibits/exhibit_power_gravity_light.png">    </p:cNvPr>
          <p:cNvPicPr>
            <a:picLocks noChangeAspect="1"/>
          </p:cNvPicPr>
          <p:nvPr/>
        </p:nvPicPr>
        <p:blipFill>
          <a:blip r:embed="rId2"/>
          <a:stretch>
            <a:fillRect/>
          </a:stretch>
        </p:blipFill>
        <p:spPr>
          <a:xfrm>
            <a:off x="6995160" y="1920240"/>
            <a:ext cx="4114800" cy="4114800"/>
          </a:xfrm>
          <a:prstGeom prst="rect">
            <a:avLst/>
          </a:prstGeom>
        </p:spPr>
      </p:pic>
      <p:sp>
        <p:nvSpPr>
          <p:cNvPr id="12" name="Text 7"/>
          <p:cNvSpPr/>
          <p:nvPr/>
        </p:nvSpPr>
        <p:spPr>
          <a:xfrm>
            <a:off x="6995160" y="6071616"/>
            <a:ext cx="4114800" cy="384048"/>
          </a:xfrm>
          <a:prstGeom prst="rect">
            <a:avLst/>
          </a:prstGeom>
          <a:noFill/>
          <a:ln/>
        </p:spPr>
        <p:txBody>
          <a:bodyPr wrap="square" rtlCol="0" anchor="ctr"/>
          <a:lstStyle/>
          <a:p>
            <a:pPr indent="0" marL="0">
              <a:lnSpc>
                <a:spcPct val="98000"/>
              </a:lnSpc>
              <a:buNone/>
            </a:pPr>
            <a:r>
              <a:rPr lang="en-US" sz="830" i="1" dirty="0">
                <a:solidFill>
                  <a:srgbClr val="64748B"/>
                </a:solidFill>
                <a:latin typeface="Calibri" pitchFamily="34" charset="0"/>
                <a:ea typeface="Calibri" pitchFamily="34" charset="-122"/>
                <a:cs typeface="Calibri" pitchFamily="34" charset="-120"/>
              </a:rPr>
              <a:t>Exhibit — power-gravity diagram: radius rings from Caramba North; GW Ranch and Longfellow at true bearing/distance.</a:t>
            </a:r>
            <a:endParaRPr lang="en-US" sz="830" dirty="0"/>
          </a:p>
        </p:txBody>
      </p:sp>
      <p:sp>
        <p:nvSpPr>
          <p:cNvPr id="13" name="Text 8"/>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4" name="Text 9"/>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09 · REGIONAL DATA-CENTER PIPELINE</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Two anchors, one corridor: 9.7 GW of announced capacity within 60 miles</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79.3% of that combined capacity is already under construction — the regional pipeline is majority-built, not majority-speculative.</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5394960" cy="914400"/>
        </p:xfrm>
        <a:graphic>
          <a:graphicData uri="http://schemas.openxmlformats.org/drawingml/2006/table">
            <a:tbl>
              <a:tblPr/>
              <a:tblGrid>
                <a:gridCol w="822960"/>
                <a:gridCol w="1234440"/>
                <a:gridCol w="1188720"/>
                <a:gridCol w="1325880"/>
                <a:gridCol w="822960"/>
              </a:tblGrid>
              <a:tr h="0">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PROJECT</a:t>
                      </a:r>
                      <a:endParaRPr lang="en-US" sz="8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SITE</a:t>
                      </a:r>
                      <a:endParaRPr lang="en-US" sz="8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CAPACITY</a:t>
                      </a:r>
                      <a:endParaRPr lang="en-US" sz="8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STATUS</a:t>
                      </a:r>
                      <a:endParaRPr lang="en-US" sz="8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820" b="1" dirty="0">
                          <a:solidFill>
                            <a:srgbClr val="FFFFFF"/>
                          </a:solidFill>
                          <a:latin typeface="Calibri" pitchFamily="34" charset="0"/>
                          <a:ea typeface="Calibri" pitchFamily="34" charset="-122"/>
                          <a:cs typeface="Calibri" pitchFamily="34" charset="-120"/>
                        </a:rPr>
                        <a:t>DISTANCE</a:t>
                      </a:r>
                      <a:endParaRPr lang="en-US" sz="82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GW Ranch</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8,000-ac site, Pecos Co.</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7.65 GW (TCEQ air permit)</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Under construction</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870" dirty="0">
                          <a:solidFill>
                            <a:srgbClr val="16202E"/>
                          </a:solidFill>
                          <a:latin typeface="Calibri" pitchFamily="34" charset="0"/>
                          <a:ea typeface="Calibri" pitchFamily="34" charset="-122"/>
                          <a:cs typeface="Calibri" pitchFamily="34" charset="-120"/>
                        </a:rPr>
                        <a:t>15.5 mi</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Longfellow</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568-ac site, Pecos Co.</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2 GW planned (8-phase)</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870" dirty="0">
                          <a:solidFill>
                            <a:srgbClr val="16202E"/>
                          </a:solidFill>
                          <a:latin typeface="Calibri" pitchFamily="34" charset="0"/>
                          <a:ea typeface="Calibri" pitchFamily="34" charset="-122"/>
                          <a:cs typeface="Calibri" pitchFamily="34" charset="-120"/>
                        </a:rPr>
                        <a:t>Phase-1 site work underway</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870" dirty="0">
                          <a:solidFill>
                            <a:srgbClr val="16202E"/>
                          </a:solidFill>
                          <a:latin typeface="Calibri" pitchFamily="34" charset="0"/>
                          <a:ea typeface="Calibri" pitchFamily="34" charset="-122"/>
                          <a:cs typeface="Calibri" pitchFamily="34" charset="-120"/>
                        </a:rPr>
                        <a:t>19.3 mi</a:t>
                      </a:r>
                      <a:endParaRPr lang="en-US" sz="87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8" name="Shape 4"/>
          <p:cNvSpPr/>
          <p:nvPr/>
        </p:nvSpPr>
        <p:spPr>
          <a:xfrm>
            <a:off x="548640" y="4114800"/>
            <a:ext cx="2606040" cy="1280160"/>
          </a:xfrm>
          <a:prstGeom prst="roundRect">
            <a:avLst>
              <a:gd name="adj" fmla="val 3571"/>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9" name="Text 5"/>
          <p:cNvSpPr/>
          <p:nvPr/>
        </p:nvSpPr>
        <p:spPr>
          <a:xfrm>
            <a:off x="658368" y="4187952"/>
            <a:ext cx="2386584" cy="822960"/>
          </a:xfrm>
          <a:prstGeom prst="rect">
            <a:avLst/>
          </a:prstGeom>
          <a:noFill/>
          <a:ln/>
        </p:spPr>
        <p:txBody>
          <a:bodyPr wrap="square" rtlCol="0" anchor="b"/>
          <a:lstStyle/>
          <a:p>
            <a:pPr indent="0" marL="0">
              <a:buNone/>
            </a:pPr>
            <a:r>
              <a:rPr lang="en-US" sz="2400" b="1" dirty="0">
                <a:solidFill>
                  <a:srgbClr val="0F1B2D"/>
                </a:solidFill>
                <a:latin typeface="Calibri" pitchFamily="34" charset="0"/>
                <a:ea typeface="Calibri" pitchFamily="34" charset="-122"/>
                <a:cs typeface="Calibri" pitchFamily="34" charset="-120"/>
              </a:rPr>
              <a:t>79.3%</a:t>
            </a:r>
            <a:endParaRPr lang="en-US" sz="2400" dirty="0"/>
          </a:p>
        </p:txBody>
      </p:sp>
      <p:sp>
        <p:nvSpPr>
          <p:cNvPr id="10" name="Text 6"/>
          <p:cNvSpPr/>
          <p:nvPr/>
        </p:nvSpPr>
        <p:spPr>
          <a:xfrm>
            <a:off x="658368" y="5029200"/>
            <a:ext cx="23865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UNDER CONSTRUCTION (GW RANCH)</a:t>
            </a:r>
            <a:endParaRPr lang="en-US" sz="730" dirty="0"/>
          </a:p>
        </p:txBody>
      </p:sp>
      <p:sp>
        <p:nvSpPr>
          <p:cNvPr id="11" name="Shape 7"/>
          <p:cNvSpPr/>
          <p:nvPr/>
        </p:nvSpPr>
        <p:spPr>
          <a:xfrm>
            <a:off x="3310128" y="4114800"/>
            <a:ext cx="2606040" cy="1280160"/>
          </a:xfrm>
          <a:prstGeom prst="roundRect">
            <a:avLst>
              <a:gd name="adj" fmla="val 3571"/>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2" name="Text 8"/>
          <p:cNvSpPr/>
          <p:nvPr/>
        </p:nvSpPr>
        <p:spPr>
          <a:xfrm>
            <a:off x="3419856" y="4187952"/>
            <a:ext cx="2386584" cy="822960"/>
          </a:xfrm>
          <a:prstGeom prst="rect">
            <a:avLst/>
          </a:prstGeom>
          <a:noFill/>
          <a:ln/>
        </p:spPr>
        <p:txBody>
          <a:bodyPr wrap="square" rtlCol="0" anchor="b"/>
          <a:lstStyle/>
          <a:p>
            <a:pPr indent="0" marL="0">
              <a:buNone/>
            </a:pPr>
            <a:r>
              <a:rPr lang="en-US" sz="2400" b="1" dirty="0">
                <a:solidFill>
                  <a:srgbClr val="0F1B2D"/>
                </a:solidFill>
                <a:latin typeface="Calibri" pitchFamily="34" charset="0"/>
                <a:ea typeface="Calibri" pitchFamily="34" charset="-122"/>
                <a:cs typeface="Calibri" pitchFamily="34" charset="-120"/>
              </a:rPr>
              <a:t>20.7%</a:t>
            </a:r>
            <a:endParaRPr lang="en-US" sz="2400" dirty="0"/>
          </a:p>
        </p:txBody>
      </p:sp>
      <p:sp>
        <p:nvSpPr>
          <p:cNvPr id="13" name="Text 9"/>
          <p:cNvSpPr/>
          <p:nvPr/>
        </p:nvSpPr>
        <p:spPr>
          <a:xfrm>
            <a:off x="3419856" y="5029200"/>
            <a:ext cx="23865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PLANNED / PHASE-1 (LONGFELLOW)</a:t>
            </a:r>
            <a:endParaRPr lang="en-US" sz="730" dirty="0"/>
          </a:p>
        </p:txBody>
      </p:sp>
      <p:sp>
        <p:nvSpPr>
          <p:cNvPr id="14" name="Text 10"/>
          <p:cNvSpPr/>
          <p:nvPr/>
        </p:nvSpPr>
        <p:spPr>
          <a:xfrm>
            <a:off x="548640" y="5623560"/>
            <a:ext cx="53949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Distances are corrected edge-to-edge (tract boundary to disclosed site location) — see the Appendix methodology note.</a:t>
            </a:r>
            <a:endParaRPr lang="en-US" sz="900" dirty="0"/>
          </a:p>
        </p:txBody>
      </p:sp>
      <p:pic>
        <p:nvPicPr>
          <p:cNvPr id="15" name="Image 1" descr="/home/claude/repo/outputs/reports/om_exhibits/exhibit_7_1_masked.jpg">    </p:cNvPr>
          <p:cNvPicPr>
            <a:picLocks noChangeAspect="1"/>
          </p:cNvPicPr>
          <p:nvPr/>
        </p:nvPicPr>
        <p:blipFill>
          <a:blip r:embed="rId2"/>
          <a:stretch>
            <a:fillRect/>
          </a:stretch>
        </p:blipFill>
        <p:spPr>
          <a:xfrm>
            <a:off x="6263640" y="1965960"/>
            <a:ext cx="5394960" cy="3088615"/>
          </a:xfrm>
          <a:prstGeom prst="rect">
            <a:avLst/>
          </a:prstGeom>
          <a:effectLst>
            <a:outerShdw sx="100000" sy="100000" kx="0" ky="0" algn="bl" rotWithShape="0" blurRad="88900" dist="25400" dir="5400000">
              <a:srgbClr val="0F1B2D">
                <a:alpha val="15000"/>
              </a:srgbClr>
            </a:outerShdw>
          </a:effectLst>
        </p:spPr>
      </p:pic>
      <p:sp>
        <p:nvSpPr>
          <p:cNvPr id="16" name="Shape 11"/>
          <p:cNvSpPr/>
          <p:nvPr/>
        </p:nvSpPr>
        <p:spPr>
          <a:xfrm>
            <a:off x="6263640" y="1965960"/>
            <a:ext cx="5394960" cy="3088615"/>
          </a:xfrm>
          <a:prstGeom prst="rect">
            <a:avLst/>
          </a:prstGeom>
          <a:ln w="12700">
            <a:solidFill>
              <a:srgbClr val="DCE3EC"/>
            </a:solidFill>
            <a:prstDash val="solid"/>
          </a:ln>
        </p:spPr>
      </p:sp>
      <p:sp>
        <p:nvSpPr>
          <p:cNvPr id="17" name="Text 12"/>
          <p:cNvSpPr/>
          <p:nvPr/>
        </p:nvSpPr>
        <p:spPr>
          <a:xfrm>
            <a:off x="6263640" y="5146015"/>
            <a:ext cx="539496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7.1 — announced data-center and large-load projects surrounding the site.</a:t>
            </a:r>
            <a:endParaRPr lang="en-US" sz="900" dirty="0"/>
          </a:p>
        </p:txBody>
      </p:sp>
      <p:sp>
        <p:nvSpPr>
          <p:cNvPr id="18" name="Text 13"/>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9" name="Text 14"/>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B91C1C"/>
                </a:solidFill>
                <a:latin typeface="Calibri" pitchFamily="34" charset="0"/>
                <a:ea typeface="Calibri" pitchFamily="34" charset="-122"/>
                <a:cs typeface="Calibri" pitchFamily="34" charset="-120"/>
              </a:rPr>
              <a:t>10 · FEATURE — GW RANCH (AMAZON)</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The largest air permit issued in the US this year — 15.5 miles up the same corridor</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7F1D1D"/>
                </a:solidFill>
                <a:latin typeface="Cambria" pitchFamily="34" charset="0"/>
                <a:ea typeface="Cambria" pitchFamily="34" charset="-122"/>
                <a:cs typeface="Cambria" pitchFamily="34" charset="-120"/>
              </a:rPr>
              <a:t>Under construction, not announced: three data-center buildings targeted for completion December 2026.</a:t>
            </a:r>
            <a:endParaRPr lang="en-US" sz="1250" dirty="0"/>
          </a:p>
        </p:txBody>
      </p:sp>
      <p:pic>
        <p:nvPicPr>
          <p:cNvPr id="7" name="Image 1" descr="/home/claude/repo/outputs/reports/om_exhibits/exhibit_amz_gwranch.jpg">    </p:cNvPr>
          <p:cNvPicPr>
            <a:picLocks noChangeAspect="1"/>
          </p:cNvPicPr>
          <p:nvPr/>
        </p:nvPicPr>
        <p:blipFill>
          <a:blip r:embed="rId2"/>
          <a:stretch>
            <a:fillRect/>
          </a:stretch>
        </p:blipFill>
        <p:spPr>
          <a:xfrm>
            <a:off x="548640" y="2240280"/>
            <a:ext cx="5669280" cy="2171214"/>
          </a:xfrm>
          <a:prstGeom prst="rect">
            <a:avLst/>
          </a:prstGeom>
          <a:effectLst>
            <a:outerShdw sx="100000" sy="100000" kx="0" ky="0" algn="bl" rotWithShape="0" blurRad="88900" dist="25400" dir="5400000">
              <a:srgbClr val="0F1B2D">
                <a:alpha val="15000"/>
              </a:srgbClr>
            </a:outerShdw>
          </a:effectLst>
        </p:spPr>
      </p:pic>
      <p:sp>
        <p:nvSpPr>
          <p:cNvPr id="8" name="Shape 4"/>
          <p:cNvSpPr/>
          <p:nvPr/>
        </p:nvSpPr>
        <p:spPr>
          <a:xfrm>
            <a:off x="548640" y="2240280"/>
            <a:ext cx="5669280" cy="2171214"/>
          </a:xfrm>
          <a:prstGeom prst="rect">
            <a:avLst/>
          </a:prstGeom>
          <a:ln w="12700">
            <a:solidFill>
              <a:srgbClr val="DCE3EC"/>
            </a:solidFill>
            <a:prstDash val="solid"/>
          </a:ln>
        </p:spPr>
      </p:sp>
      <p:sp>
        <p:nvSpPr>
          <p:cNvPr id="9" name="Text 5"/>
          <p:cNvSpPr/>
          <p:nvPr/>
        </p:nvSpPr>
        <p:spPr>
          <a:xfrm>
            <a:off x="548640" y="4502934"/>
            <a:ext cx="566928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 GW Ranch (highlighted), dashed distance line to Caramba North, ≈ 15.5 mi edge-to-edge. Base map: Exhibit 7.1.</a:t>
            </a:r>
            <a:endParaRPr lang="en-US" sz="900" dirty="0"/>
          </a:p>
        </p:txBody>
      </p:sp>
      <p:sp>
        <p:nvSpPr>
          <p:cNvPr id="10" name="Shape 6"/>
          <p:cNvSpPr/>
          <p:nvPr/>
        </p:nvSpPr>
        <p:spPr>
          <a:xfrm>
            <a:off x="6446520" y="2404872"/>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1" name="Image 2" descr="preencoded.png">    </p:cNvPr>
          <p:cNvPicPr>
            <a:picLocks noChangeAspect="1"/>
          </p:cNvPicPr>
          <p:nvPr/>
        </p:nvPicPr>
        <p:blipFill>
          <a:blip r:embed="rId3"/>
          <a:stretch>
            <a:fillRect/>
          </a:stretch>
        </p:blipFill>
        <p:spPr>
          <a:xfrm>
            <a:off x="6560088" y="2518440"/>
            <a:ext cx="193487" cy="193487"/>
          </a:xfrm>
          <a:prstGeom prst="rect">
            <a:avLst/>
          </a:prstGeom>
        </p:spPr>
      </p:pic>
      <p:sp>
        <p:nvSpPr>
          <p:cNvPr id="12" name="Text 7"/>
          <p:cNvSpPr/>
          <p:nvPr/>
        </p:nvSpPr>
        <p:spPr>
          <a:xfrm>
            <a:off x="7013448" y="2194560"/>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8,000-acre site, Pecos County</a:t>
            </a:r>
            <a:endParaRPr lang="en-US" sz="1200" dirty="0"/>
          </a:p>
        </p:txBody>
      </p:sp>
      <p:sp>
        <p:nvSpPr>
          <p:cNvPr id="13" name="Text 8"/>
          <p:cNvSpPr/>
          <p:nvPr/>
        </p:nvSpPr>
        <p:spPr>
          <a:xfrm>
            <a:off x="7013448" y="2564709"/>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 15.5 miles from Caramba North, edge-to-edge (TCEQ record: "~17 mi north of Fort Stockton on Highway 18").</a:t>
            </a:r>
            <a:endParaRPr lang="en-US" sz="970" dirty="0"/>
          </a:p>
        </p:txBody>
      </p:sp>
      <p:sp>
        <p:nvSpPr>
          <p:cNvPr id="14" name="Shape 9"/>
          <p:cNvSpPr/>
          <p:nvPr/>
        </p:nvSpPr>
        <p:spPr>
          <a:xfrm>
            <a:off x="6446520" y="3246120"/>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5" name="Image 3" descr="preencoded.png">    </p:cNvPr>
          <p:cNvPicPr>
            <a:picLocks noChangeAspect="1"/>
          </p:cNvPicPr>
          <p:nvPr/>
        </p:nvPicPr>
        <p:blipFill>
          <a:blip r:embed="rId4"/>
          <a:stretch>
            <a:fillRect/>
          </a:stretch>
        </p:blipFill>
        <p:spPr>
          <a:xfrm>
            <a:off x="6560088" y="3359688"/>
            <a:ext cx="193487" cy="193487"/>
          </a:xfrm>
          <a:prstGeom prst="rect">
            <a:avLst/>
          </a:prstGeom>
        </p:spPr>
      </p:pic>
      <p:sp>
        <p:nvSpPr>
          <p:cNvPr id="16" name="Text 10"/>
          <p:cNvSpPr/>
          <p:nvPr/>
        </p:nvSpPr>
        <p:spPr>
          <a:xfrm>
            <a:off x="7013448" y="3035808"/>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Amazon disclosed ownership Aug 2026</a:t>
            </a:r>
            <a:endParaRPr lang="en-US" sz="1200" dirty="0"/>
          </a:p>
        </p:txBody>
      </p:sp>
      <p:sp>
        <p:nvSpPr>
          <p:cNvPr id="17" name="Text 11"/>
          <p:cNvSpPr/>
          <p:nvPr/>
        </p:nvSpPr>
        <p:spPr>
          <a:xfrm>
            <a:off x="7013448" y="3405957"/>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Pacifico Energy Group remains the power-plant developer/operator.</a:t>
            </a:r>
            <a:endParaRPr lang="en-US" sz="970" dirty="0"/>
          </a:p>
        </p:txBody>
      </p:sp>
      <p:sp>
        <p:nvSpPr>
          <p:cNvPr id="18" name="Shape 12"/>
          <p:cNvSpPr/>
          <p:nvPr/>
        </p:nvSpPr>
        <p:spPr>
          <a:xfrm>
            <a:off x="6446520" y="4087368"/>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9" name="Image 4" descr="preencoded.png">    </p:cNvPr>
          <p:cNvPicPr>
            <a:picLocks noChangeAspect="1"/>
          </p:cNvPicPr>
          <p:nvPr/>
        </p:nvPicPr>
        <p:blipFill>
          <a:blip r:embed="rId5"/>
          <a:stretch>
            <a:fillRect/>
          </a:stretch>
        </p:blipFill>
        <p:spPr>
          <a:xfrm>
            <a:off x="6560088" y="4200936"/>
            <a:ext cx="193487" cy="193487"/>
          </a:xfrm>
          <a:prstGeom prst="rect">
            <a:avLst/>
          </a:prstGeom>
        </p:spPr>
      </p:pic>
      <p:sp>
        <p:nvSpPr>
          <p:cNvPr id="20" name="Text 13"/>
          <p:cNvSpPr/>
          <p:nvPr/>
        </p:nvSpPr>
        <p:spPr>
          <a:xfrm>
            <a:off x="7013448" y="3877056"/>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35 gas turbines · 7.65 GW TCEQ air permit</a:t>
            </a:r>
            <a:endParaRPr lang="en-US" sz="1200" dirty="0"/>
          </a:p>
        </p:txBody>
      </p:sp>
      <p:sp>
        <p:nvSpPr>
          <p:cNvPr id="21" name="Text 14"/>
          <p:cNvSpPr/>
          <p:nvPr/>
        </p:nvSpPr>
        <p:spPr>
          <a:xfrm>
            <a:off x="7013448" y="4247205"/>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Largest air permit issued in the US (Jan/Feb 2026), plus 1.8 GW battery storage and up to 750 MW solar.</a:t>
            </a:r>
            <a:endParaRPr lang="en-US" sz="970" dirty="0"/>
          </a:p>
        </p:txBody>
      </p:sp>
      <p:sp>
        <p:nvSpPr>
          <p:cNvPr id="22" name="Shape 15"/>
          <p:cNvSpPr/>
          <p:nvPr/>
        </p:nvSpPr>
        <p:spPr>
          <a:xfrm>
            <a:off x="6446520" y="4928616"/>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23" name="Image 5" descr="preencoded.png">    </p:cNvPr>
          <p:cNvPicPr>
            <a:picLocks noChangeAspect="1"/>
          </p:cNvPicPr>
          <p:nvPr/>
        </p:nvPicPr>
        <p:blipFill>
          <a:blip r:embed="rId6"/>
          <a:stretch>
            <a:fillRect/>
          </a:stretch>
        </p:blipFill>
        <p:spPr>
          <a:xfrm>
            <a:off x="6560088" y="5042184"/>
            <a:ext cx="193487" cy="193487"/>
          </a:xfrm>
          <a:prstGeom prst="rect">
            <a:avLst/>
          </a:prstGeom>
        </p:spPr>
      </p:pic>
      <p:sp>
        <p:nvSpPr>
          <p:cNvPr id="24" name="Text 16"/>
          <p:cNvSpPr/>
          <p:nvPr/>
        </p:nvSpPr>
        <p:spPr>
          <a:xfrm>
            <a:off x="7013448" y="4718304"/>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Three 189,000 sq ft data-center buildings</a:t>
            </a:r>
            <a:endParaRPr lang="en-US" sz="1200" dirty="0"/>
          </a:p>
        </p:txBody>
      </p:sp>
      <p:sp>
        <p:nvSpPr>
          <p:cNvPr id="25" name="Text 17"/>
          <p:cNvSpPr/>
          <p:nvPr/>
        </p:nvSpPr>
        <p:spPr>
          <a:xfrm>
            <a:off x="7013448" y="5088453"/>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Gensler design, ≈ $300M each; targeted completion Dec 2026; ≈ $12B estimated total project investment.</a:t>
            </a:r>
            <a:endParaRPr lang="en-US" sz="970" dirty="0"/>
          </a:p>
        </p:txBody>
      </p:sp>
      <p:sp>
        <p:nvSpPr>
          <p:cNvPr id="26" name="Shape 18"/>
          <p:cNvSpPr/>
          <p:nvPr/>
        </p:nvSpPr>
        <p:spPr>
          <a:xfrm>
            <a:off x="6446520" y="5605272"/>
            <a:ext cx="5166360" cy="868680"/>
          </a:xfrm>
          <a:prstGeom prst="roundRect">
            <a:avLst>
              <a:gd name="adj" fmla="val 4211"/>
            </a:avLst>
          </a:prstGeom>
          <a:solidFill>
            <a:srgbClr val="FEF9EC"/>
          </a:solidFill>
          <a:ln w="12700">
            <a:solidFill>
              <a:srgbClr val="D9B36C"/>
            </a:solidFill>
            <a:prstDash val="solid"/>
          </a:ln>
        </p:spPr>
      </p:sp>
      <p:sp>
        <p:nvSpPr>
          <p:cNvPr id="27" name="Text 19"/>
          <p:cNvSpPr/>
          <p:nvPr/>
        </p:nvSpPr>
        <p:spPr>
          <a:xfrm>
            <a:off x="6592824" y="5660136"/>
            <a:ext cx="4873752" cy="758952"/>
          </a:xfrm>
          <a:prstGeom prst="rect">
            <a:avLst/>
          </a:prstGeom>
          <a:noFill/>
          <a:ln/>
        </p:spPr>
        <p:txBody>
          <a:bodyPr wrap="square" rtlCol="0" anchor="ctr"/>
          <a:lstStyle/>
          <a:p>
            <a:pPr indent="0" marL="0">
              <a:lnSpc>
                <a:spcPct val="102000"/>
              </a:lnSpc>
              <a:buNone/>
            </a:pPr>
            <a:r>
              <a:rPr lang="en-US" sz="900" b="1" dirty="0">
                <a:solidFill>
                  <a:srgbClr val="6B4A17"/>
                </a:solidFill>
                <a:latin typeface="Calibri" pitchFamily="34" charset="0"/>
                <a:ea typeface="Calibri" pitchFamily="34" charset="-122"/>
                <a:cs typeface="Calibri" pitchFamily="34" charset="-120"/>
              </a:rPr>
              <a:t>Clarification — </a:t>
            </a:r>
            <a:pPr indent="0" marL="0">
              <a:lnSpc>
                <a:spcPct val="102000"/>
              </a:lnSpc>
              <a:buNone/>
            </a:pPr>
            <a:r>
              <a:rPr lang="en-US" sz="900" dirty="0">
                <a:solidFill>
                  <a:srgbClr val="6B4A17"/>
                </a:solidFill>
                <a:latin typeface="Calibri" pitchFamily="34" charset="0"/>
                <a:ea typeface="Calibri" pitchFamily="34" charset="-122"/>
                <a:cs typeface="Calibri" pitchFamily="34" charset="-120"/>
              </a:rPr>
              <a:t>the 7.65 GW figure is a TCEQ generation air permit, not an ERCOT interconnection queue position; Amazon has not disclosed an ERCOT filing and the project is off-grid initially — this sits inside the state-level audit context (slide 14).</a:t>
            </a:r>
            <a:endParaRPr lang="en-US" sz="900" dirty="0"/>
          </a:p>
        </p:txBody>
      </p:sp>
      <p:sp>
        <p:nvSpPr>
          <p:cNvPr id="28" name="Text 20"/>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29" name="Text 21"/>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B91C1C"/>
                </a:solidFill>
                <a:latin typeface="Calibri" pitchFamily="34" charset="0"/>
                <a:ea typeface="Calibri" pitchFamily="34" charset="-122"/>
                <a:cs typeface="Calibri" pitchFamily="34" charset="-120"/>
              </a:rPr>
              <a:t>11 · FEATURE — LONGFELLOW</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A second phased gas-generation campus, 19.3 miles south</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7F1D1D"/>
                </a:solidFill>
                <a:latin typeface="Cambria" pitchFamily="34" charset="0"/>
                <a:ea typeface="Cambria" pitchFamily="34" charset="-122"/>
                <a:cs typeface="Cambria" pitchFamily="34" charset="-120"/>
              </a:rPr>
              <a:t>The corridor's demand for on-site power isn't one project deep.</a:t>
            </a:r>
            <a:endParaRPr lang="en-US" sz="1250" dirty="0"/>
          </a:p>
        </p:txBody>
      </p:sp>
      <p:pic>
        <p:nvPicPr>
          <p:cNvPr id="7" name="Image 1" descr="/home/claude/repo/outputs/reports/om_exhibits/exhibit_longfellow.jpg">    </p:cNvPr>
          <p:cNvPicPr>
            <a:picLocks noChangeAspect="1"/>
          </p:cNvPicPr>
          <p:nvPr/>
        </p:nvPicPr>
        <p:blipFill>
          <a:blip r:embed="rId2"/>
          <a:stretch>
            <a:fillRect/>
          </a:stretch>
        </p:blipFill>
        <p:spPr>
          <a:xfrm>
            <a:off x="548640" y="2240280"/>
            <a:ext cx="5669280" cy="2029345"/>
          </a:xfrm>
          <a:prstGeom prst="rect">
            <a:avLst/>
          </a:prstGeom>
          <a:effectLst>
            <a:outerShdw sx="100000" sy="100000" kx="0" ky="0" algn="bl" rotWithShape="0" blurRad="88900" dist="25400" dir="5400000">
              <a:srgbClr val="0F1B2D">
                <a:alpha val="15000"/>
              </a:srgbClr>
            </a:outerShdw>
          </a:effectLst>
        </p:spPr>
      </p:pic>
      <p:sp>
        <p:nvSpPr>
          <p:cNvPr id="8" name="Shape 4"/>
          <p:cNvSpPr/>
          <p:nvPr/>
        </p:nvSpPr>
        <p:spPr>
          <a:xfrm>
            <a:off x="548640" y="2240280"/>
            <a:ext cx="5669280" cy="2029345"/>
          </a:xfrm>
          <a:prstGeom prst="rect">
            <a:avLst/>
          </a:prstGeom>
          <a:ln w="12700">
            <a:solidFill>
              <a:srgbClr val="DCE3EC"/>
            </a:solidFill>
            <a:prstDash val="solid"/>
          </a:ln>
        </p:spPr>
      </p:sp>
      <p:sp>
        <p:nvSpPr>
          <p:cNvPr id="9" name="Text 5"/>
          <p:cNvSpPr/>
          <p:nvPr/>
        </p:nvSpPr>
        <p:spPr>
          <a:xfrm>
            <a:off x="548640" y="4361065"/>
            <a:ext cx="566928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Exhibit — Longfellow (highlighted), dashed distance line to Caramba North, ≈ 19.3 mi edge-to-edge. Base map: Exhibit 7.1.</a:t>
            </a:r>
            <a:endParaRPr lang="en-US" sz="900" dirty="0"/>
          </a:p>
        </p:txBody>
      </p:sp>
      <p:sp>
        <p:nvSpPr>
          <p:cNvPr id="10" name="Shape 6"/>
          <p:cNvSpPr/>
          <p:nvPr/>
        </p:nvSpPr>
        <p:spPr>
          <a:xfrm>
            <a:off x="6446520" y="2404872"/>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1" name="Image 2" descr="preencoded.png">    </p:cNvPr>
          <p:cNvPicPr>
            <a:picLocks noChangeAspect="1"/>
          </p:cNvPicPr>
          <p:nvPr/>
        </p:nvPicPr>
        <p:blipFill>
          <a:blip r:embed="rId3"/>
          <a:stretch>
            <a:fillRect/>
          </a:stretch>
        </p:blipFill>
        <p:spPr>
          <a:xfrm>
            <a:off x="6560088" y="2518440"/>
            <a:ext cx="193487" cy="193487"/>
          </a:xfrm>
          <a:prstGeom prst="rect">
            <a:avLst/>
          </a:prstGeom>
        </p:spPr>
      </p:pic>
      <p:sp>
        <p:nvSpPr>
          <p:cNvPr id="12" name="Text 7"/>
          <p:cNvSpPr/>
          <p:nvPr/>
        </p:nvSpPr>
        <p:spPr>
          <a:xfrm>
            <a:off x="7013448" y="2194560"/>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568-acre site, Pecos County</a:t>
            </a:r>
            <a:endParaRPr lang="en-US" sz="1200" dirty="0"/>
          </a:p>
        </p:txBody>
      </p:sp>
      <p:sp>
        <p:nvSpPr>
          <p:cNvPr id="13" name="Text 8"/>
          <p:cNvSpPr/>
          <p:nvPr/>
        </p:nvSpPr>
        <p:spPr>
          <a:xfrm>
            <a:off x="7013448" y="2564709"/>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 19.3 miles from Caramba North, edge-to-edge. Longfellow's own public materials describe the location as "more than 25 miles outside of Fort Stockton."</a:t>
            </a:r>
            <a:endParaRPr lang="en-US" sz="970" dirty="0"/>
          </a:p>
        </p:txBody>
      </p:sp>
      <p:sp>
        <p:nvSpPr>
          <p:cNvPr id="14" name="Shape 9"/>
          <p:cNvSpPr/>
          <p:nvPr/>
        </p:nvSpPr>
        <p:spPr>
          <a:xfrm>
            <a:off x="6446520" y="3246120"/>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5" name="Image 3" descr="preencoded.png">    </p:cNvPr>
          <p:cNvPicPr>
            <a:picLocks noChangeAspect="1"/>
          </p:cNvPicPr>
          <p:nvPr/>
        </p:nvPicPr>
        <p:blipFill>
          <a:blip r:embed="rId4"/>
          <a:stretch>
            <a:fillRect/>
          </a:stretch>
        </p:blipFill>
        <p:spPr>
          <a:xfrm>
            <a:off x="6560088" y="3359688"/>
            <a:ext cx="193487" cy="193487"/>
          </a:xfrm>
          <a:prstGeom prst="rect">
            <a:avLst/>
          </a:prstGeom>
        </p:spPr>
      </p:pic>
      <p:sp>
        <p:nvSpPr>
          <p:cNvPr id="16" name="Text 10"/>
          <p:cNvSpPr/>
          <p:nvPr/>
        </p:nvSpPr>
        <p:spPr>
          <a:xfrm>
            <a:off x="7013448" y="3035808"/>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On-site natural-gas generation planned</a:t>
            </a:r>
            <a:endParaRPr lang="en-US" sz="1200" dirty="0"/>
          </a:p>
        </p:txBody>
      </p:sp>
      <p:sp>
        <p:nvSpPr>
          <p:cNvPr id="17" name="Text 11"/>
          <p:cNvSpPr/>
          <p:nvPr/>
        </p:nvSpPr>
        <p:spPr>
          <a:xfrm>
            <a:off x="7013448" y="3405957"/>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Aero-derivative turbines with SCR and carbon-capture capability; closed-loop cooling on permitted non-potable groundwater.</a:t>
            </a:r>
            <a:endParaRPr lang="en-US" sz="970" dirty="0"/>
          </a:p>
        </p:txBody>
      </p:sp>
      <p:sp>
        <p:nvSpPr>
          <p:cNvPr id="18" name="Shape 12"/>
          <p:cNvSpPr/>
          <p:nvPr/>
        </p:nvSpPr>
        <p:spPr>
          <a:xfrm>
            <a:off x="6446520" y="4087368"/>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19" name="Image 4" descr="preencoded.png">    </p:cNvPr>
          <p:cNvPicPr>
            <a:picLocks noChangeAspect="1"/>
          </p:cNvPicPr>
          <p:nvPr/>
        </p:nvPicPr>
        <p:blipFill>
          <a:blip r:embed="rId5"/>
          <a:stretch>
            <a:fillRect/>
          </a:stretch>
        </p:blipFill>
        <p:spPr>
          <a:xfrm>
            <a:off x="6560088" y="4200936"/>
            <a:ext cx="193487" cy="193487"/>
          </a:xfrm>
          <a:prstGeom prst="rect">
            <a:avLst/>
          </a:prstGeom>
        </p:spPr>
      </p:pic>
      <p:sp>
        <p:nvSpPr>
          <p:cNvPr id="20" name="Text 13"/>
          <p:cNvSpPr/>
          <p:nvPr/>
        </p:nvSpPr>
        <p:spPr>
          <a:xfrm>
            <a:off x="7013448" y="3877056"/>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Originally announced Oct 2025</a:t>
            </a:r>
            <a:endParaRPr lang="en-US" sz="1200" dirty="0"/>
          </a:p>
        </p:txBody>
      </p:sp>
      <p:sp>
        <p:nvSpPr>
          <p:cNvPr id="21" name="Text 14"/>
          <p:cNvSpPr/>
          <p:nvPr/>
        </p:nvSpPr>
        <p:spPr>
          <a:xfrm>
            <a:off x="7013448" y="4247205"/>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A 2 GW, 8-phase campus (250 MW/phase).</a:t>
            </a:r>
            <a:endParaRPr lang="en-US" sz="970" dirty="0"/>
          </a:p>
        </p:txBody>
      </p:sp>
      <p:sp>
        <p:nvSpPr>
          <p:cNvPr id="22" name="Shape 15"/>
          <p:cNvSpPr/>
          <p:nvPr/>
        </p:nvSpPr>
        <p:spPr>
          <a:xfrm>
            <a:off x="6446520" y="4928616"/>
            <a:ext cx="420624" cy="420624"/>
          </a:xfrm>
          <a:prstGeom prst="ellipse">
            <a:avLst/>
          </a:prstGeom>
          <a:solidFill>
            <a:srgbClr val="B91C1C"/>
          </a:solidFill>
          <a:ln/>
          <a:effectLst>
            <a:outerShdw sx="100000" sy="100000" kx="0" ky="0" algn="bl" rotWithShape="0" blurRad="88900" dist="25400" dir="5400000">
              <a:srgbClr val="0F1B2D">
                <a:alpha val="15000"/>
              </a:srgbClr>
            </a:outerShdw>
          </a:effectLst>
        </p:spPr>
      </p:sp>
      <p:pic>
        <p:nvPicPr>
          <p:cNvPr id="23" name="Image 5" descr="preencoded.png">    </p:cNvPr>
          <p:cNvPicPr>
            <a:picLocks noChangeAspect="1"/>
          </p:cNvPicPr>
          <p:nvPr/>
        </p:nvPicPr>
        <p:blipFill>
          <a:blip r:embed="rId6"/>
          <a:stretch>
            <a:fillRect/>
          </a:stretch>
        </p:blipFill>
        <p:spPr>
          <a:xfrm>
            <a:off x="6560088" y="5042184"/>
            <a:ext cx="193487" cy="193487"/>
          </a:xfrm>
          <a:prstGeom prst="rect">
            <a:avLst/>
          </a:prstGeom>
        </p:spPr>
      </p:pic>
      <p:sp>
        <p:nvSpPr>
          <p:cNvPr id="24" name="Text 16"/>
          <p:cNvSpPr/>
          <p:nvPr/>
        </p:nvSpPr>
        <p:spPr>
          <a:xfrm>
            <a:off x="7013448" y="4718304"/>
            <a:ext cx="4599432" cy="386974"/>
          </a:xfrm>
          <a:prstGeom prst="rect">
            <a:avLst/>
          </a:prstGeom>
          <a:noFill/>
          <a:ln/>
        </p:spPr>
        <p:txBody>
          <a:bodyPr wrap="square" rtlCol="0" anchor="b"/>
          <a:lstStyle/>
          <a:p>
            <a:pPr indent="0" marL="0">
              <a:buNone/>
            </a:pPr>
            <a:r>
              <a:rPr lang="en-US" sz="1200" b="1" dirty="0">
                <a:solidFill>
                  <a:srgbClr val="0F1B2D"/>
                </a:solidFill>
                <a:latin typeface="Calibri" pitchFamily="34" charset="0"/>
                <a:ea typeface="Calibri" pitchFamily="34" charset="-122"/>
                <a:cs typeface="Calibri" pitchFamily="34" charset="-120"/>
              </a:rPr>
              <a:t>Status: phase-1 site work underway</a:t>
            </a:r>
            <a:endParaRPr lang="en-US" sz="1200" dirty="0"/>
          </a:p>
        </p:txBody>
      </p:sp>
      <p:sp>
        <p:nvSpPr>
          <p:cNvPr id="25" name="Text 17"/>
          <p:cNvSpPr/>
          <p:nvPr/>
        </p:nvSpPr>
        <p:spPr>
          <a:xfrm>
            <a:off x="7013448" y="5088453"/>
            <a:ext cx="4599432" cy="471099"/>
          </a:xfrm>
          <a:prstGeom prst="rect">
            <a:avLst/>
          </a:prstGeom>
          <a:noFill/>
          <a:ln/>
        </p:spPr>
        <p:txBody>
          <a:bodyPr wrap="square" rtlCol="0" anchor="t"/>
          <a:lstStyle/>
          <a:p>
            <a:pPr indent="0" marL="0">
              <a:lnSpc>
                <a:spcPct val="98000"/>
              </a:lnSpc>
              <a:buNone/>
            </a:pPr>
            <a:r>
              <a:rPr lang="en-US" sz="970" dirty="0">
                <a:solidFill>
                  <a:srgbClr val="3D4E63"/>
                </a:solidFill>
                <a:latin typeface="Calibri" pitchFamily="34" charset="0"/>
                <a:ea typeface="Calibri" pitchFamily="34" charset="-122"/>
                <a:cs typeface="Calibri" pitchFamily="34" charset="-120"/>
              </a:rPr>
              <a:t>On-site generation build planned in phases.</a:t>
            </a:r>
            <a:endParaRPr lang="en-US" sz="970" dirty="0"/>
          </a:p>
        </p:txBody>
      </p:sp>
      <p:sp>
        <p:nvSpPr>
          <p:cNvPr id="26" name="Shape 18"/>
          <p:cNvSpPr/>
          <p:nvPr/>
        </p:nvSpPr>
        <p:spPr>
          <a:xfrm>
            <a:off x="6446520" y="5605272"/>
            <a:ext cx="5166360" cy="868680"/>
          </a:xfrm>
          <a:prstGeom prst="roundRect">
            <a:avLst>
              <a:gd name="adj" fmla="val 4211"/>
            </a:avLst>
          </a:prstGeom>
          <a:solidFill>
            <a:srgbClr val="FEF9EC"/>
          </a:solidFill>
          <a:ln w="12700">
            <a:solidFill>
              <a:srgbClr val="D9B36C"/>
            </a:solidFill>
            <a:prstDash val="solid"/>
          </a:ln>
        </p:spPr>
      </p:sp>
      <p:sp>
        <p:nvSpPr>
          <p:cNvPr id="27" name="Text 19"/>
          <p:cNvSpPr/>
          <p:nvPr/>
        </p:nvSpPr>
        <p:spPr>
          <a:xfrm>
            <a:off x="6592824" y="5660136"/>
            <a:ext cx="4873752" cy="758952"/>
          </a:xfrm>
          <a:prstGeom prst="rect">
            <a:avLst/>
          </a:prstGeom>
          <a:noFill/>
          <a:ln/>
        </p:spPr>
        <p:txBody>
          <a:bodyPr wrap="square" rtlCol="0" anchor="ctr"/>
          <a:lstStyle/>
          <a:p>
            <a:pPr indent="0" marL="0">
              <a:lnSpc>
                <a:spcPct val="102000"/>
              </a:lnSpc>
              <a:buNone/>
            </a:pPr>
            <a:r>
              <a:rPr lang="en-US" sz="900" b="1" dirty="0">
                <a:solidFill>
                  <a:srgbClr val="6B4A17"/>
                </a:solidFill>
                <a:latin typeface="Calibri" pitchFamily="34" charset="0"/>
                <a:ea typeface="Calibri" pitchFamily="34" charset="-122"/>
                <a:cs typeface="Calibri" pitchFamily="34" charset="-120"/>
              </a:rPr>
              <a:t>Permitting status — </a:t>
            </a:r>
            <a:pPr indent="0" marL="0">
              <a:lnSpc>
                <a:spcPct val="102000"/>
              </a:lnSpc>
              <a:buNone/>
            </a:pPr>
            <a:r>
              <a:rPr lang="en-US" sz="900" dirty="0">
                <a:solidFill>
                  <a:srgbClr val="6B4A17"/>
                </a:solidFill>
                <a:latin typeface="Calibri" pitchFamily="34" charset="0"/>
                <a:ea typeface="Calibri" pitchFamily="34" charset="-122"/>
                <a:cs typeface="Calibri" pitchFamily="34" charset="-120"/>
              </a:rPr>
              <a:t>no confirmed ERCOT queue position or TCEQ air-permit record was found for this site as of Aug 2026 — stated here as a fact about permitting status, not as commentary on the project's viability.</a:t>
            </a:r>
            <a:endParaRPr lang="en-US" sz="900" dirty="0"/>
          </a:p>
        </p:txBody>
      </p:sp>
      <p:sp>
        <p:nvSpPr>
          <p:cNvPr id="28" name="Text 20"/>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29" name="Text 21"/>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12 · WATER</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Already permitted: two-thirds of the district's industrial water rights</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47,418 AF/yr on adjacent affiliated lands — the water conversation is closed, not open.</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583680" cy="914400"/>
        </p:xfrm>
        <a:graphic>
          <a:graphicData uri="http://schemas.openxmlformats.org/drawingml/2006/table">
            <a:tbl>
              <a:tblPr/>
              <a:tblGrid>
                <a:gridCol w="2103120"/>
                <a:gridCol w="44805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ATTRIBUTE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Permitted volume</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47,418 AF/yr (≈ 42.3 MGD)</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Position</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Adjacent affiliated lands — ≈ two-thirds of all Middle Pecos GCD industrial rights</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Source aquifer</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Edwards-Trinity (Plateau)</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Recharge history</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Recharge held through the 1950s drought of record</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Groundwater district</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Middle Pecos GCD</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Permitted use</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Industrial — cooling and hyperscale loads</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8" name="Shape 4"/>
          <p:cNvSpPr/>
          <p:nvPr/>
        </p:nvSpPr>
        <p:spPr>
          <a:xfrm>
            <a:off x="7406640" y="2011680"/>
            <a:ext cx="4206240" cy="1737360"/>
          </a:xfrm>
          <a:prstGeom prst="roundRect">
            <a:avLst>
              <a:gd name="adj" fmla="val 2632"/>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9" name="Text 5"/>
          <p:cNvSpPr/>
          <p:nvPr/>
        </p:nvSpPr>
        <p:spPr>
          <a:xfrm>
            <a:off x="7516368" y="2084832"/>
            <a:ext cx="3986784" cy="1280160"/>
          </a:xfrm>
          <a:prstGeom prst="rect">
            <a:avLst/>
          </a:prstGeom>
          <a:noFill/>
          <a:ln/>
        </p:spPr>
        <p:txBody>
          <a:bodyPr wrap="square" rtlCol="0" anchor="b"/>
          <a:lstStyle/>
          <a:p>
            <a:pPr indent="0" marL="0">
              <a:buNone/>
            </a:pPr>
            <a:r>
              <a:rPr lang="en-US" sz="3000" b="1" dirty="0">
                <a:solidFill>
                  <a:srgbClr val="0F1B2D"/>
                </a:solidFill>
                <a:latin typeface="Calibri" pitchFamily="34" charset="0"/>
                <a:ea typeface="Calibri" pitchFamily="34" charset="-122"/>
                <a:cs typeface="Calibri" pitchFamily="34" charset="-120"/>
              </a:rPr>
              <a:t>47,418</a:t>
            </a:r>
            <a:endParaRPr lang="en-US" sz="3000" dirty="0"/>
          </a:p>
        </p:txBody>
      </p:sp>
      <p:sp>
        <p:nvSpPr>
          <p:cNvPr id="10" name="Text 6"/>
          <p:cNvSpPr/>
          <p:nvPr/>
        </p:nvSpPr>
        <p:spPr>
          <a:xfrm>
            <a:off x="7516368" y="3383280"/>
            <a:ext cx="39867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AF/YR PERMITTED, ADJACENT AFFILIATED LANDS</a:t>
            </a:r>
            <a:endParaRPr lang="en-US" sz="730" dirty="0"/>
          </a:p>
        </p:txBody>
      </p:sp>
      <p:sp>
        <p:nvSpPr>
          <p:cNvPr id="11" name="Shape 7"/>
          <p:cNvSpPr/>
          <p:nvPr/>
        </p:nvSpPr>
        <p:spPr>
          <a:xfrm>
            <a:off x="7406640" y="3931920"/>
            <a:ext cx="4206240" cy="1737360"/>
          </a:xfrm>
          <a:prstGeom prst="roundRect">
            <a:avLst>
              <a:gd name="adj" fmla="val 2632"/>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2" name="Text 8"/>
          <p:cNvSpPr/>
          <p:nvPr/>
        </p:nvSpPr>
        <p:spPr>
          <a:xfrm>
            <a:off x="7516368" y="4005072"/>
            <a:ext cx="3986784" cy="1280160"/>
          </a:xfrm>
          <a:prstGeom prst="rect">
            <a:avLst/>
          </a:prstGeom>
          <a:noFill/>
          <a:ln/>
        </p:spPr>
        <p:txBody>
          <a:bodyPr wrap="square" rtlCol="0" anchor="b"/>
          <a:lstStyle/>
          <a:p>
            <a:pPr indent="0" marL="0">
              <a:buNone/>
            </a:pPr>
            <a:r>
              <a:rPr lang="en-US" sz="3000" b="1" dirty="0">
                <a:solidFill>
                  <a:srgbClr val="0F1B2D"/>
                </a:solidFill>
                <a:latin typeface="Calibri" pitchFamily="34" charset="0"/>
                <a:ea typeface="Calibri" pitchFamily="34" charset="-122"/>
                <a:cs typeface="Calibri" pitchFamily="34" charset="-120"/>
              </a:rPr>
              <a:t>≈ 2/3</a:t>
            </a:r>
            <a:endParaRPr lang="en-US" sz="3000" dirty="0"/>
          </a:p>
        </p:txBody>
      </p:sp>
      <p:sp>
        <p:nvSpPr>
          <p:cNvPr id="13" name="Text 9"/>
          <p:cNvSpPr/>
          <p:nvPr/>
        </p:nvSpPr>
        <p:spPr>
          <a:xfrm>
            <a:off x="7516368" y="5303520"/>
            <a:ext cx="39867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OF ALL MIDDLE PECOS GCD INDUSTRIAL RIGHTS</a:t>
            </a:r>
            <a:endParaRPr lang="en-US" sz="730" dirty="0"/>
          </a:p>
        </p:txBody>
      </p:sp>
      <p:sp>
        <p:nvSpPr>
          <p:cNvPr id="14" name="Text 10"/>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5" name="Text 11"/>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13 · NATURAL GAS</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A signable 15-year gas quote at Waha basis, twenty miles from the hub</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The same structural discount now drawing behind-the-meter generation to this corridor, at GW Ranch and Longfellow alike.</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583680" cy="914400"/>
        </p:xfrm>
        <a:graphic>
          <a:graphicData uri="http://schemas.openxmlformats.org/drawingml/2006/table">
            <a:tbl>
              <a:tblPr/>
              <a:tblGrid>
                <a:gridCol w="2103120"/>
                <a:gridCol w="448056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ATTRIBUTE</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Distance to hub</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20 mi to Waha</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Indicative volume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200,000 MMBtu/day</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Term / pricing</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15-year term, Waha-index pricing (counterparty-supplied)</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CIAC</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$15–25M</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Lead time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9–15 months</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Basis context</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Structural discount to Henry Hub; negative Waha prints 2024–2025 as Matterhorn, Blackcomb, Hugh Brinson, and GCX pipelines rebalance Permian egress</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8" name="Shape 4"/>
          <p:cNvSpPr/>
          <p:nvPr/>
        </p:nvSpPr>
        <p:spPr>
          <a:xfrm>
            <a:off x="7406640" y="2011680"/>
            <a:ext cx="4206240" cy="1737360"/>
          </a:xfrm>
          <a:prstGeom prst="roundRect">
            <a:avLst>
              <a:gd name="adj" fmla="val 2632"/>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9" name="Text 5"/>
          <p:cNvSpPr/>
          <p:nvPr/>
        </p:nvSpPr>
        <p:spPr>
          <a:xfrm>
            <a:off x="7516368" y="2084832"/>
            <a:ext cx="3986784" cy="1280160"/>
          </a:xfrm>
          <a:prstGeom prst="rect">
            <a:avLst/>
          </a:prstGeom>
          <a:noFill/>
          <a:ln/>
        </p:spPr>
        <p:txBody>
          <a:bodyPr wrap="square" rtlCol="0" anchor="b"/>
          <a:lstStyle/>
          <a:p>
            <a:pPr indent="0" marL="0">
              <a:buNone/>
            </a:pPr>
            <a:r>
              <a:rPr lang="en-US" sz="3000" b="1" dirty="0">
                <a:solidFill>
                  <a:srgbClr val="0F1B2D"/>
                </a:solidFill>
                <a:latin typeface="Calibri" pitchFamily="34" charset="0"/>
                <a:ea typeface="Calibri" pitchFamily="34" charset="-122"/>
                <a:cs typeface="Calibri" pitchFamily="34" charset="-120"/>
              </a:rPr>
              <a:t>20 mi</a:t>
            </a:r>
            <a:endParaRPr lang="en-US" sz="3000" dirty="0"/>
          </a:p>
        </p:txBody>
      </p:sp>
      <p:sp>
        <p:nvSpPr>
          <p:cNvPr id="10" name="Text 6"/>
          <p:cNvSpPr/>
          <p:nvPr/>
        </p:nvSpPr>
        <p:spPr>
          <a:xfrm>
            <a:off x="7516368" y="3383280"/>
            <a:ext cx="39867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TO WAHA HUB</a:t>
            </a:r>
            <a:endParaRPr lang="en-US" sz="730" dirty="0"/>
          </a:p>
        </p:txBody>
      </p:sp>
      <p:sp>
        <p:nvSpPr>
          <p:cNvPr id="11" name="Shape 7"/>
          <p:cNvSpPr/>
          <p:nvPr/>
        </p:nvSpPr>
        <p:spPr>
          <a:xfrm>
            <a:off x="7406640" y="3931920"/>
            <a:ext cx="4206240" cy="1737360"/>
          </a:xfrm>
          <a:prstGeom prst="roundRect">
            <a:avLst>
              <a:gd name="adj" fmla="val 2632"/>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2" name="Text 8"/>
          <p:cNvSpPr/>
          <p:nvPr/>
        </p:nvSpPr>
        <p:spPr>
          <a:xfrm>
            <a:off x="7516368" y="4005072"/>
            <a:ext cx="3986784" cy="1280160"/>
          </a:xfrm>
          <a:prstGeom prst="rect">
            <a:avLst/>
          </a:prstGeom>
          <a:noFill/>
          <a:ln/>
        </p:spPr>
        <p:txBody>
          <a:bodyPr wrap="square" rtlCol="0" anchor="b"/>
          <a:lstStyle/>
          <a:p>
            <a:pPr indent="0" marL="0">
              <a:buNone/>
            </a:pPr>
            <a:r>
              <a:rPr lang="en-US" sz="3000" b="1" dirty="0">
                <a:solidFill>
                  <a:srgbClr val="0F1B2D"/>
                </a:solidFill>
                <a:latin typeface="Calibri" pitchFamily="34" charset="0"/>
                <a:ea typeface="Calibri" pitchFamily="34" charset="-122"/>
                <a:cs typeface="Calibri" pitchFamily="34" charset="-120"/>
              </a:rPr>
              <a:t>15 yr</a:t>
            </a:r>
            <a:endParaRPr lang="en-US" sz="3000" dirty="0"/>
          </a:p>
        </p:txBody>
      </p:sp>
      <p:sp>
        <p:nvSpPr>
          <p:cNvPr id="13" name="Text 9"/>
          <p:cNvSpPr/>
          <p:nvPr/>
        </p:nvSpPr>
        <p:spPr>
          <a:xfrm>
            <a:off x="7516368" y="5303520"/>
            <a:ext cx="3986784"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SIGNABLE INDICATIVE TERM, WAHA-INDEX</a:t>
            </a:r>
            <a:endParaRPr lang="en-US" sz="730" dirty="0"/>
          </a:p>
        </p:txBody>
      </p:sp>
      <p:sp>
        <p:nvSpPr>
          <p:cNvPr id="14" name="Text 10"/>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5" name="Text 11"/>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14 · MACRO CONTEXT — ERCOT BACKLOG</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The state-level queue got large enough to trigger a regulatory pause</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63 GW to 474 GW in under two years — a demand signal real enough to have created a policy problem, a different claim than "this area is growing."</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1554480"/>
                <a:gridCol w="1463040"/>
                <a:gridCol w="804672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STATEWIDE QUEUE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End of 2024</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6202E"/>
                          </a:solidFill>
                          <a:latin typeface="Calibri" pitchFamily="34" charset="0"/>
                          <a:ea typeface="Calibri" pitchFamily="34" charset="-122"/>
                          <a:cs typeface="Calibri" pitchFamily="34" charset="-120"/>
                        </a:rPr>
                        <a:t>63 GW</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Large-load interconnection queue, statewide</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Nov 2025</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r" indent="0" marL="0">
                        <a:buNone/>
                      </a:pPr>
                      <a:r>
                        <a:rPr lang="en-US" sz="1150" dirty="0">
                          <a:solidFill>
                            <a:srgbClr val="16202E"/>
                          </a:solidFill>
                          <a:latin typeface="Calibri" pitchFamily="34" charset="0"/>
                          <a:ea typeface="Calibri" pitchFamily="34" charset="-122"/>
                          <a:cs typeface="Calibri" pitchFamily="34" charset="-120"/>
                        </a:rPr>
                        <a:t>226 GW</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 77% of that load is data centers targeting 2030 interconnection</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Aug 2026</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6202E"/>
                          </a:solidFill>
                          <a:latin typeface="Calibri" pitchFamily="34" charset="0"/>
                          <a:ea typeface="Calibri" pitchFamily="34" charset="-122"/>
                          <a:cs typeface="Calibri" pitchFamily="34" charset="-120"/>
                        </a:rPr>
                        <a:t>≈ 474 GW</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202E"/>
                          </a:solidFill>
                          <a:latin typeface="Calibri" pitchFamily="34" charset="0"/>
                          <a:ea typeface="Calibri" pitchFamily="34" charset="-122"/>
                          <a:cs typeface="Calibri" pitchFamily="34" charset="-120"/>
                        </a:rPr>
                        <a:t>≈ 90% data-center-driven; "more than five times Texas' record peak" demand, per Gov. Abbott</a:t>
                      </a:r>
                      <a:endParaRPr lang="en-US" sz="11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3703320"/>
            <a:ext cx="11064240" cy="1417320"/>
          </a:xfrm>
          <a:prstGeom prst="roundRect">
            <a:avLst>
              <a:gd name="adj" fmla="val 3226"/>
            </a:avLst>
          </a:prstGeom>
          <a:solidFill>
            <a:srgbClr val="F1F5F9"/>
          </a:solidFill>
          <a:ln w="9525">
            <a:solidFill>
              <a:srgbClr val="DCE3EC"/>
            </a:solidFill>
            <a:prstDash val="solid"/>
          </a:ln>
        </p:spPr>
      </p:sp>
      <p:sp>
        <p:nvSpPr>
          <p:cNvPr id="9" name="Text 5"/>
          <p:cNvSpPr/>
          <p:nvPr/>
        </p:nvSpPr>
        <p:spPr>
          <a:xfrm>
            <a:off x="777240" y="3840480"/>
            <a:ext cx="10607040" cy="1143000"/>
          </a:xfrm>
          <a:prstGeom prst="rect">
            <a:avLst/>
          </a:prstGeom>
          <a:noFill/>
          <a:ln/>
        </p:spPr>
        <p:txBody>
          <a:bodyPr wrap="square" rtlCol="0" anchor="t"/>
          <a:lstStyle/>
          <a:p>
            <a:pPr indent="0" marL="0">
              <a:lnSpc>
                <a:spcPct val="115000"/>
              </a:lnSpc>
              <a:buNone/>
            </a:pPr>
            <a:r>
              <a:rPr lang="en-US" sz="1150" dirty="0">
                <a:solidFill>
                  <a:srgbClr val="16202E"/>
                </a:solidFill>
                <a:latin typeface="Calibri" pitchFamily="34" charset="0"/>
                <a:ea typeface="Calibri" pitchFamily="34" charset="-122"/>
                <a:cs typeface="Calibri" pitchFamily="34" charset="-120"/>
              </a:rPr>
              <a:t>Aug 3, 2026: a gubernatorial directive to audit all ERCOT-queue data centers, and a pause of the "Batch Zero" large-load review process pending that audit. The region around Caramba North (32.7 GW within 60 mi) sits inside a state-level queue so large it triggered a regulatory pause.</a:t>
            </a:r>
            <a:endParaRPr lang="en-US" sz="1150" dirty="0"/>
          </a:p>
        </p:txBody>
      </p:sp>
      <p:sp>
        <p:nvSpPr>
          <p:cNvPr id="10" name="Text 6"/>
          <p:cNvSpPr/>
          <p:nvPr/>
        </p:nvSpPr>
        <p:spPr>
          <a:xfrm>
            <a:off x="548640" y="5349240"/>
            <a:ext cx="11064240" cy="457200"/>
          </a:xfrm>
          <a:prstGeom prst="rect">
            <a:avLst/>
          </a:prstGeom>
          <a:noFill/>
          <a:ln/>
        </p:spPr>
        <p:txBody>
          <a:bodyPr wrap="square"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Source: public reporting, Aug 2026 — Latitude Media, "ERCOT's large load queue has nearly quadrupled in a single year" (Dec 3, 2025); Utility Dive, "Facing an estimated 474 GW of interconnection requests, Texas hits pause on data centers" (Aug 2026).</a:t>
            </a:r>
            <a:endParaRPr lang="en-US" sz="900" dirty="0"/>
          </a:p>
        </p:txBody>
      </p:sp>
      <p:sp>
        <p:nvSpPr>
          <p:cNvPr id="11" name="Text 7"/>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2" name="Text 8"/>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15 · THE DILIGENCE PLATFORM</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Every figure in this document is independently re-derivable from a cited public source</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Not a broker's summary — per-feature source popups, versioned builds, and a logged access record.</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8046720"/>
              </a:tblGrid>
              <a:tr h="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PLATFORM PROPERTY</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WHY IT MATTERS FOR DILIGENCE</a:t>
                      </a:r>
                      <a:endParaRPr lang="en-US" sz="12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Source-cited features</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Every point/line/boundary traces to a cited public dataset; per-feature source popups</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Refresh discipline</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RRC weekly; ERCOT queue/TPIT monthly; EIA/USGS/OSM annually</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Analytical tooling</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Filters by county/depth/spud year/fuel/status; time scrubber; measure/share/print tools</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Reproducibility</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250" dirty="0">
                          <a:solidFill>
                            <a:srgbClr val="16202E"/>
                          </a:solidFill>
                          <a:latin typeface="Calibri" pitchFamily="34" charset="0"/>
                          <a:ea typeface="Calibri" pitchFamily="34" charset="-122"/>
                          <a:cs typeface="Calibri" pitchFamily="34" charset="-120"/>
                        </a:rPr>
                        <a:t>Static, versioned build; deployed bundle byte-verified on release; access logged</a:t>
                      </a:r>
                      <a:endParaRPr lang="en-US" sz="12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8" name="Text 4"/>
          <p:cNvSpPr/>
          <p:nvPr/>
        </p:nvSpPr>
        <p:spPr>
          <a:xfrm>
            <a:off x="548640" y="4892040"/>
            <a:ext cx="11064240" cy="45720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lrp-tx-gis.netlify.app  ·  access credentials issued to the deal team separately</a:t>
            </a:r>
            <a:endParaRPr lang="en-US" sz="1150" dirty="0"/>
          </a:p>
        </p:txBody>
      </p:sp>
      <p:sp>
        <p:nvSpPr>
          <p:cNvPr id="9" name="Text 5"/>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0" name="Text 6"/>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16 · SUBSURFACE &amp; DRILLING ACTIVITY</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Pecos: the lowest new-drilling count of seven comparable Permian counties</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115 new-drill events since 2020 vs. a 1,181 peer average — roughly 90% below peer average.</a:t>
            </a:r>
            <a:endParaRPr lang="en-US" sz="1250" dirty="0"/>
          </a:p>
        </p:txBody>
      </p:sp>
      <p:sp>
        <p:nvSpPr>
          <p:cNvPr id="7" name="Shape 4"/>
          <p:cNvSpPr/>
          <p:nvPr/>
        </p:nvSpPr>
        <p:spPr>
          <a:xfrm>
            <a:off x="548640" y="1965960"/>
            <a:ext cx="2656332" cy="1051560"/>
          </a:xfrm>
          <a:prstGeom prst="roundRect">
            <a:avLst>
              <a:gd name="adj" fmla="val 4348"/>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8" name="Text 5"/>
          <p:cNvSpPr/>
          <p:nvPr/>
        </p:nvSpPr>
        <p:spPr>
          <a:xfrm>
            <a:off x="658368" y="2039112"/>
            <a:ext cx="2436876" cy="59436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0</a:t>
            </a:r>
            <a:endParaRPr lang="en-US" sz="2200" dirty="0"/>
          </a:p>
        </p:txBody>
      </p:sp>
      <p:sp>
        <p:nvSpPr>
          <p:cNvPr id="9" name="Text 6"/>
          <p:cNvSpPr/>
          <p:nvPr/>
        </p:nvSpPr>
        <p:spPr>
          <a:xfrm>
            <a:off x="658368" y="2651760"/>
            <a:ext cx="2436876"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NEW-DRILL WELLS ≤ 2 MI SINCE 2020</a:t>
            </a:r>
            <a:endParaRPr lang="en-US" sz="730" dirty="0"/>
          </a:p>
        </p:txBody>
      </p:sp>
      <p:sp>
        <p:nvSpPr>
          <p:cNvPr id="10" name="Shape 7"/>
          <p:cNvSpPr/>
          <p:nvPr/>
        </p:nvSpPr>
        <p:spPr>
          <a:xfrm>
            <a:off x="3351276" y="1965960"/>
            <a:ext cx="2656332" cy="1051560"/>
          </a:xfrm>
          <a:prstGeom prst="roundRect">
            <a:avLst>
              <a:gd name="adj" fmla="val 4348"/>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1" name="Text 8"/>
          <p:cNvSpPr/>
          <p:nvPr/>
        </p:nvSpPr>
        <p:spPr>
          <a:xfrm>
            <a:off x="3461004" y="2039112"/>
            <a:ext cx="2436876" cy="59436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0</a:t>
            </a:r>
            <a:endParaRPr lang="en-US" sz="2200" dirty="0"/>
          </a:p>
        </p:txBody>
      </p:sp>
      <p:sp>
        <p:nvSpPr>
          <p:cNvPr id="12" name="Text 9"/>
          <p:cNvSpPr/>
          <p:nvPr/>
        </p:nvSpPr>
        <p:spPr>
          <a:xfrm>
            <a:off x="3461004" y="2651760"/>
            <a:ext cx="2436876"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NEW-DRILL WELLS ≤ 5 MI SINCE 2020</a:t>
            </a:r>
            <a:endParaRPr lang="en-US" sz="730" dirty="0"/>
          </a:p>
        </p:txBody>
      </p:sp>
      <p:sp>
        <p:nvSpPr>
          <p:cNvPr id="13" name="Shape 10"/>
          <p:cNvSpPr/>
          <p:nvPr/>
        </p:nvSpPr>
        <p:spPr>
          <a:xfrm>
            <a:off x="6153912" y="1965960"/>
            <a:ext cx="2656332" cy="1051560"/>
          </a:xfrm>
          <a:prstGeom prst="roundRect">
            <a:avLst>
              <a:gd name="adj" fmla="val 4348"/>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4" name="Text 11"/>
          <p:cNvSpPr/>
          <p:nvPr/>
        </p:nvSpPr>
        <p:spPr>
          <a:xfrm>
            <a:off x="6263640" y="2039112"/>
            <a:ext cx="2436876" cy="59436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1</a:t>
            </a:r>
            <a:endParaRPr lang="en-US" sz="2200" dirty="0"/>
          </a:p>
        </p:txBody>
      </p:sp>
      <p:sp>
        <p:nvSpPr>
          <p:cNvPr id="15" name="Text 12"/>
          <p:cNvSpPr/>
          <p:nvPr/>
        </p:nvSpPr>
        <p:spPr>
          <a:xfrm>
            <a:off x="6263640" y="2651760"/>
            <a:ext cx="2436876"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NEW-DRILL WELLS ≤ 10 MI SINCE 2020</a:t>
            </a:r>
            <a:endParaRPr lang="en-US" sz="730" dirty="0"/>
          </a:p>
        </p:txBody>
      </p:sp>
      <p:sp>
        <p:nvSpPr>
          <p:cNvPr id="16" name="Shape 13"/>
          <p:cNvSpPr/>
          <p:nvPr/>
        </p:nvSpPr>
        <p:spPr>
          <a:xfrm>
            <a:off x="8956548" y="1965960"/>
            <a:ext cx="2656332" cy="1051560"/>
          </a:xfrm>
          <a:prstGeom prst="roundRect">
            <a:avLst>
              <a:gd name="adj" fmla="val 4348"/>
            </a:avLst>
          </a:prstGeom>
          <a:solidFill>
            <a:srgbClr val="F1F5F9"/>
          </a:solidFill>
          <a:ln w="9525">
            <a:solidFill>
              <a:srgbClr val="DCE3EC"/>
            </a:solidFill>
            <a:prstDash val="solid"/>
          </a:ln>
          <a:effectLst>
            <a:outerShdw sx="100000" sy="100000" kx="0" ky="0" algn="bl" rotWithShape="0" blurRad="88900" dist="25400" dir="5400000">
              <a:srgbClr val="0F1B2D">
                <a:alpha val="10000"/>
              </a:srgbClr>
            </a:outerShdw>
          </a:effectLst>
        </p:spPr>
      </p:sp>
      <p:sp>
        <p:nvSpPr>
          <p:cNvPr id="17" name="Text 14"/>
          <p:cNvSpPr/>
          <p:nvPr/>
        </p:nvSpPr>
        <p:spPr>
          <a:xfrm>
            <a:off x="9066276" y="2039112"/>
            <a:ext cx="2436876" cy="594360"/>
          </a:xfrm>
          <a:prstGeom prst="rect">
            <a:avLst/>
          </a:prstGeom>
          <a:noFill/>
          <a:ln/>
        </p:spPr>
        <p:txBody>
          <a:bodyPr wrap="square" rtlCol="0" anchor="b"/>
          <a:lstStyle/>
          <a:p>
            <a:pPr indent="0" marL="0">
              <a:buNone/>
            </a:pPr>
            <a:r>
              <a:rPr lang="en-US" sz="2200" b="1" dirty="0">
                <a:solidFill>
                  <a:srgbClr val="0F1B2D"/>
                </a:solidFill>
                <a:latin typeface="Calibri" pitchFamily="34" charset="0"/>
                <a:ea typeface="Calibri" pitchFamily="34" charset="-122"/>
                <a:cs typeface="Calibri" pitchFamily="34" charset="-120"/>
              </a:rPr>
              <a:t>83%</a:t>
            </a:r>
            <a:endParaRPr lang="en-US" sz="2200" dirty="0"/>
          </a:p>
        </p:txBody>
      </p:sp>
      <p:sp>
        <p:nvSpPr>
          <p:cNvPr id="18" name="Text 15"/>
          <p:cNvSpPr/>
          <p:nvPr/>
        </p:nvSpPr>
        <p:spPr>
          <a:xfrm>
            <a:off x="9066276" y="2651760"/>
            <a:ext cx="2436876" cy="329184"/>
          </a:xfrm>
          <a:prstGeom prst="rect">
            <a:avLst/>
          </a:prstGeom>
          <a:noFill/>
          <a:ln/>
        </p:spPr>
        <p:txBody>
          <a:bodyPr wrap="square" rtlCol="0" anchor="t"/>
          <a:lstStyle/>
          <a:p>
            <a:pPr indent="0" marL="0">
              <a:lnSpc>
                <a:spcPct val="95000"/>
              </a:lnSpc>
              <a:buNone/>
            </a:pPr>
            <a:r>
              <a:rPr lang="en-US" sz="730" spc="50" kern="0" dirty="0">
                <a:solidFill>
                  <a:srgbClr val="64748B"/>
                </a:solidFill>
                <a:latin typeface="Calibri" pitchFamily="34" charset="0"/>
                <a:ea typeface="Calibri" pitchFamily="34" charset="-122"/>
                <a:cs typeface="Calibri" pitchFamily="34" charset="-120"/>
              </a:rPr>
              <a:t>NON-PLUGGED WELLBORES ≤10 MI MARGINAL/EOL</a:t>
            </a:r>
            <a:endParaRPr lang="en-US" sz="730" dirty="0"/>
          </a:p>
        </p:txBody>
      </p:sp>
      <p:graphicFrame>
        <p:nvGraphicFramePr>
          <p:cNvPr id="19" name="Chart 0" descr=""/>
          <p:cNvGraphicFramePr/>
          <p:nvPr/>
        </p:nvGraphicFramePr>
        <p:xfrm>
          <a:off x="548640" y="3246120"/>
          <a:ext cx="6675120" cy="3063240"/>
        </p:xfrm>
        <a:graphic xmlns:a="http://schemas.openxmlformats.org/drawingml/2006/main">
          <a:graphicData uri="http://schemas.openxmlformats.org/drawingml/2006/chart">
            <c:chart xmlns:c="http://schemas.openxmlformats.org/drawingml/2006/chart" r:id="rId2"/>
          </a:graphicData>
        </a:graphic>
      </p:graphicFrame>
      <p:sp>
        <p:nvSpPr>
          <p:cNvPr id="20" name="Shape 16"/>
          <p:cNvSpPr/>
          <p:nvPr/>
        </p:nvSpPr>
        <p:spPr>
          <a:xfrm>
            <a:off x="7452360" y="3246120"/>
            <a:ext cx="4160520" cy="3063240"/>
          </a:xfrm>
          <a:prstGeom prst="roundRect">
            <a:avLst>
              <a:gd name="adj" fmla="val 1493"/>
            </a:avLst>
          </a:prstGeom>
          <a:solidFill>
            <a:srgbClr val="FBF7EF"/>
          </a:solidFill>
          <a:ln w="15875">
            <a:solidFill>
              <a:srgbClr val="9C6B14"/>
            </a:solidFill>
            <a:prstDash val="solid"/>
          </a:ln>
          <a:effectLst>
            <a:outerShdw sx="100000" sy="100000" kx="0" ky="0" algn="bl" rotWithShape="0" blurRad="88900" dist="25400" dir="5400000">
              <a:srgbClr val="0F1B2D">
                <a:alpha val="10000"/>
              </a:srgbClr>
            </a:outerShdw>
          </a:effectLst>
        </p:spPr>
      </p:sp>
      <p:sp>
        <p:nvSpPr>
          <p:cNvPr id="21" name="Text 17"/>
          <p:cNvSpPr/>
          <p:nvPr/>
        </p:nvSpPr>
        <p:spPr>
          <a:xfrm>
            <a:off x="7680960" y="3401568"/>
            <a:ext cx="3703320" cy="274320"/>
          </a:xfrm>
          <a:prstGeom prst="rect">
            <a:avLst/>
          </a:prstGeom>
          <a:noFill/>
          <a:ln/>
        </p:spPr>
        <p:txBody>
          <a:bodyPr wrap="square" rtlCol="0" anchor="ctr"/>
          <a:lstStyle/>
          <a:p>
            <a:pPr indent="0" marL="0">
              <a:buNone/>
            </a:pPr>
            <a:r>
              <a:rPr lang="en-US" sz="1000" b="1" spc="150" kern="0" dirty="0">
                <a:solidFill>
                  <a:srgbClr val="7A5310"/>
                </a:solidFill>
                <a:latin typeface="Calibri" pitchFamily="34" charset="0"/>
                <a:ea typeface="Calibri" pitchFamily="34" charset="-122"/>
                <a:cs typeface="Calibri" pitchFamily="34" charset="-120"/>
              </a:rPr>
              <a:t>BOTTOM LINE</a:t>
            </a:r>
            <a:endParaRPr lang="en-US" sz="1000" dirty="0"/>
          </a:p>
        </p:txBody>
      </p:sp>
      <p:sp>
        <p:nvSpPr>
          <p:cNvPr id="22" name="Text 18"/>
          <p:cNvSpPr/>
          <p:nvPr/>
        </p:nvSpPr>
        <p:spPr>
          <a:xfrm>
            <a:off x="7680960" y="3703320"/>
            <a:ext cx="3703320" cy="1417320"/>
          </a:xfrm>
          <a:prstGeom prst="rect">
            <a:avLst/>
          </a:prstGeom>
          <a:noFill/>
          <a:ln/>
        </p:spPr>
        <p:txBody>
          <a:bodyPr wrap="square" rtlCol="0" anchor="ctr"/>
          <a:lstStyle/>
          <a:p>
            <a:pPr indent="0" marL="0">
              <a:lnSpc>
                <a:spcPct val="108000"/>
              </a:lnSpc>
              <a:buNone/>
            </a:pPr>
            <a:r>
              <a:rPr lang="en-US" sz="1250" b="1" dirty="0">
                <a:solidFill>
                  <a:srgbClr val="0F1B2D"/>
                </a:solidFill>
                <a:latin typeface="Calibri" pitchFamily="34" charset="0"/>
                <a:ea typeface="Calibri" pitchFamily="34" charset="-122"/>
                <a:cs typeface="Calibri" pitchFamily="34" charset="-120"/>
              </a:rPr>
              <a:t>Shallow drilling, hydraulic fracturing, or new drilling of any kind — three independent public records point the same way: it is not happening at or near this site.</a:t>
            </a:r>
            <a:endParaRPr lang="en-US" sz="1250" dirty="0"/>
          </a:p>
        </p:txBody>
      </p:sp>
      <p:sp>
        <p:nvSpPr>
          <p:cNvPr id="23" name="Text 19"/>
          <p:cNvSpPr/>
          <p:nvPr/>
        </p:nvSpPr>
        <p:spPr>
          <a:xfrm>
            <a:off x="7680960" y="5166360"/>
            <a:ext cx="3703320" cy="1051560"/>
          </a:xfrm>
          <a:prstGeom prst="rect">
            <a:avLst/>
          </a:prstGeom>
          <a:noFill/>
          <a:ln/>
        </p:spPr>
        <p:txBody>
          <a:bodyPr wrap="square" rtlCol="0" anchor="ctr"/>
          <a:lstStyle/>
          <a:p>
            <a:pPr indent="0" marL="0">
              <a:lnSpc>
                <a:spcPct val="108000"/>
              </a:lnSpc>
              <a:buNone/>
            </a:pPr>
            <a:r>
              <a:rPr lang="en-US" sz="970" dirty="0">
                <a:solidFill>
                  <a:srgbClr val="3D4E63"/>
                </a:solidFill>
                <a:latin typeface="Calibri" pitchFamily="34" charset="0"/>
                <a:ea typeface="Calibri" pitchFamily="34" charset="-122"/>
                <a:cs typeface="Calibri" pitchFamily="34" charset="-120"/>
              </a:rPr>
              <a:t>Within 10 mi, 83% of non-plugged wellbores are marginal/end-of-life production (vs. 60% at ≤2 mi, 62% at ≤5 mi) — the closer ring is even quieter than the wider one.</a:t>
            </a:r>
            <a:endParaRPr lang="en-US" sz="970" dirty="0"/>
          </a:p>
        </p:txBody>
      </p:sp>
      <p:sp>
        <p:nvSpPr>
          <p:cNvPr id="24" name="Text 20"/>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25" name="Text 21"/>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292608"/>
            <a:ext cx="384048" cy="384048"/>
          </a:xfrm>
          <a:prstGeom prst="ellipse">
            <a:avLst/>
          </a:prstGeom>
          <a:solidFill>
            <a:srgbClr val="9C6B14"/>
          </a:solidFill>
          <a:ln/>
          <a:effectLst>
            <a:outerShdw sx="100000" sy="100000" kx="0" ky="0" algn="bl" rotWithShape="0" blurRad="88900" dist="25400" dir="5400000">
              <a:srgbClr val="0F1B2D">
                <a:alpha val="15000"/>
              </a:srgbClr>
            </a:outerShdw>
          </a:effectLst>
        </p:spPr>
      </p:sp>
      <p:pic>
        <p:nvPicPr>
          <p:cNvPr id="3" name="Image 0" descr="preencoded.png">    </p:cNvPr>
          <p:cNvPicPr>
            <a:picLocks noChangeAspect="1"/>
          </p:cNvPicPr>
          <p:nvPr/>
        </p:nvPicPr>
        <p:blipFill>
          <a:blip r:embed="rId1"/>
          <a:stretch>
            <a:fillRect/>
          </a:stretch>
        </p:blipFill>
        <p:spPr>
          <a:xfrm>
            <a:off x="652333" y="396301"/>
            <a:ext cx="176662" cy="176662"/>
          </a:xfrm>
          <a:prstGeom prst="rect">
            <a:avLst/>
          </a:prstGeom>
        </p:spPr>
      </p:pic>
      <p:sp>
        <p:nvSpPr>
          <p:cNvPr id="4" name="Text 1"/>
          <p:cNvSpPr/>
          <p:nvPr/>
        </p:nvSpPr>
        <p:spPr>
          <a:xfrm>
            <a:off x="1060704" y="310896"/>
            <a:ext cx="9601200" cy="347472"/>
          </a:xfrm>
          <a:prstGeom prst="rect">
            <a:avLst/>
          </a:prstGeom>
          <a:noFill/>
          <a:ln/>
        </p:spPr>
        <p:txBody>
          <a:bodyPr wrap="square" rtlCol="0" anchor="ctr"/>
          <a:lstStyle/>
          <a:p>
            <a:pPr indent="0" marL="0">
              <a:buNone/>
            </a:pPr>
            <a:r>
              <a:rPr lang="en-US" sz="1150" b="1" spc="200" kern="0" dirty="0">
                <a:solidFill>
                  <a:srgbClr val="9C6B14"/>
                </a:solidFill>
                <a:latin typeface="Calibri" pitchFamily="34" charset="0"/>
                <a:ea typeface="Calibri" pitchFamily="34" charset="-122"/>
                <a:cs typeface="Calibri" pitchFamily="34" charset="-120"/>
              </a:rPr>
              <a:t>17 · APPENDIX — DISTANCES &amp; SOURCES</a:t>
            </a:r>
            <a:endParaRPr lang="en-US" sz="1150" dirty="0"/>
          </a:p>
        </p:txBody>
      </p:sp>
      <p:sp>
        <p:nvSpPr>
          <p:cNvPr id="5" name="Text 2"/>
          <p:cNvSpPr/>
          <p:nvPr/>
        </p:nvSpPr>
        <p:spPr>
          <a:xfrm>
            <a:off x="548640" y="786384"/>
            <a:ext cx="11064240" cy="658368"/>
          </a:xfrm>
          <a:prstGeom prst="rect">
            <a:avLst/>
          </a:prstGeom>
          <a:noFill/>
          <a:ln/>
        </p:spPr>
        <p:txBody>
          <a:bodyPr wrap="square" rtlCol="0" anchor="t"/>
          <a:lstStyle/>
          <a:p>
            <a:pPr indent="0" marL="0">
              <a:lnSpc>
                <a:spcPct val="102000"/>
              </a:lnSpc>
              <a:buNone/>
            </a:pPr>
            <a:r>
              <a:rPr lang="en-US" sz="2200" b="1" dirty="0">
                <a:solidFill>
                  <a:srgbClr val="0F1B2D"/>
                </a:solidFill>
                <a:latin typeface="Cambria" pitchFamily="34" charset="0"/>
                <a:ea typeface="Cambria" pitchFamily="34" charset="-122"/>
                <a:cs typeface="Cambria" pitchFamily="34" charset="-120"/>
              </a:rPr>
              <a:t>Distances are measured edge-to-edge, and every source is named</a:t>
            </a:r>
            <a:endParaRPr lang="en-US" sz="2200" dirty="0"/>
          </a:p>
        </p:txBody>
      </p:sp>
      <p:sp>
        <p:nvSpPr>
          <p:cNvPr id="6" name="Text 3"/>
          <p:cNvSpPr/>
          <p:nvPr/>
        </p:nvSpPr>
        <p:spPr>
          <a:xfrm>
            <a:off x="548640" y="1389888"/>
            <a:ext cx="11064240" cy="566928"/>
          </a:xfrm>
          <a:prstGeom prst="rect">
            <a:avLst/>
          </a:prstGeom>
          <a:noFill/>
          <a:ln/>
        </p:spPr>
        <p:txBody>
          <a:bodyPr wrap="square" rtlCol="0" anchor="t"/>
          <a:lstStyle/>
          <a:p>
            <a:pPr indent="0" marL="0">
              <a:lnSpc>
                <a:spcPct val="105000"/>
              </a:lnSpc>
              <a:buNone/>
            </a:pPr>
            <a:r>
              <a:rPr lang="en-US" sz="1250" i="1" dirty="0">
                <a:solidFill>
                  <a:srgbClr val="3D4E63"/>
                </a:solidFill>
                <a:latin typeface="Cambria" pitchFamily="34" charset="0"/>
                <a:ea typeface="Cambria" pitchFamily="34" charset="-122"/>
                <a:cs typeface="Cambria" pitchFamily="34" charset="-120"/>
              </a:rPr>
              <a:t>Boundary-to-site, not centroid-to-centroid — the methodology and the full source register, stated once.</a:t>
            </a:r>
            <a:endParaRPr lang="en-US" sz="1250" dirty="0"/>
          </a:p>
        </p:txBody>
      </p:sp>
      <p:sp>
        <p:nvSpPr>
          <p:cNvPr id="7" name="Shape 4"/>
          <p:cNvSpPr/>
          <p:nvPr/>
        </p:nvSpPr>
        <p:spPr>
          <a:xfrm>
            <a:off x="548640" y="1965960"/>
            <a:ext cx="11064240" cy="1417320"/>
          </a:xfrm>
          <a:prstGeom prst="roundRect">
            <a:avLst>
              <a:gd name="adj" fmla="val 2581"/>
            </a:avLst>
          </a:prstGeom>
          <a:solidFill>
            <a:srgbClr val="FEF9EC"/>
          </a:solidFill>
          <a:ln w="12700">
            <a:solidFill>
              <a:srgbClr val="D9B36C"/>
            </a:solidFill>
            <a:prstDash val="solid"/>
          </a:ln>
        </p:spPr>
      </p:sp>
      <p:sp>
        <p:nvSpPr>
          <p:cNvPr id="8" name="Text 5"/>
          <p:cNvSpPr/>
          <p:nvPr/>
        </p:nvSpPr>
        <p:spPr>
          <a:xfrm>
            <a:off x="694944" y="2020824"/>
            <a:ext cx="10771632" cy="1307592"/>
          </a:xfrm>
          <a:prstGeom prst="rect">
            <a:avLst/>
          </a:prstGeom>
          <a:noFill/>
          <a:ln/>
        </p:spPr>
        <p:txBody>
          <a:bodyPr wrap="square" rtlCol="0" anchor="ctr"/>
          <a:lstStyle/>
          <a:p>
            <a:pPr indent="0" marL="0">
              <a:lnSpc>
                <a:spcPct val="102000"/>
              </a:lnSpc>
              <a:buNone/>
            </a:pPr>
            <a:r>
              <a:rPr lang="en-US" sz="900" b="1" dirty="0">
                <a:solidFill>
                  <a:srgbClr val="6B4A17"/>
                </a:solidFill>
                <a:latin typeface="Calibri" pitchFamily="34" charset="0"/>
                <a:ea typeface="Calibri" pitchFamily="34" charset="-122"/>
                <a:cs typeface="Calibri" pitchFamily="34" charset="-120"/>
              </a:rPr>
              <a:t>Distance methodology — </a:t>
            </a:r>
            <a:pPr indent="0" marL="0">
              <a:lnSpc>
                <a:spcPct val="102000"/>
              </a:lnSpc>
              <a:buNone/>
            </a:pPr>
            <a:r>
              <a:rPr lang="en-US" sz="900" dirty="0">
                <a:solidFill>
                  <a:srgbClr val="6B4A17"/>
                </a:solidFill>
                <a:latin typeface="Calibri" pitchFamily="34" charset="0"/>
                <a:ea typeface="Calibri" pitchFamily="34" charset="-122"/>
                <a:cs typeface="Calibri" pitchFamily="34" charset="-120"/>
              </a:rPr>
              <a:t>distances to GW Ranch and Longfellow are measured edge-to-edge — from the nearest point on the Caramba North tract boundary to each site's disclosed location, rather than centroid-to-centroid, which runs measurably longer since the tract itself has spatial extent. GW Ranch: 15.5 mi (vs. 17.3 mi centroid). Longfellow: 19.3 mi (vs. 19.7 mi centroid) — Longfellow's own public site describes its location as more than 25 miles outside Fort Stockton, consistent with the longer figure; this distance is not represented as shorter.</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914400"/>
        </p:xfrm>
        <a:graphic>
          <a:graphicData uri="http://schemas.openxmlformats.org/drawingml/2006/table">
            <a:tbl>
              <a:tblPr/>
              <a:tblGrid>
                <a:gridCol w="2194560"/>
                <a:gridCol w="886968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ELEMENT</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0F1B2D"/>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URL</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https://lrp-tx-gis.netlify.app</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Login</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Business email + access password (issued to deal team separately)</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Primary sources</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ERCOT (GIS Report, TPIT), PUCT, EIA-860, TCEQ, RRC (dbf900, production, W-1), FracFocus, Middle Pecos GCD, HIFLD, USGS, BTS, U.S. Census TIGER</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Refresh cadence</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c>
                  <a:txBody>
                    <a:bodyPr/>
                    <a:lstStyle/>
                    <a:p>
                      <a:pPr algn="l" indent="0" marL="0">
                        <a:buNone/>
                      </a:pPr>
                      <a:r>
                        <a:rPr lang="en-US" sz="1100" dirty="0">
                          <a:solidFill>
                            <a:srgbClr val="16202E"/>
                          </a:solidFill>
                          <a:latin typeface="Calibri" pitchFamily="34" charset="0"/>
                          <a:ea typeface="Calibri" pitchFamily="34" charset="-122"/>
                          <a:cs typeface="Calibri" pitchFamily="34" charset="-120"/>
                        </a:rPr>
                        <a:t>RRC weekly; ERCOT queue/TPIT monthly; EIA/USGS/OSM annually</a:t>
                      </a:r>
                      <a:endParaRPr lang="en-US" sz="1100" dirty="0">
                        <a:latin typeface="Calibri" charset="0"/>
                        <a:ea typeface="Calibri" charset="0"/>
                        <a:cs typeface="Calibri" charset="0"/>
                      </a:endParaRPr>
                    </a:p>
                  </a:txBody>
                  <a:tcPr marL="73152" marR="73152" marT="32004" marB="32004" anchor="ctr">
                    <a:lnL w="6350" cap="flat" cmpd="sng" algn="ctr">
                      <a:solidFill>
                        <a:srgbClr val="DCE3EC"/>
                      </a:solidFill>
                      <a:prstDash val="solid"/>
                      <a:round/>
                      <a:headEnd type="none" w="med" len="med"/>
                      <a:tailEnd type="none" w="med" len="med"/>
                    </a:lnL>
                    <a:lnR w="6350" cap="flat" cmpd="sng" algn="ctr">
                      <a:solidFill>
                        <a:srgbClr val="DCE3EC"/>
                      </a:solidFill>
                      <a:prstDash val="solid"/>
                      <a:round/>
                      <a:headEnd type="none" w="med" len="med"/>
                      <a:tailEnd type="none" w="med" len="med"/>
                    </a:lnR>
                    <a:lnT w="6350" cap="flat" cmpd="sng" algn="ctr">
                      <a:solidFill>
                        <a:srgbClr val="DCE3EC"/>
                      </a:solidFill>
                      <a:prstDash val="solid"/>
                      <a:round/>
                      <a:headEnd type="none" w="med" len="med"/>
                      <a:tailEnd type="none" w="med" len="med"/>
                    </a:lnT>
                    <a:lnB w="6350" cap="flat" cmpd="sng" algn="ctr">
                      <a:solidFill>
                        <a:srgbClr val="DCE3EC"/>
                      </a:solidFill>
                      <a:prstDash val="solid"/>
                      <a:round/>
                      <a:headEnd type="none" w="med" len="med"/>
                      <a:tailEnd type="none" w="med" len="med"/>
                    </a:lnB>
                    <a:solidFill>
                      <a:srgbClr val="F8FAFC"/>
                    </a:solidFill>
                  </a:tcPr>
                </a:tc>
              </a:tr>
            </a:tbl>
          </a:graphicData>
        </a:graphic>
      </p:graphicFrame>
      <p:sp>
        <p:nvSpPr>
          <p:cNvPr id="10" name="Text 6"/>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64748B"/>
                </a:solidFill>
                <a:latin typeface="Calibri" pitchFamily="34" charset="0"/>
                <a:ea typeface="Calibri" pitchFamily="34" charset="-122"/>
                <a:cs typeface="Calibri" pitchFamily="34" charset="-120"/>
              </a:rPr>
              <a:t>CARAMBA NORTH  ·  CONFIDENTIAL OFFERING MEMORANDUM</a:t>
            </a:r>
            <a:endParaRPr lang="en-US" sz="800" dirty="0"/>
          </a:p>
        </p:txBody>
      </p:sp>
      <p:sp>
        <p:nvSpPr>
          <p:cNvPr id="11" name="Text 7"/>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p:bgPr>
    </p:bg>
    <p:spTree>
      <p:nvGrpSpPr>
        <p:cNvPr id="1" name=""/>
        <p:cNvGrpSpPr/>
        <p:nvPr/>
      </p:nvGrpSpPr>
      <p:grpSpPr>
        <a:xfrm>
          <a:off x="0" y="0"/>
          <a:ext cx="0" cy="0"/>
          <a:chOff x="0" y="0"/>
          <a:chExt cx="0" cy="0"/>
        </a:xfrm>
      </p:grpSpPr>
      <p:sp>
        <p:nvSpPr>
          <p:cNvPr id="2" name="Text 0"/>
          <p:cNvSpPr/>
          <p:nvPr/>
        </p:nvSpPr>
        <p:spPr>
          <a:xfrm>
            <a:off x="548640" y="658368"/>
            <a:ext cx="10058400" cy="457200"/>
          </a:xfrm>
          <a:prstGeom prst="rect">
            <a:avLst/>
          </a:prstGeom>
          <a:noFill/>
          <a:ln/>
        </p:spPr>
        <p:txBody>
          <a:bodyPr wrap="square" rtlCol="0" anchor="ctr"/>
          <a:lstStyle/>
          <a:p>
            <a:pPr indent="0" marL="0">
              <a:buNone/>
            </a:pPr>
            <a:r>
              <a:rPr lang="en-US" sz="1500" b="1" spc="200" kern="0" dirty="0">
                <a:solidFill>
                  <a:srgbClr val="D4A73D"/>
                </a:solidFill>
                <a:latin typeface="Calibri" pitchFamily="34" charset="0"/>
                <a:ea typeface="Calibri" pitchFamily="34" charset="-122"/>
                <a:cs typeface="Calibri" pitchFamily="34" charset="-120"/>
              </a:rPr>
              <a:t>IMPORTANT NOTICES</a:t>
            </a:r>
            <a:endParaRPr lang="en-US" sz="1500" dirty="0"/>
          </a:p>
        </p:txBody>
      </p:sp>
      <p:sp>
        <p:nvSpPr>
          <p:cNvPr id="3" name="Text 1"/>
          <p:cNvSpPr/>
          <p:nvPr/>
        </p:nvSpPr>
        <p:spPr>
          <a:xfrm>
            <a:off x="548640" y="1078992"/>
            <a:ext cx="10058400" cy="320040"/>
          </a:xfrm>
          <a:prstGeom prst="rect">
            <a:avLst/>
          </a:prstGeom>
          <a:noFill/>
          <a:ln/>
        </p:spPr>
        <p:txBody>
          <a:bodyPr wrap="square" rtlCol="0" anchor="ctr"/>
          <a:lstStyle/>
          <a:p>
            <a:pPr indent="0" marL="0">
              <a:buNone/>
            </a:pPr>
            <a:r>
              <a:rPr lang="en-US" sz="1150" i="1" dirty="0">
                <a:solidFill>
                  <a:srgbClr val="CADCFC"/>
                </a:solidFill>
                <a:latin typeface="Cambria" pitchFamily="34" charset="0"/>
                <a:ea typeface="Cambria" pitchFamily="34" charset="-122"/>
                <a:cs typeface="Cambria" pitchFamily="34" charset="-120"/>
              </a:rPr>
              <a:t>Confidential — prepared for a limited number of counterparties under NDA.</a:t>
            </a:r>
            <a:endParaRPr lang="en-US" sz="1150" dirty="0"/>
          </a:p>
        </p:txBody>
      </p:sp>
      <p:sp>
        <p:nvSpPr>
          <p:cNvPr id="4" name="Text 2"/>
          <p:cNvSpPr/>
          <p:nvPr/>
        </p:nvSpPr>
        <p:spPr>
          <a:xfrm>
            <a:off x="548640" y="1600200"/>
            <a:ext cx="11064240" cy="4480560"/>
          </a:xfrm>
          <a:prstGeom prst="rect">
            <a:avLst/>
          </a:prstGeom>
          <a:noFill/>
          <a:ln/>
        </p:spPr>
        <p:txBody>
          <a:bodyPr wrap="square" rtlCol="0" anchor="t"/>
          <a:lstStyle/>
          <a:p>
            <a:pPr indent="0" marL="0">
              <a:lnSpc>
                <a:spcPct val="112000"/>
              </a:lnSpc>
              <a:spcAft>
                <a:spcPts val="1000"/>
              </a:spcAft>
              <a:buNone/>
            </a:pPr>
            <a:r>
              <a:rPr lang="en-US" sz="1150" dirty="0">
                <a:solidFill>
                  <a:srgbClr val="CADCFC"/>
                </a:solidFill>
                <a:latin typeface="Calibri" pitchFamily="34" charset="0"/>
                <a:ea typeface="Calibri" pitchFamily="34" charset="-122"/>
                <a:cs typeface="Calibri" pitchFamily="34" charset="-120"/>
              </a:rPr>
              <a:t>This Confidential Offering Memorandum has been prepared solely for the use of a limited number of prospective counterparties, under executed non-disclosure agreement, in connection with the potential acquisition of, or investment in, the Caramba North property. It is delivered on a strictly confidential basis and may not be reproduced or distributed without consent.</a:t>
            </a:r>
            <a:endParaRPr lang="en-US" sz="1150" dirty="0"/>
          </a:p>
          <a:p>
            <a:pPr indent="0" marL="0">
              <a:lnSpc>
                <a:spcPct val="112000"/>
              </a:lnSpc>
              <a:spcAft>
                <a:spcPts val="1000"/>
              </a:spcAft>
              <a:buNone/>
            </a:pPr>
            <a:endParaRPr lang="en-US" sz="1150" dirty="0"/>
          </a:p>
          <a:p>
            <a:pPr indent="0" marL="0">
              <a:lnSpc>
                <a:spcPct val="112000"/>
              </a:lnSpc>
              <a:spcAft>
                <a:spcPts val="1000"/>
              </a:spcAft>
              <a:buNone/>
            </a:pPr>
            <a:r>
              <a:rPr lang="en-US" sz="1150" dirty="0">
                <a:solidFill>
                  <a:srgbClr val="CADCFC"/>
                </a:solidFill>
                <a:latin typeface="Calibri" pitchFamily="34" charset="0"/>
                <a:ea typeface="Calibri" pitchFamily="34" charset="-122"/>
                <a:cs typeface="Calibri" pitchFamily="34" charset="-120"/>
              </a:rPr>
              <a:t>This document does not constitute an offer to sell or a solicitation of an offer to buy any security or interest. Information is preliminary and indicative, compiled from sources believed reliable, and subject to revision without notice. No representation or warranty, express or implied, is made as to accuracy or completeness.</a:t>
            </a:r>
            <a:endParaRPr lang="en-US" sz="1150" dirty="0"/>
          </a:p>
          <a:p>
            <a:pPr indent="0" marL="0">
              <a:lnSpc>
                <a:spcPct val="112000"/>
              </a:lnSpc>
              <a:spcAft>
                <a:spcPts val="1000"/>
              </a:spcAft>
              <a:buNone/>
            </a:pPr>
            <a:endParaRPr lang="en-US" sz="1150" dirty="0"/>
          </a:p>
          <a:p>
            <a:pPr indent="0" marL="0">
              <a:lnSpc>
                <a:spcPct val="112000"/>
              </a:lnSpc>
              <a:spcAft>
                <a:spcPts val="1000"/>
              </a:spcAft>
              <a:buNone/>
            </a:pPr>
            <a:r>
              <a:rPr lang="en-US" sz="1150" dirty="0">
                <a:solidFill>
                  <a:srgbClr val="CADCFC"/>
                </a:solidFill>
                <a:latin typeface="Calibri" pitchFamily="34" charset="0"/>
                <a:ea typeface="Calibri" pitchFamily="34" charset="-122"/>
                <a:cs typeface="Calibri" pitchFamily="34" charset="-120"/>
              </a:rPr>
              <a:t>Public data is drawn from ERCOT, PUCT, EIA, TCEQ, RRC, FracFocus, Middle Pecos GCD, HIFLD, USGS, BTS, and U.S. Census TIGER, supplemented by project-level GIS analysis and counterparty-supplied indicative terms. Third-party ownership and permitting disclosures referenced in this deck (e.g., GW Ranch) are drawn from public reporting cited in the companion source register. Recipients should conduct their own independent investigation, including consultation with their own legal, tax, accounting, and engineering advisors.</a:t>
            </a:r>
            <a:endParaRPr lang="en-US" sz="1150" dirty="0"/>
          </a:p>
        </p:txBody>
      </p:sp>
      <p:sp>
        <p:nvSpPr>
          <p:cNvPr id="5" name="Text 3"/>
          <p:cNvSpPr/>
          <p:nvPr/>
        </p:nvSpPr>
        <p:spPr>
          <a:xfrm>
            <a:off x="548640" y="6492240"/>
            <a:ext cx="7315200" cy="274320"/>
          </a:xfrm>
          <a:prstGeom prst="rect">
            <a:avLst/>
          </a:prstGeom>
          <a:noFill/>
          <a:ln/>
        </p:spPr>
        <p:txBody>
          <a:bodyPr wrap="square" rtlCol="0" anchor="ctr"/>
          <a:lstStyle/>
          <a:p>
            <a:pPr indent="0" marL="0">
              <a:buNone/>
            </a:pPr>
            <a:r>
              <a:rPr lang="en-US" sz="800" spc="50" kern="0" dirty="0">
                <a:solidFill>
                  <a:srgbClr val="8291A6"/>
                </a:solidFill>
                <a:latin typeface="Calibri" pitchFamily="34" charset="0"/>
                <a:ea typeface="Calibri" pitchFamily="34" charset="-122"/>
                <a:cs typeface="Calibri" pitchFamily="34" charset="-120"/>
              </a:rPr>
              <a:t>CARAMBA NORTH  ·  CONFIDENTIAL OFFERING MEMORANDUM</a:t>
            </a:r>
            <a:endParaRPr lang="en-US" sz="800" dirty="0"/>
          </a:p>
        </p:txBody>
      </p:sp>
      <p:sp>
        <p:nvSpPr>
          <p:cNvPr id="6" name="Text 4"/>
          <p:cNvSpPr/>
          <p:nvPr/>
        </p:nvSpPr>
        <p:spPr>
          <a:xfrm>
            <a:off x="11185855" y="6492240"/>
            <a:ext cx="457200" cy="274320"/>
          </a:xfrm>
          <a:prstGeom prst="rect">
            <a:avLst/>
          </a:prstGeom>
          <a:noFill/>
          <a:ln/>
        </p:spPr>
        <p:txBody>
          <a:bodyPr wrap="square" rtlCol="0" anchor="ctr"/>
          <a:lstStyle/>
          <a:p>
            <a:pPr algn="r" indent="0" marL="0">
              <a:buNone/>
            </a:pPr>
            <a:r>
              <a:rPr lang="en-US" sz="800" dirty="0">
                <a:solidFill>
                  <a:srgbClr val="8291A6"/>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Caramba North — Confidential Offering Memorandum (Institutional)</dc:title>
  <dc:subject>PptxGenJS Presentation</dc:subject>
  <dc:creator>Land Resource Partners</dc:creator>
  <cp:lastModifiedBy>Land Resource Partners</cp:lastModifiedBy>
  <cp:revision>1</cp:revision>
  <dcterms:created xsi:type="dcterms:W3CDTF">2026-08-24T11:44:21Z</dcterms:created>
  <dcterms:modified xsi:type="dcterms:W3CDTF">2026-08-24T11:44:21Z</dcterms:modified>
</cp:coreProperties>
</file>
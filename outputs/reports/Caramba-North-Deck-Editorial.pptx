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73B"/>
        </a:solidFill>
      </p:bgPr>
    </p:bg>
    <p:spTree>
      <p:nvGrpSpPr>
        <p:cNvPr id="1" name=""/>
        <p:cNvGrpSpPr/>
        <p:nvPr/>
      </p:nvGrpSpPr>
      <p:grpSpPr>
        <a:xfrm>
          <a:off x="0" y="0"/>
          <a:ext cx="0" cy="0"/>
          <a:chOff x="0" y="0"/>
          <a:chExt cx="0" cy="0"/>
        </a:xfrm>
      </p:grpSpPr>
      <p:sp>
        <p:nvSpPr>
          <p:cNvPr id="2" name="Text 0"/>
          <p:cNvSpPr/>
          <p:nvPr/>
        </p:nvSpPr>
        <p:spPr>
          <a:xfrm>
            <a:off x="640080" y="621792"/>
            <a:ext cx="10058400" cy="365760"/>
          </a:xfrm>
          <a:prstGeom prst="rect">
            <a:avLst/>
          </a:prstGeom>
          <a:noFill/>
          <a:ln/>
        </p:spPr>
        <p:txBody>
          <a:bodyPr wrap="square" rtlCol="0" anchor="ctr"/>
          <a:lstStyle/>
          <a:p>
            <a:pPr indent="0" marL="0">
              <a:buNone/>
            </a:pPr>
            <a:r>
              <a:rPr lang="en-US" sz="1200" b="1" spc="240" kern="0" dirty="0">
                <a:solidFill>
                  <a:srgbClr val="E3A15C"/>
                </a:solidFill>
                <a:latin typeface="Calibri" pitchFamily="34" charset="0"/>
                <a:ea typeface="Calibri" pitchFamily="34" charset="-122"/>
                <a:cs typeface="Calibri" pitchFamily="34" charset="-120"/>
              </a:rPr>
              <a:t>STRICTLY CONFIDENTIAL  ·  OFFERING MEMORANDUM  ·  POST-NDA</a:t>
            </a:r>
            <a:endParaRPr lang="en-US" sz="1200" dirty="0"/>
          </a:p>
        </p:txBody>
      </p:sp>
      <p:sp>
        <p:nvSpPr>
          <p:cNvPr id="3" name="Text 1"/>
          <p:cNvSpPr/>
          <p:nvPr/>
        </p:nvSpPr>
        <p:spPr>
          <a:xfrm>
            <a:off x="594360" y="1051560"/>
            <a:ext cx="8686800" cy="2103120"/>
          </a:xfrm>
          <a:prstGeom prst="rect">
            <a:avLst/>
          </a:prstGeom>
          <a:noFill/>
          <a:ln/>
        </p:spPr>
        <p:txBody>
          <a:bodyPr wrap="square" rtlCol="0" anchor="ctr"/>
          <a:lstStyle/>
          <a:p>
            <a:pPr indent="0" marL="0">
              <a:lnSpc>
                <a:spcPct val="98000"/>
              </a:lnSpc>
              <a:buNone/>
            </a:pPr>
            <a:r>
              <a:rPr lang="en-US" sz="6600" b="1" dirty="0">
                <a:solidFill>
                  <a:srgbClr val="FFFFFF"/>
                </a:solidFill>
                <a:latin typeface="Cambria" pitchFamily="34" charset="0"/>
                <a:ea typeface="Cambria" pitchFamily="34" charset="-122"/>
                <a:cs typeface="Cambria" pitchFamily="34" charset="-120"/>
              </a:rPr>
              <a:t>CARAMBA</a:t>
            </a:r>
            <a:endParaRPr lang="en-US" sz="6600" dirty="0"/>
          </a:p>
          <a:p>
            <a:pPr indent="0" marL="0">
              <a:lnSpc>
                <a:spcPct val="98000"/>
              </a:lnSpc>
              <a:buNone/>
            </a:pPr>
            <a:r>
              <a:rPr lang="en-US" sz="6600" b="1" dirty="0">
                <a:solidFill>
                  <a:srgbClr val="FFFFFF"/>
                </a:solidFill>
                <a:latin typeface="Cambria" pitchFamily="34" charset="0"/>
                <a:ea typeface="Cambria" pitchFamily="34" charset="-122"/>
                <a:cs typeface="Cambria" pitchFamily="34" charset="-120"/>
              </a:rPr>
              <a:t>NORTH</a:t>
            </a:r>
            <a:endParaRPr lang="en-US" sz="6600" dirty="0"/>
          </a:p>
        </p:txBody>
      </p:sp>
      <p:sp>
        <p:nvSpPr>
          <p:cNvPr id="4" name="Text 2"/>
          <p:cNvSpPr/>
          <p:nvPr/>
        </p:nvSpPr>
        <p:spPr>
          <a:xfrm>
            <a:off x="640080" y="3246120"/>
            <a:ext cx="9692640" cy="1874520"/>
          </a:xfrm>
          <a:prstGeom prst="rect">
            <a:avLst/>
          </a:prstGeom>
          <a:noFill/>
          <a:ln/>
        </p:spPr>
        <p:txBody>
          <a:bodyPr wrap="square" rtlCol="0" anchor="t"/>
          <a:lstStyle/>
          <a:p>
            <a:pPr indent="0" marL="0">
              <a:lnSpc>
                <a:spcPct val="116000"/>
              </a:lnSpc>
              <a:buNone/>
            </a:pPr>
            <a:r>
              <a:rPr lang="en-US" sz="2100" b="1" i="1" dirty="0">
                <a:solidFill>
                  <a:srgbClr val="FFFFFF"/>
                </a:solidFill>
                <a:latin typeface="Cambria" pitchFamily="34" charset="0"/>
                <a:ea typeface="Cambria" pitchFamily="34" charset="-122"/>
                <a:cs typeface="Cambria" pitchFamily="34" charset="-120"/>
              </a:rPr>
              <a:t>A 1,300-acre parcel inside an already-forming power and data-center corridor — two hyperscale-scale projects sit on the same north-south line through the property at 15.5 and 19.3 miles, backed by a transmission, water, and gas position that is already permitted, not proposed.</a:t>
            </a:r>
            <a:endParaRPr lang="en-US" sz="2100" dirty="0"/>
          </a:p>
        </p:txBody>
      </p:sp>
      <p:sp>
        <p:nvSpPr>
          <p:cNvPr id="5" name="Shape 3"/>
          <p:cNvSpPr/>
          <p:nvPr/>
        </p:nvSpPr>
        <p:spPr>
          <a:xfrm>
            <a:off x="640080" y="5285232"/>
            <a:ext cx="10881360" cy="0"/>
          </a:xfrm>
          <a:prstGeom prst="line">
            <a:avLst/>
          </a:prstGeom>
          <a:noFill/>
          <a:ln w="12700">
            <a:solidFill>
              <a:srgbClr val="2E4258"/>
            </a:solidFill>
            <a:prstDash val="solid"/>
          </a:ln>
        </p:spPr>
      </p:sp>
      <p:sp>
        <p:nvSpPr>
          <p:cNvPr id="6" name="Text 4"/>
          <p:cNvSpPr/>
          <p:nvPr/>
        </p:nvSpPr>
        <p:spPr>
          <a:xfrm>
            <a:off x="640080" y="5468112"/>
            <a:ext cx="2537460" cy="45720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1,300</a:t>
            </a:r>
            <a:endParaRPr lang="en-US" sz="1900" dirty="0"/>
          </a:p>
        </p:txBody>
      </p:sp>
      <p:sp>
        <p:nvSpPr>
          <p:cNvPr id="7" name="Text 5"/>
          <p:cNvSpPr/>
          <p:nvPr/>
        </p:nvSpPr>
        <p:spPr>
          <a:xfrm>
            <a:off x="640080" y="5907024"/>
            <a:ext cx="2537460" cy="411480"/>
          </a:xfrm>
          <a:prstGeom prst="rect">
            <a:avLst/>
          </a:prstGeom>
          <a:noFill/>
          <a:ln/>
        </p:spPr>
        <p:txBody>
          <a:bodyPr wrap="square" rtlCol="0" anchor="ctr"/>
          <a:lstStyle/>
          <a:p>
            <a:pPr indent="0" marL="0">
              <a:buNone/>
            </a:pPr>
            <a:r>
              <a:rPr lang="en-US" sz="850" spc="40" kern="0" dirty="0">
                <a:solidFill>
                  <a:srgbClr val="8FA2B3"/>
                </a:solidFill>
                <a:latin typeface="Calibri" pitchFamily="34" charset="0"/>
                <a:ea typeface="Calibri" pitchFamily="34" charset="-122"/>
                <a:cs typeface="Calibri" pitchFamily="34" charset="-120"/>
              </a:rPr>
              <a:t>CONTIGUOUS ACRES</a:t>
            </a:r>
            <a:endParaRPr lang="en-US" sz="850" dirty="0"/>
          </a:p>
        </p:txBody>
      </p:sp>
      <p:sp>
        <p:nvSpPr>
          <p:cNvPr id="8" name="Text 6"/>
          <p:cNvSpPr/>
          <p:nvPr/>
        </p:nvSpPr>
        <p:spPr>
          <a:xfrm>
            <a:off x="3360420" y="5468112"/>
            <a:ext cx="2537460" cy="45720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15.5 mi</a:t>
            </a:r>
            <a:endParaRPr lang="en-US" sz="1900" dirty="0"/>
          </a:p>
        </p:txBody>
      </p:sp>
      <p:sp>
        <p:nvSpPr>
          <p:cNvPr id="9" name="Text 7"/>
          <p:cNvSpPr/>
          <p:nvPr/>
        </p:nvSpPr>
        <p:spPr>
          <a:xfrm>
            <a:off x="3360420" y="5907024"/>
            <a:ext cx="2537460" cy="411480"/>
          </a:xfrm>
          <a:prstGeom prst="rect">
            <a:avLst/>
          </a:prstGeom>
          <a:noFill/>
          <a:ln/>
        </p:spPr>
        <p:txBody>
          <a:bodyPr wrap="square" rtlCol="0" anchor="ctr"/>
          <a:lstStyle/>
          <a:p>
            <a:pPr indent="0" marL="0">
              <a:buNone/>
            </a:pPr>
            <a:r>
              <a:rPr lang="en-US" sz="850" spc="40" kern="0" dirty="0">
                <a:solidFill>
                  <a:srgbClr val="8FA2B3"/>
                </a:solidFill>
                <a:latin typeface="Calibri" pitchFamily="34" charset="0"/>
                <a:ea typeface="Calibri" pitchFamily="34" charset="-122"/>
                <a:cs typeface="Calibri" pitchFamily="34" charset="-120"/>
              </a:rPr>
              <a:t>TO GW RANCH (7.65 GW)</a:t>
            </a:r>
            <a:endParaRPr lang="en-US" sz="850" dirty="0"/>
          </a:p>
        </p:txBody>
      </p:sp>
      <p:sp>
        <p:nvSpPr>
          <p:cNvPr id="10" name="Text 8"/>
          <p:cNvSpPr/>
          <p:nvPr/>
        </p:nvSpPr>
        <p:spPr>
          <a:xfrm>
            <a:off x="6080760" y="5468112"/>
            <a:ext cx="2537460" cy="45720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19.3 mi</a:t>
            </a:r>
            <a:endParaRPr lang="en-US" sz="1900" dirty="0"/>
          </a:p>
        </p:txBody>
      </p:sp>
      <p:sp>
        <p:nvSpPr>
          <p:cNvPr id="11" name="Text 9"/>
          <p:cNvSpPr/>
          <p:nvPr/>
        </p:nvSpPr>
        <p:spPr>
          <a:xfrm>
            <a:off x="6080760" y="5907024"/>
            <a:ext cx="2537460" cy="411480"/>
          </a:xfrm>
          <a:prstGeom prst="rect">
            <a:avLst/>
          </a:prstGeom>
          <a:noFill/>
          <a:ln/>
        </p:spPr>
        <p:txBody>
          <a:bodyPr wrap="square" rtlCol="0" anchor="ctr"/>
          <a:lstStyle/>
          <a:p>
            <a:pPr indent="0" marL="0">
              <a:buNone/>
            </a:pPr>
            <a:r>
              <a:rPr lang="en-US" sz="850" spc="40" kern="0" dirty="0">
                <a:solidFill>
                  <a:srgbClr val="8FA2B3"/>
                </a:solidFill>
                <a:latin typeface="Calibri" pitchFamily="34" charset="0"/>
                <a:ea typeface="Calibri" pitchFamily="34" charset="-122"/>
                <a:cs typeface="Calibri" pitchFamily="34" charset="-120"/>
              </a:rPr>
              <a:t>TO LONGFELLOW</a:t>
            </a:r>
            <a:endParaRPr lang="en-US" sz="850" dirty="0"/>
          </a:p>
        </p:txBody>
      </p:sp>
      <p:sp>
        <p:nvSpPr>
          <p:cNvPr id="12" name="Text 10"/>
          <p:cNvSpPr/>
          <p:nvPr/>
        </p:nvSpPr>
        <p:spPr>
          <a:xfrm>
            <a:off x="8801100" y="5468112"/>
            <a:ext cx="2537460" cy="45720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32.7 GW</a:t>
            </a:r>
            <a:endParaRPr lang="en-US" sz="1900" dirty="0"/>
          </a:p>
        </p:txBody>
      </p:sp>
      <p:sp>
        <p:nvSpPr>
          <p:cNvPr id="13" name="Text 11"/>
          <p:cNvSpPr/>
          <p:nvPr/>
        </p:nvSpPr>
        <p:spPr>
          <a:xfrm>
            <a:off x="8801100" y="5907024"/>
            <a:ext cx="2537460" cy="411480"/>
          </a:xfrm>
          <a:prstGeom prst="rect">
            <a:avLst/>
          </a:prstGeom>
          <a:noFill/>
          <a:ln/>
        </p:spPr>
        <p:txBody>
          <a:bodyPr wrap="square" rtlCol="0" anchor="ctr"/>
          <a:lstStyle/>
          <a:p>
            <a:pPr indent="0" marL="0">
              <a:buNone/>
            </a:pPr>
            <a:r>
              <a:rPr lang="en-US" sz="850" spc="40" kern="0" dirty="0">
                <a:solidFill>
                  <a:srgbClr val="8FA2B3"/>
                </a:solidFill>
                <a:latin typeface="Calibri" pitchFamily="34" charset="0"/>
                <a:ea typeface="Calibri" pitchFamily="34" charset="-122"/>
                <a:cs typeface="Calibri" pitchFamily="34" charset="-120"/>
              </a:rPr>
              <a:t>WITHIN 60 MILES</a:t>
            </a:r>
            <a:endParaRPr lang="en-US" sz="850" dirty="0"/>
          </a:p>
        </p:txBody>
      </p:sp>
      <p:sp>
        <p:nvSpPr>
          <p:cNvPr id="14" name="Text 12"/>
          <p:cNvSpPr/>
          <p:nvPr/>
        </p:nvSpPr>
        <p:spPr>
          <a:xfrm>
            <a:off x="640080" y="6446520"/>
            <a:ext cx="7315200" cy="320040"/>
          </a:xfrm>
          <a:prstGeom prst="rect">
            <a:avLst/>
          </a:prstGeom>
          <a:noFill/>
          <a:ln/>
        </p:spPr>
        <p:txBody>
          <a:bodyPr wrap="square" rtlCol="0" anchor="ctr"/>
          <a:lstStyle/>
          <a:p>
            <a:pPr indent="0" marL="0">
              <a:buNone/>
            </a:pPr>
            <a:r>
              <a:rPr lang="en-US" sz="950" dirty="0">
                <a:solidFill>
                  <a:srgbClr val="70839A"/>
                </a:solidFill>
                <a:latin typeface="Calibri" pitchFamily="34" charset="0"/>
                <a:ea typeface="Calibri" pitchFamily="34" charset="-122"/>
                <a:cs typeface="Calibri" pitchFamily="34" charset="-120"/>
              </a:rPr>
              <a:t>Prepared by Land Resource Partners  ·  lrp-tx-gis.netlify.app</a:t>
            </a:r>
            <a:endParaRPr lang="en-US" sz="950" dirty="0"/>
          </a:p>
        </p:txBody>
      </p:sp>
      <p:sp>
        <p:nvSpPr>
          <p:cNvPr id="15" name="Text 13"/>
          <p:cNvSpPr/>
          <p:nvPr/>
        </p:nvSpPr>
        <p:spPr>
          <a:xfrm>
            <a:off x="8686800" y="6446520"/>
            <a:ext cx="2862072" cy="320040"/>
          </a:xfrm>
          <a:prstGeom prst="rect">
            <a:avLst/>
          </a:prstGeom>
          <a:noFill/>
          <a:ln/>
        </p:spPr>
        <p:txBody>
          <a:bodyPr wrap="square" rtlCol="0" anchor="ctr"/>
          <a:lstStyle/>
          <a:p>
            <a:pPr algn="r" indent="0" marL="0">
              <a:buNone/>
            </a:pPr>
            <a:r>
              <a:rPr lang="en-US" sz="950" dirty="0">
                <a:solidFill>
                  <a:srgbClr val="70839A"/>
                </a:solidFill>
                <a:latin typeface="Calibri" pitchFamily="34" charset="0"/>
                <a:ea typeface="Calibri" pitchFamily="34" charset="-122"/>
                <a:cs typeface="Calibri" pitchFamily="34" charset="-120"/>
              </a:rPr>
              <a:t>2026-08-24</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273B"/>
        </a:solidFill>
      </p:bgPr>
    </p:bg>
    <p:spTree>
      <p:nvGrpSpPr>
        <p:cNvPr id="1" name=""/>
        <p:cNvGrpSpPr/>
        <p:nvPr/>
      </p:nvGrpSpPr>
      <p:grpSpPr>
        <a:xfrm>
          <a:off x="0" y="0"/>
          <a:ext cx="0" cy="0"/>
          <a:chOff x="0" y="0"/>
          <a:chExt cx="0" cy="0"/>
        </a:xfrm>
      </p:grpSpPr>
      <p:sp>
        <p:nvSpPr>
          <p:cNvPr id="2" name="Shape 0"/>
          <p:cNvSpPr/>
          <p:nvPr/>
        </p:nvSpPr>
        <p:spPr>
          <a:xfrm>
            <a:off x="594360" y="457200"/>
            <a:ext cx="384048" cy="384048"/>
          </a:xfrm>
          <a:prstGeom prst="ellipse">
            <a:avLst/>
          </a:prstGeom>
          <a:solidFill>
            <a:srgbClr val="E3A15C"/>
          </a:solidFill>
          <a:ln/>
        </p:spPr>
      </p:sp>
      <p:pic>
        <p:nvPicPr>
          <p:cNvPr id="3" name="Image 0" descr="/home/claude/repo/outputs/reports/om_exhibits/icons/ring.png">    </p:cNvPr>
          <p:cNvPicPr>
            <a:picLocks noChangeAspect="1"/>
          </p:cNvPicPr>
          <p:nvPr/>
        </p:nvPicPr>
        <p:blipFill>
          <a:blip r:embed="rId1"/>
          <a:stretch>
            <a:fillRect/>
          </a:stretch>
        </p:blipFill>
        <p:spPr>
          <a:xfrm>
            <a:off x="698053" y="560893"/>
            <a:ext cx="176662" cy="176662"/>
          </a:xfrm>
          <a:prstGeom prst="rect">
            <a:avLst/>
          </a:prstGeom>
        </p:spPr>
      </p:pic>
      <p:sp>
        <p:nvSpPr>
          <p:cNvPr id="4" name="Text 1"/>
          <p:cNvSpPr/>
          <p:nvPr/>
        </p:nvSpPr>
        <p:spPr>
          <a:xfrm>
            <a:off x="1115568" y="457200"/>
            <a:ext cx="9601200" cy="384048"/>
          </a:xfrm>
          <a:prstGeom prst="rect">
            <a:avLst/>
          </a:prstGeom>
          <a:noFill/>
          <a:ln/>
        </p:spPr>
        <p:txBody>
          <a:bodyPr wrap="square" rtlCol="0" anchor="ctr"/>
          <a:lstStyle/>
          <a:p>
            <a:pPr indent="0" marL="0">
              <a:buNone/>
            </a:pPr>
            <a:r>
              <a:rPr lang="en-US" sz="1200" b="1" spc="220" kern="0" dirty="0">
                <a:solidFill>
                  <a:srgbClr val="E3A15C"/>
                </a:solidFill>
                <a:latin typeface="Calibri" pitchFamily="34" charset="0"/>
                <a:ea typeface="Calibri" pitchFamily="34" charset="-122"/>
                <a:cs typeface="Calibri" pitchFamily="34" charset="-120"/>
              </a:rPr>
              <a:t>THE POWER GRAVITY MAP</a:t>
            </a:r>
            <a:endParaRPr lang="en-US" sz="1200" dirty="0"/>
          </a:p>
        </p:txBody>
      </p:sp>
      <p:sp>
        <p:nvSpPr>
          <p:cNvPr id="5" name="Text 2"/>
          <p:cNvSpPr/>
          <p:nvPr/>
        </p:nvSpPr>
        <p:spPr>
          <a:xfrm>
            <a:off x="594360" y="960120"/>
            <a:ext cx="5212080" cy="2423160"/>
          </a:xfrm>
          <a:prstGeom prst="rect">
            <a:avLst/>
          </a:prstGeom>
          <a:noFill/>
          <a:ln/>
        </p:spPr>
        <p:txBody>
          <a:bodyPr wrap="square" rtlCol="0" anchor="t"/>
          <a:lstStyle/>
          <a:p>
            <a:pPr indent="0" marL="0">
              <a:lnSpc>
                <a:spcPct val="114000"/>
              </a:lnSpc>
              <a:buNone/>
            </a:pPr>
            <a:r>
              <a:rPr lang="en-US" sz="2100" b="1" i="1" dirty="0">
                <a:solidFill>
                  <a:srgbClr val="FFFFFF"/>
                </a:solidFill>
                <a:latin typeface="Cambria" pitchFamily="34" charset="0"/>
                <a:ea typeface="Cambria" pitchFamily="34" charset="-122"/>
                <a:cs typeface="Cambria" pitchFamily="34" charset="-120"/>
              </a:rPr>
              <a:t>GW Ranch sits almost due north (~19°) and Longfellow almost due south (~188°) of Caramba North — the property sits on the north-south line between them, not off to one side.</a:t>
            </a:r>
            <a:endParaRPr lang="en-US" sz="2100" dirty="0"/>
          </a:p>
        </p:txBody>
      </p:sp>
      <p:sp>
        <p:nvSpPr>
          <p:cNvPr id="6" name="Text 3"/>
          <p:cNvSpPr/>
          <p:nvPr/>
        </p:nvSpPr>
        <p:spPr>
          <a:xfrm>
            <a:off x="594360" y="3657600"/>
            <a:ext cx="4754880" cy="566928"/>
          </a:xfrm>
          <a:prstGeom prst="rect">
            <a:avLst/>
          </a:prstGeom>
          <a:noFill/>
          <a:ln/>
        </p:spPr>
        <p:txBody>
          <a:bodyPr wrap="square" lIns="0" tIns="0" rIns="0" bIns="0" rtlCol="0" anchor="b"/>
          <a:lstStyle/>
          <a:p>
            <a:pPr indent="0" marL="0">
              <a:buNone/>
            </a:pPr>
            <a:r>
              <a:rPr lang="en-US" sz="3400" b="1" dirty="0">
                <a:solidFill>
                  <a:srgbClr val="E3A15C"/>
                </a:solidFill>
                <a:latin typeface="Calibri" pitchFamily="34" charset="0"/>
                <a:ea typeface="Calibri" pitchFamily="34" charset="-122"/>
                <a:cs typeface="Calibri" pitchFamily="34" charset="-120"/>
              </a:rPr>
              <a:t>0.5 GW</a:t>
            </a:r>
            <a:endParaRPr lang="en-US" sz="3400" dirty="0"/>
          </a:p>
        </p:txBody>
      </p:sp>
      <p:sp>
        <p:nvSpPr>
          <p:cNvPr id="7" name="Text 4"/>
          <p:cNvSpPr/>
          <p:nvPr/>
        </p:nvSpPr>
        <p:spPr>
          <a:xfrm>
            <a:off x="594360" y="4224528"/>
            <a:ext cx="4754880" cy="365760"/>
          </a:xfrm>
          <a:prstGeom prst="rect">
            <a:avLst/>
          </a:prstGeom>
          <a:noFill/>
          <a:ln/>
        </p:spPr>
        <p:txBody>
          <a:bodyPr wrap="square" lIns="0" tIns="0" rIns="0" bIns="0" rtlCol="0" anchor="t"/>
          <a:lstStyle/>
          <a:p>
            <a:pPr indent="0" marL="0">
              <a:lnSpc>
                <a:spcPct val="105000"/>
              </a:lnSpc>
              <a:buNone/>
            </a:pPr>
            <a:r>
              <a:rPr lang="en-US" sz="950" spc="80" kern="0" dirty="0">
                <a:solidFill>
                  <a:srgbClr val="D7E1E8"/>
                </a:solidFill>
                <a:latin typeface="Calibri" pitchFamily="34" charset="0"/>
                <a:ea typeface="Calibri" pitchFamily="34" charset="-122"/>
                <a:cs typeface="Calibri" pitchFamily="34" charset="-120"/>
              </a:rPr>
              <a:t>OPERATING + QUEUED, WITHIN 15 MILES</a:t>
            </a:r>
            <a:endParaRPr lang="en-US" sz="950" dirty="0"/>
          </a:p>
        </p:txBody>
      </p:sp>
      <p:sp>
        <p:nvSpPr>
          <p:cNvPr id="8" name="Text 5"/>
          <p:cNvSpPr/>
          <p:nvPr/>
        </p:nvSpPr>
        <p:spPr>
          <a:xfrm>
            <a:off x="594360" y="4590288"/>
            <a:ext cx="4754880" cy="566928"/>
          </a:xfrm>
          <a:prstGeom prst="rect">
            <a:avLst/>
          </a:prstGeom>
          <a:noFill/>
          <a:ln/>
        </p:spPr>
        <p:txBody>
          <a:bodyPr wrap="square" lIns="0" tIns="0" rIns="0" bIns="0" rtlCol="0" anchor="b"/>
          <a:lstStyle/>
          <a:p>
            <a:pPr indent="0" marL="0">
              <a:buNone/>
            </a:pPr>
            <a:r>
              <a:rPr lang="en-US" sz="3400" b="1" dirty="0">
                <a:solidFill>
                  <a:srgbClr val="E3A15C"/>
                </a:solidFill>
                <a:latin typeface="Calibri" pitchFamily="34" charset="0"/>
                <a:ea typeface="Calibri" pitchFamily="34" charset="-122"/>
                <a:cs typeface="Calibri" pitchFamily="34" charset="-120"/>
              </a:rPr>
              <a:t>8.9 GW</a:t>
            </a:r>
            <a:endParaRPr lang="en-US" sz="3400" dirty="0"/>
          </a:p>
        </p:txBody>
      </p:sp>
      <p:sp>
        <p:nvSpPr>
          <p:cNvPr id="9" name="Text 6"/>
          <p:cNvSpPr/>
          <p:nvPr/>
        </p:nvSpPr>
        <p:spPr>
          <a:xfrm>
            <a:off x="594360" y="5157216"/>
            <a:ext cx="4754880" cy="365760"/>
          </a:xfrm>
          <a:prstGeom prst="rect">
            <a:avLst/>
          </a:prstGeom>
          <a:noFill/>
          <a:ln/>
        </p:spPr>
        <p:txBody>
          <a:bodyPr wrap="square" lIns="0" tIns="0" rIns="0" bIns="0" rtlCol="0" anchor="t"/>
          <a:lstStyle/>
          <a:p>
            <a:pPr indent="0" marL="0">
              <a:lnSpc>
                <a:spcPct val="105000"/>
              </a:lnSpc>
              <a:buNone/>
            </a:pPr>
            <a:r>
              <a:rPr lang="en-US" sz="950" spc="80" kern="0" dirty="0">
                <a:solidFill>
                  <a:srgbClr val="D7E1E8"/>
                </a:solidFill>
                <a:latin typeface="Calibri" pitchFamily="34" charset="0"/>
                <a:ea typeface="Calibri" pitchFamily="34" charset="-122"/>
                <a:cs typeface="Calibri" pitchFamily="34" charset="-120"/>
              </a:rPr>
              <a:t>OPERATING + QUEUED, WITHIN 30 MILES</a:t>
            </a:r>
            <a:endParaRPr lang="en-US" sz="950" dirty="0"/>
          </a:p>
        </p:txBody>
      </p:sp>
      <p:sp>
        <p:nvSpPr>
          <p:cNvPr id="10" name="Text 7"/>
          <p:cNvSpPr/>
          <p:nvPr/>
        </p:nvSpPr>
        <p:spPr>
          <a:xfrm>
            <a:off x="594360" y="5522976"/>
            <a:ext cx="4754880" cy="566928"/>
          </a:xfrm>
          <a:prstGeom prst="rect">
            <a:avLst/>
          </a:prstGeom>
          <a:noFill/>
          <a:ln/>
        </p:spPr>
        <p:txBody>
          <a:bodyPr wrap="square" lIns="0" tIns="0" rIns="0" bIns="0" rtlCol="0" anchor="b"/>
          <a:lstStyle/>
          <a:p>
            <a:pPr indent="0" marL="0">
              <a:buNone/>
            </a:pPr>
            <a:r>
              <a:rPr lang="en-US" sz="3400" b="1" dirty="0">
                <a:solidFill>
                  <a:srgbClr val="E3A15C"/>
                </a:solidFill>
                <a:latin typeface="Calibri" pitchFamily="34" charset="0"/>
                <a:ea typeface="Calibri" pitchFamily="34" charset="-122"/>
                <a:cs typeface="Calibri" pitchFamily="34" charset="-120"/>
              </a:rPr>
              <a:t>32.7 GW</a:t>
            </a:r>
            <a:endParaRPr lang="en-US" sz="3400" dirty="0"/>
          </a:p>
        </p:txBody>
      </p:sp>
      <p:sp>
        <p:nvSpPr>
          <p:cNvPr id="11" name="Text 8"/>
          <p:cNvSpPr/>
          <p:nvPr/>
        </p:nvSpPr>
        <p:spPr>
          <a:xfrm>
            <a:off x="594360" y="6089904"/>
            <a:ext cx="4754880" cy="365760"/>
          </a:xfrm>
          <a:prstGeom prst="rect">
            <a:avLst/>
          </a:prstGeom>
          <a:noFill/>
          <a:ln/>
        </p:spPr>
        <p:txBody>
          <a:bodyPr wrap="square" lIns="0" tIns="0" rIns="0" bIns="0" rtlCol="0" anchor="t"/>
          <a:lstStyle/>
          <a:p>
            <a:pPr indent="0" marL="0">
              <a:lnSpc>
                <a:spcPct val="105000"/>
              </a:lnSpc>
              <a:buNone/>
            </a:pPr>
            <a:r>
              <a:rPr lang="en-US" sz="950" spc="80" kern="0" dirty="0">
                <a:solidFill>
                  <a:srgbClr val="D7E1E8"/>
                </a:solidFill>
                <a:latin typeface="Calibri" pitchFamily="34" charset="0"/>
                <a:ea typeface="Calibri" pitchFamily="34" charset="-122"/>
                <a:cs typeface="Calibri" pitchFamily="34" charset="-120"/>
              </a:rPr>
              <a:t>OPERATING + QUEUED, WITHIN 60 MILES</a:t>
            </a:r>
            <a:endParaRPr lang="en-US" sz="950" dirty="0"/>
          </a:p>
        </p:txBody>
      </p:sp>
      <p:pic>
        <p:nvPicPr>
          <p:cNvPr id="12" name="Image 1" descr="/home/claude/repo/outputs/reports/om_exhibits/exhibit_power_gravity_dark.png">    </p:cNvPr>
          <p:cNvPicPr>
            <a:picLocks noChangeAspect="1"/>
          </p:cNvPicPr>
          <p:nvPr/>
        </p:nvPicPr>
        <p:blipFill>
          <a:blip r:embed="rId2"/>
          <a:stretch>
            <a:fillRect/>
          </a:stretch>
        </p:blipFill>
        <p:spPr>
          <a:xfrm>
            <a:off x="6339535" y="685800"/>
            <a:ext cx="5349240" cy="5349240"/>
          </a:xfrm>
          <a:prstGeom prst="rect">
            <a:avLst/>
          </a:prstGeom>
        </p:spPr>
      </p:pic>
      <p:sp>
        <p:nvSpPr>
          <p:cNvPr id="13" name="Text 9"/>
          <p:cNvSpPr/>
          <p:nvPr/>
        </p:nvSpPr>
        <p:spPr>
          <a:xfrm>
            <a:off x="6339535" y="6144768"/>
            <a:ext cx="5349240" cy="548640"/>
          </a:xfrm>
          <a:prstGeom prst="rect">
            <a:avLst/>
          </a:prstGeom>
          <a:noFill/>
          <a:ln/>
        </p:spPr>
        <p:txBody>
          <a:bodyPr wrap="square" rtlCol="0" anchor="t"/>
          <a:lstStyle/>
          <a:p>
            <a:pPr indent="0" marL="0">
              <a:lnSpc>
                <a:spcPct val="110000"/>
              </a:lnSpc>
              <a:buNone/>
            </a:pPr>
            <a:r>
              <a:rPr lang="en-US" sz="900" i="1" dirty="0">
                <a:solidFill>
                  <a:srgbClr val="8FA2B3"/>
                </a:solidFill>
                <a:latin typeface="Calibri" pitchFamily="34" charset="0"/>
                <a:ea typeface="Calibri" pitchFamily="34" charset="-122"/>
                <a:cs typeface="Calibri" pitchFamily="34" charset="-120"/>
              </a:rPr>
              <a:t>Ring analysis: region-wide operating + ERCOT-queue capacity from the same EIA-860 + ERCOT-queue layers used throughout — not county-bounded. Caramba North at center; GW Ranch and Longfellow plotted at true bearing and distance.</a:t>
            </a:r>
            <a:endParaRPr lang="en-US" sz="900" dirty="0"/>
          </a:p>
        </p:txBody>
      </p:sp>
      <p:sp>
        <p:nvSpPr>
          <p:cNvPr id="14" name="Text 10"/>
          <p:cNvSpPr/>
          <p:nvPr/>
        </p:nvSpPr>
        <p:spPr>
          <a:xfrm>
            <a:off x="594360" y="6473952"/>
            <a:ext cx="7315200" cy="274320"/>
          </a:xfrm>
          <a:prstGeom prst="rect">
            <a:avLst/>
          </a:prstGeom>
          <a:noFill/>
          <a:ln/>
        </p:spPr>
        <p:txBody>
          <a:bodyPr wrap="square" rtlCol="0" anchor="ctr"/>
          <a:lstStyle/>
          <a:p>
            <a:pPr indent="0" marL="0">
              <a:buNone/>
            </a:pPr>
            <a:r>
              <a:rPr lang="en-US" sz="800" spc="50" kern="0" dirty="0">
                <a:solidFill>
                  <a:srgbClr val="5C7185"/>
                </a:solidFill>
                <a:latin typeface="Calibri" pitchFamily="34" charset="0"/>
                <a:ea typeface="Calibri" pitchFamily="34" charset="-122"/>
                <a:cs typeface="Calibri" pitchFamily="34" charset="-120"/>
              </a:rPr>
              <a:t>CARAMBA NORTH — STRICTLY CONFIDENTIAL, POST-NDA</a:t>
            </a:r>
            <a:endParaRPr lang="en-US" sz="800" dirty="0"/>
          </a:p>
        </p:txBody>
      </p:sp>
      <p:sp>
        <p:nvSpPr>
          <p:cNvPr id="15" name="Text 11"/>
          <p:cNvSpPr/>
          <p:nvPr/>
        </p:nvSpPr>
        <p:spPr>
          <a:xfrm>
            <a:off x="11231575" y="6473952"/>
            <a:ext cx="365760" cy="274320"/>
          </a:xfrm>
          <a:prstGeom prst="rect">
            <a:avLst/>
          </a:prstGeom>
          <a:noFill/>
          <a:ln/>
        </p:spPr>
        <p:txBody>
          <a:bodyPr wrap="square" rtlCol="0" anchor="ctr"/>
          <a:lstStyle/>
          <a:p>
            <a:pPr algn="r" indent="0" marL="0">
              <a:buNone/>
            </a:pPr>
            <a:r>
              <a:rPr lang="en-US" sz="800" dirty="0">
                <a:solidFill>
                  <a:srgbClr val="5C7185"/>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457200"/>
            <a:ext cx="384048" cy="384048"/>
          </a:xfrm>
          <a:prstGeom prst="ellipse">
            <a:avLst/>
          </a:prstGeom>
          <a:solidFill>
            <a:srgbClr val="A85A2E"/>
          </a:solidFill>
          <a:ln/>
        </p:spPr>
      </p:sp>
      <p:pic>
        <p:nvPicPr>
          <p:cNvPr id="3" name="Image 0" descr="/home/claude/repo/outputs/reports/om_exhibits/icons/locationdot.png">    </p:cNvPr>
          <p:cNvPicPr>
            <a:picLocks noChangeAspect="1"/>
          </p:cNvPicPr>
          <p:nvPr/>
        </p:nvPicPr>
        <p:blipFill>
          <a:blip r:embed="rId1"/>
          <a:stretch>
            <a:fillRect/>
          </a:stretch>
        </p:blipFill>
        <p:spPr>
          <a:xfrm>
            <a:off x="698053" y="560893"/>
            <a:ext cx="176662" cy="176662"/>
          </a:xfrm>
          <a:prstGeom prst="rect">
            <a:avLst/>
          </a:prstGeom>
        </p:spPr>
      </p:pic>
      <p:sp>
        <p:nvSpPr>
          <p:cNvPr id="4" name="Text 1"/>
          <p:cNvSpPr/>
          <p:nvPr/>
        </p:nvSpPr>
        <p:spPr>
          <a:xfrm>
            <a:off x="1115568" y="457200"/>
            <a:ext cx="9601200" cy="384048"/>
          </a:xfrm>
          <a:prstGeom prst="rect">
            <a:avLst/>
          </a:prstGeom>
          <a:noFill/>
          <a:ln/>
        </p:spPr>
        <p:txBody>
          <a:bodyPr wrap="square" rtlCol="0" anchor="ctr"/>
          <a:lstStyle/>
          <a:p>
            <a:pPr indent="0" marL="0">
              <a:buNone/>
            </a:pPr>
            <a:r>
              <a:rPr lang="en-US" sz="1200" b="1" spc="220" kern="0" dirty="0">
                <a:solidFill>
                  <a:srgbClr val="A85A2E"/>
                </a:solidFill>
                <a:latin typeface="Calibri" pitchFamily="34" charset="0"/>
                <a:ea typeface="Calibri" pitchFamily="34" charset="-122"/>
                <a:cs typeface="Calibri" pitchFamily="34" charset="-120"/>
              </a:rPr>
              <a:t>THE PROPERTY</a:t>
            </a:r>
            <a:endParaRPr lang="en-US" sz="1200" dirty="0"/>
          </a:p>
        </p:txBody>
      </p:sp>
      <p:sp>
        <p:nvSpPr>
          <p:cNvPr id="5" name="Text 2"/>
          <p:cNvSpPr/>
          <p:nvPr/>
        </p:nvSpPr>
        <p:spPr>
          <a:xfrm>
            <a:off x="594360" y="960120"/>
            <a:ext cx="4754880" cy="1737360"/>
          </a:xfrm>
          <a:prstGeom prst="rect">
            <a:avLst/>
          </a:prstGeom>
          <a:noFill/>
          <a:ln/>
        </p:spPr>
        <p:txBody>
          <a:bodyPr wrap="square" rtlCol="0" anchor="t"/>
          <a:lstStyle/>
          <a:p>
            <a:pPr indent="0" marL="0">
              <a:lnSpc>
                <a:spcPct val="112000"/>
              </a:lnSpc>
              <a:buNone/>
            </a:pPr>
            <a:r>
              <a:rPr lang="en-US" sz="2800" b="1" i="1" dirty="0">
                <a:solidFill>
                  <a:srgbClr val="16273B"/>
                </a:solidFill>
                <a:latin typeface="Cambria" pitchFamily="34" charset="0"/>
                <a:ea typeface="Cambria" pitchFamily="34" charset="-122"/>
                <a:cs typeface="Cambria" pitchFamily="34" charset="-120"/>
              </a:rPr>
              <a:t>As-of-right industrial land inside the fastest-growing load pocket in ERCOT — not a rezoning story.</a:t>
            </a:r>
            <a:endParaRPr lang="en-US" sz="2800" dirty="0"/>
          </a:p>
        </p:txBody>
      </p:sp>
      <p:sp>
        <p:nvSpPr>
          <p:cNvPr id="6" name="Text 3"/>
          <p:cNvSpPr/>
          <p:nvPr/>
        </p:nvSpPr>
        <p:spPr>
          <a:xfrm>
            <a:off x="594360" y="3246120"/>
            <a:ext cx="2194560" cy="777240"/>
          </a:xfrm>
          <a:prstGeom prst="rect">
            <a:avLst/>
          </a:prstGeom>
          <a:noFill/>
          <a:ln/>
        </p:spPr>
        <p:txBody>
          <a:bodyPr wrap="square" lIns="0" tIns="0" rIns="0" bIns="0" rtlCol="0" anchor="b"/>
          <a:lstStyle/>
          <a:p>
            <a:pPr indent="0" marL="0">
              <a:buNone/>
            </a:pPr>
            <a:r>
              <a:rPr lang="en-US" sz="4400" b="1" dirty="0">
                <a:solidFill>
                  <a:srgbClr val="A85A2E"/>
                </a:solidFill>
                <a:latin typeface="Calibri" pitchFamily="34" charset="0"/>
                <a:ea typeface="Calibri" pitchFamily="34" charset="-122"/>
                <a:cs typeface="Calibri" pitchFamily="34" charset="-120"/>
              </a:rPr>
              <a:t>1,300</a:t>
            </a:r>
            <a:endParaRPr lang="en-US" sz="4400" dirty="0"/>
          </a:p>
        </p:txBody>
      </p:sp>
      <p:sp>
        <p:nvSpPr>
          <p:cNvPr id="7" name="Text 4"/>
          <p:cNvSpPr/>
          <p:nvPr/>
        </p:nvSpPr>
        <p:spPr>
          <a:xfrm>
            <a:off x="594360" y="4023360"/>
            <a:ext cx="2194560" cy="50292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MAX CONTIGUOUS ACRES</a:t>
            </a:r>
            <a:endParaRPr lang="en-US" sz="950" dirty="0"/>
          </a:p>
        </p:txBody>
      </p:sp>
      <p:sp>
        <p:nvSpPr>
          <p:cNvPr id="8" name="Text 5"/>
          <p:cNvSpPr/>
          <p:nvPr/>
        </p:nvSpPr>
        <p:spPr>
          <a:xfrm>
            <a:off x="2880360" y="3246120"/>
            <a:ext cx="2194560" cy="777240"/>
          </a:xfrm>
          <a:prstGeom prst="rect">
            <a:avLst/>
          </a:prstGeom>
          <a:noFill/>
          <a:ln/>
        </p:spPr>
        <p:txBody>
          <a:bodyPr wrap="square" lIns="0" tIns="0" rIns="0" bIns="0" rtlCol="0" anchor="b"/>
          <a:lstStyle/>
          <a:p>
            <a:pPr indent="0" marL="0">
              <a:buNone/>
            </a:pPr>
            <a:r>
              <a:rPr lang="en-US" sz="4400" b="1" dirty="0">
                <a:solidFill>
                  <a:srgbClr val="A85A2E"/>
                </a:solidFill>
                <a:latin typeface="Calibri" pitchFamily="34" charset="0"/>
                <a:ea typeface="Calibri" pitchFamily="34" charset="-122"/>
                <a:cs typeface="Calibri" pitchFamily="34" charset="-120"/>
              </a:rPr>
              <a:t>~5 mi</a:t>
            </a:r>
            <a:endParaRPr lang="en-US" sz="4400" dirty="0"/>
          </a:p>
        </p:txBody>
      </p:sp>
      <p:sp>
        <p:nvSpPr>
          <p:cNvPr id="9" name="Text 6"/>
          <p:cNvSpPr/>
          <p:nvPr/>
        </p:nvSpPr>
        <p:spPr>
          <a:xfrm>
            <a:off x="2880360" y="4023360"/>
            <a:ext cx="2194560" cy="50292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TO FORT STOCKTON</a:t>
            </a:r>
            <a:endParaRPr lang="en-US" sz="950" dirty="0"/>
          </a:p>
        </p:txBody>
      </p:sp>
      <p:sp>
        <p:nvSpPr>
          <p:cNvPr id="10" name="Text 7"/>
          <p:cNvSpPr/>
          <p:nvPr/>
        </p:nvSpPr>
        <p:spPr>
          <a:xfrm>
            <a:off x="594360" y="4709160"/>
            <a:ext cx="4754880" cy="1280160"/>
          </a:xfrm>
          <a:prstGeom prst="rect">
            <a:avLst/>
          </a:prstGeom>
          <a:noFill/>
          <a:ln/>
        </p:spPr>
        <p:txBody>
          <a:bodyPr wrap="square" rtlCol="0" anchor="t"/>
          <a:lstStyle/>
          <a:p>
            <a:pPr indent="0" marL="0">
              <a:lnSpc>
                <a:spcPct val="118000"/>
              </a:lnSpc>
              <a:buNone/>
            </a:pPr>
            <a:r>
              <a:rPr lang="en-US" sz="1250" dirty="0">
                <a:solidFill>
                  <a:srgbClr val="3A4652"/>
                </a:solidFill>
                <a:latin typeface="Calibri" pitchFamily="34" charset="0"/>
                <a:ea typeface="Calibri" pitchFamily="34" charset="-122"/>
                <a:cs typeface="Calibri" pitchFamily="34" charset="-120"/>
              </a:rPr>
              <a:t>North side of I-10, Pecos County. No zoning ordinance — industrial and energy use as of right, inside ERCOT's Far West weather zone, its highest-growth large-load pocket.</a:t>
            </a:r>
            <a:endParaRPr lang="en-US" sz="1250" dirty="0"/>
          </a:p>
        </p:txBody>
      </p:sp>
      <p:pic>
        <p:nvPicPr>
          <p:cNvPr id="11" name="Image 1" descr="/home/claude/repo/outputs/reports/om_exhibits/exhibit_2_1_site-setting.jpg">    </p:cNvPr>
          <p:cNvPicPr>
            <a:picLocks noChangeAspect="1"/>
          </p:cNvPicPr>
          <p:nvPr/>
        </p:nvPicPr>
        <p:blipFill>
          <a:blip r:embed="rId2"/>
          <a:stretch>
            <a:fillRect/>
          </a:stretch>
        </p:blipFill>
        <p:spPr>
          <a:xfrm>
            <a:off x="5669280" y="960120"/>
            <a:ext cx="5989320" cy="3743325"/>
          </a:xfrm>
          <a:prstGeom prst="rect">
            <a:avLst/>
          </a:prstGeom>
          <a:effectLst>
            <a:outerShdw sx="100000" sy="100000" kx="0" ky="0" algn="bl" rotWithShape="0" blurRad="101600" dist="25400" dir="5400000">
              <a:srgbClr val="16273B">
                <a:alpha val="18000"/>
              </a:srgbClr>
            </a:outerShdw>
          </a:effectLst>
        </p:spPr>
      </p:pic>
      <p:sp>
        <p:nvSpPr>
          <p:cNvPr id="12" name="Shape 8"/>
          <p:cNvSpPr/>
          <p:nvPr/>
        </p:nvSpPr>
        <p:spPr>
          <a:xfrm>
            <a:off x="5669280" y="960120"/>
            <a:ext cx="5989320" cy="3743325"/>
          </a:xfrm>
          <a:prstGeom prst="rect">
            <a:avLst/>
          </a:prstGeom>
          <a:ln w="12700">
            <a:solidFill>
              <a:srgbClr val="E4DFD6"/>
            </a:solidFill>
            <a:prstDash val="solid"/>
          </a:ln>
        </p:spPr>
      </p:sp>
      <p:sp>
        <p:nvSpPr>
          <p:cNvPr id="13" name="Text 9"/>
          <p:cNvSpPr/>
          <p:nvPr/>
        </p:nvSpPr>
        <p:spPr>
          <a:xfrm>
            <a:off x="5669280" y="4813173"/>
            <a:ext cx="5989320" cy="457200"/>
          </a:xfrm>
          <a:prstGeom prst="rect">
            <a:avLst/>
          </a:prstGeom>
          <a:noFill/>
          <a:ln/>
        </p:spPr>
        <p:txBody>
          <a:bodyPr wrap="square" rtlCol="0" anchor="t"/>
          <a:lstStyle/>
          <a:p>
            <a:pPr indent="0" marL="0">
              <a:lnSpc>
                <a:spcPct val="110000"/>
              </a:lnSpc>
              <a:buNone/>
            </a:pPr>
            <a:r>
              <a:rPr lang="en-US" sz="900" i="1" dirty="0">
                <a:solidFill>
                  <a:srgbClr val="6B7280"/>
                </a:solidFill>
                <a:latin typeface="Calibri" pitchFamily="34" charset="0"/>
                <a:ea typeface="Calibri" pitchFamily="34" charset="-122"/>
                <a:cs typeface="Calibri" pitchFamily="34" charset="-120"/>
              </a:rPr>
              <a:t>Exhibit 2.1 — the Caramba North tract on the north side of I-10, five miles from Fort Stockton.</a:t>
            </a:r>
            <a:endParaRPr lang="en-US" sz="900" dirty="0"/>
          </a:p>
        </p:txBody>
      </p:sp>
      <p:sp>
        <p:nvSpPr>
          <p:cNvPr id="14" name="Text 10"/>
          <p:cNvSpPr/>
          <p:nvPr/>
        </p:nvSpPr>
        <p:spPr>
          <a:xfrm>
            <a:off x="594360" y="6473952"/>
            <a:ext cx="7315200" cy="274320"/>
          </a:xfrm>
          <a:prstGeom prst="rect">
            <a:avLst/>
          </a:prstGeom>
          <a:noFill/>
          <a:ln/>
        </p:spPr>
        <p:txBody>
          <a:bodyPr wrap="square" rtlCol="0" anchor="ctr"/>
          <a:lstStyle/>
          <a:p>
            <a:pPr indent="0" marL="0">
              <a:buNone/>
            </a:pPr>
            <a:r>
              <a:rPr lang="en-US" sz="800" spc="50" kern="0" dirty="0">
                <a:solidFill>
                  <a:srgbClr val="9CA8B4"/>
                </a:solidFill>
                <a:latin typeface="Calibri" pitchFamily="34" charset="0"/>
                <a:ea typeface="Calibri" pitchFamily="34" charset="-122"/>
                <a:cs typeface="Calibri" pitchFamily="34" charset="-120"/>
              </a:rPr>
              <a:t>CARAMBA NORTH — STRICTLY CONFIDENTIAL, POST-NDA</a:t>
            </a:r>
            <a:endParaRPr lang="en-US" sz="800" dirty="0"/>
          </a:p>
        </p:txBody>
      </p:sp>
      <p:sp>
        <p:nvSpPr>
          <p:cNvPr id="15" name="Text 11"/>
          <p:cNvSpPr/>
          <p:nvPr/>
        </p:nvSpPr>
        <p:spPr>
          <a:xfrm>
            <a:off x="11231575" y="6473952"/>
            <a:ext cx="365760" cy="274320"/>
          </a:xfrm>
          <a:prstGeom prst="rect">
            <a:avLst/>
          </a:prstGeom>
          <a:noFill/>
          <a:ln/>
        </p:spPr>
        <p:txBody>
          <a:bodyPr wrap="square" rtlCol="0" anchor="ctr"/>
          <a:lstStyle/>
          <a:p>
            <a:pPr algn="r" indent="0" marL="0">
              <a:buNone/>
            </a:pPr>
            <a:r>
              <a:rPr lang="en-US" sz="800" dirty="0">
                <a:solidFill>
                  <a:srgbClr val="9CA8B4"/>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457200"/>
            <a:ext cx="384048" cy="384048"/>
          </a:xfrm>
          <a:prstGeom prst="ellipse">
            <a:avLst/>
          </a:prstGeom>
          <a:solidFill>
            <a:srgbClr val="A85A2E"/>
          </a:solidFill>
          <a:ln/>
        </p:spPr>
      </p:sp>
      <p:pic>
        <p:nvPicPr>
          <p:cNvPr id="3" name="Image 0" descr="/home/claude/repo/outputs/reports/om_exhibits/icons/tower.png">    </p:cNvPr>
          <p:cNvPicPr>
            <a:picLocks noChangeAspect="1"/>
          </p:cNvPicPr>
          <p:nvPr/>
        </p:nvPicPr>
        <p:blipFill>
          <a:blip r:embed="rId1"/>
          <a:stretch>
            <a:fillRect/>
          </a:stretch>
        </p:blipFill>
        <p:spPr>
          <a:xfrm>
            <a:off x="698053" y="560893"/>
            <a:ext cx="176662" cy="176662"/>
          </a:xfrm>
          <a:prstGeom prst="rect">
            <a:avLst/>
          </a:prstGeom>
        </p:spPr>
      </p:pic>
      <p:sp>
        <p:nvSpPr>
          <p:cNvPr id="4" name="Text 1"/>
          <p:cNvSpPr/>
          <p:nvPr/>
        </p:nvSpPr>
        <p:spPr>
          <a:xfrm>
            <a:off x="1115568" y="457200"/>
            <a:ext cx="9601200" cy="384048"/>
          </a:xfrm>
          <a:prstGeom prst="rect">
            <a:avLst/>
          </a:prstGeom>
          <a:noFill/>
          <a:ln/>
        </p:spPr>
        <p:txBody>
          <a:bodyPr wrap="square" rtlCol="0" anchor="ctr"/>
          <a:lstStyle/>
          <a:p>
            <a:pPr indent="0" marL="0">
              <a:buNone/>
            </a:pPr>
            <a:r>
              <a:rPr lang="en-US" sz="1200" b="1" spc="220" kern="0" dirty="0">
                <a:solidFill>
                  <a:srgbClr val="A85A2E"/>
                </a:solidFill>
                <a:latin typeface="Calibri" pitchFamily="34" charset="0"/>
                <a:ea typeface="Calibri" pitchFamily="34" charset="-122"/>
                <a:cs typeface="Calibri" pitchFamily="34" charset="-120"/>
              </a:rPr>
              <a:t>TRANSMISSION</a:t>
            </a:r>
            <a:endParaRPr lang="en-US" sz="1200" dirty="0"/>
          </a:p>
        </p:txBody>
      </p:sp>
      <p:sp>
        <p:nvSpPr>
          <p:cNvPr id="5" name="Text 2"/>
          <p:cNvSpPr/>
          <p:nvPr/>
        </p:nvSpPr>
        <p:spPr>
          <a:xfrm>
            <a:off x="594360" y="960120"/>
            <a:ext cx="4754880" cy="2286000"/>
          </a:xfrm>
          <a:prstGeom prst="rect">
            <a:avLst/>
          </a:prstGeom>
          <a:noFill/>
          <a:ln/>
        </p:spPr>
        <p:txBody>
          <a:bodyPr wrap="square" rtlCol="0" anchor="t"/>
          <a:lstStyle/>
          <a:p>
            <a:pPr indent="0" marL="0">
              <a:lnSpc>
                <a:spcPct val="114000"/>
              </a:lnSpc>
              <a:buNone/>
            </a:pPr>
            <a:r>
              <a:rPr lang="en-US" sz="2300" b="1" i="1" dirty="0">
                <a:solidFill>
                  <a:srgbClr val="16273B"/>
                </a:solidFill>
                <a:latin typeface="Cambria" pitchFamily="34" charset="0"/>
                <a:ea typeface="Cambria" pitchFamily="34" charset="-122"/>
                <a:cs typeface="Cambria" pitchFamily="34" charset="-120"/>
              </a:rPr>
              <a:t>Fifteen miles from the delivery point of all three approved 765 kV Permian import lines — the transmission decision is already made, upstream of this site.</a:t>
            </a:r>
            <a:endParaRPr lang="en-US" sz="2300" dirty="0"/>
          </a:p>
        </p:txBody>
      </p:sp>
      <p:sp>
        <p:nvSpPr>
          <p:cNvPr id="6" name="Text 3"/>
          <p:cNvSpPr/>
          <p:nvPr/>
        </p:nvSpPr>
        <p:spPr>
          <a:xfrm>
            <a:off x="594360" y="3520440"/>
            <a:ext cx="2194560" cy="777240"/>
          </a:xfrm>
          <a:prstGeom prst="rect">
            <a:avLst/>
          </a:prstGeom>
          <a:noFill/>
          <a:ln/>
        </p:spPr>
        <p:txBody>
          <a:bodyPr wrap="square" lIns="0" tIns="0" rIns="0" bIns="0" rtlCol="0" anchor="b"/>
          <a:lstStyle/>
          <a:p>
            <a:pPr indent="0" marL="0">
              <a:buNone/>
            </a:pPr>
            <a:r>
              <a:rPr lang="en-US" sz="4400" b="1" dirty="0">
                <a:solidFill>
                  <a:srgbClr val="A85A2E"/>
                </a:solidFill>
                <a:latin typeface="Calibri" pitchFamily="34" charset="0"/>
                <a:ea typeface="Calibri" pitchFamily="34" charset="-122"/>
                <a:cs typeface="Calibri" pitchFamily="34" charset="-120"/>
              </a:rPr>
              <a:t>15 mi</a:t>
            </a:r>
            <a:endParaRPr lang="en-US" sz="4400" dirty="0"/>
          </a:p>
        </p:txBody>
      </p:sp>
      <p:sp>
        <p:nvSpPr>
          <p:cNvPr id="7" name="Text 4"/>
          <p:cNvSpPr/>
          <p:nvPr/>
        </p:nvSpPr>
        <p:spPr>
          <a:xfrm>
            <a:off x="594360" y="4297680"/>
            <a:ext cx="2194560" cy="50292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TO SOLSTICE SUBSTATION</a:t>
            </a:r>
            <a:endParaRPr lang="en-US" sz="950" dirty="0"/>
          </a:p>
        </p:txBody>
      </p:sp>
      <p:sp>
        <p:nvSpPr>
          <p:cNvPr id="8" name="Text 5"/>
          <p:cNvSpPr/>
          <p:nvPr/>
        </p:nvSpPr>
        <p:spPr>
          <a:xfrm>
            <a:off x="2880360" y="3520440"/>
            <a:ext cx="2194560" cy="777240"/>
          </a:xfrm>
          <a:prstGeom prst="rect">
            <a:avLst/>
          </a:prstGeom>
          <a:noFill/>
          <a:ln/>
        </p:spPr>
        <p:txBody>
          <a:bodyPr wrap="square" lIns="0" tIns="0" rIns="0" bIns="0" rtlCol="0" anchor="b"/>
          <a:lstStyle/>
          <a:p>
            <a:pPr indent="0" marL="0">
              <a:buNone/>
            </a:pPr>
            <a:r>
              <a:rPr lang="en-US" sz="4400" b="1" dirty="0">
                <a:solidFill>
                  <a:srgbClr val="A85A2E"/>
                </a:solidFill>
                <a:latin typeface="Calibri" pitchFamily="34" charset="0"/>
                <a:ea typeface="Calibri" pitchFamily="34" charset="-122"/>
                <a:cs typeface="Calibri" pitchFamily="34" charset="-120"/>
              </a:rPr>
              <a:t>3</a:t>
            </a:r>
            <a:endParaRPr lang="en-US" sz="4400" dirty="0"/>
          </a:p>
        </p:txBody>
      </p:sp>
      <p:sp>
        <p:nvSpPr>
          <p:cNvPr id="9" name="Text 6"/>
          <p:cNvSpPr/>
          <p:nvPr/>
        </p:nvSpPr>
        <p:spPr>
          <a:xfrm>
            <a:off x="2880360" y="4297680"/>
            <a:ext cx="2194560" cy="50292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APPROVED 765 KV IMPORT PATHS</a:t>
            </a:r>
            <a:endParaRPr lang="en-US" sz="950" dirty="0"/>
          </a:p>
        </p:txBody>
      </p:sp>
      <p:sp>
        <p:nvSpPr>
          <p:cNvPr id="10" name="Text 7"/>
          <p:cNvSpPr/>
          <p:nvPr/>
        </p:nvSpPr>
        <p:spPr>
          <a:xfrm>
            <a:off x="594360" y="4983480"/>
            <a:ext cx="4754880" cy="1097280"/>
          </a:xfrm>
          <a:prstGeom prst="rect">
            <a:avLst/>
          </a:prstGeom>
          <a:noFill/>
          <a:ln/>
        </p:spPr>
        <p:txBody>
          <a:bodyPr wrap="square" rtlCol="0" anchor="t"/>
          <a:lstStyle/>
          <a:p>
            <a:pPr indent="0" marL="0">
              <a:lnSpc>
                <a:spcPct val="118000"/>
              </a:lnSpc>
              <a:buNone/>
            </a:pPr>
            <a:r>
              <a:rPr lang="en-US" sz="1150" dirty="0">
                <a:solidFill>
                  <a:srgbClr val="3A4652"/>
                </a:solidFill>
                <a:latin typeface="Calibri" pitchFamily="34" charset="0"/>
                <a:ea typeface="Calibri" pitchFamily="34" charset="-122"/>
                <a:cs typeface="Calibri" pitchFamily="34" charset="-120"/>
              </a:rPr>
              <a:t>AEP/CPS Energy's Solstice Substation — western terminus of the three PUCT-approved paths (Apr 24, 2025, PBRP Docket No. 55718). 141 substation and 133 line upgrades are tracked ERCOT-wide under TPIT — the pipeline of planned upgrades, not built yet.</a:t>
            </a:r>
            <a:endParaRPr lang="en-US" sz="1150" dirty="0"/>
          </a:p>
        </p:txBody>
      </p:sp>
      <p:pic>
        <p:nvPicPr>
          <p:cNvPr id="11" name="Image 1" descr="/home/claude/repo/outputs/reports/om_exhibits/exhibit_3_1_planned-grid-upgrades.jpg">    </p:cNvPr>
          <p:cNvPicPr>
            <a:picLocks noChangeAspect="1"/>
          </p:cNvPicPr>
          <p:nvPr/>
        </p:nvPicPr>
        <p:blipFill>
          <a:blip r:embed="rId2"/>
          <a:stretch>
            <a:fillRect/>
          </a:stretch>
        </p:blipFill>
        <p:spPr>
          <a:xfrm>
            <a:off x="5669280" y="960120"/>
            <a:ext cx="5989320" cy="3428886"/>
          </a:xfrm>
          <a:prstGeom prst="rect">
            <a:avLst/>
          </a:prstGeom>
          <a:effectLst>
            <a:outerShdw sx="100000" sy="100000" kx="0" ky="0" algn="bl" rotWithShape="0" blurRad="101600" dist="25400" dir="5400000">
              <a:srgbClr val="16273B">
                <a:alpha val="18000"/>
              </a:srgbClr>
            </a:outerShdw>
          </a:effectLst>
        </p:spPr>
      </p:pic>
      <p:sp>
        <p:nvSpPr>
          <p:cNvPr id="12" name="Shape 8"/>
          <p:cNvSpPr/>
          <p:nvPr/>
        </p:nvSpPr>
        <p:spPr>
          <a:xfrm>
            <a:off x="5669280" y="960120"/>
            <a:ext cx="5989320" cy="3428886"/>
          </a:xfrm>
          <a:prstGeom prst="rect">
            <a:avLst/>
          </a:prstGeom>
          <a:ln w="12700">
            <a:solidFill>
              <a:srgbClr val="E4DFD6"/>
            </a:solidFill>
            <a:prstDash val="solid"/>
          </a:ln>
        </p:spPr>
      </p:sp>
      <p:sp>
        <p:nvSpPr>
          <p:cNvPr id="13" name="Text 9"/>
          <p:cNvSpPr/>
          <p:nvPr/>
        </p:nvSpPr>
        <p:spPr>
          <a:xfrm>
            <a:off x="5669280" y="4498734"/>
            <a:ext cx="5989320" cy="457200"/>
          </a:xfrm>
          <a:prstGeom prst="rect">
            <a:avLst/>
          </a:prstGeom>
          <a:noFill/>
          <a:ln/>
        </p:spPr>
        <p:txBody>
          <a:bodyPr wrap="square" rtlCol="0" anchor="t"/>
          <a:lstStyle/>
          <a:p>
            <a:pPr indent="0" marL="0">
              <a:lnSpc>
                <a:spcPct val="110000"/>
              </a:lnSpc>
              <a:buNone/>
            </a:pPr>
            <a:r>
              <a:rPr lang="en-US" sz="900" i="1" dirty="0">
                <a:solidFill>
                  <a:srgbClr val="6B7280"/>
                </a:solidFill>
                <a:latin typeface="Calibri" pitchFamily="34" charset="0"/>
                <a:ea typeface="Calibri" pitchFamily="34" charset="-122"/>
                <a:cs typeface="Calibri" pitchFamily="34" charset="-120"/>
              </a:rPr>
              <a:t>Exhibit 3.1 — planned grid upgrades only (ERCOT TPIT); Solstice terminus circled.</a:t>
            </a:r>
            <a:endParaRPr lang="en-US" sz="900" dirty="0"/>
          </a:p>
        </p:txBody>
      </p:sp>
      <p:sp>
        <p:nvSpPr>
          <p:cNvPr id="14" name="Text 10"/>
          <p:cNvSpPr/>
          <p:nvPr/>
        </p:nvSpPr>
        <p:spPr>
          <a:xfrm>
            <a:off x="594360" y="6473952"/>
            <a:ext cx="7315200" cy="274320"/>
          </a:xfrm>
          <a:prstGeom prst="rect">
            <a:avLst/>
          </a:prstGeom>
          <a:noFill/>
          <a:ln/>
        </p:spPr>
        <p:txBody>
          <a:bodyPr wrap="square" rtlCol="0" anchor="ctr"/>
          <a:lstStyle/>
          <a:p>
            <a:pPr indent="0" marL="0">
              <a:buNone/>
            </a:pPr>
            <a:r>
              <a:rPr lang="en-US" sz="800" spc="50" kern="0" dirty="0">
                <a:solidFill>
                  <a:srgbClr val="9CA8B4"/>
                </a:solidFill>
                <a:latin typeface="Calibri" pitchFamily="34" charset="0"/>
                <a:ea typeface="Calibri" pitchFamily="34" charset="-122"/>
                <a:cs typeface="Calibri" pitchFamily="34" charset="-120"/>
              </a:rPr>
              <a:t>CARAMBA NORTH — STRICTLY CONFIDENTIAL, POST-NDA</a:t>
            </a:r>
            <a:endParaRPr lang="en-US" sz="800" dirty="0"/>
          </a:p>
        </p:txBody>
      </p:sp>
      <p:sp>
        <p:nvSpPr>
          <p:cNvPr id="15" name="Text 11"/>
          <p:cNvSpPr/>
          <p:nvPr/>
        </p:nvSpPr>
        <p:spPr>
          <a:xfrm>
            <a:off x="11231575" y="6473952"/>
            <a:ext cx="365760" cy="274320"/>
          </a:xfrm>
          <a:prstGeom prst="rect">
            <a:avLst/>
          </a:prstGeom>
          <a:noFill/>
          <a:ln/>
        </p:spPr>
        <p:txBody>
          <a:bodyPr wrap="square" rtlCol="0" anchor="ctr"/>
          <a:lstStyle/>
          <a:p>
            <a:pPr algn="r" indent="0" marL="0">
              <a:buNone/>
            </a:pPr>
            <a:r>
              <a:rPr lang="en-US" sz="800" dirty="0">
                <a:solidFill>
                  <a:srgbClr val="9CA8B4"/>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457200"/>
            <a:ext cx="384048" cy="384048"/>
          </a:xfrm>
          <a:prstGeom prst="ellipse">
            <a:avLst/>
          </a:prstGeom>
          <a:solidFill>
            <a:srgbClr val="A85A2E"/>
          </a:solidFill>
          <a:ln/>
        </p:spPr>
      </p:sp>
      <p:pic>
        <p:nvPicPr>
          <p:cNvPr id="3" name="Image 0" descr="/home/claude/repo/outputs/reports/om_exhibits/icons/industry.png">    </p:cNvPr>
          <p:cNvPicPr>
            <a:picLocks noChangeAspect="1"/>
          </p:cNvPicPr>
          <p:nvPr/>
        </p:nvPicPr>
        <p:blipFill>
          <a:blip r:embed="rId1"/>
          <a:stretch>
            <a:fillRect/>
          </a:stretch>
        </p:blipFill>
        <p:spPr>
          <a:xfrm>
            <a:off x="698053" y="560893"/>
            <a:ext cx="176662" cy="176662"/>
          </a:xfrm>
          <a:prstGeom prst="rect">
            <a:avLst/>
          </a:prstGeom>
        </p:spPr>
      </p:pic>
      <p:sp>
        <p:nvSpPr>
          <p:cNvPr id="4" name="Text 1"/>
          <p:cNvSpPr/>
          <p:nvPr/>
        </p:nvSpPr>
        <p:spPr>
          <a:xfrm>
            <a:off x="1115568" y="457200"/>
            <a:ext cx="9601200" cy="384048"/>
          </a:xfrm>
          <a:prstGeom prst="rect">
            <a:avLst/>
          </a:prstGeom>
          <a:noFill/>
          <a:ln/>
        </p:spPr>
        <p:txBody>
          <a:bodyPr wrap="square" rtlCol="0" anchor="ctr"/>
          <a:lstStyle/>
          <a:p>
            <a:pPr indent="0" marL="0">
              <a:buNone/>
            </a:pPr>
            <a:r>
              <a:rPr lang="en-US" sz="1200" b="1" spc="220" kern="0" dirty="0">
                <a:solidFill>
                  <a:srgbClr val="A85A2E"/>
                </a:solidFill>
                <a:latin typeface="Calibri" pitchFamily="34" charset="0"/>
                <a:ea typeface="Calibri" pitchFamily="34" charset="-122"/>
                <a:cs typeface="Calibri" pitchFamily="34" charset="-120"/>
              </a:rPr>
              <a:t>REGIONAL POWER CLUSTER</a:t>
            </a:r>
            <a:endParaRPr lang="en-US" sz="1200" dirty="0"/>
          </a:p>
        </p:txBody>
      </p:sp>
      <p:sp>
        <p:nvSpPr>
          <p:cNvPr id="5" name="Text 2"/>
          <p:cNvSpPr/>
          <p:nvPr/>
        </p:nvSpPr>
        <p:spPr>
          <a:xfrm>
            <a:off x="594360" y="960120"/>
            <a:ext cx="4754880" cy="1828800"/>
          </a:xfrm>
          <a:prstGeom prst="rect">
            <a:avLst/>
          </a:prstGeom>
          <a:noFill/>
          <a:ln/>
        </p:spPr>
        <p:txBody>
          <a:bodyPr wrap="square" rtlCol="0" anchor="t"/>
          <a:lstStyle/>
          <a:p>
            <a:pPr indent="0" marL="0">
              <a:lnSpc>
                <a:spcPct val="112000"/>
              </a:lnSpc>
              <a:buNone/>
            </a:pPr>
            <a:r>
              <a:rPr lang="en-US" sz="2600" b="1" i="1" dirty="0">
                <a:solidFill>
                  <a:srgbClr val="16273B"/>
                </a:solidFill>
                <a:latin typeface="Cambria" pitchFamily="34" charset="0"/>
                <a:ea typeface="Cambria" pitchFamily="34" charset="-122"/>
                <a:cs typeface="Cambria" pitchFamily="34" charset="-120"/>
              </a:rPr>
              <a:t>12 GW already queued in this county alone — before counting the two hyperscale campuses that follow.</a:t>
            </a:r>
            <a:endParaRPr lang="en-US" sz="2600" dirty="0"/>
          </a:p>
        </p:txBody>
      </p:sp>
      <p:sp>
        <p:nvSpPr>
          <p:cNvPr id="6" name="Text 3"/>
          <p:cNvSpPr/>
          <p:nvPr/>
        </p:nvSpPr>
        <p:spPr>
          <a:xfrm>
            <a:off x="594360" y="3246120"/>
            <a:ext cx="2194560" cy="731520"/>
          </a:xfrm>
          <a:prstGeom prst="rect">
            <a:avLst/>
          </a:prstGeom>
          <a:noFill/>
          <a:ln/>
        </p:spPr>
        <p:txBody>
          <a:bodyPr wrap="square" lIns="0" tIns="0" rIns="0" bIns="0" rtlCol="0" anchor="b"/>
          <a:lstStyle/>
          <a:p>
            <a:pPr indent="0" marL="0">
              <a:buNone/>
            </a:pPr>
            <a:r>
              <a:rPr lang="en-US" sz="4000" b="1" dirty="0">
                <a:solidFill>
                  <a:srgbClr val="A85A2E"/>
                </a:solidFill>
                <a:latin typeface="Calibri" pitchFamily="34" charset="0"/>
                <a:ea typeface="Calibri" pitchFamily="34" charset="-122"/>
                <a:cs typeface="Calibri" pitchFamily="34" charset="-120"/>
              </a:rPr>
              <a:t>12,039</a:t>
            </a:r>
            <a:endParaRPr lang="en-US" sz="4000" dirty="0"/>
          </a:p>
        </p:txBody>
      </p:sp>
      <p:sp>
        <p:nvSpPr>
          <p:cNvPr id="7" name="Text 4"/>
          <p:cNvSpPr/>
          <p:nvPr/>
        </p:nvSpPr>
        <p:spPr>
          <a:xfrm>
            <a:off x="594360" y="3977640"/>
            <a:ext cx="2194560" cy="54864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MW QUEUED, PECOS CO. (39 PROJECTS)</a:t>
            </a:r>
            <a:endParaRPr lang="en-US" sz="950" dirty="0"/>
          </a:p>
        </p:txBody>
      </p:sp>
      <p:sp>
        <p:nvSpPr>
          <p:cNvPr id="8" name="Text 5"/>
          <p:cNvSpPr/>
          <p:nvPr/>
        </p:nvSpPr>
        <p:spPr>
          <a:xfrm>
            <a:off x="2880360" y="3246120"/>
            <a:ext cx="2194560" cy="731520"/>
          </a:xfrm>
          <a:prstGeom prst="rect">
            <a:avLst/>
          </a:prstGeom>
          <a:noFill/>
          <a:ln/>
        </p:spPr>
        <p:txBody>
          <a:bodyPr wrap="square" lIns="0" tIns="0" rIns="0" bIns="0" rtlCol="0" anchor="b"/>
          <a:lstStyle/>
          <a:p>
            <a:pPr indent="0" marL="0">
              <a:buNone/>
            </a:pPr>
            <a:r>
              <a:rPr lang="en-US" sz="4000" b="1" dirty="0">
                <a:solidFill>
                  <a:srgbClr val="A85A2E"/>
                </a:solidFill>
                <a:latin typeface="Calibri" pitchFamily="34" charset="0"/>
                <a:ea typeface="Calibri" pitchFamily="34" charset="-122"/>
                <a:cs typeface="Calibri" pitchFamily="34" charset="-120"/>
              </a:rPr>
              <a:t>3,226</a:t>
            </a:r>
            <a:endParaRPr lang="en-US" sz="4000" dirty="0"/>
          </a:p>
        </p:txBody>
      </p:sp>
      <p:sp>
        <p:nvSpPr>
          <p:cNvPr id="9" name="Text 6"/>
          <p:cNvSpPr/>
          <p:nvPr/>
        </p:nvSpPr>
        <p:spPr>
          <a:xfrm>
            <a:off x="2880360" y="3977640"/>
            <a:ext cx="2194560" cy="54864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MW OPERATING, PECOS CO.</a:t>
            </a:r>
            <a:endParaRPr lang="en-US" sz="950" dirty="0"/>
          </a:p>
        </p:txBody>
      </p:sp>
      <p:sp>
        <p:nvSpPr>
          <p:cNvPr id="10" name="Text 7"/>
          <p:cNvSpPr/>
          <p:nvPr/>
        </p:nvSpPr>
        <p:spPr>
          <a:xfrm>
            <a:off x="594360" y="4800600"/>
            <a:ext cx="4754880" cy="1188720"/>
          </a:xfrm>
          <a:prstGeom prst="rect">
            <a:avLst/>
          </a:prstGeom>
          <a:noFill/>
          <a:ln/>
        </p:spPr>
        <p:txBody>
          <a:bodyPr wrap="square" rtlCol="0" anchor="t"/>
          <a:lstStyle/>
          <a:p>
            <a:pPr indent="0" marL="0">
              <a:lnSpc>
                <a:spcPct val="118000"/>
              </a:lnSpc>
              <a:buNone/>
            </a:pPr>
            <a:r>
              <a:rPr lang="en-US" sz="1150" dirty="0">
                <a:solidFill>
                  <a:srgbClr val="3A4652"/>
                </a:solidFill>
                <a:latin typeface="Calibri" pitchFamily="34" charset="0"/>
                <a:ea typeface="Calibri" pitchFamily="34" charset="-122"/>
                <a:cs typeface="Calibri" pitchFamily="34" charset="-120"/>
              </a:rPr>
              <a:t>Within 20 miles specifically: 13 queued projects, 3,973 MW — before counting the adjacent six counties' 7,022 MW operating and 24,585 MW queued.</a:t>
            </a:r>
            <a:endParaRPr lang="en-US" sz="1150" dirty="0"/>
          </a:p>
        </p:txBody>
      </p:sp>
      <p:pic>
        <p:nvPicPr>
          <p:cNvPr id="11" name="Image 1" descr="/home/claude/repo/outputs/reports/om_exhibits/exhibit_4_1_generation-cluster.jpg">    </p:cNvPr>
          <p:cNvPicPr>
            <a:picLocks noChangeAspect="1"/>
          </p:cNvPicPr>
          <p:nvPr/>
        </p:nvPicPr>
        <p:blipFill>
          <a:blip r:embed="rId2"/>
          <a:stretch>
            <a:fillRect/>
          </a:stretch>
        </p:blipFill>
        <p:spPr>
          <a:xfrm>
            <a:off x="5669280" y="960120"/>
            <a:ext cx="5989320" cy="3428886"/>
          </a:xfrm>
          <a:prstGeom prst="rect">
            <a:avLst/>
          </a:prstGeom>
          <a:effectLst>
            <a:outerShdw sx="100000" sy="100000" kx="0" ky="0" algn="bl" rotWithShape="0" blurRad="101600" dist="25400" dir="5400000">
              <a:srgbClr val="16273B">
                <a:alpha val="18000"/>
              </a:srgbClr>
            </a:outerShdw>
          </a:effectLst>
        </p:spPr>
      </p:pic>
      <p:sp>
        <p:nvSpPr>
          <p:cNvPr id="12" name="Shape 8"/>
          <p:cNvSpPr/>
          <p:nvPr/>
        </p:nvSpPr>
        <p:spPr>
          <a:xfrm>
            <a:off x="5669280" y="960120"/>
            <a:ext cx="5989320" cy="3428886"/>
          </a:xfrm>
          <a:prstGeom prst="rect">
            <a:avLst/>
          </a:prstGeom>
          <a:ln w="12700">
            <a:solidFill>
              <a:srgbClr val="E4DFD6"/>
            </a:solidFill>
            <a:prstDash val="solid"/>
          </a:ln>
        </p:spPr>
      </p:sp>
      <p:sp>
        <p:nvSpPr>
          <p:cNvPr id="13" name="Text 9"/>
          <p:cNvSpPr/>
          <p:nvPr/>
        </p:nvSpPr>
        <p:spPr>
          <a:xfrm>
            <a:off x="5669280" y="4498734"/>
            <a:ext cx="5989320" cy="457200"/>
          </a:xfrm>
          <a:prstGeom prst="rect">
            <a:avLst/>
          </a:prstGeom>
          <a:noFill/>
          <a:ln/>
        </p:spPr>
        <p:txBody>
          <a:bodyPr wrap="square" rtlCol="0" anchor="t"/>
          <a:lstStyle/>
          <a:p>
            <a:pPr indent="0" marL="0">
              <a:lnSpc>
                <a:spcPct val="110000"/>
              </a:lnSpc>
              <a:buNone/>
            </a:pPr>
            <a:r>
              <a:rPr lang="en-US" sz="900" i="1" dirty="0">
                <a:solidFill>
                  <a:srgbClr val="6B7280"/>
                </a:solidFill>
                <a:latin typeface="Calibri" pitchFamily="34" charset="0"/>
                <a:ea typeface="Calibri" pitchFamily="34" charset="-122"/>
                <a:cs typeface="Calibri" pitchFamily="34" charset="-120"/>
              </a:rPr>
              <a:t>Exhibit 4.1 — operating fleet and ERCOT interconnection queue over one footprint.</a:t>
            </a:r>
            <a:endParaRPr lang="en-US" sz="900" dirty="0"/>
          </a:p>
        </p:txBody>
      </p:sp>
      <p:sp>
        <p:nvSpPr>
          <p:cNvPr id="14" name="Text 10"/>
          <p:cNvSpPr/>
          <p:nvPr/>
        </p:nvSpPr>
        <p:spPr>
          <a:xfrm>
            <a:off x="594360" y="6473952"/>
            <a:ext cx="7315200" cy="274320"/>
          </a:xfrm>
          <a:prstGeom prst="rect">
            <a:avLst/>
          </a:prstGeom>
          <a:noFill/>
          <a:ln/>
        </p:spPr>
        <p:txBody>
          <a:bodyPr wrap="square" rtlCol="0" anchor="ctr"/>
          <a:lstStyle/>
          <a:p>
            <a:pPr indent="0" marL="0">
              <a:buNone/>
            </a:pPr>
            <a:r>
              <a:rPr lang="en-US" sz="800" spc="50" kern="0" dirty="0">
                <a:solidFill>
                  <a:srgbClr val="9CA8B4"/>
                </a:solidFill>
                <a:latin typeface="Calibri" pitchFamily="34" charset="0"/>
                <a:ea typeface="Calibri" pitchFamily="34" charset="-122"/>
                <a:cs typeface="Calibri" pitchFamily="34" charset="-120"/>
              </a:rPr>
              <a:t>CARAMBA NORTH — STRICTLY CONFIDENTIAL, POST-NDA</a:t>
            </a:r>
            <a:endParaRPr lang="en-US" sz="800" dirty="0"/>
          </a:p>
        </p:txBody>
      </p:sp>
      <p:sp>
        <p:nvSpPr>
          <p:cNvPr id="15" name="Text 11"/>
          <p:cNvSpPr/>
          <p:nvPr/>
        </p:nvSpPr>
        <p:spPr>
          <a:xfrm>
            <a:off x="11231575" y="6473952"/>
            <a:ext cx="365760" cy="274320"/>
          </a:xfrm>
          <a:prstGeom prst="rect">
            <a:avLst/>
          </a:prstGeom>
          <a:noFill/>
          <a:ln/>
        </p:spPr>
        <p:txBody>
          <a:bodyPr wrap="square" rtlCol="0" anchor="ctr"/>
          <a:lstStyle/>
          <a:p>
            <a:pPr algn="r" indent="0" marL="0">
              <a:buNone/>
            </a:pPr>
            <a:r>
              <a:rPr lang="en-US" sz="800" dirty="0">
                <a:solidFill>
                  <a:srgbClr val="9CA8B4"/>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457200"/>
            <a:ext cx="384048" cy="384048"/>
          </a:xfrm>
          <a:prstGeom prst="ellipse">
            <a:avLst/>
          </a:prstGeom>
          <a:solidFill>
            <a:srgbClr val="A85A2E"/>
          </a:solidFill>
          <a:ln/>
        </p:spPr>
      </p:sp>
      <p:pic>
        <p:nvPicPr>
          <p:cNvPr id="3" name="Image 0" descr="/home/claude/repo/outputs/reports/om_exhibits/icons/droplet.png">    </p:cNvPr>
          <p:cNvPicPr>
            <a:picLocks noChangeAspect="1"/>
          </p:cNvPicPr>
          <p:nvPr/>
        </p:nvPicPr>
        <p:blipFill>
          <a:blip r:embed="rId1"/>
          <a:stretch>
            <a:fillRect/>
          </a:stretch>
        </p:blipFill>
        <p:spPr>
          <a:xfrm>
            <a:off x="698053" y="560893"/>
            <a:ext cx="176662" cy="176662"/>
          </a:xfrm>
          <a:prstGeom prst="rect">
            <a:avLst/>
          </a:prstGeom>
        </p:spPr>
      </p:pic>
      <p:sp>
        <p:nvSpPr>
          <p:cNvPr id="4" name="Text 1"/>
          <p:cNvSpPr/>
          <p:nvPr/>
        </p:nvSpPr>
        <p:spPr>
          <a:xfrm>
            <a:off x="1115568" y="457200"/>
            <a:ext cx="9601200" cy="384048"/>
          </a:xfrm>
          <a:prstGeom prst="rect">
            <a:avLst/>
          </a:prstGeom>
          <a:noFill/>
          <a:ln/>
        </p:spPr>
        <p:txBody>
          <a:bodyPr wrap="square" rtlCol="0" anchor="ctr"/>
          <a:lstStyle/>
          <a:p>
            <a:pPr indent="0" marL="0">
              <a:buNone/>
            </a:pPr>
            <a:r>
              <a:rPr lang="en-US" sz="1200" b="1" spc="220" kern="0" dirty="0">
                <a:solidFill>
                  <a:srgbClr val="A85A2E"/>
                </a:solidFill>
                <a:latin typeface="Calibri" pitchFamily="34" charset="0"/>
                <a:ea typeface="Calibri" pitchFamily="34" charset="-122"/>
                <a:cs typeface="Calibri" pitchFamily="34" charset="-120"/>
              </a:rPr>
              <a:t>WATER</a:t>
            </a:r>
            <a:endParaRPr lang="en-US" sz="1200" dirty="0"/>
          </a:p>
        </p:txBody>
      </p:sp>
      <p:sp>
        <p:nvSpPr>
          <p:cNvPr id="5" name="Text 2"/>
          <p:cNvSpPr/>
          <p:nvPr/>
        </p:nvSpPr>
        <p:spPr>
          <a:xfrm>
            <a:off x="594360" y="960120"/>
            <a:ext cx="10607040" cy="1645920"/>
          </a:xfrm>
          <a:prstGeom prst="rect">
            <a:avLst/>
          </a:prstGeom>
          <a:noFill/>
          <a:ln/>
        </p:spPr>
        <p:txBody>
          <a:bodyPr wrap="square" rtlCol="0" anchor="t"/>
          <a:lstStyle/>
          <a:p>
            <a:pPr indent="0" marL="0">
              <a:lnSpc>
                <a:spcPct val="114000"/>
              </a:lnSpc>
              <a:buNone/>
            </a:pPr>
            <a:r>
              <a:rPr lang="en-US" sz="2900" b="1" i="1" dirty="0">
                <a:solidFill>
                  <a:srgbClr val="16273B"/>
                </a:solidFill>
                <a:latin typeface="Cambria" pitchFamily="34" charset="0"/>
                <a:ea typeface="Cambria" pitchFamily="34" charset="-122"/>
                <a:cs typeface="Cambria" pitchFamily="34" charset="-120"/>
              </a:rPr>
              <a:t>Two-thirds of the district's industrial water rights are already permitted to this position — the water conversation is closed, not open.</a:t>
            </a:r>
            <a:endParaRPr lang="en-US" sz="2900" dirty="0"/>
          </a:p>
        </p:txBody>
      </p:sp>
      <p:sp>
        <p:nvSpPr>
          <p:cNvPr id="6" name="Text 3"/>
          <p:cNvSpPr/>
          <p:nvPr/>
        </p:nvSpPr>
        <p:spPr>
          <a:xfrm>
            <a:off x="594360" y="3246120"/>
            <a:ext cx="3017520" cy="822960"/>
          </a:xfrm>
          <a:prstGeom prst="rect">
            <a:avLst/>
          </a:prstGeom>
          <a:noFill/>
          <a:ln/>
        </p:spPr>
        <p:txBody>
          <a:bodyPr wrap="square" lIns="0" tIns="0" rIns="0" bIns="0" rtlCol="0" anchor="b"/>
          <a:lstStyle/>
          <a:p>
            <a:pPr indent="0" marL="0">
              <a:buNone/>
            </a:pPr>
            <a:r>
              <a:rPr lang="en-US" sz="4800" b="1" dirty="0">
                <a:solidFill>
                  <a:srgbClr val="A85A2E"/>
                </a:solidFill>
                <a:latin typeface="Calibri" pitchFamily="34" charset="0"/>
                <a:ea typeface="Calibri" pitchFamily="34" charset="-122"/>
                <a:cs typeface="Calibri" pitchFamily="34" charset="-120"/>
              </a:rPr>
              <a:t>47,418</a:t>
            </a:r>
            <a:endParaRPr lang="en-US" sz="4800" dirty="0"/>
          </a:p>
        </p:txBody>
      </p:sp>
      <p:sp>
        <p:nvSpPr>
          <p:cNvPr id="7" name="Text 4"/>
          <p:cNvSpPr/>
          <p:nvPr/>
        </p:nvSpPr>
        <p:spPr>
          <a:xfrm>
            <a:off x="594360" y="4069080"/>
            <a:ext cx="3017520" cy="59436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AF/YR PERMITTED, ADJACENT AFFILIATED LANDS</a:t>
            </a:r>
            <a:endParaRPr lang="en-US" sz="950" dirty="0"/>
          </a:p>
        </p:txBody>
      </p:sp>
      <p:sp>
        <p:nvSpPr>
          <p:cNvPr id="8" name="Text 5"/>
          <p:cNvSpPr/>
          <p:nvPr/>
        </p:nvSpPr>
        <p:spPr>
          <a:xfrm>
            <a:off x="3977640" y="3246120"/>
            <a:ext cx="3017520" cy="822960"/>
          </a:xfrm>
          <a:prstGeom prst="rect">
            <a:avLst/>
          </a:prstGeom>
          <a:noFill/>
          <a:ln/>
        </p:spPr>
        <p:txBody>
          <a:bodyPr wrap="square" lIns="0" tIns="0" rIns="0" bIns="0" rtlCol="0" anchor="b"/>
          <a:lstStyle/>
          <a:p>
            <a:pPr indent="0" marL="0">
              <a:buNone/>
            </a:pPr>
            <a:r>
              <a:rPr lang="en-US" sz="4800" b="1" dirty="0">
                <a:solidFill>
                  <a:srgbClr val="A85A2E"/>
                </a:solidFill>
                <a:latin typeface="Calibri" pitchFamily="34" charset="0"/>
                <a:ea typeface="Calibri" pitchFamily="34" charset="-122"/>
                <a:cs typeface="Calibri" pitchFamily="34" charset="-120"/>
              </a:rPr>
              <a:t>42.3</a:t>
            </a:r>
            <a:endParaRPr lang="en-US" sz="4800" dirty="0"/>
          </a:p>
        </p:txBody>
      </p:sp>
      <p:sp>
        <p:nvSpPr>
          <p:cNvPr id="9" name="Text 6"/>
          <p:cNvSpPr/>
          <p:nvPr/>
        </p:nvSpPr>
        <p:spPr>
          <a:xfrm>
            <a:off x="3977640" y="4069080"/>
            <a:ext cx="3017520" cy="59436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MGD EQUIVALENT</a:t>
            </a:r>
            <a:endParaRPr lang="en-US" sz="950" dirty="0"/>
          </a:p>
        </p:txBody>
      </p:sp>
      <p:sp>
        <p:nvSpPr>
          <p:cNvPr id="10" name="Text 7"/>
          <p:cNvSpPr/>
          <p:nvPr/>
        </p:nvSpPr>
        <p:spPr>
          <a:xfrm>
            <a:off x="7360920" y="3246120"/>
            <a:ext cx="3017520" cy="822960"/>
          </a:xfrm>
          <a:prstGeom prst="rect">
            <a:avLst/>
          </a:prstGeom>
          <a:noFill/>
          <a:ln/>
        </p:spPr>
        <p:txBody>
          <a:bodyPr wrap="square" lIns="0" tIns="0" rIns="0" bIns="0" rtlCol="0" anchor="b"/>
          <a:lstStyle/>
          <a:p>
            <a:pPr indent="0" marL="0">
              <a:buNone/>
            </a:pPr>
            <a:r>
              <a:rPr lang="en-US" sz="4800" b="1" dirty="0">
                <a:solidFill>
                  <a:srgbClr val="A85A2E"/>
                </a:solidFill>
                <a:latin typeface="Calibri" pitchFamily="34" charset="0"/>
                <a:ea typeface="Calibri" pitchFamily="34" charset="-122"/>
                <a:cs typeface="Calibri" pitchFamily="34" charset="-120"/>
              </a:rPr>
              <a:t>~2/3</a:t>
            </a:r>
            <a:endParaRPr lang="en-US" sz="4800" dirty="0"/>
          </a:p>
        </p:txBody>
      </p:sp>
      <p:sp>
        <p:nvSpPr>
          <p:cNvPr id="11" name="Text 8"/>
          <p:cNvSpPr/>
          <p:nvPr/>
        </p:nvSpPr>
        <p:spPr>
          <a:xfrm>
            <a:off x="7360920" y="4069080"/>
            <a:ext cx="3017520" cy="59436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OF MIDDLE PECOS GCD INDUSTRIAL RIGHTS</a:t>
            </a:r>
            <a:endParaRPr lang="en-US" sz="950" dirty="0"/>
          </a:p>
        </p:txBody>
      </p:sp>
      <p:sp>
        <p:nvSpPr>
          <p:cNvPr id="12" name="Text 9"/>
          <p:cNvSpPr/>
          <p:nvPr/>
        </p:nvSpPr>
        <p:spPr>
          <a:xfrm>
            <a:off x="594360" y="5074920"/>
            <a:ext cx="10607040" cy="914400"/>
          </a:xfrm>
          <a:prstGeom prst="rect">
            <a:avLst/>
          </a:prstGeom>
          <a:noFill/>
          <a:ln/>
        </p:spPr>
        <p:txBody>
          <a:bodyPr wrap="square" rtlCol="0" anchor="t"/>
          <a:lstStyle/>
          <a:p>
            <a:pPr algn="l" indent="0" marL="0">
              <a:lnSpc>
                <a:spcPct val="118000"/>
              </a:lnSpc>
              <a:buNone/>
            </a:pPr>
            <a:r>
              <a:rPr lang="en-US" sz="1250" dirty="0">
                <a:solidFill>
                  <a:srgbClr val="3A4652"/>
                </a:solidFill>
                <a:latin typeface="Calibri" pitchFamily="34" charset="0"/>
                <a:ea typeface="Calibri" pitchFamily="34" charset="-122"/>
                <a:cs typeface="Calibri" pitchFamily="34" charset="-120"/>
              </a:rPr>
              <a:t>Source: Edwards-Trinity (Plateau) aquifer; recharge held through the 1950s drought of record. Groundwater district: Middle Pecos GCD; permitted use: industrial (cooling, hyperscale loads).</a:t>
            </a:r>
            <a:endParaRPr lang="en-US" sz="1250" dirty="0"/>
          </a:p>
        </p:txBody>
      </p:sp>
      <p:sp>
        <p:nvSpPr>
          <p:cNvPr id="13" name="Text 10"/>
          <p:cNvSpPr/>
          <p:nvPr/>
        </p:nvSpPr>
        <p:spPr>
          <a:xfrm>
            <a:off x="594360" y="6473952"/>
            <a:ext cx="7315200" cy="274320"/>
          </a:xfrm>
          <a:prstGeom prst="rect">
            <a:avLst/>
          </a:prstGeom>
          <a:noFill/>
          <a:ln/>
        </p:spPr>
        <p:txBody>
          <a:bodyPr wrap="square" rtlCol="0" anchor="ctr"/>
          <a:lstStyle/>
          <a:p>
            <a:pPr indent="0" marL="0">
              <a:buNone/>
            </a:pPr>
            <a:r>
              <a:rPr lang="en-US" sz="800" spc="50" kern="0" dirty="0">
                <a:solidFill>
                  <a:srgbClr val="9CA8B4"/>
                </a:solidFill>
                <a:latin typeface="Calibri" pitchFamily="34" charset="0"/>
                <a:ea typeface="Calibri" pitchFamily="34" charset="-122"/>
                <a:cs typeface="Calibri" pitchFamily="34" charset="-120"/>
              </a:rPr>
              <a:t>CARAMBA NORTH — STRICTLY CONFIDENTIAL, POST-NDA</a:t>
            </a:r>
            <a:endParaRPr lang="en-US" sz="800" dirty="0"/>
          </a:p>
        </p:txBody>
      </p:sp>
      <p:sp>
        <p:nvSpPr>
          <p:cNvPr id="14" name="Text 11"/>
          <p:cNvSpPr/>
          <p:nvPr/>
        </p:nvSpPr>
        <p:spPr>
          <a:xfrm>
            <a:off x="11231575" y="6473952"/>
            <a:ext cx="365760" cy="274320"/>
          </a:xfrm>
          <a:prstGeom prst="rect">
            <a:avLst/>
          </a:prstGeom>
          <a:noFill/>
          <a:ln/>
        </p:spPr>
        <p:txBody>
          <a:bodyPr wrap="square" rtlCol="0" anchor="ctr"/>
          <a:lstStyle/>
          <a:p>
            <a:pPr algn="r" indent="0" marL="0">
              <a:buNone/>
            </a:pPr>
            <a:r>
              <a:rPr lang="en-US" sz="800" dirty="0">
                <a:solidFill>
                  <a:srgbClr val="9CA8B4"/>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457200"/>
            <a:ext cx="384048" cy="384048"/>
          </a:xfrm>
          <a:prstGeom prst="ellipse">
            <a:avLst/>
          </a:prstGeom>
          <a:solidFill>
            <a:srgbClr val="A85A2E"/>
          </a:solidFill>
          <a:ln/>
        </p:spPr>
      </p:sp>
      <p:pic>
        <p:nvPicPr>
          <p:cNvPr id="3" name="Image 0" descr="/home/claude/repo/outputs/reports/om_exhibits/icons/gaspump.png">    </p:cNvPr>
          <p:cNvPicPr>
            <a:picLocks noChangeAspect="1"/>
          </p:cNvPicPr>
          <p:nvPr/>
        </p:nvPicPr>
        <p:blipFill>
          <a:blip r:embed="rId1"/>
          <a:stretch>
            <a:fillRect/>
          </a:stretch>
        </p:blipFill>
        <p:spPr>
          <a:xfrm>
            <a:off x="698053" y="560893"/>
            <a:ext cx="176662" cy="176662"/>
          </a:xfrm>
          <a:prstGeom prst="rect">
            <a:avLst/>
          </a:prstGeom>
        </p:spPr>
      </p:pic>
      <p:sp>
        <p:nvSpPr>
          <p:cNvPr id="4" name="Text 1"/>
          <p:cNvSpPr/>
          <p:nvPr/>
        </p:nvSpPr>
        <p:spPr>
          <a:xfrm>
            <a:off x="1115568" y="457200"/>
            <a:ext cx="9601200" cy="384048"/>
          </a:xfrm>
          <a:prstGeom prst="rect">
            <a:avLst/>
          </a:prstGeom>
          <a:noFill/>
          <a:ln/>
        </p:spPr>
        <p:txBody>
          <a:bodyPr wrap="square" rtlCol="0" anchor="ctr"/>
          <a:lstStyle/>
          <a:p>
            <a:pPr indent="0" marL="0">
              <a:buNone/>
            </a:pPr>
            <a:r>
              <a:rPr lang="en-US" sz="1200" b="1" spc="220" kern="0" dirty="0">
                <a:solidFill>
                  <a:srgbClr val="A85A2E"/>
                </a:solidFill>
                <a:latin typeface="Calibri" pitchFamily="34" charset="0"/>
                <a:ea typeface="Calibri" pitchFamily="34" charset="-122"/>
                <a:cs typeface="Calibri" pitchFamily="34" charset="-120"/>
              </a:rPr>
              <a:t>NATURAL GAS</a:t>
            </a:r>
            <a:endParaRPr lang="en-US" sz="1200" dirty="0"/>
          </a:p>
        </p:txBody>
      </p:sp>
      <p:sp>
        <p:nvSpPr>
          <p:cNvPr id="5" name="Text 2"/>
          <p:cNvSpPr/>
          <p:nvPr/>
        </p:nvSpPr>
        <p:spPr>
          <a:xfrm>
            <a:off x="594360" y="960120"/>
            <a:ext cx="10607040" cy="1737360"/>
          </a:xfrm>
          <a:prstGeom prst="rect">
            <a:avLst/>
          </a:prstGeom>
          <a:noFill/>
          <a:ln/>
        </p:spPr>
        <p:txBody>
          <a:bodyPr wrap="square" rtlCol="0" anchor="t"/>
          <a:lstStyle/>
          <a:p>
            <a:pPr indent="0" marL="0">
              <a:lnSpc>
                <a:spcPct val="114000"/>
              </a:lnSpc>
              <a:buNone/>
            </a:pPr>
            <a:r>
              <a:rPr lang="en-US" sz="2600" b="1" i="1" dirty="0">
                <a:solidFill>
                  <a:srgbClr val="16273B"/>
                </a:solidFill>
                <a:latin typeface="Cambria" pitchFamily="34" charset="0"/>
                <a:ea typeface="Cambria" pitchFamily="34" charset="-122"/>
                <a:cs typeface="Cambria" pitchFamily="34" charset="-120"/>
              </a:rPr>
              <a:t>A signable 15-year gas quote at Waha basis — the same structural discount now drawing behind-the-meter generation to this corridor.</a:t>
            </a:r>
            <a:endParaRPr lang="en-US" sz="2600" dirty="0"/>
          </a:p>
        </p:txBody>
      </p:sp>
      <p:sp>
        <p:nvSpPr>
          <p:cNvPr id="6" name="Text 3"/>
          <p:cNvSpPr/>
          <p:nvPr/>
        </p:nvSpPr>
        <p:spPr>
          <a:xfrm>
            <a:off x="594360" y="3291840"/>
            <a:ext cx="3017520" cy="822960"/>
          </a:xfrm>
          <a:prstGeom prst="rect">
            <a:avLst/>
          </a:prstGeom>
          <a:noFill/>
          <a:ln/>
        </p:spPr>
        <p:txBody>
          <a:bodyPr wrap="square" lIns="0" tIns="0" rIns="0" bIns="0" rtlCol="0" anchor="b"/>
          <a:lstStyle/>
          <a:p>
            <a:pPr indent="0" marL="0">
              <a:buNone/>
            </a:pPr>
            <a:r>
              <a:rPr lang="en-US" sz="4600" b="1" dirty="0">
                <a:solidFill>
                  <a:srgbClr val="A85A2E"/>
                </a:solidFill>
                <a:latin typeface="Calibri" pitchFamily="34" charset="0"/>
                <a:ea typeface="Calibri" pitchFamily="34" charset="-122"/>
                <a:cs typeface="Calibri" pitchFamily="34" charset="-120"/>
              </a:rPr>
              <a:t>20 mi</a:t>
            </a:r>
            <a:endParaRPr lang="en-US" sz="4600" dirty="0"/>
          </a:p>
        </p:txBody>
      </p:sp>
      <p:sp>
        <p:nvSpPr>
          <p:cNvPr id="7" name="Text 4"/>
          <p:cNvSpPr/>
          <p:nvPr/>
        </p:nvSpPr>
        <p:spPr>
          <a:xfrm>
            <a:off x="594360" y="4114800"/>
            <a:ext cx="3017520" cy="59436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TO WAHA HUB</a:t>
            </a:r>
            <a:endParaRPr lang="en-US" sz="950" dirty="0"/>
          </a:p>
        </p:txBody>
      </p:sp>
      <p:sp>
        <p:nvSpPr>
          <p:cNvPr id="8" name="Text 5"/>
          <p:cNvSpPr/>
          <p:nvPr/>
        </p:nvSpPr>
        <p:spPr>
          <a:xfrm>
            <a:off x="3977640" y="3291840"/>
            <a:ext cx="3017520" cy="822960"/>
          </a:xfrm>
          <a:prstGeom prst="rect">
            <a:avLst/>
          </a:prstGeom>
          <a:noFill/>
          <a:ln/>
        </p:spPr>
        <p:txBody>
          <a:bodyPr wrap="square" lIns="0" tIns="0" rIns="0" bIns="0" rtlCol="0" anchor="b"/>
          <a:lstStyle/>
          <a:p>
            <a:pPr indent="0" marL="0">
              <a:buNone/>
            </a:pPr>
            <a:r>
              <a:rPr lang="en-US" sz="4600" b="1" dirty="0">
                <a:solidFill>
                  <a:srgbClr val="A85A2E"/>
                </a:solidFill>
                <a:latin typeface="Calibri" pitchFamily="34" charset="0"/>
                <a:ea typeface="Calibri" pitchFamily="34" charset="-122"/>
                <a:cs typeface="Calibri" pitchFamily="34" charset="-120"/>
              </a:rPr>
              <a:t>200,000</a:t>
            </a:r>
            <a:endParaRPr lang="en-US" sz="4600" dirty="0"/>
          </a:p>
        </p:txBody>
      </p:sp>
      <p:sp>
        <p:nvSpPr>
          <p:cNvPr id="9" name="Text 6"/>
          <p:cNvSpPr/>
          <p:nvPr/>
        </p:nvSpPr>
        <p:spPr>
          <a:xfrm>
            <a:off x="3977640" y="4114800"/>
            <a:ext cx="3017520" cy="59436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MMBTU/DAY, INDICATIVE SUPPLY QUOTE</a:t>
            </a:r>
            <a:endParaRPr lang="en-US" sz="950" dirty="0"/>
          </a:p>
        </p:txBody>
      </p:sp>
      <p:sp>
        <p:nvSpPr>
          <p:cNvPr id="10" name="Text 7"/>
          <p:cNvSpPr/>
          <p:nvPr/>
        </p:nvSpPr>
        <p:spPr>
          <a:xfrm>
            <a:off x="7360920" y="3291840"/>
            <a:ext cx="3017520" cy="822960"/>
          </a:xfrm>
          <a:prstGeom prst="rect">
            <a:avLst/>
          </a:prstGeom>
          <a:noFill/>
          <a:ln/>
        </p:spPr>
        <p:txBody>
          <a:bodyPr wrap="square" lIns="0" tIns="0" rIns="0" bIns="0" rtlCol="0" anchor="b"/>
          <a:lstStyle/>
          <a:p>
            <a:pPr indent="0" marL="0">
              <a:buNone/>
            </a:pPr>
            <a:r>
              <a:rPr lang="en-US" sz="4600" b="1" dirty="0">
                <a:solidFill>
                  <a:srgbClr val="A85A2E"/>
                </a:solidFill>
                <a:latin typeface="Calibri" pitchFamily="34" charset="0"/>
                <a:ea typeface="Calibri" pitchFamily="34" charset="-122"/>
                <a:cs typeface="Calibri" pitchFamily="34" charset="-120"/>
              </a:rPr>
              <a:t>15-yr</a:t>
            </a:r>
            <a:endParaRPr lang="en-US" sz="4600" dirty="0"/>
          </a:p>
        </p:txBody>
      </p:sp>
      <p:sp>
        <p:nvSpPr>
          <p:cNvPr id="11" name="Text 8"/>
          <p:cNvSpPr/>
          <p:nvPr/>
        </p:nvSpPr>
        <p:spPr>
          <a:xfrm>
            <a:off x="7360920" y="4114800"/>
            <a:ext cx="3017520" cy="59436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TERM, WAHA-INDEX PRICING</a:t>
            </a:r>
            <a:endParaRPr lang="en-US" sz="950" dirty="0"/>
          </a:p>
        </p:txBody>
      </p:sp>
      <p:sp>
        <p:nvSpPr>
          <p:cNvPr id="12" name="Text 9"/>
          <p:cNvSpPr/>
          <p:nvPr/>
        </p:nvSpPr>
        <p:spPr>
          <a:xfrm>
            <a:off x="594360" y="5120640"/>
            <a:ext cx="10607040" cy="1005840"/>
          </a:xfrm>
          <a:prstGeom prst="rect">
            <a:avLst/>
          </a:prstGeom>
          <a:noFill/>
          <a:ln/>
        </p:spPr>
        <p:txBody>
          <a:bodyPr wrap="square" rtlCol="0" anchor="t"/>
          <a:lstStyle/>
          <a:p>
            <a:pPr indent="0" marL="0">
              <a:lnSpc>
                <a:spcPct val="118000"/>
              </a:lnSpc>
              <a:buNone/>
            </a:pPr>
            <a:r>
              <a:rPr lang="en-US" sz="1250" dirty="0">
                <a:solidFill>
                  <a:srgbClr val="3A4652"/>
                </a:solidFill>
                <a:latin typeface="Calibri" pitchFamily="34" charset="0"/>
                <a:ea typeface="Calibri" pitchFamily="34" charset="-122"/>
                <a:cs typeface="Calibri" pitchFamily="34" charset="-120"/>
              </a:rPr>
              <a:t>CIAC $15–25M; lead time 9–15 months (counterparty-supplied terms). Basis context: structural discount to Henry Hub; negative Waha prints in 2024-2025 as Matterhorn, Blackcomb, Hugh Brinson, and GCX pipelines rebalance Permian egress.</a:t>
            </a:r>
            <a:endParaRPr lang="en-US" sz="1250" dirty="0"/>
          </a:p>
        </p:txBody>
      </p:sp>
      <p:sp>
        <p:nvSpPr>
          <p:cNvPr id="13" name="Text 10"/>
          <p:cNvSpPr/>
          <p:nvPr/>
        </p:nvSpPr>
        <p:spPr>
          <a:xfrm>
            <a:off x="594360" y="6473952"/>
            <a:ext cx="7315200" cy="274320"/>
          </a:xfrm>
          <a:prstGeom prst="rect">
            <a:avLst/>
          </a:prstGeom>
          <a:noFill/>
          <a:ln/>
        </p:spPr>
        <p:txBody>
          <a:bodyPr wrap="square" rtlCol="0" anchor="ctr"/>
          <a:lstStyle/>
          <a:p>
            <a:pPr indent="0" marL="0">
              <a:buNone/>
            </a:pPr>
            <a:r>
              <a:rPr lang="en-US" sz="800" spc="50" kern="0" dirty="0">
                <a:solidFill>
                  <a:srgbClr val="9CA8B4"/>
                </a:solidFill>
                <a:latin typeface="Calibri" pitchFamily="34" charset="0"/>
                <a:ea typeface="Calibri" pitchFamily="34" charset="-122"/>
                <a:cs typeface="Calibri" pitchFamily="34" charset="-120"/>
              </a:rPr>
              <a:t>CARAMBA NORTH — STRICTLY CONFIDENTIAL, POST-NDA</a:t>
            </a:r>
            <a:endParaRPr lang="en-US" sz="800" dirty="0"/>
          </a:p>
        </p:txBody>
      </p:sp>
      <p:sp>
        <p:nvSpPr>
          <p:cNvPr id="14" name="Text 11"/>
          <p:cNvSpPr/>
          <p:nvPr/>
        </p:nvSpPr>
        <p:spPr>
          <a:xfrm>
            <a:off x="11231575" y="6473952"/>
            <a:ext cx="365760" cy="274320"/>
          </a:xfrm>
          <a:prstGeom prst="rect">
            <a:avLst/>
          </a:prstGeom>
          <a:noFill/>
          <a:ln/>
        </p:spPr>
        <p:txBody>
          <a:bodyPr wrap="square" rtlCol="0" anchor="ctr"/>
          <a:lstStyle/>
          <a:p>
            <a:pPr algn="r" indent="0" marL="0">
              <a:buNone/>
            </a:pPr>
            <a:r>
              <a:rPr lang="en-US" sz="800" dirty="0">
                <a:solidFill>
                  <a:srgbClr val="9CA8B4"/>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457200"/>
            <a:ext cx="384048" cy="384048"/>
          </a:xfrm>
          <a:prstGeom prst="ellipse">
            <a:avLst/>
          </a:prstGeom>
          <a:solidFill>
            <a:srgbClr val="B91C1C"/>
          </a:solidFill>
          <a:ln/>
        </p:spPr>
      </p:sp>
      <p:pic>
        <p:nvPicPr>
          <p:cNvPr id="3" name="Image 0" descr="/home/claude/repo/outputs/reports/om_exhibits/icons/industry.png">    </p:cNvPr>
          <p:cNvPicPr>
            <a:picLocks noChangeAspect="1"/>
          </p:cNvPicPr>
          <p:nvPr/>
        </p:nvPicPr>
        <p:blipFill>
          <a:blip r:embed="rId1"/>
          <a:stretch>
            <a:fillRect/>
          </a:stretch>
        </p:blipFill>
        <p:spPr>
          <a:xfrm>
            <a:off x="698053" y="560893"/>
            <a:ext cx="176662" cy="176662"/>
          </a:xfrm>
          <a:prstGeom prst="rect">
            <a:avLst/>
          </a:prstGeom>
        </p:spPr>
      </p:pic>
      <p:sp>
        <p:nvSpPr>
          <p:cNvPr id="4" name="Text 1"/>
          <p:cNvSpPr/>
          <p:nvPr/>
        </p:nvSpPr>
        <p:spPr>
          <a:xfrm>
            <a:off x="1115568" y="457200"/>
            <a:ext cx="9601200" cy="384048"/>
          </a:xfrm>
          <a:prstGeom prst="rect">
            <a:avLst/>
          </a:prstGeom>
          <a:noFill/>
          <a:ln/>
        </p:spPr>
        <p:txBody>
          <a:bodyPr wrap="square" rtlCol="0" anchor="ctr"/>
          <a:lstStyle/>
          <a:p>
            <a:pPr indent="0" marL="0">
              <a:buNone/>
            </a:pPr>
            <a:r>
              <a:rPr lang="en-US" sz="1200" b="1" spc="220" kern="0" dirty="0">
                <a:solidFill>
                  <a:srgbClr val="B91C1C"/>
                </a:solidFill>
                <a:latin typeface="Calibri" pitchFamily="34" charset="0"/>
                <a:ea typeface="Calibri" pitchFamily="34" charset="-122"/>
                <a:cs typeface="Calibri" pitchFamily="34" charset="-120"/>
              </a:rPr>
              <a:t>FEATURE · GW RANCH</a:t>
            </a:r>
            <a:endParaRPr lang="en-US" sz="1200" dirty="0"/>
          </a:p>
        </p:txBody>
      </p:sp>
      <p:sp>
        <p:nvSpPr>
          <p:cNvPr id="5" name="Text 2"/>
          <p:cNvSpPr/>
          <p:nvPr/>
        </p:nvSpPr>
        <p:spPr>
          <a:xfrm>
            <a:off x="594360" y="960120"/>
            <a:ext cx="4846320" cy="1828800"/>
          </a:xfrm>
          <a:prstGeom prst="rect">
            <a:avLst/>
          </a:prstGeom>
          <a:noFill/>
          <a:ln/>
        </p:spPr>
        <p:txBody>
          <a:bodyPr wrap="square" rtlCol="0" anchor="t"/>
          <a:lstStyle/>
          <a:p>
            <a:pPr indent="0" marL="0">
              <a:lnSpc>
                <a:spcPct val="112000"/>
              </a:lnSpc>
              <a:buNone/>
            </a:pPr>
            <a:r>
              <a:rPr lang="en-US" sz="2100" b="1" i="1" dirty="0">
                <a:solidFill>
                  <a:srgbClr val="16273B"/>
                </a:solidFill>
                <a:latin typeface="Cambria" pitchFamily="34" charset="0"/>
                <a:ea typeface="Cambria" pitchFamily="34" charset="-122"/>
                <a:cs typeface="Cambria" pitchFamily="34" charset="-120"/>
              </a:rPr>
              <a:t>The largest air permit issued in the US this year sits fifteen miles up the same highway corridor — under construction, not announced.</a:t>
            </a:r>
            <a:endParaRPr lang="en-US" sz="2100" dirty="0"/>
          </a:p>
        </p:txBody>
      </p:sp>
      <p:sp>
        <p:nvSpPr>
          <p:cNvPr id="6" name="Text 3"/>
          <p:cNvSpPr/>
          <p:nvPr/>
        </p:nvSpPr>
        <p:spPr>
          <a:xfrm>
            <a:off x="594360" y="3246120"/>
            <a:ext cx="4846320" cy="502920"/>
          </a:xfrm>
          <a:prstGeom prst="rect">
            <a:avLst/>
          </a:prstGeom>
          <a:noFill/>
          <a:ln/>
        </p:spPr>
        <p:txBody>
          <a:bodyPr wrap="square" lIns="0" tIns="0" rIns="0" bIns="0" rtlCol="0" anchor="b"/>
          <a:lstStyle/>
          <a:p>
            <a:pPr indent="0" marL="0">
              <a:buNone/>
            </a:pPr>
            <a:r>
              <a:rPr lang="en-US" sz="3200" b="1" dirty="0">
                <a:solidFill>
                  <a:srgbClr val="B91C1C"/>
                </a:solidFill>
                <a:latin typeface="Calibri" pitchFamily="34" charset="0"/>
                <a:ea typeface="Calibri" pitchFamily="34" charset="-122"/>
                <a:cs typeface="Calibri" pitchFamily="34" charset="-120"/>
              </a:rPr>
              <a:t>15.5 mi</a:t>
            </a:r>
            <a:endParaRPr lang="en-US" sz="3200" dirty="0"/>
          </a:p>
        </p:txBody>
      </p:sp>
      <p:sp>
        <p:nvSpPr>
          <p:cNvPr id="7" name="Text 4"/>
          <p:cNvSpPr/>
          <p:nvPr/>
        </p:nvSpPr>
        <p:spPr>
          <a:xfrm>
            <a:off x="594360" y="3749040"/>
            <a:ext cx="4846320" cy="32004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FROM CARAMBA NORTH</a:t>
            </a:r>
            <a:endParaRPr lang="en-US" sz="950" dirty="0"/>
          </a:p>
        </p:txBody>
      </p:sp>
      <p:sp>
        <p:nvSpPr>
          <p:cNvPr id="8" name="Text 5"/>
          <p:cNvSpPr/>
          <p:nvPr/>
        </p:nvSpPr>
        <p:spPr>
          <a:xfrm>
            <a:off x="594360" y="4087368"/>
            <a:ext cx="4846320" cy="502920"/>
          </a:xfrm>
          <a:prstGeom prst="rect">
            <a:avLst/>
          </a:prstGeom>
          <a:noFill/>
          <a:ln/>
        </p:spPr>
        <p:txBody>
          <a:bodyPr wrap="square" lIns="0" tIns="0" rIns="0" bIns="0" rtlCol="0" anchor="b"/>
          <a:lstStyle/>
          <a:p>
            <a:pPr indent="0" marL="0">
              <a:buNone/>
            </a:pPr>
            <a:r>
              <a:rPr lang="en-US" sz="3200" b="1" dirty="0">
                <a:solidFill>
                  <a:srgbClr val="B91C1C"/>
                </a:solidFill>
                <a:latin typeface="Calibri" pitchFamily="34" charset="0"/>
                <a:ea typeface="Calibri" pitchFamily="34" charset="-122"/>
                <a:cs typeface="Calibri" pitchFamily="34" charset="-120"/>
              </a:rPr>
              <a:t>7.65 GW</a:t>
            </a:r>
            <a:endParaRPr lang="en-US" sz="3200" dirty="0"/>
          </a:p>
        </p:txBody>
      </p:sp>
      <p:sp>
        <p:nvSpPr>
          <p:cNvPr id="9" name="Text 6"/>
          <p:cNvSpPr/>
          <p:nvPr/>
        </p:nvSpPr>
        <p:spPr>
          <a:xfrm>
            <a:off x="594360" y="4590288"/>
            <a:ext cx="4846320" cy="32004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TCEQ AIR PERMIT — LARGEST IN THE US</a:t>
            </a:r>
            <a:endParaRPr lang="en-US" sz="950" dirty="0"/>
          </a:p>
        </p:txBody>
      </p:sp>
      <p:sp>
        <p:nvSpPr>
          <p:cNvPr id="10" name="Text 7"/>
          <p:cNvSpPr/>
          <p:nvPr/>
        </p:nvSpPr>
        <p:spPr>
          <a:xfrm>
            <a:off x="594360" y="4928616"/>
            <a:ext cx="4846320" cy="502920"/>
          </a:xfrm>
          <a:prstGeom prst="rect">
            <a:avLst/>
          </a:prstGeom>
          <a:noFill/>
          <a:ln/>
        </p:spPr>
        <p:txBody>
          <a:bodyPr wrap="square" lIns="0" tIns="0" rIns="0" bIns="0" rtlCol="0" anchor="b"/>
          <a:lstStyle/>
          <a:p>
            <a:pPr indent="0" marL="0">
              <a:buNone/>
            </a:pPr>
            <a:r>
              <a:rPr lang="en-US" sz="3200" b="1" dirty="0">
                <a:solidFill>
                  <a:srgbClr val="B91C1C"/>
                </a:solidFill>
                <a:latin typeface="Calibri" pitchFamily="34" charset="0"/>
                <a:ea typeface="Calibri" pitchFamily="34" charset="-122"/>
                <a:cs typeface="Calibri" pitchFamily="34" charset="-120"/>
              </a:rPr>
              <a:t>~$12B</a:t>
            </a:r>
            <a:endParaRPr lang="en-US" sz="3200" dirty="0"/>
          </a:p>
        </p:txBody>
      </p:sp>
      <p:sp>
        <p:nvSpPr>
          <p:cNvPr id="11" name="Text 8"/>
          <p:cNvSpPr/>
          <p:nvPr/>
        </p:nvSpPr>
        <p:spPr>
          <a:xfrm>
            <a:off x="594360" y="5431536"/>
            <a:ext cx="4846320" cy="32004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EST. TOTAL PROJECT INVESTMENT</a:t>
            </a:r>
            <a:endParaRPr lang="en-US" sz="950" dirty="0"/>
          </a:p>
        </p:txBody>
      </p:sp>
      <p:pic>
        <p:nvPicPr>
          <p:cNvPr id="12" name="Image 1" descr="/tmp/om_editorial_amz_clean.jpg">    </p:cNvPr>
          <p:cNvPicPr>
            <a:picLocks noChangeAspect="1"/>
          </p:cNvPicPr>
          <p:nvPr/>
        </p:nvPicPr>
        <p:blipFill>
          <a:blip r:embed="rId2"/>
          <a:stretch>
            <a:fillRect/>
          </a:stretch>
        </p:blipFill>
        <p:spPr>
          <a:xfrm>
            <a:off x="5669280" y="960120"/>
            <a:ext cx="5989320" cy="1932724"/>
          </a:xfrm>
          <a:prstGeom prst="rect">
            <a:avLst/>
          </a:prstGeom>
          <a:effectLst>
            <a:outerShdw sx="100000" sy="100000" kx="0" ky="0" algn="bl" rotWithShape="0" blurRad="101600" dist="25400" dir="5400000">
              <a:srgbClr val="16273B">
                <a:alpha val="18000"/>
              </a:srgbClr>
            </a:outerShdw>
          </a:effectLst>
        </p:spPr>
      </p:pic>
      <p:sp>
        <p:nvSpPr>
          <p:cNvPr id="13" name="Shape 9"/>
          <p:cNvSpPr/>
          <p:nvPr/>
        </p:nvSpPr>
        <p:spPr>
          <a:xfrm>
            <a:off x="5669280" y="960120"/>
            <a:ext cx="5989320" cy="1932724"/>
          </a:xfrm>
          <a:prstGeom prst="rect">
            <a:avLst/>
          </a:prstGeom>
          <a:ln w="12700">
            <a:solidFill>
              <a:srgbClr val="B91C1C"/>
            </a:solidFill>
            <a:prstDash val="solid"/>
          </a:ln>
        </p:spPr>
      </p:sp>
      <p:sp>
        <p:nvSpPr>
          <p:cNvPr id="14" name="Text 10"/>
          <p:cNvSpPr/>
          <p:nvPr/>
        </p:nvSpPr>
        <p:spPr>
          <a:xfrm>
            <a:off x="5669280" y="3057436"/>
            <a:ext cx="5989320" cy="1371600"/>
          </a:xfrm>
          <a:prstGeom prst="rect">
            <a:avLst/>
          </a:prstGeom>
          <a:noFill/>
          <a:ln/>
        </p:spPr>
        <p:txBody>
          <a:bodyPr wrap="square" rtlCol="0" anchor="t"/>
          <a:lstStyle/>
          <a:p>
            <a:pPr indent="0" marL="0">
              <a:lnSpc>
                <a:spcPct val="118000"/>
              </a:lnSpc>
              <a:buNone/>
            </a:pPr>
            <a:r>
              <a:rPr lang="en-US" sz="1150" dirty="0">
                <a:solidFill>
                  <a:srgbClr val="3A4652"/>
                </a:solidFill>
                <a:latin typeface="Calibri" pitchFamily="34" charset="0"/>
                <a:ea typeface="Calibri" pitchFamily="34" charset="-122"/>
                <a:cs typeface="Calibri" pitchFamily="34" charset="-120"/>
              </a:rPr>
              <a:t>8,000-acre site, Pecos County. Amazon disclosed ownership Aug 2026 (previously Pacifico Energy Group, which remains power-plant developer/operator). 35 gas turbines plus 1.8 GW battery storage and up to 750 MW solar; three 189,000 sq ft data-center buildings (Gensler design, ~$300M each), targeted completion Dec 2026.</a:t>
            </a:r>
            <a:endParaRPr lang="en-US" sz="1150" dirty="0"/>
          </a:p>
        </p:txBody>
      </p:sp>
      <p:sp>
        <p:nvSpPr>
          <p:cNvPr id="15" name="Text 11"/>
          <p:cNvSpPr/>
          <p:nvPr/>
        </p:nvSpPr>
        <p:spPr>
          <a:xfrm>
            <a:off x="5669280" y="4584484"/>
            <a:ext cx="5989320" cy="640080"/>
          </a:xfrm>
          <a:prstGeom prst="rect">
            <a:avLst/>
          </a:prstGeom>
          <a:noFill/>
          <a:ln/>
        </p:spPr>
        <p:txBody>
          <a:bodyPr wrap="square" rtlCol="0" anchor="t"/>
          <a:lstStyle/>
          <a:p>
            <a:pPr indent="0" marL="0">
              <a:lnSpc>
                <a:spcPct val="110000"/>
              </a:lnSpc>
              <a:buNone/>
            </a:pPr>
            <a:r>
              <a:rPr lang="en-US" sz="900" i="1" dirty="0">
                <a:solidFill>
                  <a:srgbClr val="6B7280"/>
                </a:solidFill>
                <a:latin typeface="Calibri" pitchFamily="34" charset="0"/>
                <a:ea typeface="Calibri" pitchFamily="34" charset="-122"/>
                <a:cs typeface="Calibri" pitchFamily="34" charset="-120"/>
              </a:rPr>
              <a:t>Clarification: the 7.65 GW figure is a TCEQ generation air permit, not an ERCOT interconnection queue position — the project is off-grid initially and Amazon has not disclosed an ERCOT filing. Source: public reporting, Aug 2026.</a:t>
            </a:r>
            <a:endParaRPr lang="en-US" sz="900" dirty="0"/>
          </a:p>
        </p:txBody>
      </p:sp>
      <p:sp>
        <p:nvSpPr>
          <p:cNvPr id="16" name="Text 12"/>
          <p:cNvSpPr/>
          <p:nvPr/>
        </p:nvSpPr>
        <p:spPr>
          <a:xfrm>
            <a:off x="594360" y="6473952"/>
            <a:ext cx="7315200" cy="274320"/>
          </a:xfrm>
          <a:prstGeom prst="rect">
            <a:avLst/>
          </a:prstGeom>
          <a:noFill/>
          <a:ln/>
        </p:spPr>
        <p:txBody>
          <a:bodyPr wrap="square" rtlCol="0" anchor="ctr"/>
          <a:lstStyle/>
          <a:p>
            <a:pPr indent="0" marL="0">
              <a:buNone/>
            </a:pPr>
            <a:r>
              <a:rPr lang="en-US" sz="800" spc="50" kern="0" dirty="0">
                <a:solidFill>
                  <a:srgbClr val="9CA8B4"/>
                </a:solidFill>
                <a:latin typeface="Calibri" pitchFamily="34" charset="0"/>
                <a:ea typeface="Calibri" pitchFamily="34" charset="-122"/>
                <a:cs typeface="Calibri" pitchFamily="34" charset="-120"/>
              </a:rPr>
              <a:t>CARAMBA NORTH — STRICTLY CONFIDENTIAL, POST-NDA</a:t>
            </a:r>
            <a:endParaRPr lang="en-US" sz="800" dirty="0"/>
          </a:p>
        </p:txBody>
      </p:sp>
      <p:sp>
        <p:nvSpPr>
          <p:cNvPr id="17" name="Text 13"/>
          <p:cNvSpPr/>
          <p:nvPr/>
        </p:nvSpPr>
        <p:spPr>
          <a:xfrm>
            <a:off x="11231575" y="6473952"/>
            <a:ext cx="365760" cy="274320"/>
          </a:xfrm>
          <a:prstGeom prst="rect">
            <a:avLst/>
          </a:prstGeom>
          <a:noFill/>
          <a:ln/>
        </p:spPr>
        <p:txBody>
          <a:bodyPr wrap="square" rtlCol="0" anchor="ctr"/>
          <a:lstStyle/>
          <a:p>
            <a:pPr algn="r" indent="0" marL="0">
              <a:buNone/>
            </a:pPr>
            <a:r>
              <a:rPr lang="en-US" sz="800" dirty="0">
                <a:solidFill>
                  <a:srgbClr val="9CA8B4"/>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457200"/>
            <a:ext cx="384048" cy="384048"/>
          </a:xfrm>
          <a:prstGeom prst="ellipse">
            <a:avLst/>
          </a:prstGeom>
          <a:solidFill>
            <a:srgbClr val="B91C1C"/>
          </a:solidFill>
          <a:ln/>
        </p:spPr>
      </p:sp>
      <p:pic>
        <p:nvPicPr>
          <p:cNvPr id="3" name="Image 0" descr="/home/claude/repo/outputs/reports/om_exhibits/icons/gaspump.png">    </p:cNvPr>
          <p:cNvPicPr>
            <a:picLocks noChangeAspect="1"/>
          </p:cNvPicPr>
          <p:nvPr/>
        </p:nvPicPr>
        <p:blipFill>
          <a:blip r:embed="rId1"/>
          <a:stretch>
            <a:fillRect/>
          </a:stretch>
        </p:blipFill>
        <p:spPr>
          <a:xfrm>
            <a:off x="698053" y="560893"/>
            <a:ext cx="176662" cy="176662"/>
          </a:xfrm>
          <a:prstGeom prst="rect">
            <a:avLst/>
          </a:prstGeom>
        </p:spPr>
      </p:pic>
      <p:sp>
        <p:nvSpPr>
          <p:cNvPr id="4" name="Text 1"/>
          <p:cNvSpPr/>
          <p:nvPr/>
        </p:nvSpPr>
        <p:spPr>
          <a:xfrm>
            <a:off x="1115568" y="457200"/>
            <a:ext cx="9601200" cy="384048"/>
          </a:xfrm>
          <a:prstGeom prst="rect">
            <a:avLst/>
          </a:prstGeom>
          <a:noFill/>
          <a:ln/>
        </p:spPr>
        <p:txBody>
          <a:bodyPr wrap="square" rtlCol="0" anchor="ctr"/>
          <a:lstStyle/>
          <a:p>
            <a:pPr indent="0" marL="0">
              <a:buNone/>
            </a:pPr>
            <a:r>
              <a:rPr lang="en-US" sz="1200" b="1" spc="220" kern="0" dirty="0">
                <a:solidFill>
                  <a:srgbClr val="B91C1C"/>
                </a:solidFill>
                <a:latin typeface="Calibri" pitchFamily="34" charset="0"/>
                <a:ea typeface="Calibri" pitchFamily="34" charset="-122"/>
                <a:cs typeface="Calibri" pitchFamily="34" charset="-120"/>
              </a:rPr>
              <a:t>FEATURE · LONGFELLOW</a:t>
            </a:r>
            <a:endParaRPr lang="en-US" sz="1200" dirty="0"/>
          </a:p>
        </p:txBody>
      </p:sp>
      <p:sp>
        <p:nvSpPr>
          <p:cNvPr id="5" name="Text 2"/>
          <p:cNvSpPr/>
          <p:nvPr/>
        </p:nvSpPr>
        <p:spPr>
          <a:xfrm>
            <a:off x="594360" y="960120"/>
            <a:ext cx="4846320" cy="1828800"/>
          </a:xfrm>
          <a:prstGeom prst="rect">
            <a:avLst/>
          </a:prstGeom>
          <a:noFill/>
          <a:ln/>
        </p:spPr>
        <p:txBody>
          <a:bodyPr wrap="square" rtlCol="0" anchor="t"/>
          <a:lstStyle/>
          <a:p>
            <a:pPr indent="0" marL="0">
              <a:lnSpc>
                <a:spcPct val="112000"/>
              </a:lnSpc>
              <a:buNone/>
            </a:pPr>
            <a:r>
              <a:rPr lang="en-US" sz="2200" b="1" i="1" dirty="0">
                <a:solidFill>
                  <a:srgbClr val="16273B"/>
                </a:solidFill>
                <a:latin typeface="Cambria" pitchFamily="34" charset="0"/>
                <a:ea typeface="Cambria" pitchFamily="34" charset="-122"/>
                <a:cs typeface="Cambria" pitchFamily="34" charset="-120"/>
              </a:rPr>
              <a:t>A second phased gas-generation campus twenty miles south — the corridor's demand for on-site power isn't one project deep.</a:t>
            </a:r>
            <a:endParaRPr lang="en-US" sz="2200" dirty="0"/>
          </a:p>
        </p:txBody>
      </p:sp>
      <p:sp>
        <p:nvSpPr>
          <p:cNvPr id="6" name="Text 3"/>
          <p:cNvSpPr/>
          <p:nvPr/>
        </p:nvSpPr>
        <p:spPr>
          <a:xfrm>
            <a:off x="594360" y="3246120"/>
            <a:ext cx="4846320" cy="502920"/>
          </a:xfrm>
          <a:prstGeom prst="rect">
            <a:avLst/>
          </a:prstGeom>
          <a:noFill/>
          <a:ln/>
        </p:spPr>
        <p:txBody>
          <a:bodyPr wrap="square" lIns="0" tIns="0" rIns="0" bIns="0" rtlCol="0" anchor="b"/>
          <a:lstStyle/>
          <a:p>
            <a:pPr indent="0" marL="0">
              <a:buNone/>
            </a:pPr>
            <a:r>
              <a:rPr lang="en-US" sz="3200" b="1" dirty="0">
                <a:solidFill>
                  <a:srgbClr val="B91C1C"/>
                </a:solidFill>
                <a:latin typeface="Calibri" pitchFamily="34" charset="0"/>
                <a:ea typeface="Calibri" pitchFamily="34" charset="-122"/>
                <a:cs typeface="Calibri" pitchFamily="34" charset="-120"/>
              </a:rPr>
              <a:t>19.3 mi</a:t>
            </a:r>
            <a:endParaRPr lang="en-US" sz="3200" dirty="0"/>
          </a:p>
        </p:txBody>
      </p:sp>
      <p:sp>
        <p:nvSpPr>
          <p:cNvPr id="7" name="Text 4"/>
          <p:cNvSpPr/>
          <p:nvPr/>
        </p:nvSpPr>
        <p:spPr>
          <a:xfrm>
            <a:off x="594360" y="3749040"/>
            <a:ext cx="4846320" cy="32004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FROM CARAMBA NORTH</a:t>
            </a:r>
            <a:endParaRPr lang="en-US" sz="950" dirty="0"/>
          </a:p>
        </p:txBody>
      </p:sp>
      <p:sp>
        <p:nvSpPr>
          <p:cNvPr id="8" name="Text 5"/>
          <p:cNvSpPr/>
          <p:nvPr/>
        </p:nvSpPr>
        <p:spPr>
          <a:xfrm>
            <a:off x="594360" y="4087368"/>
            <a:ext cx="4846320" cy="502920"/>
          </a:xfrm>
          <a:prstGeom prst="rect">
            <a:avLst/>
          </a:prstGeom>
          <a:noFill/>
          <a:ln/>
        </p:spPr>
        <p:txBody>
          <a:bodyPr wrap="square" lIns="0" tIns="0" rIns="0" bIns="0" rtlCol="0" anchor="b"/>
          <a:lstStyle/>
          <a:p>
            <a:pPr indent="0" marL="0">
              <a:buNone/>
            </a:pPr>
            <a:r>
              <a:rPr lang="en-US" sz="3200" b="1" dirty="0">
                <a:solidFill>
                  <a:srgbClr val="B91C1C"/>
                </a:solidFill>
                <a:latin typeface="Calibri" pitchFamily="34" charset="0"/>
                <a:ea typeface="Calibri" pitchFamily="34" charset="-122"/>
                <a:cs typeface="Calibri" pitchFamily="34" charset="-120"/>
              </a:rPr>
              <a:t>568 ac</a:t>
            </a:r>
            <a:endParaRPr lang="en-US" sz="3200" dirty="0"/>
          </a:p>
        </p:txBody>
      </p:sp>
      <p:sp>
        <p:nvSpPr>
          <p:cNvPr id="9" name="Text 6"/>
          <p:cNvSpPr/>
          <p:nvPr/>
        </p:nvSpPr>
        <p:spPr>
          <a:xfrm>
            <a:off x="594360" y="4590288"/>
            <a:ext cx="4846320" cy="32004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SITE, PECOS COUNTY</a:t>
            </a:r>
            <a:endParaRPr lang="en-US" sz="950" dirty="0"/>
          </a:p>
        </p:txBody>
      </p:sp>
      <p:sp>
        <p:nvSpPr>
          <p:cNvPr id="10" name="Text 7"/>
          <p:cNvSpPr/>
          <p:nvPr/>
        </p:nvSpPr>
        <p:spPr>
          <a:xfrm>
            <a:off x="594360" y="4928616"/>
            <a:ext cx="4846320" cy="502920"/>
          </a:xfrm>
          <a:prstGeom prst="rect">
            <a:avLst/>
          </a:prstGeom>
          <a:noFill/>
          <a:ln/>
        </p:spPr>
        <p:txBody>
          <a:bodyPr wrap="square" lIns="0" tIns="0" rIns="0" bIns="0" rtlCol="0" anchor="b"/>
          <a:lstStyle/>
          <a:p>
            <a:pPr indent="0" marL="0">
              <a:buNone/>
            </a:pPr>
            <a:r>
              <a:rPr lang="en-US" sz="3200" b="1" dirty="0">
                <a:solidFill>
                  <a:srgbClr val="B91C1C"/>
                </a:solidFill>
                <a:latin typeface="Calibri" pitchFamily="34" charset="0"/>
                <a:ea typeface="Calibri" pitchFamily="34" charset="-122"/>
                <a:cs typeface="Calibri" pitchFamily="34" charset="-120"/>
              </a:rPr>
              <a:t>8 phases</a:t>
            </a:r>
            <a:endParaRPr lang="en-US" sz="3200" dirty="0"/>
          </a:p>
        </p:txBody>
      </p:sp>
      <p:sp>
        <p:nvSpPr>
          <p:cNvPr id="11" name="Text 8"/>
          <p:cNvSpPr/>
          <p:nvPr/>
        </p:nvSpPr>
        <p:spPr>
          <a:xfrm>
            <a:off x="594360" y="5431536"/>
            <a:ext cx="4846320" cy="32004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250 MW EACH, ORIGINALLY ANNOUNCED</a:t>
            </a:r>
            <a:endParaRPr lang="en-US" sz="950" dirty="0"/>
          </a:p>
        </p:txBody>
      </p:sp>
      <p:pic>
        <p:nvPicPr>
          <p:cNvPr id="12" name="Image 1" descr="/tmp/om_editorial_lf_clean.jpg">    </p:cNvPr>
          <p:cNvPicPr>
            <a:picLocks noChangeAspect="1"/>
          </p:cNvPicPr>
          <p:nvPr/>
        </p:nvPicPr>
        <p:blipFill>
          <a:blip r:embed="rId2"/>
          <a:stretch>
            <a:fillRect/>
          </a:stretch>
        </p:blipFill>
        <p:spPr>
          <a:xfrm>
            <a:off x="5669280" y="960120"/>
            <a:ext cx="5989320" cy="2143904"/>
          </a:xfrm>
          <a:prstGeom prst="rect">
            <a:avLst/>
          </a:prstGeom>
          <a:effectLst>
            <a:outerShdw sx="100000" sy="100000" kx="0" ky="0" algn="bl" rotWithShape="0" blurRad="101600" dist="25400" dir="5400000">
              <a:srgbClr val="16273B">
                <a:alpha val="18000"/>
              </a:srgbClr>
            </a:outerShdw>
          </a:effectLst>
        </p:spPr>
      </p:pic>
      <p:sp>
        <p:nvSpPr>
          <p:cNvPr id="13" name="Shape 9"/>
          <p:cNvSpPr/>
          <p:nvPr/>
        </p:nvSpPr>
        <p:spPr>
          <a:xfrm>
            <a:off x="5669280" y="960120"/>
            <a:ext cx="5989320" cy="2143904"/>
          </a:xfrm>
          <a:prstGeom prst="rect">
            <a:avLst/>
          </a:prstGeom>
          <a:ln w="12700">
            <a:solidFill>
              <a:srgbClr val="B91C1C"/>
            </a:solidFill>
            <a:prstDash val="solid"/>
          </a:ln>
        </p:spPr>
      </p:sp>
      <p:sp>
        <p:nvSpPr>
          <p:cNvPr id="14" name="Text 10"/>
          <p:cNvSpPr/>
          <p:nvPr/>
        </p:nvSpPr>
        <p:spPr>
          <a:xfrm>
            <a:off x="5669280" y="3268616"/>
            <a:ext cx="5989320" cy="1554480"/>
          </a:xfrm>
          <a:prstGeom prst="rect">
            <a:avLst/>
          </a:prstGeom>
          <a:noFill/>
          <a:ln/>
        </p:spPr>
        <p:txBody>
          <a:bodyPr wrap="square" rtlCol="0" anchor="t"/>
          <a:lstStyle/>
          <a:p>
            <a:pPr indent="0" marL="0">
              <a:lnSpc>
                <a:spcPct val="118000"/>
              </a:lnSpc>
              <a:buNone/>
            </a:pPr>
            <a:r>
              <a:rPr lang="en-US" sz="1100" dirty="0">
                <a:solidFill>
                  <a:srgbClr val="3A4652"/>
                </a:solidFill>
                <a:latin typeface="Calibri" pitchFamily="34" charset="0"/>
                <a:ea typeface="Calibri" pitchFamily="34" charset="-122"/>
                <a:cs typeface="Calibri" pitchFamily="34" charset="-120"/>
              </a:rPr>
              <a:t>On-site natural-gas generation planned: aero-derivative turbines with SCR and carbon-capture capability; closed-loop cooling on permitted non-potable groundwater. Originally announced Oct 2025 as a 2 GW campus. Status: phase-1 site work underway; on-site generation build planned in phases. No confirmed ERCOT queue position or TCEQ air-permit record found for this site as of Aug 2026.</a:t>
            </a:r>
            <a:endParaRPr lang="en-US" sz="1100" dirty="0"/>
          </a:p>
        </p:txBody>
      </p:sp>
      <p:sp>
        <p:nvSpPr>
          <p:cNvPr id="15" name="Text 11"/>
          <p:cNvSpPr/>
          <p:nvPr/>
        </p:nvSpPr>
        <p:spPr>
          <a:xfrm>
            <a:off x="5669280" y="4978544"/>
            <a:ext cx="5989320" cy="640080"/>
          </a:xfrm>
          <a:prstGeom prst="rect">
            <a:avLst/>
          </a:prstGeom>
          <a:noFill/>
          <a:ln/>
        </p:spPr>
        <p:txBody>
          <a:bodyPr wrap="square" rtlCol="0" anchor="t"/>
          <a:lstStyle/>
          <a:p>
            <a:pPr indent="0" marL="0">
              <a:lnSpc>
                <a:spcPct val="110000"/>
              </a:lnSpc>
              <a:buNone/>
            </a:pPr>
            <a:r>
              <a:rPr lang="en-US" sz="900" i="1" dirty="0">
                <a:solidFill>
                  <a:srgbClr val="6B7280"/>
                </a:solidFill>
                <a:latin typeface="Calibri" pitchFamily="34" charset="0"/>
                <a:ea typeface="Calibri" pitchFamily="34" charset="-122"/>
                <a:cs typeface="Calibri" pitchFamily="34" charset="-120"/>
              </a:rPr>
              <a:t>Distances are measured edge-to-edge, tract boundary to disclosed site location, not centroid-to-centroid. Longfellow's own public materials describe the location as more than 25 miles outside Fort Stockton, consistent with the longer figure here — this distance is not represented as shorter.</a:t>
            </a:r>
            <a:endParaRPr lang="en-US" sz="900" dirty="0"/>
          </a:p>
        </p:txBody>
      </p:sp>
      <p:sp>
        <p:nvSpPr>
          <p:cNvPr id="16" name="Text 12"/>
          <p:cNvSpPr/>
          <p:nvPr/>
        </p:nvSpPr>
        <p:spPr>
          <a:xfrm>
            <a:off x="594360" y="6473952"/>
            <a:ext cx="7315200" cy="274320"/>
          </a:xfrm>
          <a:prstGeom prst="rect">
            <a:avLst/>
          </a:prstGeom>
          <a:noFill/>
          <a:ln/>
        </p:spPr>
        <p:txBody>
          <a:bodyPr wrap="square" rtlCol="0" anchor="ctr"/>
          <a:lstStyle/>
          <a:p>
            <a:pPr indent="0" marL="0">
              <a:buNone/>
            </a:pPr>
            <a:r>
              <a:rPr lang="en-US" sz="800" spc="50" kern="0" dirty="0">
                <a:solidFill>
                  <a:srgbClr val="9CA8B4"/>
                </a:solidFill>
                <a:latin typeface="Calibri" pitchFamily="34" charset="0"/>
                <a:ea typeface="Calibri" pitchFamily="34" charset="-122"/>
                <a:cs typeface="Calibri" pitchFamily="34" charset="-120"/>
              </a:rPr>
              <a:t>CARAMBA NORTH — STRICTLY CONFIDENTIAL, POST-NDA</a:t>
            </a:r>
            <a:endParaRPr lang="en-US" sz="800" dirty="0"/>
          </a:p>
        </p:txBody>
      </p:sp>
      <p:sp>
        <p:nvSpPr>
          <p:cNvPr id="17" name="Text 13"/>
          <p:cNvSpPr/>
          <p:nvPr/>
        </p:nvSpPr>
        <p:spPr>
          <a:xfrm>
            <a:off x="11231575" y="6473952"/>
            <a:ext cx="365760" cy="274320"/>
          </a:xfrm>
          <a:prstGeom prst="rect">
            <a:avLst/>
          </a:prstGeom>
          <a:noFill/>
          <a:ln/>
        </p:spPr>
        <p:txBody>
          <a:bodyPr wrap="square" rtlCol="0" anchor="ctr"/>
          <a:lstStyle/>
          <a:p>
            <a:pPr algn="r" indent="0" marL="0">
              <a:buNone/>
            </a:pPr>
            <a:r>
              <a:rPr lang="en-US" sz="800" dirty="0">
                <a:solidFill>
                  <a:srgbClr val="9CA8B4"/>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457200"/>
            <a:ext cx="384048" cy="384048"/>
          </a:xfrm>
          <a:prstGeom prst="ellipse">
            <a:avLst/>
          </a:prstGeom>
          <a:solidFill>
            <a:srgbClr val="A85A2E"/>
          </a:solidFill>
          <a:ln/>
        </p:spPr>
      </p:sp>
      <p:pic>
        <p:nvPicPr>
          <p:cNvPr id="3" name="Image 0" descr="/home/claude/repo/outputs/reports/om_exhibits/icons/trendup.png">    </p:cNvPr>
          <p:cNvPicPr>
            <a:picLocks noChangeAspect="1"/>
          </p:cNvPicPr>
          <p:nvPr/>
        </p:nvPicPr>
        <p:blipFill>
          <a:blip r:embed="rId1"/>
          <a:stretch>
            <a:fillRect/>
          </a:stretch>
        </p:blipFill>
        <p:spPr>
          <a:xfrm>
            <a:off x="698053" y="560893"/>
            <a:ext cx="176662" cy="176662"/>
          </a:xfrm>
          <a:prstGeom prst="rect">
            <a:avLst/>
          </a:prstGeom>
        </p:spPr>
      </p:pic>
      <p:sp>
        <p:nvSpPr>
          <p:cNvPr id="4" name="Text 1"/>
          <p:cNvSpPr/>
          <p:nvPr/>
        </p:nvSpPr>
        <p:spPr>
          <a:xfrm>
            <a:off x="1115568" y="457200"/>
            <a:ext cx="9601200" cy="384048"/>
          </a:xfrm>
          <a:prstGeom prst="rect">
            <a:avLst/>
          </a:prstGeom>
          <a:noFill/>
          <a:ln/>
        </p:spPr>
        <p:txBody>
          <a:bodyPr wrap="square" rtlCol="0" anchor="ctr"/>
          <a:lstStyle/>
          <a:p>
            <a:pPr indent="0" marL="0">
              <a:buNone/>
            </a:pPr>
            <a:r>
              <a:rPr lang="en-US" sz="1200" b="1" spc="220" kern="0" dirty="0">
                <a:solidFill>
                  <a:srgbClr val="A85A2E"/>
                </a:solidFill>
                <a:latin typeface="Calibri" pitchFamily="34" charset="0"/>
                <a:ea typeface="Calibri" pitchFamily="34" charset="-122"/>
                <a:cs typeface="Calibri" pitchFamily="34" charset="-120"/>
              </a:rPr>
              <a:t>THE CORRIDOR IS ALREADY BUILT</a:t>
            </a:r>
            <a:endParaRPr lang="en-US" sz="1200" dirty="0"/>
          </a:p>
        </p:txBody>
      </p:sp>
      <p:sp>
        <p:nvSpPr>
          <p:cNvPr id="5" name="Text 2"/>
          <p:cNvSpPr/>
          <p:nvPr/>
        </p:nvSpPr>
        <p:spPr>
          <a:xfrm>
            <a:off x="594360" y="960120"/>
            <a:ext cx="10607040" cy="1737360"/>
          </a:xfrm>
          <a:prstGeom prst="rect">
            <a:avLst/>
          </a:prstGeom>
          <a:noFill/>
          <a:ln/>
        </p:spPr>
        <p:txBody>
          <a:bodyPr wrap="square" rtlCol="0" anchor="t"/>
          <a:lstStyle/>
          <a:p>
            <a:pPr indent="0" marL="0">
              <a:lnSpc>
                <a:spcPct val="114000"/>
              </a:lnSpc>
              <a:buNone/>
            </a:pPr>
            <a:r>
              <a:rPr lang="en-US" sz="2500" b="1" i="1" dirty="0">
                <a:solidFill>
                  <a:srgbClr val="16273B"/>
                </a:solidFill>
                <a:latin typeface="Cambria" pitchFamily="34" charset="0"/>
                <a:ea typeface="Cambria" pitchFamily="34" charset="-122"/>
                <a:cs typeface="Cambria" pitchFamily="34" charset="-120"/>
              </a:rPr>
              <a:t>79.3% of the two profiled anchors' combined announced capacity is already under construction — the regional pipeline is majority-built, not majority-speculative.</a:t>
            </a:r>
            <a:endParaRPr lang="en-US" sz="2500" dirty="0"/>
          </a:p>
        </p:txBody>
      </p:sp>
      <p:sp>
        <p:nvSpPr>
          <p:cNvPr id="6" name="Shape 3"/>
          <p:cNvSpPr/>
          <p:nvPr/>
        </p:nvSpPr>
        <p:spPr>
          <a:xfrm>
            <a:off x="594360" y="3291840"/>
            <a:ext cx="8411383" cy="502920"/>
          </a:xfrm>
          <a:prstGeom prst="rect">
            <a:avLst/>
          </a:prstGeom>
          <a:solidFill>
            <a:srgbClr val="16273B"/>
          </a:solidFill>
          <a:ln/>
        </p:spPr>
      </p:sp>
      <p:sp>
        <p:nvSpPr>
          <p:cNvPr id="7" name="Shape 4"/>
          <p:cNvSpPr/>
          <p:nvPr/>
        </p:nvSpPr>
        <p:spPr>
          <a:xfrm>
            <a:off x="9005743" y="3291840"/>
            <a:ext cx="2195657" cy="502920"/>
          </a:xfrm>
          <a:prstGeom prst="rect">
            <a:avLst/>
          </a:prstGeom>
          <a:solidFill>
            <a:srgbClr val="A85A2E"/>
          </a:solidFill>
          <a:ln/>
        </p:spPr>
      </p:sp>
      <p:sp>
        <p:nvSpPr>
          <p:cNvPr id="8" name="Text 5"/>
          <p:cNvSpPr/>
          <p:nvPr/>
        </p:nvSpPr>
        <p:spPr>
          <a:xfrm>
            <a:off x="594360" y="2514600"/>
            <a:ext cx="2743200" cy="685800"/>
          </a:xfrm>
          <a:prstGeom prst="rect">
            <a:avLst/>
          </a:prstGeom>
          <a:noFill/>
          <a:ln/>
        </p:spPr>
        <p:txBody>
          <a:bodyPr wrap="square" lIns="0" tIns="0" rIns="0" bIns="0" rtlCol="0" anchor="ctr"/>
          <a:lstStyle/>
          <a:p>
            <a:pPr indent="0" marL="0">
              <a:buNone/>
            </a:pPr>
            <a:r>
              <a:rPr lang="en-US" sz="4000" b="1" dirty="0">
                <a:solidFill>
                  <a:srgbClr val="16273B"/>
                </a:solidFill>
                <a:latin typeface="Calibri" pitchFamily="34" charset="0"/>
                <a:ea typeface="Calibri" pitchFamily="34" charset="-122"/>
                <a:cs typeface="Calibri" pitchFamily="34" charset="-120"/>
              </a:rPr>
              <a:t>79.3%</a:t>
            </a:r>
            <a:endParaRPr lang="en-US" sz="4000" dirty="0"/>
          </a:p>
        </p:txBody>
      </p:sp>
      <p:sp>
        <p:nvSpPr>
          <p:cNvPr id="9" name="Text 6"/>
          <p:cNvSpPr/>
          <p:nvPr/>
        </p:nvSpPr>
        <p:spPr>
          <a:xfrm>
            <a:off x="594360" y="3886200"/>
            <a:ext cx="3200400" cy="365760"/>
          </a:xfrm>
          <a:prstGeom prst="rect">
            <a:avLst/>
          </a:prstGeom>
          <a:noFill/>
          <a:ln/>
        </p:spPr>
        <p:txBody>
          <a:bodyPr wrap="square" rtlCol="0" anchor="ctr"/>
          <a:lstStyle/>
          <a:p>
            <a:pPr indent="0" marL="0">
              <a:buNone/>
            </a:pPr>
            <a:r>
              <a:rPr lang="en-US" sz="1000" b="1" spc="100" kern="0" dirty="0">
                <a:solidFill>
                  <a:srgbClr val="16273B"/>
                </a:solidFill>
                <a:latin typeface="Calibri" pitchFamily="34" charset="0"/>
                <a:ea typeface="Calibri" pitchFamily="34" charset="-122"/>
                <a:cs typeface="Calibri" pitchFamily="34" charset="-120"/>
              </a:rPr>
              <a:t>GW RANCH — UNDER CONSTRUCTION</a:t>
            </a:r>
            <a:endParaRPr lang="en-US" sz="1000" dirty="0"/>
          </a:p>
        </p:txBody>
      </p:sp>
      <p:sp>
        <p:nvSpPr>
          <p:cNvPr id="10" name="Text 7"/>
          <p:cNvSpPr/>
          <p:nvPr/>
        </p:nvSpPr>
        <p:spPr>
          <a:xfrm>
            <a:off x="9005743" y="2514600"/>
            <a:ext cx="2743200" cy="685800"/>
          </a:xfrm>
          <a:prstGeom prst="rect">
            <a:avLst/>
          </a:prstGeom>
          <a:noFill/>
          <a:ln/>
        </p:spPr>
        <p:txBody>
          <a:bodyPr wrap="square" lIns="0" tIns="0" rIns="0" bIns="0" rtlCol="0" anchor="ctr"/>
          <a:lstStyle/>
          <a:p>
            <a:pPr indent="0" marL="0">
              <a:buNone/>
            </a:pPr>
            <a:r>
              <a:rPr lang="en-US" sz="4000" b="1" dirty="0">
                <a:solidFill>
                  <a:srgbClr val="A85A2E"/>
                </a:solidFill>
                <a:latin typeface="Calibri" pitchFamily="34" charset="0"/>
                <a:ea typeface="Calibri" pitchFamily="34" charset="-122"/>
                <a:cs typeface="Calibri" pitchFamily="34" charset="-120"/>
              </a:rPr>
              <a:t>20.7%</a:t>
            </a:r>
            <a:endParaRPr lang="en-US" sz="4000" dirty="0"/>
          </a:p>
        </p:txBody>
      </p:sp>
      <p:sp>
        <p:nvSpPr>
          <p:cNvPr id="11" name="Text 8"/>
          <p:cNvSpPr/>
          <p:nvPr/>
        </p:nvSpPr>
        <p:spPr>
          <a:xfrm>
            <a:off x="9005743" y="3886200"/>
            <a:ext cx="3200400" cy="365760"/>
          </a:xfrm>
          <a:prstGeom prst="rect">
            <a:avLst/>
          </a:prstGeom>
          <a:noFill/>
          <a:ln/>
        </p:spPr>
        <p:txBody>
          <a:bodyPr wrap="square" rtlCol="0" anchor="ctr"/>
          <a:lstStyle/>
          <a:p>
            <a:pPr indent="0" marL="0">
              <a:buNone/>
            </a:pPr>
            <a:r>
              <a:rPr lang="en-US" sz="1000" b="1" spc="100" kern="0" dirty="0">
                <a:solidFill>
                  <a:srgbClr val="A85A2E"/>
                </a:solidFill>
                <a:latin typeface="Calibri" pitchFamily="34" charset="0"/>
                <a:ea typeface="Calibri" pitchFamily="34" charset="-122"/>
                <a:cs typeface="Calibri" pitchFamily="34" charset="-120"/>
              </a:rPr>
              <a:t>LONGFELLOW — PLANNED / PHASE-1</a:t>
            </a:r>
            <a:endParaRPr lang="en-US" sz="1000" dirty="0"/>
          </a:p>
        </p:txBody>
      </p:sp>
      <p:sp>
        <p:nvSpPr>
          <p:cNvPr id="12" name="Text 9"/>
          <p:cNvSpPr/>
          <p:nvPr/>
        </p:nvSpPr>
        <p:spPr>
          <a:xfrm>
            <a:off x="594360" y="5074920"/>
            <a:ext cx="10607040" cy="1005840"/>
          </a:xfrm>
          <a:prstGeom prst="rect">
            <a:avLst/>
          </a:prstGeom>
          <a:noFill/>
          <a:ln/>
        </p:spPr>
        <p:txBody>
          <a:bodyPr wrap="square" rtlCol="0" anchor="t"/>
          <a:lstStyle/>
          <a:p>
            <a:pPr indent="0" marL="0">
              <a:lnSpc>
                <a:spcPct val="118000"/>
              </a:lnSpc>
              <a:buNone/>
            </a:pPr>
            <a:r>
              <a:rPr lang="en-US" sz="1200" dirty="0">
                <a:solidFill>
                  <a:srgbClr val="3A4652"/>
                </a:solidFill>
                <a:latin typeface="Calibri" pitchFamily="34" charset="0"/>
                <a:ea typeface="Calibri" pitchFamily="34" charset="-122"/>
                <a:cs typeface="Calibri" pitchFamily="34" charset="-120"/>
              </a:rPr>
              <a:t>Basis: GW Ranch's 7.65 GW TCEQ-permitted capacity is under construction; Longfellow's originally announced 2 GW campus is in planned/phase-1 status. Figures reflect announced capacity among the two profiled anchors, not the full regional pipeline.</a:t>
            </a:r>
            <a:endParaRPr lang="en-US" sz="1200" dirty="0"/>
          </a:p>
        </p:txBody>
      </p:sp>
      <p:sp>
        <p:nvSpPr>
          <p:cNvPr id="13" name="Text 10"/>
          <p:cNvSpPr/>
          <p:nvPr/>
        </p:nvSpPr>
        <p:spPr>
          <a:xfrm>
            <a:off x="594360" y="6473952"/>
            <a:ext cx="7315200" cy="274320"/>
          </a:xfrm>
          <a:prstGeom prst="rect">
            <a:avLst/>
          </a:prstGeom>
          <a:noFill/>
          <a:ln/>
        </p:spPr>
        <p:txBody>
          <a:bodyPr wrap="square" rtlCol="0" anchor="ctr"/>
          <a:lstStyle/>
          <a:p>
            <a:pPr indent="0" marL="0">
              <a:buNone/>
            </a:pPr>
            <a:r>
              <a:rPr lang="en-US" sz="800" spc="50" kern="0" dirty="0">
                <a:solidFill>
                  <a:srgbClr val="9CA8B4"/>
                </a:solidFill>
                <a:latin typeface="Calibri" pitchFamily="34" charset="0"/>
                <a:ea typeface="Calibri" pitchFamily="34" charset="-122"/>
                <a:cs typeface="Calibri" pitchFamily="34" charset="-120"/>
              </a:rPr>
              <a:t>CARAMBA NORTH — STRICTLY CONFIDENTIAL, POST-NDA</a:t>
            </a:r>
            <a:endParaRPr lang="en-US" sz="800" dirty="0"/>
          </a:p>
        </p:txBody>
      </p:sp>
      <p:sp>
        <p:nvSpPr>
          <p:cNvPr id="14" name="Text 11"/>
          <p:cNvSpPr/>
          <p:nvPr/>
        </p:nvSpPr>
        <p:spPr>
          <a:xfrm>
            <a:off x="11231575" y="6473952"/>
            <a:ext cx="365760" cy="274320"/>
          </a:xfrm>
          <a:prstGeom prst="rect">
            <a:avLst/>
          </a:prstGeom>
          <a:noFill/>
          <a:ln/>
        </p:spPr>
        <p:txBody>
          <a:bodyPr wrap="square" rtlCol="0" anchor="ctr"/>
          <a:lstStyle/>
          <a:p>
            <a:pPr algn="r" indent="0" marL="0">
              <a:buNone/>
            </a:pPr>
            <a:r>
              <a:rPr lang="en-US" sz="800" dirty="0">
                <a:solidFill>
                  <a:srgbClr val="9CA8B4"/>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457200"/>
            <a:ext cx="384048" cy="384048"/>
          </a:xfrm>
          <a:prstGeom prst="ellipse">
            <a:avLst/>
          </a:prstGeom>
          <a:solidFill>
            <a:srgbClr val="A85A2E"/>
          </a:solidFill>
          <a:ln/>
        </p:spPr>
      </p:sp>
      <p:pic>
        <p:nvPicPr>
          <p:cNvPr id="3" name="Image 0" descr="/home/claude/repo/outputs/reports/om_exhibits/icons/exclaim.png">    </p:cNvPr>
          <p:cNvPicPr>
            <a:picLocks noChangeAspect="1"/>
          </p:cNvPicPr>
          <p:nvPr/>
        </p:nvPicPr>
        <p:blipFill>
          <a:blip r:embed="rId1"/>
          <a:stretch>
            <a:fillRect/>
          </a:stretch>
        </p:blipFill>
        <p:spPr>
          <a:xfrm>
            <a:off x="698053" y="560893"/>
            <a:ext cx="176662" cy="176662"/>
          </a:xfrm>
          <a:prstGeom prst="rect">
            <a:avLst/>
          </a:prstGeom>
        </p:spPr>
      </p:pic>
      <p:sp>
        <p:nvSpPr>
          <p:cNvPr id="4" name="Text 1"/>
          <p:cNvSpPr/>
          <p:nvPr/>
        </p:nvSpPr>
        <p:spPr>
          <a:xfrm>
            <a:off x="1115568" y="457200"/>
            <a:ext cx="9601200" cy="384048"/>
          </a:xfrm>
          <a:prstGeom prst="rect">
            <a:avLst/>
          </a:prstGeom>
          <a:noFill/>
          <a:ln/>
        </p:spPr>
        <p:txBody>
          <a:bodyPr wrap="square" rtlCol="0" anchor="ctr"/>
          <a:lstStyle/>
          <a:p>
            <a:pPr indent="0" marL="0">
              <a:buNone/>
            </a:pPr>
            <a:r>
              <a:rPr lang="en-US" sz="1200" b="1" spc="220" kern="0" dirty="0">
                <a:solidFill>
                  <a:srgbClr val="A85A2E"/>
                </a:solidFill>
                <a:latin typeface="Calibri" pitchFamily="34" charset="0"/>
                <a:ea typeface="Calibri" pitchFamily="34" charset="-122"/>
                <a:cs typeface="Calibri" pitchFamily="34" charset="-120"/>
              </a:rPr>
              <a:t>WHY THIS MATTERS NOW</a:t>
            </a:r>
            <a:endParaRPr lang="en-US" sz="1200" dirty="0"/>
          </a:p>
        </p:txBody>
      </p:sp>
      <p:sp>
        <p:nvSpPr>
          <p:cNvPr id="5" name="Text 2"/>
          <p:cNvSpPr/>
          <p:nvPr/>
        </p:nvSpPr>
        <p:spPr>
          <a:xfrm>
            <a:off x="594360" y="960120"/>
            <a:ext cx="10607040" cy="1783080"/>
          </a:xfrm>
          <a:prstGeom prst="rect">
            <a:avLst/>
          </a:prstGeom>
          <a:noFill/>
          <a:ln/>
        </p:spPr>
        <p:txBody>
          <a:bodyPr wrap="square" rtlCol="0" anchor="t"/>
          <a:lstStyle/>
          <a:p>
            <a:pPr indent="0" marL="0">
              <a:lnSpc>
                <a:spcPct val="114000"/>
              </a:lnSpc>
              <a:buNone/>
            </a:pPr>
            <a:r>
              <a:rPr lang="en-US" sz="2200" b="1" i="1" dirty="0">
                <a:solidFill>
                  <a:srgbClr val="16273B"/>
                </a:solidFill>
                <a:latin typeface="Cambria" pitchFamily="34" charset="0"/>
                <a:ea typeface="Cambria" pitchFamily="34" charset="-122"/>
                <a:cs typeface="Cambria" pitchFamily="34" charset="-120"/>
              </a:rPr>
              <a:t>The region around Caramba North sits inside a state-level interconnection queue so large it triggered a regulatory pause — the demand signal is real enough to have created a policy problem.</a:t>
            </a:r>
            <a:endParaRPr lang="en-US" sz="2200" dirty="0"/>
          </a:p>
        </p:txBody>
      </p:sp>
      <p:sp>
        <p:nvSpPr>
          <p:cNvPr id="6" name="Text 3"/>
          <p:cNvSpPr/>
          <p:nvPr/>
        </p:nvSpPr>
        <p:spPr>
          <a:xfrm>
            <a:off x="594360" y="4160520"/>
            <a:ext cx="3063240" cy="596348"/>
          </a:xfrm>
          <a:prstGeom prst="rect">
            <a:avLst/>
          </a:prstGeom>
          <a:noFill/>
          <a:ln/>
        </p:spPr>
        <p:txBody>
          <a:bodyPr wrap="square" lIns="0" tIns="0" rIns="0" bIns="0" rtlCol="0" anchor="b"/>
          <a:lstStyle/>
          <a:p>
            <a:pPr indent="0" marL="0">
              <a:buNone/>
            </a:pPr>
            <a:r>
              <a:rPr lang="en-US" sz="3000" b="1" dirty="0">
                <a:solidFill>
                  <a:srgbClr val="A85A2E"/>
                </a:solidFill>
                <a:latin typeface="Calibri" pitchFamily="34" charset="0"/>
                <a:ea typeface="Calibri" pitchFamily="34" charset="-122"/>
                <a:cs typeface="Calibri" pitchFamily="34" charset="-120"/>
              </a:rPr>
              <a:t>63 GW</a:t>
            </a:r>
            <a:endParaRPr lang="en-US" sz="3000" dirty="0"/>
          </a:p>
        </p:txBody>
      </p:sp>
      <p:sp>
        <p:nvSpPr>
          <p:cNvPr id="7" name="Text 4"/>
          <p:cNvSpPr/>
          <p:nvPr/>
        </p:nvSpPr>
        <p:spPr>
          <a:xfrm>
            <a:off x="594360" y="4756868"/>
            <a:ext cx="3063240" cy="68580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END OF 2024</a:t>
            </a:r>
            <a:endParaRPr lang="en-US" sz="950" dirty="0"/>
          </a:p>
        </p:txBody>
      </p:sp>
      <p:sp>
        <p:nvSpPr>
          <p:cNvPr id="8" name="Text 5"/>
          <p:cNvSpPr/>
          <p:nvPr/>
        </p:nvSpPr>
        <p:spPr>
          <a:xfrm>
            <a:off x="4023360" y="4006901"/>
            <a:ext cx="3063240" cy="874643"/>
          </a:xfrm>
          <a:prstGeom prst="rect">
            <a:avLst/>
          </a:prstGeom>
          <a:noFill/>
          <a:ln/>
        </p:spPr>
        <p:txBody>
          <a:bodyPr wrap="square" lIns="0" tIns="0" rIns="0" bIns="0" rtlCol="0" anchor="b"/>
          <a:lstStyle/>
          <a:p>
            <a:pPr indent="0" marL="0">
              <a:buNone/>
            </a:pPr>
            <a:r>
              <a:rPr lang="en-US" sz="4400" b="1" dirty="0">
                <a:solidFill>
                  <a:srgbClr val="A85A2E"/>
                </a:solidFill>
                <a:latin typeface="Calibri" pitchFamily="34" charset="0"/>
                <a:ea typeface="Calibri" pitchFamily="34" charset="-122"/>
                <a:cs typeface="Calibri" pitchFamily="34" charset="-120"/>
              </a:rPr>
              <a:t>226 GW</a:t>
            </a:r>
            <a:endParaRPr lang="en-US" sz="4400" dirty="0"/>
          </a:p>
        </p:txBody>
      </p:sp>
      <p:sp>
        <p:nvSpPr>
          <p:cNvPr id="9" name="Text 6"/>
          <p:cNvSpPr/>
          <p:nvPr/>
        </p:nvSpPr>
        <p:spPr>
          <a:xfrm>
            <a:off x="4023360" y="4881544"/>
            <a:ext cx="3063240" cy="68580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NOV 2025 — NEARLY QUADRUPLED IN A YEAR</a:t>
            </a:r>
            <a:endParaRPr lang="en-US" sz="950" dirty="0"/>
          </a:p>
        </p:txBody>
      </p:sp>
      <p:sp>
        <p:nvSpPr>
          <p:cNvPr id="10" name="Text 7"/>
          <p:cNvSpPr/>
          <p:nvPr/>
        </p:nvSpPr>
        <p:spPr>
          <a:xfrm>
            <a:off x="7452360" y="3853282"/>
            <a:ext cx="3063240" cy="1152939"/>
          </a:xfrm>
          <a:prstGeom prst="rect">
            <a:avLst/>
          </a:prstGeom>
          <a:noFill/>
          <a:ln/>
        </p:spPr>
        <p:txBody>
          <a:bodyPr wrap="square" lIns="0" tIns="0" rIns="0" bIns="0" rtlCol="0" anchor="b"/>
          <a:lstStyle/>
          <a:p>
            <a:pPr indent="0" marL="0">
              <a:buNone/>
            </a:pPr>
            <a:r>
              <a:rPr lang="en-US" sz="5800" b="1" dirty="0">
                <a:solidFill>
                  <a:srgbClr val="A85A2E"/>
                </a:solidFill>
                <a:latin typeface="Calibri" pitchFamily="34" charset="0"/>
                <a:ea typeface="Calibri" pitchFamily="34" charset="-122"/>
                <a:cs typeface="Calibri" pitchFamily="34" charset="-120"/>
              </a:rPr>
              <a:t>474 GW</a:t>
            </a:r>
            <a:endParaRPr lang="en-US" sz="5800" dirty="0"/>
          </a:p>
        </p:txBody>
      </p:sp>
      <p:sp>
        <p:nvSpPr>
          <p:cNvPr id="11" name="Text 8"/>
          <p:cNvSpPr/>
          <p:nvPr/>
        </p:nvSpPr>
        <p:spPr>
          <a:xfrm>
            <a:off x="7452360" y="5006221"/>
            <a:ext cx="3063240" cy="68580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AUG 2026 — STATEWIDE BACKLOG, ~90% DATA-CENTER-DRIVEN</a:t>
            </a:r>
            <a:endParaRPr lang="en-US" sz="950" dirty="0"/>
          </a:p>
        </p:txBody>
      </p:sp>
      <p:sp>
        <p:nvSpPr>
          <p:cNvPr id="12" name="Text 9"/>
          <p:cNvSpPr/>
          <p:nvPr/>
        </p:nvSpPr>
        <p:spPr>
          <a:xfrm>
            <a:off x="594360" y="5989320"/>
            <a:ext cx="10607040" cy="640080"/>
          </a:xfrm>
          <a:prstGeom prst="rect">
            <a:avLst/>
          </a:prstGeom>
          <a:noFill/>
          <a:ln/>
        </p:spPr>
        <p:txBody>
          <a:bodyPr wrap="square" rtlCol="0" anchor="t"/>
          <a:lstStyle/>
          <a:p>
            <a:pPr indent="0" marL="0">
              <a:lnSpc>
                <a:spcPct val="110000"/>
              </a:lnSpc>
              <a:buNone/>
            </a:pPr>
            <a:r>
              <a:rPr lang="en-US" sz="900" i="1" dirty="0">
                <a:solidFill>
                  <a:srgbClr val="6B7280"/>
                </a:solidFill>
                <a:latin typeface="Calibri" pitchFamily="34" charset="0"/>
                <a:ea typeface="Calibri" pitchFamily="34" charset="-122"/>
                <a:cs typeface="Calibri" pitchFamily="34" charset="-120"/>
              </a:rPr>
              <a:t>Sources: Latitude Media, “ERCOT's large load queue has nearly quadrupled in a single year” (Dec 3, 2025); Utility Dive, “Facing an estimated 474 GW of interconnection requests, Texas hits pause on data centers” (Aug 2026). Aug 3, 2026 gubernatorial directive ordered an audit of all ERCOT-queue data centers and paused the “Batch Zero” large-load review process pending that audit.</a:t>
            </a:r>
            <a:endParaRPr lang="en-US" sz="900" dirty="0"/>
          </a:p>
        </p:txBody>
      </p:sp>
      <p:sp>
        <p:nvSpPr>
          <p:cNvPr id="13" name="Text 10"/>
          <p:cNvSpPr/>
          <p:nvPr/>
        </p:nvSpPr>
        <p:spPr>
          <a:xfrm>
            <a:off x="594360" y="6473952"/>
            <a:ext cx="7315200" cy="274320"/>
          </a:xfrm>
          <a:prstGeom prst="rect">
            <a:avLst/>
          </a:prstGeom>
          <a:noFill/>
          <a:ln/>
        </p:spPr>
        <p:txBody>
          <a:bodyPr wrap="square" rtlCol="0" anchor="ctr"/>
          <a:lstStyle/>
          <a:p>
            <a:pPr indent="0" marL="0">
              <a:buNone/>
            </a:pPr>
            <a:r>
              <a:rPr lang="en-US" sz="800" spc="50" kern="0" dirty="0">
                <a:solidFill>
                  <a:srgbClr val="9CA8B4"/>
                </a:solidFill>
                <a:latin typeface="Calibri" pitchFamily="34" charset="0"/>
                <a:ea typeface="Calibri" pitchFamily="34" charset="-122"/>
                <a:cs typeface="Calibri" pitchFamily="34" charset="-120"/>
              </a:rPr>
              <a:t>CARAMBA NORTH — STRICTLY CONFIDENTIAL, POST-NDA</a:t>
            </a:r>
            <a:endParaRPr lang="en-US" sz="800" dirty="0"/>
          </a:p>
        </p:txBody>
      </p:sp>
      <p:sp>
        <p:nvSpPr>
          <p:cNvPr id="14" name="Text 11"/>
          <p:cNvSpPr/>
          <p:nvPr/>
        </p:nvSpPr>
        <p:spPr>
          <a:xfrm>
            <a:off x="11231575" y="6473952"/>
            <a:ext cx="365760" cy="274320"/>
          </a:xfrm>
          <a:prstGeom prst="rect">
            <a:avLst/>
          </a:prstGeom>
          <a:noFill/>
          <a:ln/>
        </p:spPr>
        <p:txBody>
          <a:bodyPr wrap="square" rtlCol="0" anchor="ctr"/>
          <a:lstStyle/>
          <a:p>
            <a:pPr algn="r" indent="0" marL="0">
              <a:buNone/>
            </a:pPr>
            <a:r>
              <a:rPr lang="en-US" sz="800" dirty="0">
                <a:solidFill>
                  <a:srgbClr val="9CA8B4"/>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457200"/>
            <a:ext cx="384048" cy="384048"/>
          </a:xfrm>
          <a:prstGeom prst="ellipse">
            <a:avLst/>
          </a:prstGeom>
          <a:solidFill>
            <a:srgbClr val="A85A2E"/>
          </a:solidFill>
          <a:ln/>
        </p:spPr>
      </p:sp>
      <p:pic>
        <p:nvPicPr>
          <p:cNvPr id="3" name="Image 0" descr="/home/claude/repo/outputs/reports/om_exhibits/icons/shield.png">    </p:cNvPr>
          <p:cNvPicPr>
            <a:picLocks noChangeAspect="1"/>
          </p:cNvPicPr>
          <p:nvPr/>
        </p:nvPicPr>
        <p:blipFill>
          <a:blip r:embed="rId1"/>
          <a:stretch>
            <a:fillRect/>
          </a:stretch>
        </p:blipFill>
        <p:spPr>
          <a:xfrm>
            <a:off x="698053" y="560893"/>
            <a:ext cx="176662" cy="176662"/>
          </a:xfrm>
          <a:prstGeom prst="rect">
            <a:avLst/>
          </a:prstGeom>
        </p:spPr>
      </p:pic>
      <p:sp>
        <p:nvSpPr>
          <p:cNvPr id="4" name="Text 1"/>
          <p:cNvSpPr/>
          <p:nvPr/>
        </p:nvSpPr>
        <p:spPr>
          <a:xfrm>
            <a:off x="1115568" y="457200"/>
            <a:ext cx="9601200" cy="384048"/>
          </a:xfrm>
          <a:prstGeom prst="rect">
            <a:avLst/>
          </a:prstGeom>
          <a:noFill/>
          <a:ln/>
        </p:spPr>
        <p:txBody>
          <a:bodyPr wrap="square" rtlCol="0" anchor="ctr"/>
          <a:lstStyle/>
          <a:p>
            <a:pPr indent="0" marL="0">
              <a:buNone/>
            </a:pPr>
            <a:r>
              <a:rPr lang="en-US" sz="1200" b="1" spc="220" kern="0" dirty="0">
                <a:solidFill>
                  <a:srgbClr val="A85A2E"/>
                </a:solidFill>
                <a:latin typeface="Calibri" pitchFamily="34" charset="0"/>
                <a:ea typeface="Calibri" pitchFamily="34" charset="-122"/>
                <a:cs typeface="Calibri" pitchFamily="34" charset="-120"/>
              </a:rPr>
              <a:t>THE DILIGENCE PLATFORM</a:t>
            </a:r>
            <a:endParaRPr lang="en-US" sz="1200" dirty="0"/>
          </a:p>
        </p:txBody>
      </p:sp>
      <p:sp>
        <p:nvSpPr>
          <p:cNvPr id="5" name="Text 2"/>
          <p:cNvSpPr/>
          <p:nvPr/>
        </p:nvSpPr>
        <p:spPr>
          <a:xfrm>
            <a:off x="594360" y="960120"/>
            <a:ext cx="10607040" cy="1554480"/>
          </a:xfrm>
          <a:prstGeom prst="rect">
            <a:avLst/>
          </a:prstGeom>
          <a:noFill/>
          <a:ln/>
        </p:spPr>
        <p:txBody>
          <a:bodyPr wrap="square" rtlCol="0" anchor="t"/>
          <a:lstStyle/>
          <a:p>
            <a:pPr indent="0" marL="0">
              <a:lnSpc>
                <a:spcPct val="112000"/>
              </a:lnSpc>
              <a:buNone/>
            </a:pPr>
            <a:r>
              <a:rPr lang="en-US" sz="2800" b="1" i="1" dirty="0">
                <a:solidFill>
                  <a:srgbClr val="16273B"/>
                </a:solidFill>
                <a:latin typeface="Cambria" pitchFamily="34" charset="0"/>
                <a:ea typeface="Cambria" pitchFamily="34" charset="-122"/>
                <a:cs typeface="Cambria" pitchFamily="34" charset="-120"/>
              </a:rPr>
              <a:t>Every figure in this document is independently re-derivable from a cited public source — this isn't a broker's summary.</a:t>
            </a:r>
            <a:endParaRPr lang="en-US" sz="2800" dirty="0"/>
          </a:p>
        </p:txBody>
      </p:sp>
      <p:sp>
        <p:nvSpPr>
          <p:cNvPr id="6" name="Text 3"/>
          <p:cNvSpPr/>
          <p:nvPr/>
        </p:nvSpPr>
        <p:spPr>
          <a:xfrm>
            <a:off x="594360" y="3246120"/>
            <a:ext cx="3017520" cy="777240"/>
          </a:xfrm>
          <a:prstGeom prst="rect">
            <a:avLst/>
          </a:prstGeom>
          <a:noFill/>
          <a:ln/>
        </p:spPr>
        <p:txBody>
          <a:bodyPr wrap="square" lIns="0" tIns="0" rIns="0" bIns="0" rtlCol="0" anchor="b"/>
          <a:lstStyle/>
          <a:p>
            <a:pPr indent="0" marL="0">
              <a:buNone/>
            </a:pPr>
            <a:r>
              <a:rPr lang="en-US" sz="4400" b="1" dirty="0">
                <a:solidFill>
                  <a:srgbClr val="A85A2E"/>
                </a:solidFill>
                <a:latin typeface="Calibri" pitchFamily="34" charset="0"/>
                <a:ea typeface="Calibri" pitchFamily="34" charset="-122"/>
                <a:cs typeface="Calibri" pitchFamily="34" charset="-120"/>
              </a:rPr>
              <a:t>11</a:t>
            </a:r>
            <a:endParaRPr lang="en-US" sz="4400" dirty="0"/>
          </a:p>
        </p:txBody>
      </p:sp>
      <p:sp>
        <p:nvSpPr>
          <p:cNvPr id="7" name="Text 4"/>
          <p:cNvSpPr/>
          <p:nvPr/>
        </p:nvSpPr>
        <p:spPr>
          <a:xfrm>
            <a:off x="594360" y="4023360"/>
            <a:ext cx="3017520" cy="59436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CITED PUBLIC SOURCE DATASETS</a:t>
            </a:r>
            <a:endParaRPr lang="en-US" sz="950" dirty="0"/>
          </a:p>
        </p:txBody>
      </p:sp>
      <p:sp>
        <p:nvSpPr>
          <p:cNvPr id="8" name="Text 5"/>
          <p:cNvSpPr/>
          <p:nvPr/>
        </p:nvSpPr>
        <p:spPr>
          <a:xfrm>
            <a:off x="3977640" y="3246120"/>
            <a:ext cx="3017520" cy="777240"/>
          </a:xfrm>
          <a:prstGeom prst="rect">
            <a:avLst/>
          </a:prstGeom>
          <a:noFill/>
          <a:ln/>
        </p:spPr>
        <p:txBody>
          <a:bodyPr wrap="square" lIns="0" tIns="0" rIns="0" bIns="0" rtlCol="0" anchor="b"/>
          <a:lstStyle/>
          <a:p>
            <a:pPr indent="0" marL="0">
              <a:buNone/>
            </a:pPr>
            <a:r>
              <a:rPr lang="en-US" sz="4400" b="1" dirty="0">
                <a:solidFill>
                  <a:srgbClr val="A85A2E"/>
                </a:solidFill>
                <a:latin typeface="Calibri" pitchFamily="34" charset="0"/>
                <a:ea typeface="Calibri" pitchFamily="34" charset="-122"/>
                <a:cs typeface="Calibri" pitchFamily="34" charset="-120"/>
              </a:rPr>
              <a:t>Weekly</a:t>
            </a:r>
            <a:endParaRPr lang="en-US" sz="4400" dirty="0"/>
          </a:p>
        </p:txBody>
      </p:sp>
      <p:sp>
        <p:nvSpPr>
          <p:cNvPr id="9" name="Text 6"/>
          <p:cNvSpPr/>
          <p:nvPr/>
        </p:nvSpPr>
        <p:spPr>
          <a:xfrm>
            <a:off x="3977640" y="4023360"/>
            <a:ext cx="3017520" cy="59436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RRC REFRESH CADENCE</a:t>
            </a:r>
            <a:endParaRPr lang="en-US" sz="950" dirty="0"/>
          </a:p>
        </p:txBody>
      </p:sp>
      <p:sp>
        <p:nvSpPr>
          <p:cNvPr id="10" name="Text 7"/>
          <p:cNvSpPr/>
          <p:nvPr/>
        </p:nvSpPr>
        <p:spPr>
          <a:xfrm>
            <a:off x="7360920" y="3246120"/>
            <a:ext cx="3017520" cy="777240"/>
          </a:xfrm>
          <a:prstGeom prst="rect">
            <a:avLst/>
          </a:prstGeom>
          <a:noFill/>
          <a:ln/>
        </p:spPr>
        <p:txBody>
          <a:bodyPr wrap="square" lIns="0" tIns="0" rIns="0" bIns="0" rtlCol="0" anchor="b"/>
          <a:lstStyle/>
          <a:p>
            <a:pPr indent="0" marL="0">
              <a:buNone/>
            </a:pPr>
            <a:r>
              <a:rPr lang="en-US" sz="4400" b="1" dirty="0">
                <a:solidFill>
                  <a:srgbClr val="A85A2E"/>
                </a:solidFill>
                <a:latin typeface="Calibri" pitchFamily="34" charset="0"/>
                <a:ea typeface="Calibri" pitchFamily="34" charset="-122"/>
                <a:cs typeface="Calibri" pitchFamily="34" charset="-120"/>
              </a:rPr>
              <a:t>Monthly</a:t>
            </a:r>
            <a:endParaRPr lang="en-US" sz="4400" dirty="0"/>
          </a:p>
        </p:txBody>
      </p:sp>
      <p:sp>
        <p:nvSpPr>
          <p:cNvPr id="11" name="Text 8"/>
          <p:cNvSpPr/>
          <p:nvPr/>
        </p:nvSpPr>
        <p:spPr>
          <a:xfrm>
            <a:off x="7360920" y="4023360"/>
            <a:ext cx="3017520" cy="59436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ERCOT QUEUE / TPIT REFRESH</a:t>
            </a:r>
            <a:endParaRPr lang="en-US" sz="950" dirty="0"/>
          </a:p>
        </p:txBody>
      </p:sp>
      <p:sp>
        <p:nvSpPr>
          <p:cNvPr id="12" name="Text 9"/>
          <p:cNvSpPr/>
          <p:nvPr/>
        </p:nvSpPr>
        <p:spPr>
          <a:xfrm>
            <a:off x="594360" y="4937760"/>
            <a:ext cx="10607040" cy="1097280"/>
          </a:xfrm>
          <a:prstGeom prst="rect">
            <a:avLst/>
          </a:prstGeom>
          <a:noFill/>
          <a:ln/>
        </p:spPr>
        <p:txBody>
          <a:bodyPr wrap="square" rtlCol="0" anchor="t"/>
          <a:lstStyle/>
          <a:p>
            <a:pPr indent="0" marL="0">
              <a:lnSpc>
                <a:spcPct val="118000"/>
              </a:lnSpc>
              <a:buNone/>
            </a:pPr>
            <a:r>
              <a:rPr lang="en-US" sz="1200" dirty="0">
                <a:solidFill>
                  <a:srgbClr val="3A4652"/>
                </a:solidFill>
                <a:latin typeface="Calibri" pitchFamily="34" charset="0"/>
                <a:ea typeface="Calibri" pitchFamily="34" charset="-122"/>
                <a:cs typeface="Calibri" pitchFamily="34" charset="-120"/>
              </a:rPr>
              <a:t>Every point, line, and boundary traces to a cited public dataset (ERCOT GIS Report/TPIT, PUCT, EIA-860, TCEQ, RRC dbf900/production/W-1, FracFocus, Middle Pecos GCD, HIFLD, USGS, BTS, Census TIGER), with per-feature source popups. EIA/USGS/OSM layers refresh annually. Static, versioned build; deployed bundle byte-verified on release; access logged.</a:t>
            </a:r>
            <a:endParaRPr lang="en-US" sz="1200" dirty="0"/>
          </a:p>
        </p:txBody>
      </p:sp>
      <p:sp>
        <p:nvSpPr>
          <p:cNvPr id="13" name="Text 10"/>
          <p:cNvSpPr/>
          <p:nvPr/>
        </p:nvSpPr>
        <p:spPr>
          <a:xfrm>
            <a:off x="594360" y="6126480"/>
            <a:ext cx="10607040" cy="365760"/>
          </a:xfrm>
          <a:prstGeom prst="rect">
            <a:avLst/>
          </a:prstGeom>
          <a:noFill/>
          <a:ln/>
        </p:spPr>
        <p:txBody>
          <a:bodyPr wrap="square" rtlCol="0" anchor="t"/>
          <a:lstStyle/>
          <a:p>
            <a:pPr indent="0" marL="0">
              <a:lnSpc>
                <a:spcPct val="110000"/>
              </a:lnSpc>
              <a:buNone/>
            </a:pPr>
            <a:r>
              <a:rPr lang="en-US" sz="900" i="1" dirty="0">
                <a:solidFill>
                  <a:srgbClr val="6B7280"/>
                </a:solidFill>
                <a:latin typeface="Calibri" pitchFamily="34" charset="0"/>
                <a:ea typeface="Calibri" pitchFamily="34" charset="-122"/>
                <a:cs typeface="Calibri" pitchFamily="34" charset="-120"/>
              </a:rPr>
              <a:t>lrp-tx-gis.netlify.app — access credentials issued to the deal team separately.</a:t>
            </a:r>
            <a:endParaRPr lang="en-US" sz="900" dirty="0"/>
          </a:p>
        </p:txBody>
      </p:sp>
      <p:sp>
        <p:nvSpPr>
          <p:cNvPr id="14" name="Text 11"/>
          <p:cNvSpPr/>
          <p:nvPr/>
        </p:nvSpPr>
        <p:spPr>
          <a:xfrm>
            <a:off x="594360" y="6473952"/>
            <a:ext cx="7315200" cy="274320"/>
          </a:xfrm>
          <a:prstGeom prst="rect">
            <a:avLst/>
          </a:prstGeom>
          <a:noFill/>
          <a:ln/>
        </p:spPr>
        <p:txBody>
          <a:bodyPr wrap="square" rtlCol="0" anchor="ctr"/>
          <a:lstStyle/>
          <a:p>
            <a:pPr indent="0" marL="0">
              <a:buNone/>
            </a:pPr>
            <a:r>
              <a:rPr lang="en-US" sz="800" spc="50" kern="0" dirty="0">
                <a:solidFill>
                  <a:srgbClr val="9CA8B4"/>
                </a:solidFill>
                <a:latin typeface="Calibri" pitchFamily="34" charset="0"/>
                <a:ea typeface="Calibri" pitchFamily="34" charset="-122"/>
                <a:cs typeface="Calibri" pitchFamily="34" charset="-120"/>
              </a:rPr>
              <a:t>CARAMBA NORTH — STRICTLY CONFIDENTIAL, POST-NDA</a:t>
            </a:r>
            <a:endParaRPr lang="en-US" sz="800" dirty="0"/>
          </a:p>
        </p:txBody>
      </p:sp>
      <p:sp>
        <p:nvSpPr>
          <p:cNvPr id="15" name="Text 12"/>
          <p:cNvSpPr/>
          <p:nvPr/>
        </p:nvSpPr>
        <p:spPr>
          <a:xfrm>
            <a:off x="11231575" y="6473952"/>
            <a:ext cx="365760" cy="274320"/>
          </a:xfrm>
          <a:prstGeom prst="rect">
            <a:avLst/>
          </a:prstGeom>
          <a:noFill/>
          <a:ln/>
        </p:spPr>
        <p:txBody>
          <a:bodyPr wrap="square" rtlCol="0" anchor="ctr"/>
          <a:lstStyle/>
          <a:p>
            <a:pPr algn="r" indent="0" marL="0">
              <a:buNone/>
            </a:pPr>
            <a:r>
              <a:rPr lang="en-US" sz="800" dirty="0">
                <a:solidFill>
                  <a:srgbClr val="9CA8B4"/>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457200"/>
            <a:ext cx="384048" cy="384048"/>
          </a:xfrm>
          <a:prstGeom prst="ellipse">
            <a:avLst/>
          </a:prstGeom>
          <a:solidFill>
            <a:srgbClr val="A85A2E"/>
          </a:solidFill>
          <a:ln/>
        </p:spPr>
      </p:sp>
      <p:pic>
        <p:nvPicPr>
          <p:cNvPr id="3" name="Image 0" descr="/home/claude/repo/outputs/reports/om_exhibits/icons/gauge.png">    </p:cNvPr>
          <p:cNvPicPr>
            <a:picLocks noChangeAspect="1"/>
          </p:cNvPicPr>
          <p:nvPr/>
        </p:nvPicPr>
        <p:blipFill>
          <a:blip r:embed="rId1"/>
          <a:stretch>
            <a:fillRect/>
          </a:stretch>
        </p:blipFill>
        <p:spPr>
          <a:xfrm>
            <a:off x="698053" y="560893"/>
            <a:ext cx="176662" cy="176662"/>
          </a:xfrm>
          <a:prstGeom prst="rect">
            <a:avLst/>
          </a:prstGeom>
        </p:spPr>
      </p:pic>
      <p:sp>
        <p:nvSpPr>
          <p:cNvPr id="4" name="Text 1"/>
          <p:cNvSpPr/>
          <p:nvPr/>
        </p:nvSpPr>
        <p:spPr>
          <a:xfrm>
            <a:off x="1115568" y="457200"/>
            <a:ext cx="9601200" cy="384048"/>
          </a:xfrm>
          <a:prstGeom prst="rect">
            <a:avLst/>
          </a:prstGeom>
          <a:noFill/>
          <a:ln/>
        </p:spPr>
        <p:txBody>
          <a:bodyPr wrap="square" rtlCol="0" anchor="ctr"/>
          <a:lstStyle/>
          <a:p>
            <a:pPr indent="0" marL="0">
              <a:buNone/>
            </a:pPr>
            <a:r>
              <a:rPr lang="en-US" sz="1200" b="1" spc="220" kern="0" dirty="0">
                <a:solidFill>
                  <a:srgbClr val="A85A2E"/>
                </a:solidFill>
                <a:latin typeface="Calibri" pitchFamily="34" charset="0"/>
                <a:ea typeface="Calibri" pitchFamily="34" charset="-122"/>
                <a:cs typeface="Calibri" pitchFamily="34" charset="-120"/>
              </a:rPr>
              <a:t>SUBSURFACE &amp; DRILLING ACTIVITY</a:t>
            </a:r>
            <a:endParaRPr lang="en-US" sz="1200" dirty="0"/>
          </a:p>
        </p:txBody>
      </p:sp>
      <p:sp>
        <p:nvSpPr>
          <p:cNvPr id="5" name="Text 2"/>
          <p:cNvSpPr/>
          <p:nvPr/>
        </p:nvSpPr>
        <p:spPr>
          <a:xfrm>
            <a:off x="594360" y="960120"/>
            <a:ext cx="10607040" cy="1874520"/>
          </a:xfrm>
          <a:prstGeom prst="rect">
            <a:avLst/>
          </a:prstGeom>
          <a:noFill/>
          <a:ln/>
        </p:spPr>
        <p:txBody>
          <a:bodyPr wrap="square" rtlCol="0" anchor="t"/>
          <a:lstStyle/>
          <a:p>
            <a:pPr indent="0" marL="0">
              <a:lnSpc>
                <a:spcPct val="114000"/>
              </a:lnSpc>
              <a:buNone/>
            </a:pPr>
            <a:r>
              <a:rPr lang="en-US" sz="2400" b="1" i="1" dirty="0">
                <a:solidFill>
                  <a:srgbClr val="16273B"/>
                </a:solidFill>
                <a:latin typeface="Cambria" pitchFamily="34" charset="0"/>
                <a:ea typeface="Cambria" pitchFamily="34" charset="-122"/>
                <a:cs typeface="Cambria" pitchFamily="34" charset="-120"/>
              </a:rPr>
              <a:t>Pecos County has the lowest new-drilling count of seven comparable Permian counties since 2020 — a 90%-below-peer-average level of activity, not merely “quiet.”</a:t>
            </a:r>
            <a:endParaRPr lang="en-US" sz="2400" dirty="0"/>
          </a:p>
        </p:txBody>
      </p:sp>
      <p:sp>
        <p:nvSpPr>
          <p:cNvPr id="6" name="Text 3"/>
          <p:cNvSpPr/>
          <p:nvPr/>
        </p:nvSpPr>
        <p:spPr>
          <a:xfrm>
            <a:off x="594360" y="3383280"/>
            <a:ext cx="3063240" cy="777240"/>
          </a:xfrm>
          <a:prstGeom prst="rect">
            <a:avLst/>
          </a:prstGeom>
          <a:noFill/>
          <a:ln/>
        </p:spPr>
        <p:txBody>
          <a:bodyPr wrap="square" lIns="0" tIns="0" rIns="0" bIns="0" rtlCol="0" anchor="b"/>
          <a:lstStyle/>
          <a:p>
            <a:pPr indent="0" marL="0">
              <a:buNone/>
            </a:pPr>
            <a:r>
              <a:rPr lang="en-US" sz="4400" b="1" dirty="0">
                <a:solidFill>
                  <a:srgbClr val="A85A2E"/>
                </a:solidFill>
                <a:latin typeface="Calibri" pitchFamily="34" charset="0"/>
                <a:ea typeface="Calibri" pitchFamily="34" charset="-122"/>
                <a:cs typeface="Calibri" pitchFamily="34" charset="-120"/>
              </a:rPr>
              <a:t>115</a:t>
            </a:r>
            <a:endParaRPr lang="en-US" sz="4400" dirty="0"/>
          </a:p>
        </p:txBody>
      </p:sp>
      <p:sp>
        <p:nvSpPr>
          <p:cNvPr id="7" name="Text 4"/>
          <p:cNvSpPr/>
          <p:nvPr/>
        </p:nvSpPr>
        <p:spPr>
          <a:xfrm>
            <a:off x="594360" y="4160520"/>
            <a:ext cx="3063240" cy="59436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NEW-DRILL WELLS, PECOS CO. SINCE 2020</a:t>
            </a:r>
            <a:endParaRPr lang="en-US" sz="950" dirty="0"/>
          </a:p>
        </p:txBody>
      </p:sp>
      <p:sp>
        <p:nvSpPr>
          <p:cNvPr id="8" name="Text 5"/>
          <p:cNvSpPr/>
          <p:nvPr/>
        </p:nvSpPr>
        <p:spPr>
          <a:xfrm>
            <a:off x="4023360" y="3383280"/>
            <a:ext cx="3063240" cy="777240"/>
          </a:xfrm>
          <a:prstGeom prst="rect">
            <a:avLst/>
          </a:prstGeom>
          <a:noFill/>
          <a:ln/>
        </p:spPr>
        <p:txBody>
          <a:bodyPr wrap="square" lIns="0" tIns="0" rIns="0" bIns="0" rtlCol="0" anchor="b"/>
          <a:lstStyle/>
          <a:p>
            <a:pPr indent="0" marL="0">
              <a:buNone/>
            </a:pPr>
            <a:r>
              <a:rPr lang="en-US" sz="4400" b="1" dirty="0">
                <a:solidFill>
                  <a:srgbClr val="A85A2E"/>
                </a:solidFill>
                <a:latin typeface="Calibri" pitchFamily="34" charset="0"/>
                <a:ea typeface="Calibri" pitchFamily="34" charset="-122"/>
                <a:cs typeface="Calibri" pitchFamily="34" charset="-120"/>
              </a:rPr>
              <a:t>1,181</a:t>
            </a:r>
            <a:endParaRPr lang="en-US" sz="4400" dirty="0"/>
          </a:p>
        </p:txBody>
      </p:sp>
      <p:sp>
        <p:nvSpPr>
          <p:cNvPr id="9" name="Text 6"/>
          <p:cNvSpPr/>
          <p:nvPr/>
        </p:nvSpPr>
        <p:spPr>
          <a:xfrm>
            <a:off x="4023360" y="4160520"/>
            <a:ext cx="3063240" cy="59436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PEER AVERAGE, SIX COMPARABLE COUNTIES</a:t>
            </a:r>
            <a:endParaRPr lang="en-US" sz="950" dirty="0"/>
          </a:p>
        </p:txBody>
      </p:sp>
      <p:sp>
        <p:nvSpPr>
          <p:cNvPr id="10" name="Text 7"/>
          <p:cNvSpPr/>
          <p:nvPr/>
        </p:nvSpPr>
        <p:spPr>
          <a:xfrm>
            <a:off x="7452360" y="3383280"/>
            <a:ext cx="3063240" cy="777240"/>
          </a:xfrm>
          <a:prstGeom prst="rect">
            <a:avLst/>
          </a:prstGeom>
          <a:noFill/>
          <a:ln/>
        </p:spPr>
        <p:txBody>
          <a:bodyPr wrap="square" lIns="0" tIns="0" rIns="0" bIns="0" rtlCol="0" anchor="b"/>
          <a:lstStyle/>
          <a:p>
            <a:pPr indent="0" marL="0">
              <a:buNone/>
            </a:pPr>
            <a:r>
              <a:rPr lang="en-US" sz="4400" b="1" dirty="0">
                <a:solidFill>
                  <a:srgbClr val="A85A2E"/>
                </a:solidFill>
                <a:latin typeface="Calibri" pitchFamily="34" charset="0"/>
                <a:ea typeface="Calibri" pitchFamily="34" charset="-122"/>
                <a:cs typeface="Calibri" pitchFamily="34" charset="-120"/>
              </a:rPr>
              <a:t>0</a:t>
            </a:r>
            <a:endParaRPr lang="en-US" sz="4400" dirty="0"/>
          </a:p>
        </p:txBody>
      </p:sp>
      <p:sp>
        <p:nvSpPr>
          <p:cNvPr id="11" name="Text 8"/>
          <p:cNvSpPr/>
          <p:nvPr/>
        </p:nvSpPr>
        <p:spPr>
          <a:xfrm>
            <a:off x="7452360" y="4160520"/>
            <a:ext cx="3063240" cy="594360"/>
          </a:xfrm>
          <a:prstGeom prst="rect">
            <a:avLst/>
          </a:prstGeom>
          <a:noFill/>
          <a:ln/>
        </p:spPr>
        <p:txBody>
          <a:bodyPr wrap="square" lIns="0" tIns="0" rIns="0" bIns="0" rtlCol="0" anchor="t"/>
          <a:lstStyle/>
          <a:p>
            <a:pPr indent="0" marL="0">
              <a:lnSpc>
                <a:spcPct val="105000"/>
              </a:lnSpc>
              <a:buNone/>
            </a:pPr>
            <a:r>
              <a:rPr lang="en-US" sz="950" spc="80" kern="0" dirty="0">
                <a:solidFill>
                  <a:srgbClr val="6B7280"/>
                </a:solidFill>
                <a:latin typeface="Calibri" pitchFamily="34" charset="0"/>
                <a:ea typeface="Calibri" pitchFamily="34" charset="-122"/>
                <a:cs typeface="Calibri" pitchFamily="34" charset="-120"/>
              </a:rPr>
              <a:t>NEW-DRILL WELLS WITHIN 5 MI OF THE TRACT</a:t>
            </a:r>
            <a:endParaRPr lang="en-US" sz="950" dirty="0"/>
          </a:p>
        </p:txBody>
      </p:sp>
      <p:sp>
        <p:nvSpPr>
          <p:cNvPr id="12" name="Text 9"/>
          <p:cNvSpPr/>
          <p:nvPr/>
        </p:nvSpPr>
        <p:spPr>
          <a:xfrm>
            <a:off x="594360" y="5120640"/>
            <a:ext cx="10607040" cy="1051560"/>
          </a:xfrm>
          <a:prstGeom prst="rect">
            <a:avLst/>
          </a:prstGeom>
          <a:noFill/>
          <a:ln/>
        </p:spPr>
        <p:txBody>
          <a:bodyPr wrap="square" rtlCol="0" anchor="t"/>
          <a:lstStyle/>
          <a:p>
            <a:pPr indent="0" marL="0">
              <a:lnSpc>
                <a:spcPct val="118000"/>
              </a:lnSpc>
              <a:buNone/>
            </a:pPr>
            <a:r>
              <a:rPr lang="en-US" sz="1200" dirty="0">
                <a:solidFill>
                  <a:srgbClr val="3A4652"/>
                </a:solidFill>
                <a:latin typeface="Calibri" pitchFamily="34" charset="0"/>
                <a:ea typeface="Calibri" pitchFamily="34" charset="-122"/>
                <a:cs typeface="Calibri" pitchFamily="34" charset="-120"/>
              </a:rPr>
              <a:t>Zero new-drill wells within 2 miles of the tract since 2020; zero within 5 miles; one within 10 miles (9.37 mi away). Within 10 miles, 83% of non-plugged wellbores are marginal/end-of-life production, versus 60% at ≤ 2 mi and 62% at ≤ 5 mi — the closer ring is even quieter than the wider one.</a:t>
            </a:r>
            <a:endParaRPr lang="en-US" sz="1200" dirty="0"/>
          </a:p>
        </p:txBody>
      </p:sp>
      <p:sp>
        <p:nvSpPr>
          <p:cNvPr id="13" name="Text 10"/>
          <p:cNvSpPr/>
          <p:nvPr/>
        </p:nvSpPr>
        <p:spPr>
          <a:xfrm>
            <a:off x="594360" y="6473952"/>
            <a:ext cx="7315200" cy="274320"/>
          </a:xfrm>
          <a:prstGeom prst="rect">
            <a:avLst/>
          </a:prstGeom>
          <a:noFill/>
          <a:ln/>
        </p:spPr>
        <p:txBody>
          <a:bodyPr wrap="square" rtlCol="0" anchor="ctr"/>
          <a:lstStyle/>
          <a:p>
            <a:pPr indent="0" marL="0">
              <a:buNone/>
            </a:pPr>
            <a:r>
              <a:rPr lang="en-US" sz="800" spc="50" kern="0" dirty="0">
                <a:solidFill>
                  <a:srgbClr val="9CA8B4"/>
                </a:solidFill>
                <a:latin typeface="Calibri" pitchFamily="34" charset="0"/>
                <a:ea typeface="Calibri" pitchFamily="34" charset="-122"/>
                <a:cs typeface="Calibri" pitchFamily="34" charset="-120"/>
              </a:rPr>
              <a:t>CARAMBA NORTH — STRICTLY CONFIDENTIAL, POST-NDA</a:t>
            </a:r>
            <a:endParaRPr lang="en-US" sz="800" dirty="0"/>
          </a:p>
        </p:txBody>
      </p:sp>
      <p:sp>
        <p:nvSpPr>
          <p:cNvPr id="14" name="Text 11"/>
          <p:cNvSpPr/>
          <p:nvPr/>
        </p:nvSpPr>
        <p:spPr>
          <a:xfrm>
            <a:off x="11231575" y="6473952"/>
            <a:ext cx="365760" cy="274320"/>
          </a:xfrm>
          <a:prstGeom prst="rect">
            <a:avLst/>
          </a:prstGeom>
          <a:noFill/>
          <a:ln/>
        </p:spPr>
        <p:txBody>
          <a:bodyPr wrap="square" rtlCol="0" anchor="ctr"/>
          <a:lstStyle/>
          <a:p>
            <a:pPr algn="r" indent="0" marL="0">
              <a:buNone/>
            </a:pPr>
            <a:r>
              <a:rPr lang="en-US" sz="800" dirty="0">
                <a:solidFill>
                  <a:srgbClr val="9CA8B4"/>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273B"/>
        </a:solidFill>
      </p:bgPr>
    </p:bg>
    <p:spTree>
      <p:nvGrpSpPr>
        <p:cNvPr id="1" name=""/>
        <p:cNvGrpSpPr/>
        <p:nvPr/>
      </p:nvGrpSpPr>
      <p:grpSpPr>
        <a:xfrm>
          <a:off x="0" y="0"/>
          <a:ext cx="0" cy="0"/>
          <a:chOff x="0" y="0"/>
          <a:chExt cx="0" cy="0"/>
        </a:xfrm>
      </p:grpSpPr>
      <p:sp>
        <p:nvSpPr>
          <p:cNvPr id="2" name="Shape 0"/>
          <p:cNvSpPr/>
          <p:nvPr/>
        </p:nvSpPr>
        <p:spPr>
          <a:xfrm>
            <a:off x="594360" y="457200"/>
            <a:ext cx="384048" cy="384048"/>
          </a:xfrm>
          <a:prstGeom prst="ellipse">
            <a:avLst/>
          </a:prstGeom>
          <a:solidFill>
            <a:srgbClr val="E3A15C"/>
          </a:solidFill>
          <a:ln/>
        </p:spPr>
      </p:sp>
      <p:pic>
        <p:nvPicPr>
          <p:cNvPr id="3" name="Image 0" descr="/home/claude/repo/outputs/reports/om_exhibits/icons/building.png">    </p:cNvPr>
          <p:cNvPicPr>
            <a:picLocks noChangeAspect="1"/>
          </p:cNvPicPr>
          <p:nvPr/>
        </p:nvPicPr>
        <p:blipFill>
          <a:blip r:embed="rId1"/>
          <a:stretch>
            <a:fillRect/>
          </a:stretch>
        </p:blipFill>
        <p:spPr>
          <a:xfrm>
            <a:off x="698053" y="560893"/>
            <a:ext cx="176662" cy="176662"/>
          </a:xfrm>
          <a:prstGeom prst="rect">
            <a:avLst/>
          </a:prstGeom>
        </p:spPr>
      </p:pic>
      <p:sp>
        <p:nvSpPr>
          <p:cNvPr id="4" name="Text 1"/>
          <p:cNvSpPr/>
          <p:nvPr/>
        </p:nvSpPr>
        <p:spPr>
          <a:xfrm>
            <a:off x="1115568" y="457200"/>
            <a:ext cx="9601200" cy="384048"/>
          </a:xfrm>
          <a:prstGeom prst="rect">
            <a:avLst/>
          </a:prstGeom>
          <a:noFill/>
          <a:ln/>
        </p:spPr>
        <p:txBody>
          <a:bodyPr wrap="square" rtlCol="0" anchor="ctr"/>
          <a:lstStyle/>
          <a:p>
            <a:pPr indent="0" marL="0">
              <a:buNone/>
            </a:pPr>
            <a:r>
              <a:rPr lang="en-US" sz="1200" b="1" spc="220" kern="0" dirty="0">
                <a:solidFill>
                  <a:srgbClr val="E3A15C"/>
                </a:solidFill>
                <a:latin typeface="Calibri" pitchFamily="34" charset="0"/>
                <a:ea typeface="Calibri" pitchFamily="34" charset="-122"/>
                <a:cs typeface="Calibri" pitchFamily="34" charset="-120"/>
              </a:rPr>
              <a:t>NOTICES</a:t>
            </a:r>
            <a:endParaRPr lang="en-US" sz="1200" dirty="0"/>
          </a:p>
        </p:txBody>
      </p:sp>
      <p:sp>
        <p:nvSpPr>
          <p:cNvPr id="5" name="Text 2"/>
          <p:cNvSpPr/>
          <p:nvPr/>
        </p:nvSpPr>
        <p:spPr>
          <a:xfrm>
            <a:off x="594360" y="1051560"/>
            <a:ext cx="10607040" cy="1417320"/>
          </a:xfrm>
          <a:prstGeom prst="rect">
            <a:avLst/>
          </a:prstGeom>
          <a:noFill/>
          <a:ln/>
        </p:spPr>
        <p:txBody>
          <a:bodyPr wrap="square" rtlCol="0" anchor="t"/>
          <a:lstStyle/>
          <a:p>
            <a:pPr indent="0" marL="0">
              <a:lnSpc>
                <a:spcPct val="114000"/>
              </a:lnSpc>
              <a:buNone/>
            </a:pPr>
            <a:r>
              <a:rPr lang="en-US" sz="2100" b="1" i="1" dirty="0">
                <a:solidFill>
                  <a:srgbClr val="FFFFFF"/>
                </a:solidFill>
                <a:latin typeface="Cambria" pitchFamily="34" charset="0"/>
                <a:ea typeface="Cambria" pitchFamily="34" charset="-122"/>
                <a:cs typeface="Cambria" pitchFamily="34" charset="-120"/>
              </a:rPr>
              <a:t>Not a speculative land bet — a parcel positioned to benefit from a buildout already underway, without carrying the exposure of being the marginal, unproven project in the queue.</a:t>
            </a:r>
            <a:endParaRPr lang="en-US" sz="2100" dirty="0"/>
          </a:p>
        </p:txBody>
      </p:sp>
      <p:sp>
        <p:nvSpPr>
          <p:cNvPr id="6" name="Text 3"/>
          <p:cNvSpPr/>
          <p:nvPr/>
        </p:nvSpPr>
        <p:spPr>
          <a:xfrm>
            <a:off x="594360" y="2788920"/>
            <a:ext cx="10607040" cy="3291840"/>
          </a:xfrm>
          <a:prstGeom prst="rect">
            <a:avLst/>
          </a:prstGeom>
          <a:noFill/>
          <a:ln/>
        </p:spPr>
        <p:txBody>
          <a:bodyPr wrap="square" rtlCol="0" anchor="t"/>
          <a:lstStyle/>
          <a:p>
            <a:pPr indent="0" marL="0">
              <a:lnSpc>
                <a:spcPct val="122000"/>
              </a:lnSpc>
              <a:buNone/>
            </a:pPr>
            <a:r>
              <a:rPr lang="en-US" sz="1100" dirty="0">
                <a:solidFill>
                  <a:srgbClr val="D7E1E8"/>
                </a:solidFill>
                <a:latin typeface="Calibri" pitchFamily="34" charset="0"/>
                <a:ea typeface="Calibri" pitchFamily="34" charset="-122"/>
                <a:cs typeface="Calibri" pitchFamily="34" charset="-120"/>
              </a:rPr>
              <a:t>This Confidential Offering Memorandum has been prepared solely for the use of a limited number of prospective counterparties, under executed non-disclosure agreement, in connection with the potential acquisition of, or investment in, the Caramba North property. It is delivered on a strictly confidential basis and may not be reproduced or distributed without consent.</a:t>
            </a:r>
            <a:endParaRPr lang="en-US" sz="1100" dirty="0"/>
          </a:p>
          <a:p>
            <a:pPr indent="0" marL="0">
              <a:lnSpc>
                <a:spcPct val="122000"/>
              </a:lnSpc>
              <a:buNone/>
            </a:pPr>
            <a:endParaRPr lang="en-US" sz="1100" dirty="0"/>
          </a:p>
          <a:p>
            <a:pPr indent="0" marL="0">
              <a:lnSpc>
                <a:spcPct val="122000"/>
              </a:lnSpc>
              <a:buNone/>
            </a:pPr>
            <a:r>
              <a:rPr lang="en-US" sz="1100" dirty="0">
                <a:solidFill>
                  <a:srgbClr val="D7E1E8"/>
                </a:solidFill>
                <a:latin typeface="Calibri" pitchFamily="34" charset="0"/>
                <a:ea typeface="Calibri" pitchFamily="34" charset="-122"/>
                <a:cs typeface="Calibri" pitchFamily="34" charset="-120"/>
              </a:rPr>
              <a:t>This document does not constitute an offer to sell or a solicitation of an offer to buy any security or interest. Information is preliminary and indicative, compiled from sources believed reliable, and subject to revision without notice.</a:t>
            </a:r>
            <a:endParaRPr lang="en-US" sz="1100" dirty="0"/>
          </a:p>
          <a:p>
            <a:pPr indent="0" marL="0">
              <a:lnSpc>
                <a:spcPct val="122000"/>
              </a:lnSpc>
              <a:buNone/>
            </a:pPr>
            <a:endParaRPr lang="en-US" sz="1100" dirty="0"/>
          </a:p>
          <a:p>
            <a:pPr indent="0" marL="0">
              <a:lnSpc>
                <a:spcPct val="122000"/>
              </a:lnSpc>
              <a:buNone/>
            </a:pPr>
            <a:r>
              <a:rPr lang="en-US" sz="1100" dirty="0">
                <a:solidFill>
                  <a:srgbClr val="D7E1E8"/>
                </a:solidFill>
                <a:latin typeface="Calibri" pitchFamily="34" charset="0"/>
                <a:ea typeface="Calibri" pitchFamily="34" charset="-122"/>
                <a:cs typeface="Calibri" pitchFamily="34" charset="-120"/>
              </a:rPr>
              <a:t>Public data is drawn from ERCOT, PUCT, EIA, TCEQ, RRC, FracFocus, Middle Pecos GCD, HIFLD, USGS, BTS, and U.S. Census TIGER. Third-party transaction and market news is drawn from public reporting cited inline or in the companion source register. Recipients should conduct their own independent investigation, including consultation with their own legal, tax, accounting, and engineering advisors.</a:t>
            </a:r>
            <a:endParaRPr lang="en-US" sz="1100" dirty="0"/>
          </a:p>
        </p:txBody>
      </p:sp>
      <p:sp>
        <p:nvSpPr>
          <p:cNvPr id="7" name="Text 4"/>
          <p:cNvSpPr/>
          <p:nvPr/>
        </p:nvSpPr>
        <p:spPr>
          <a:xfrm>
            <a:off x="594360" y="6473952"/>
            <a:ext cx="7315200" cy="274320"/>
          </a:xfrm>
          <a:prstGeom prst="rect">
            <a:avLst/>
          </a:prstGeom>
          <a:noFill/>
          <a:ln/>
        </p:spPr>
        <p:txBody>
          <a:bodyPr wrap="square" rtlCol="0" anchor="ctr"/>
          <a:lstStyle/>
          <a:p>
            <a:pPr indent="0" marL="0">
              <a:buNone/>
            </a:pPr>
            <a:r>
              <a:rPr lang="en-US" sz="800" spc="50" kern="0" dirty="0">
                <a:solidFill>
                  <a:srgbClr val="5C7185"/>
                </a:solidFill>
                <a:latin typeface="Calibri" pitchFamily="34" charset="0"/>
                <a:ea typeface="Calibri" pitchFamily="34" charset="-122"/>
                <a:cs typeface="Calibri" pitchFamily="34" charset="-120"/>
              </a:rPr>
              <a:t>CARAMBA NORTH — STRICTLY CONFIDENTIAL, POST-NDA</a:t>
            </a:r>
            <a:endParaRPr lang="en-US" sz="800" dirty="0"/>
          </a:p>
        </p:txBody>
      </p:sp>
      <p:sp>
        <p:nvSpPr>
          <p:cNvPr id="8" name="Text 5"/>
          <p:cNvSpPr/>
          <p:nvPr/>
        </p:nvSpPr>
        <p:spPr>
          <a:xfrm>
            <a:off x="11231575" y="6473952"/>
            <a:ext cx="365760" cy="274320"/>
          </a:xfrm>
          <a:prstGeom prst="rect">
            <a:avLst/>
          </a:prstGeom>
          <a:noFill/>
          <a:ln/>
        </p:spPr>
        <p:txBody>
          <a:bodyPr wrap="square" rtlCol="0" anchor="ctr"/>
          <a:lstStyle/>
          <a:p>
            <a:pPr algn="r" indent="0" marL="0">
              <a:buNone/>
            </a:pPr>
            <a:r>
              <a:rPr lang="en-US" sz="800" dirty="0">
                <a:solidFill>
                  <a:srgbClr val="5C7185"/>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Caramba North — Editorial Deck</dc:title>
  <dc:subject>PptxGenJS Presentation</dc:subject>
  <dc:creator>Land Resource Partners</dc:creator>
  <cp:lastModifiedBy>Land Resource Partners</cp:lastModifiedBy>
  <cp:revision>1</cp:revision>
  <dcterms:created xsi:type="dcterms:W3CDTF">2026-08-24T11:21:04Z</dcterms:created>
  <dcterms:modified xsi:type="dcterms:W3CDTF">2026-08-24T11:21:04Z</dcterms:modified>
</cp:coreProperties>
</file>
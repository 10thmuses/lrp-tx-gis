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Project maturity</c:v>
                </c:pt>
              </c:strCache>
            </c:strRef>
          </c:tx>
          <c:spPr>
            <a:solidFill>
              <a:schemeClr val="accent1"/>
            </a:solidFill>
            <a:ln w="9525" cap="flat">
              <a:solidFill>
                <a:srgbClr val="F9F9F9"/>
              </a:solidFill>
              <a:prstDash val="solid"/>
              <a:round/>
            </a:ln>
            <a:effectLst/>
          </c:spPr>
          <c:dPt>
            <c:idx val="0"/>
            <c:bubble3D val="0"/>
            <c:spPr>
              <a:solidFill>
                <a:srgbClr val="B91C1C"/>
              </a:solidFill>
              <a:effectLst/>
            </c:spPr>
          </c:dPt>
          <c:dPt>
            <c:idx val="1"/>
            <c:bubble3D val="0"/>
            <c:spPr>
              <a:solidFill>
                <a:srgbClr val="7F1D1D"/>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Under construction (GW Ranch)</c:v>
                </c:pt>
                <c:pt idx="1">
                  <c:v>Planned / phase-1 (Longfellow)</c:v>
                </c:pt>
              </c:strCache>
            </c:strRef>
          </c:cat>
          <c:val>
            <c:numRef>
              <c:f>Sheet1!$B$2:$B$3</c:f>
              <c:numCache>
                <c:ptCount val="2"/>
                <c:pt idx="0">
                  <c:v>79.3</c:v>
                </c:pt>
                <c:pt idx="1">
                  <c:v>20.7</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New-drill wells since 2020</c:v>
                </c:pt>
              </c:strCache>
            </c:strRef>
          </c:tx>
          <c:spPr>
            <a:solidFill>
              <a:srgbClr val="B06220"/>
            </a:solidFill>
            <a:effectLst/>
          </c:spPr>
          <c:invertIfNegative val="0"/>
          <c:dLbls>
            <c:numFmt formatCode="#,##0" sourceLinked="0"/>
            <c:txPr>
              <a:bodyPr/>
              <a:lstStyle/>
              <a:p>
                <a:pPr>
                  <a:defRPr b="0" i="0" strike="noStrike" sz="1000" u="none">
                    <a:solidFill>
                      <a:srgbClr val="16202E"/>
                    </a:solidFill>
                    <a:latin typeface="Arial"/>
                  </a:defRPr>
                </a:pPr>
              </a:p>
            </c:txPr>
            <c:showLegendKey val="0"/>
            <c:showVal val="1"/>
            <c:showCatName val="0"/>
            <c:showSerName val="0"/>
            <c:showPercent val="0"/>
            <c:showBubbleSize val="0"/>
            <c:showLeaderLines val="0"/>
          </c:dLbls>
          <c:dPt>
            <c:idx val="0"/>
            <c:invertIfNegative val="0"/>
            <c:bubble3D val="0"/>
            <c:spPr>
              <a:solidFill>
                <a:srgbClr val="B06220"/>
              </a:solidFill>
              <a:effectLst/>
            </c:spPr>
          </c:dPt>
          <c:dPt>
            <c:idx val="1"/>
            <c:invertIfNegative val="0"/>
            <c:bubble3D val="0"/>
            <c:spPr>
              <a:solidFill>
                <a:srgbClr val="C9D3DE"/>
              </a:solidFill>
              <a:effectLst/>
            </c:spPr>
          </c:dPt>
          <c:dPt>
            <c:idx val="2"/>
            <c:invertIfNegative val="0"/>
            <c:bubble3D val="0"/>
            <c:spPr>
              <a:solidFill>
                <a:srgbClr val="C9D3DE"/>
              </a:solidFill>
              <a:effectLst/>
            </c:spPr>
          </c:dPt>
          <c:dPt>
            <c:idx val="3"/>
            <c:invertIfNegative val="0"/>
            <c:bubble3D val="0"/>
            <c:spPr>
              <a:solidFill>
                <a:srgbClr val="C9D3DE"/>
              </a:solidFill>
              <a:effectLst/>
            </c:spPr>
          </c:dPt>
          <c:dPt>
            <c:idx val="4"/>
            <c:invertIfNegative val="0"/>
            <c:bubble3D val="0"/>
            <c:spPr>
              <a:solidFill>
                <a:srgbClr val="C9D3DE"/>
              </a:solidFill>
              <a:effectLst/>
            </c:spPr>
          </c:dPt>
          <c:dPt>
            <c:idx val="5"/>
            <c:invertIfNegative val="0"/>
            <c:bubble3D val="0"/>
            <c:spPr>
              <a:solidFill>
                <a:srgbClr val="C9D3DE"/>
              </a:solidFill>
              <a:effectLst/>
            </c:spPr>
          </c:dPt>
          <c:dPt>
            <c:idx val="6"/>
            <c:invertIfNegative val="0"/>
            <c:bubble3D val="0"/>
            <c:spPr>
              <a:solidFill>
                <a:srgbClr val="C9D3DE"/>
              </a:solidFill>
              <a:effectLst/>
            </c:spPr>
          </c:dPt>
          <c:cat>
            <c:multiLvlStrRef>
              <c:f>Sheet1!$A$2:$A$8</c:f>
              <c:multiLvlStrCache>
                <c:ptCount val="7"/>
                <c:lvl>
                  <c:pt idx="0">
                    <c:v>Pecos</c:v>
                  </c:pt>
                  <c:pt idx="1">
                    <c:v>Reagan</c:v>
                  </c:pt>
                  <c:pt idx="2">
                    <c:v>Howard</c:v>
                  </c:pt>
                  <c:pt idx="3">
                    <c:v>Reeves</c:v>
                  </c:pt>
                  <c:pt idx="4">
                    <c:v>Loving</c:v>
                  </c:pt>
                  <c:pt idx="5">
                    <c:v>Midland</c:v>
                  </c:pt>
                  <c:pt idx="6">
                    <c:v>Martin</c:v>
                  </c:pt>
                </c:lvl>
              </c:multiLvlStrCache>
            </c:multiLvlStrRef>
          </c:cat>
          <c:val>
            <c:numRef>
              <c:f>Sheet1!$B$2:$B$8</c:f>
              <c:numCache>
                <c:formatCode>General</c:formatCode>
                <c:ptCount val="7"/>
                <c:pt idx="0">
                  <c:v>115</c:v>
                </c:pt>
                <c:pt idx="1">
                  <c:v>668</c:v>
                </c:pt>
                <c:pt idx="2">
                  <c:v>990</c:v>
                </c:pt>
                <c:pt idx="3">
                  <c:v>1053</c:v>
                </c:pt>
                <c:pt idx="4">
                  <c:v>1121</c:v>
                </c:pt>
                <c:pt idx="5">
                  <c:v>1569</c:v>
                </c:pt>
                <c:pt idx="6">
                  <c:v>1685</c:v>
                </c:pt>
              </c:numCache>
            </c:numRef>
          </c:val>
        </c:ser>
        <c:dLbls>
          <c:numFmt formatCode="#,##0" sourceLinked="0"/>
          <c:txPr>
            <a:bodyPr/>
            <a:lstStyle/>
            <a:p>
              <a:pPr>
                <a:defRPr b="0" i="0" strike="noStrike" sz="1000" u="none">
                  <a:solidFill>
                    <a:srgbClr val="1620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min val="0"/>
        </c:scaling>
        <c:delete val="0"/>
        <c:axPos val="b"/>
        <c:majorGridlines>
          <c:spPr>
            <a:ln w="9525"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1.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548640" y="502920"/>
            <a:ext cx="4023360" cy="292608"/>
          </a:xfrm>
          <a:prstGeom prst="rect">
            <a:avLst/>
          </a:prstGeom>
          <a:noFill/>
          <a:ln/>
        </p:spPr>
        <p:txBody>
          <a:bodyPr wrap="square" rtlCol="0" anchor="ctr"/>
          <a:lstStyle/>
          <a:p>
            <a:pPr indent="0" marL="0">
              <a:buNone/>
            </a:pPr>
            <a:r>
              <a:rPr lang="en-US" sz="1050" b="1" spc="180" kern="0" dirty="0">
                <a:solidFill>
                  <a:srgbClr val="B06220"/>
                </a:solidFill>
                <a:latin typeface="Calibri" pitchFamily="34" charset="0"/>
                <a:ea typeface="Calibri" pitchFamily="34" charset="-122"/>
                <a:cs typeface="Calibri" pitchFamily="34" charset="-120"/>
              </a:rPr>
              <a:t>STRICTLY CONFIDENTIAL · OFFERING MEMORANDUM</a:t>
            </a:r>
            <a:endParaRPr lang="en-US" sz="1050" dirty="0"/>
          </a:p>
        </p:txBody>
      </p:sp>
      <p:sp>
        <p:nvSpPr>
          <p:cNvPr id="3" name="Text 1"/>
          <p:cNvSpPr/>
          <p:nvPr/>
        </p:nvSpPr>
        <p:spPr>
          <a:xfrm>
            <a:off x="512064" y="786384"/>
            <a:ext cx="5394960" cy="685800"/>
          </a:xfrm>
          <a:prstGeom prst="rect">
            <a:avLst/>
          </a:prstGeom>
          <a:noFill/>
          <a:ln/>
        </p:spPr>
        <p:txBody>
          <a:bodyPr wrap="square" rtlCol="0" anchor="ctr"/>
          <a:lstStyle/>
          <a:p>
            <a:pPr indent="0" marL="0">
              <a:buNone/>
            </a:pPr>
            <a:r>
              <a:rPr lang="en-US" sz="3400" b="1" dirty="0">
                <a:solidFill>
                  <a:srgbClr val="FFFFFF"/>
                </a:solidFill>
                <a:latin typeface="Bookman Old Style" pitchFamily="34" charset="0"/>
                <a:ea typeface="Bookman Old Style" pitchFamily="34" charset="-122"/>
                <a:cs typeface="Bookman Old Style" pitchFamily="34" charset="-120"/>
              </a:rPr>
              <a:t>CARAMBA NORTH</a:t>
            </a:r>
            <a:endParaRPr lang="en-US" sz="3400" dirty="0"/>
          </a:p>
        </p:txBody>
      </p:sp>
      <p:sp>
        <p:nvSpPr>
          <p:cNvPr id="4" name="Text 2"/>
          <p:cNvSpPr/>
          <p:nvPr/>
        </p:nvSpPr>
        <p:spPr>
          <a:xfrm>
            <a:off x="548640" y="1426464"/>
            <a:ext cx="3931920" cy="310896"/>
          </a:xfrm>
          <a:prstGeom prst="rect">
            <a:avLst/>
          </a:prstGeom>
          <a:noFill/>
          <a:ln/>
        </p:spPr>
        <p:txBody>
          <a:bodyPr wrap="square"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Map-and-Infographic-Led Summary</a:t>
            </a:r>
            <a:endParaRPr lang="en-US" sz="1300" dirty="0"/>
          </a:p>
        </p:txBody>
      </p:sp>
      <p:sp>
        <p:nvSpPr>
          <p:cNvPr id="5" name="Text 3"/>
          <p:cNvSpPr/>
          <p:nvPr/>
        </p:nvSpPr>
        <p:spPr>
          <a:xfrm>
            <a:off x="548640" y="1828800"/>
            <a:ext cx="3977640" cy="1234440"/>
          </a:xfrm>
          <a:prstGeom prst="rect">
            <a:avLst/>
          </a:prstGeom>
          <a:noFill/>
          <a:ln/>
        </p:spPr>
        <p:txBody>
          <a:bodyPr wrap="square" rtlCol="0" anchor="ctr"/>
          <a:lstStyle/>
          <a:p>
            <a:pPr indent="0" marL="0">
              <a:lnSpc>
                <a:spcPct val="118000"/>
              </a:lnSpc>
              <a:buNone/>
            </a:pPr>
            <a:r>
              <a:rPr lang="en-US" sz="1200" dirty="0">
                <a:solidFill>
                  <a:srgbClr val="CADCFC"/>
                </a:solidFill>
                <a:latin typeface="Calibri" pitchFamily="34" charset="0"/>
                <a:ea typeface="Calibri" pitchFamily="34" charset="-122"/>
                <a:cs typeface="Calibri" pitchFamily="34" charset="-120"/>
              </a:rPr>
              <a:t>A 1,300-acre parcel inside an already-forming power and data-center corridor — two hyperscale-scale projects sit on the same north–south line through the property, backed by transmission, water, and gas positions already permitted, not proposed.</a:t>
            </a:r>
            <a:endParaRPr lang="en-US" sz="1200" dirty="0"/>
          </a:p>
        </p:txBody>
      </p:sp>
      <p:pic>
        <p:nvPicPr>
          <p:cNvPr id="6" name="Image 0" descr="/home/claude/repo/outputs/reports/om_exhibits/exhibit_power_gravity_dark.png">    </p:cNvPr>
          <p:cNvPicPr>
            <a:picLocks noChangeAspect="1"/>
          </p:cNvPicPr>
          <p:nvPr/>
        </p:nvPicPr>
        <p:blipFill>
          <a:blip r:embed="rId1"/>
          <a:stretch>
            <a:fillRect/>
          </a:stretch>
        </p:blipFill>
        <p:spPr>
          <a:xfrm>
            <a:off x="5989320" y="621792"/>
            <a:ext cx="5623560" cy="5623560"/>
          </a:xfrm>
          <a:prstGeom prst="rect">
            <a:avLst/>
          </a:prstGeom>
        </p:spPr>
      </p:pic>
      <p:sp>
        <p:nvSpPr>
          <p:cNvPr id="7" name="Text 4"/>
          <p:cNvSpPr/>
          <p:nvPr/>
        </p:nvSpPr>
        <p:spPr>
          <a:xfrm>
            <a:off x="548640" y="3246120"/>
            <a:ext cx="1828800" cy="3657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1,300</a:t>
            </a:r>
            <a:endParaRPr lang="en-US" sz="1800" dirty="0"/>
          </a:p>
        </p:txBody>
      </p:sp>
      <p:sp>
        <p:nvSpPr>
          <p:cNvPr id="8" name="Text 5"/>
          <p:cNvSpPr/>
          <p:nvPr/>
        </p:nvSpPr>
        <p:spPr>
          <a:xfrm>
            <a:off x="548640" y="3611880"/>
            <a:ext cx="3931920" cy="292608"/>
          </a:xfrm>
          <a:prstGeom prst="rect">
            <a:avLst/>
          </a:prstGeom>
          <a:noFill/>
          <a:ln/>
        </p:spPr>
        <p:txBody>
          <a:bodyPr wrap="square" rtlCol="0" anchor="ctr"/>
          <a:lstStyle/>
          <a:p>
            <a:pPr indent="0" marL="0">
              <a:buNone/>
            </a:pPr>
            <a:r>
              <a:rPr lang="en-US" sz="800" spc="50" kern="0" dirty="0">
                <a:solidFill>
                  <a:srgbClr val="9FB0C6"/>
                </a:solidFill>
                <a:latin typeface="Calibri" pitchFamily="34" charset="0"/>
                <a:ea typeface="Calibri" pitchFamily="34" charset="-122"/>
                <a:cs typeface="Calibri" pitchFamily="34" charset="-120"/>
              </a:rPr>
              <a:t>ACRES — THE SITE</a:t>
            </a:r>
            <a:endParaRPr lang="en-US" sz="800" dirty="0"/>
          </a:p>
        </p:txBody>
      </p:sp>
      <p:sp>
        <p:nvSpPr>
          <p:cNvPr id="9" name="Shape 6"/>
          <p:cNvSpPr/>
          <p:nvPr/>
        </p:nvSpPr>
        <p:spPr>
          <a:xfrm>
            <a:off x="2743200" y="3410712"/>
            <a:ext cx="6059754" cy="21006"/>
          </a:xfrm>
          <a:prstGeom prst="line">
            <a:avLst/>
          </a:prstGeom>
          <a:noFill/>
          <a:ln w="15875">
            <a:solidFill>
              <a:srgbClr val="B06220"/>
            </a:solidFill>
            <a:prstDash val="dash"/>
          </a:ln>
        </p:spPr>
      </p:sp>
      <p:sp>
        <p:nvSpPr>
          <p:cNvPr id="10" name="Shape 7"/>
          <p:cNvSpPr/>
          <p:nvPr/>
        </p:nvSpPr>
        <p:spPr>
          <a:xfrm>
            <a:off x="8761806" y="3390570"/>
            <a:ext cx="82296" cy="82296"/>
          </a:xfrm>
          <a:prstGeom prst="ellipse">
            <a:avLst/>
          </a:prstGeom>
          <a:solidFill>
            <a:srgbClr val="B06220"/>
          </a:solidFill>
          <a:ln w="12700">
            <a:solidFill>
              <a:srgbClr val="FFFFFF"/>
            </a:solidFill>
            <a:prstDash val="solid"/>
          </a:ln>
        </p:spPr>
      </p:sp>
      <p:sp>
        <p:nvSpPr>
          <p:cNvPr id="11" name="Text 8"/>
          <p:cNvSpPr/>
          <p:nvPr/>
        </p:nvSpPr>
        <p:spPr>
          <a:xfrm>
            <a:off x="548640" y="3977640"/>
            <a:ext cx="1828800" cy="3657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≈15.5 MI</a:t>
            </a:r>
            <a:endParaRPr lang="en-US" sz="1800" dirty="0"/>
          </a:p>
        </p:txBody>
      </p:sp>
      <p:sp>
        <p:nvSpPr>
          <p:cNvPr id="12" name="Text 9"/>
          <p:cNvSpPr/>
          <p:nvPr/>
        </p:nvSpPr>
        <p:spPr>
          <a:xfrm>
            <a:off x="548640" y="4343400"/>
            <a:ext cx="3931920" cy="292608"/>
          </a:xfrm>
          <a:prstGeom prst="rect">
            <a:avLst/>
          </a:prstGeom>
          <a:noFill/>
          <a:ln/>
        </p:spPr>
        <p:txBody>
          <a:bodyPr wrap="square" rtlCol="0" anchor="ctr"/>
          <a:lstStyle/>
          <a:p>
            <a:pPr indent="0" marL="0">
              <a:buNone/>
            </a:pPr>
            <a:r>
              <a:rPr lang="en-US" sz="800" spc="50" kern="0" dirty="0">
                <a:solidFill>
                  <a:srgbClr val="9FB0C6"/>
                </a:solidFill>
                <a:latin typeface="Calibri" pitchFamily="34" charset="0"/>
                <a:ea typeface="Calibri" pitchFamily="34" charset="-122"/>
                <a:cs typeface="Calibri" pitchFamily="34" charset="-120"/>
              </a:rPr>
              <a:t>GW RANCH — 7.65 GW, UNDER CONSTRUCTION</a:t>
            </a:r>
            <a:endParaRPr lang="en-US" sz="800" dirty="0"/>
          </a:p>
        </p:txBody>
      </p:sp>
      <p:sp>
        <p:nvSpPr>
          <p:cNvPr id="13" name="Shape 10"/>
          <p:cNvSpPr/>
          <p:nvPr/>
        </p:nvSpPr>
        <p:spPr>
          <a:xfrm flipV="1">
            <a:off x="2743200" y="3023946"/>
            <a:ext cx="6200621" cy="1118286"/>
          </a:xfrm>
          <a:prstGeom prst="line">
            <a:avLst/>
          </a:prstGeom>
          <a:noFill/>
          <a:ln w="15875">
            <a:solidFill>
              <a:srgbClr val="B91C1C"/>
            </a:solidFill>
            <a:prstDash val="dash"/>
          </a:ln>
        </p:spPr>
      </p:sp>
      <p:sp>
        <p:nvSpPr>
          <p:cNvPr id="14" name="Shape 11"/>
          <p:cNvSpPr/>
          <p:nvPr/>
        </p:nvSpPr>
        <p:spPr>
          <a:xfrm>
            <a:off x="8902673" y="2982798"/>
            <a:ext cx="82296" cy="82296"/>
          </a:xfrm>
          <a:prstGeom prst="ellipse">
            <a:avLst/>
          </a:prstGeom>
          <a:solidFill>
            <a:srgbClr val="B91C1C"/>
          </a:solidFill>
          <a:ln w="12700">
            <a:solidFill>
              <a:srgbClr val="FFFFFF"/>
            </a:solidFill>
            <a:prstDash val="solid"/>
          </a:ln>
        </p:spPr>
      </p:sp>
      <p:sp>
        <p:nvSpPr>
          <p:cNvPr id="15" name="Text 12"/>
          <p:cNvSpPr/>
          <p:nvPr/>
        </p:nvSpPr>
        <p:spPr>
          <a:xfrm>
            <a:off x="548640" y="4709160"/>
            <a:ext cx="1828800" cy="3657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≈19.3 MI</a:t>
            </a:r>
            <a:endParaRPr lang="en-US" sz="1800" dirty="0"/>
          </a:p>
        </p:txBody>
      </p:sp>
      <p:sp>
        <p:nvSpPr>
          <p:cNvPr id="16" name="Text 13"/>
          <p:cNvSpPr/>
          <p:nvPr/>
        </p:nvSpPr>
        <p:spPr>
          <a:xfrm>
            <a:off x="548640" y="5074920"/>
            <a:ext cx="3931920" cy="292608"/>
          </a:xfrm>
          <a:prstGeom prst="rect">
            <a:avLst/>
          </a:prstGeom>
          <a:noFill/>
          <a:ln/>
        </p:spPr>
        <p:txBody>
          <a:bodyPr wrap="square" rtlCol="0" anchor="ctr"/>
          <a:lstStyle/>
          <a:p>
            <a:pPr indent="0" marL="0">
              <a:buNone/>
            </a:pPr>
            <a:r>
              <a:rPr lang="en-US" sz="800" spc="50" kern="0" dirty="0">
                <a:solidFill>
                  <a:srgbClr val="9FB0C6"/>
                </a:solidFill>
                <a:latin typeface="Calibri" pitchFamily="34" charset="0"/>
                <a:ea typeface="Calibri" pitchFamily="34" charset="-122"/>
                <a:cs typeface="Calibri" pitchFamily="34" charset="-120"/>
              </a:rPr>
              <a:t>LONGFELLOW — PHASE-1 SITE WORK UNDERWAY</a:t>
            </a:r>
            <a:endParaRPr lang="en-US" sz="800" dirty="0"/>
          </a:p>
        </p:txBody>
      </p:sp>
      <p:sp>
        <p:nvSpPr>
          <p:cNvPr id="17" name="Shape 14"/>
          <p:cNvSpPr/>
          <p:nvPr/>
        </p:nvSpPr>
        <p:spPr>
          <a:xfrm flipV="1">
            <a:off x="2743200" y="3921046"/>
            <a:ext cx="5993027" cy="952706"/>
          </a:xfrm>
          <a:prstGeom prst="line">
            <a:avLst/>
          </a:prstGeom>
          <a:noFill/>
          <a:ln w="15875">
            <a:solidFill>
              <a:srgbClr val="B91C1C"/>
            </a:solidFill>
            <a:prstDash val="dash"/>
          </a:ln>
        </p:spPr>
      </p:sp>
      <p:sp>
        <p:nvSpPr>
          <p:cNvPr id="18" name="Shape 15"/>
          <p:cNvSpPr/>
          <p:nvPr/>
        </p:nvSpPr>
        <p:spPr>
          <a:xfrm>
            <a:off x="8695079" y="3879898"/>
            <a:ext cx="82296" cy="82296"/>
          </a:xfrm>
          <a:prstGeom prst="ellipse">
            <a:avLst/>
          </a:prstGeom>
          <a:solidFill>
            <a:srgbClr val="B91C1C"/>
          </a:solidFill>
          <a:ln w="12700">
            <a:solidFill>
              <a:srgbClr val="FFFFFF"/>
            </a:solidFill>
            <a:prstDash val="solid"/>
          </a:ln>
        </p:spPr>
      </p:sp>
      <p:sp>
        <p:nvSpPr>
          <p:cNvPr id="19" name="Text 16"/>
          <p:cNvSpPr/>
          <p:nvPr/>
        </p:nvSpPr>
        <p:spPr>
          <a:xfrm>
            <a:off x="548640" y="5440680"/>
            <a:ext cx="1828800" cy="3657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32.72 GW</a:t>
            </a:r>
            <a:endParaRPr lang="en-US" sz="1800" dirty="0"/>
          </a:p>
        </p:txBody>
      </p:sp>
      <p:sp>
        <p:nvSpPr>
          <p:cNvPr id="20" name="Text 17"/>
          <p:cNvSpPr/>
          <p:nvPr/>
        </p:nvSpPr>
        <p:spPr>
          <a:xfrm>
            <a:off x="548640" y="5806440"/>
            <a:ext cx="3931920" cy="292608"/>
          </a:xfrm>
          <a:prstGeom prst="rect">
            <a:avLst/>
          </a:prstGeom>
          <a:noFill/>
          <a:ln/>
        </p:spPr>
        <p:txBody>
          <a:bodyPr wrap="square" rtlCol="0" anchor="ctr"/>
          <a:lstStyle/>
          <a:p>
            <a:pPr indent="0" marL="0">
              <a:buNone/>
            </a:pPr>
            <a:r>
              <a:rPr lang="en-US" sz="800" spc="50" kern="0" dirty="0">
                <a:solidFill>
                  <a:srgbClr val="9FB0C6"/>
                </a:solidFill>
                <a:latin typeface="Calibri" pitchFamily="34" charset="0"/>
                <a:ea typeface="Calibri" pitchFamily="34" charset="-122"/>
                <a:cs typeface="Calibri" pitchFamily="34" charset="-120"/>
              </a:rPr>
              <a:t>OPERATING + QUEUED WITHIN 60 MILES</a:t>
            </a:r>
            <a:endParaRPr lang="en-US" sz="800" dirty="0"/>
          </a:p>
        </p:txBody>
      </p:sp>
      <p:sp>
        <p:nvSpPr>
          <p:cNvPr id="21" name="Shape 18"/>
          <p:cNvSpPr/>
          <p:nvPr/>
        </p:nvSpPr>
        <p:spPr>
          <a:xfrm flipV="1">
            <a:off x="2743200" y="3431718"/>
            <a:ext cx="7553685" cy="2173554"/>
          </a:xfrm>
          <a:prstGeom prst="line">
            <a:avLst/>
          </a:prstGeom>
          <a:noFill/>
          <a:ln w="15875">
            <a:solidFill>
              <a:srgbClr val="B06220"/>
            </a:solidFill>
            <a:prstDash val="dash"/>
          </a:ln>
        </p:spPr>
      </p:sp>
      <p:sp>
        <p:nvSpPr>
          <p:cNvPr id="22" name="Shape 19"/>
          <p:cNvSpPr/>
          <p:nvPr/>
        </p:nvSpPr>
        <p:spPr>
          <a:xfrm>
            <a:off x="10255737" y="3390570"/>
            <a:ext cx="82296" cy="82296"/>
          </a:xfrm>
          <a:prstGeom prst="ellipse">
            <a:avLst/>
          </a:prstGeom>
          <a:solidFill>
            <a:srgbClr val="B06220"/>
          </a:solidFill>
          <a:ln w="12700">
            <a:solidFill>
              <a:srgbClr val="FFFFFF"/>
            </a:solidFill>
            <a:prstDash val="solid"/>
          </a:ln>
        </p:spPr>
      </p:sp>
      <p:sp>
        <p:nvSpPr>
          <p:cNvPr id="23" name="Shape 20"/>
          <p:cNvSpPr/>
          <p:nvPr/>
        </p:nvSpPr>
        <p:spPr>
          <a:xfrm>
            <a:off x="548640" y="6108192"/>
            <a:ext cx="11091672" cy="0"/>
          </a:xfrm>
          <a:prstGeom prst="line">
            <a:avLst/>
          </a:prstGeom>
          <a:noFill/>
          <a:ln w="12700">
            <a:solidFill>
              <a:srgbClr val="2B3A52"/>
            </a:solidFill>
            <a:prstDash val="solid"/>
          </a:ln>
        </p:spPr>
      </p:sp>
      <p:sp>
        <p:nvSpPr>
          <p:cNvPr id="24" name="Text 21"/>
          <p:cNvSpPr/>
          <p:nvPr/>
        </p:nvSpPr>
        <p:spPr>
          <a:xfrm>
            <a:off x="548640" y="6217920"/>
            <a:ext cx="6400800" cy="310896"/>
          </a:xfrm>
          <a:prstGeom prst="rect">
            <a:avLst/>
          </a:prstGeom>
          <a:noFill/>
          <a:ln/>
        </p:spPr>
        <p:txBody>
          <a:bodyPr wrap="square" rtlCol="0" anchor="ctr"/>
          <a:lstStyle/>
          <a:p>
            <a:pPr indent="0" marL="0">
              <a:buNone/>
            </a:pPr>
            <a:r>
              <a:rPr lang="en-US" sz="950" dirty="0">
                <a:solidFill>
                  <a:srgbClr val="9FB0C6"/>
                </a:solidFill>
                <a:latin typeface="Calibri" pitchFamily="34" charset="0"/>
                <a:ea typeface="Calibri" pitchFamily="34" charset="-122"/>
                <a:cs typeface="Calibri" pitchFamily="34" charset="-120"/>
              </a:rPr>
              <a:t>Prepared by Land Resource Partners · lrp-tx-gis.netlify.app</a:t>
            </a:r>
            <a:endParaRPr lang="en-US" sz="950" dirty="0"/>
          </a:p>
        </p:txBody>
      </p:sp>
      <p:sp>
        <p:nvSpPr>
          <p:cNvPr id="25" name="Text 22"/>
          <p:cNvSpPr/>
          <p:nvPr/>
        </p:nvSpPr>
        <p:spPr>
          <a:xfrm>
            <a:off x="6766560" y="6217920"/>
            <a:ext cx="4873752" cy="310896"/>
          </a:xfrm>
          <a:prstGeom prst="rect">
            <a:avLst/>
          </a:prstGeom>
          <a:noFill/>
          <a:ln/>
        </p:spPr>
        <p:txBody>
          <a:bodyPr wrap="square" rtlCol="0" anchor="ctr"/>
          <a:lstStyle/>
          <a:p>
            <a:pPr algn="r" indent="0" marL="0">
              <a:buNone/>
            </a:pPr>
            <a:r>
              <a:rPr lang="en-US" sz="950" dirty="0">
                <a:solidFill>
                  <a:srgbClr val="9FB0C6"/>
                </a:solidFill>
                <a:latin typeface="Calibri" pitchFamily="34" charset="0"/>
                <a:ea typeface="Calibri" pitchFamily="34" charset="-122"/>
                <a:cs typeface="Calibri" pitchFamily="34" charset="-120"/>
              </a:rPr>
              <a:t>2026-08-24 · Pecos County, Texas · Far West ERCOT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37744"/>
            <a:ext cx="365760" cy="365760"/>
          </a:xfrm>
          <a:prstGeom prst="ellipse">
            <a:avLst/>
          </a:prstGeom>
          <a:solidFill>
            <a:srgbClr val="B06220"/>
          </a:solidFill>
          <a:ln/>
          <a:effectLst>
            <a:outerShdw sx="100000" sy="100000" kx="0" ky="0" algn="bl" rotWithShape="0" blurRad="101600" dist="25400" dir="5400000">
              <a:srgbClr val="0F1B2D">
                <a:alpha val="18000"/>
              </a:srgbClr>
            </a:outerShdw>
          </a:effectLst>
        </p:spPr>
      </p:sp>
      <p:pic>
        <p:nvPicPr>
          <p:cNvPr id="3" name="Image 0" descr="/home/claude/repo/outputs/reports/om_exhibits/icons/ring.png">    </p:cNvPr>
          <p:cNvPicPr>
            <a:picLocks noChangeAspect="1"/>
          </p:cNvPicPr>
          <p:nvPr/>
        </p:nvPicPr>
        <p:blipFill>
          <a:blip r:embed="rId1"/>
          <a:stretch>
            <a:fillRect/>
          </a:stretch>
        </p:blipFill>
        <p:spPr>
          <a:xfrm>
            <a:off x="643738" y="332842"/>
            <a:ext cx="175565" cy="175565"/>
          </a:xfrm>
          <a:prstGeom prst="rect">
            <a:avLst/>
          </a:prstGeom>
        </p:spPr>
      </p:pic>
      <p:sp>
        <p:nvSpPr>
          <p:cNvPr id="4" name="Text 1"/>
          <p:cNvSpPr/>
          <p:nvPr/>
        </p:nvSpPr>
        <p:spPr>
          <a:xfrm>
            <a:off x="1024128" y="256032"/>
            <a:ext cx="8686800" cy="292608"/>
          </a:xfrm>
          <a:prstGeom prst="rect">
            <a:avLst/>
          </a:prstGeom>
          <a:noFill/>
          <a:ln/>
        </p:spPr>
        <p:txBody>
          <a:bodyPr wrap="square" rtlCol="0" anchor="ctr"/>
          <a:lstStyle/>
          <a:p>
            <a:pPr indent="0" marL="0">
              <a:buNone/>
            </a:pPr>
            <a:r>
              <a:rPr lang="en-US" sz="1050" b="1" spc="180" kern="0" dirty="0">
                <a:solidFill>
                  <a:srgbClr val="B06220"/>
                </a:solidFill>
                <a:latin typeface="Calibri" pitchFamily="34" charset="0"/>
                <a:ea typeface="Calibri" pitchFamily="34" charset="-122"/>
                <a:cs typeface="Calibri" pitchFamily="34" charset="-120"/>
              </a:rPr>
              <a:t>REGIONAL POWER GRAVITY</a:t>
            </a:r>
            <a:endParaRPr lang="en-US" sz="1050" dirty="0"/>
          </a:p>
        </p:txBody>
      </p:sp>
      <p:sp>
        <p:nvSpPr>
          <p:cNvPr id="5" name="Text 2"/>
          <p:cNvSpPr/>
          <p:nvPr/>
        </p:nvSpPr>
        <p:spPr>
          <a:xfrm>
            <a:off x="548640" y="512064"/>
            <a:ext cx="11064240" cy="512064"/>
          </a:xfrm>
          <a:prstGeom prst="rect">
            <a:avLst/>
          </a:prstGeom>
          <a:noFill/>
          <a:ln/>
        </p:spPr>
        <p:txBody>
          <a:bodyPr wrap="square" rtlCol="0" anchor="t"/>
          <a:lstStyle/>
          <a:p>
            <a:pPr indent="0" marL="0">
              <a:buNone/>
            </a:pPr>
            <a:r>
              <a:rPr lang="en-US" sz="2300" b="1" dirty="0">
                <a:solidFill>
                  <a:srgbClr val="0F1B2D"/>
                </a:solidFill>
                <a:latin typeface="Bookman Old Style" pitchFamily="34" charset="0"/>
                <a:ea typeface="Bookman Old Style" pitchFamily="34" charset="-122"/>
                <a:cs typeface="Bookman Old Style" pitchFamily="34" charset="-120"/>
              </a:rPr>
              <a:t>Caramba North sits inside the gravity well, not outside it</a:t>
            </a:r>
            <a:endParaRPr lang="en-US" sz="2300" dirty="0"/>
          </a:p>
        </p:txBody>
      </p:sp>
      <p:sp>
        <p:nvSpPr>
          <p:cNvPr id="6" name="Text 3"/>
          <p:cNvSpPr/>
          <p:nvPr/>
        </p:nvSpPr>
        <p:spPr>
          <a:xfrm>
            <a:off x="548640" y="1005840"/>
            <a:ext cx="11064240" cy="384048"/>
          </a:xfrm>
          <a:prstGeom prst="rect">
            <a:avLst/>
          </a:prstGeom>
          <a:noFill/>
          <a:ln/>
        </p:spPr>
        <p:txBody>
          <a:bodyPr wrap="square" rtlCol="0" anchor="t"/>
          <a:lstStyle/>
          <a:p>
            <a:pPr indent="0" marL="0">
              <a:buNone/>
            </a:pPr>
            <a:r>
              <a:rPr lang="en-US" sz="1250" i="1" dirty="0">
                <a:solidFill>
                  <a:srgbClr val="475569"/>
                </a:solidFill>
                <a:latin typeface="Calibri" pitchFamily="34" charset="0"/>
                <a:ea typeface="Calibri" pitchFamily="34" charset="-122"/>
                <a:cs typeface="Calibri" pitchFamily="34" charset="-120"/>
              </a:rPr>
              <a:t>32.72 GW of operating + queued capacity sits within 60 miles — GW Ranch and Longfellow anchor the same north–south line as the tract, at 15.5 and 19.3 miles.</a:t>
            </a:r>
            <a:endParaRPr lang="en-US" sz="1250" dirty="0"/>
          </a:p>
        </p:txBody>
      </p:sp>
      <p:pic>
        <p:nvPicPr>
          <p:cNvPr id="7" name="Image 1" descr="/home/claude/repo/outputs/reports/om_exhibits/exhibit_power_gravity_light.png">    </p:cNvPr>
          <p:cNvPicPr>
            <a:picLocks noChangeAspect="1"/>
          </p:cNvPicPr>
          <p:nvPr/>
        </p:nvPicPr>
        <p:blipFill>
          <a:blip r:embed="rId2"/>
          <a:stretch>
            <a:fillRect/>
          </a:stretch>
        </p:blipFill>
        <p:spPr>
          <a:xfrm>
            <a:off x="3762756" y="1417320"/>
            <a:ext cx="4663440" cy="4663440"/>
          </a:xfrm>
          <a:prstGeom prst="rect">
            <a:avLst/>
          </a:prstGeom>
        </p:spPr>
      </p:pic>
      <p:sp>
        <p:nvSpPr>
          <p:cNvPr id="8" name="Shape 4"/>
          <p:cNvSpPr/>
          <p:nvPr/>
        </p:nvSpPr>
        <p:spPr>
          <a:xfrm>
            <a:off x="8590788" y="3310128"/>
            <a:ext cx="2331720" cy="896112"/>
          </a:xfrm>
          <a:prstGeom prst="roundRect">
            <a:avLst>
              <a:gd name="adj" fmla="val 5102"/>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9" name="Text 5"/>
          <p:cNvSpPr/>
          <p:nvPr/>
        </p:nvSpPr>
        <p:spPr>
          <a:xfrm>
            <a:off x="8709660" y="3364992"/>
            <a:ext cx="2093976" cy="519745"/>
          </a:xfrm>
          <a:prstGeom prst="rect">
            <a:avLst/>
          </a:prstGeom>
          <a:noFill/>
          <a:ln/>
        </p:spPr>
        <p:txBody>
          <a:bodyPr wrap="square" rtlCol="0" anchor="b"/>
          <a:lstStyle/>
          <a:p>
            <a:pPr indent="0" marL="0">
              <a:buNone/>
            </a:pPr>
            <a:r>
              <a:rPr lang="en-US" sz="1900" b="1" dirty="0">
                <a:solidFill>
                  <a:srgbClr val="B06220"/>
                </a:solidFill>
                <a:latin typeface="Calibri" pitchFamily="34" charset="0"/>
                <a:ea typeface="Calibri" pitchFamily="34" charset="-122"/>
                <a:cs typeface="Calibri" pitchFamily="34" charset="-120"/>
              </a:rPr>
              <a:t>0.48 GW</a:t>
            </a:r>
            <a:endParaRPr lang="en-US" sz="1900" dirty="0"/>
          </a:p>
        </p:txBody>
      </p:sp>
      <p:sp>
        <p:nvSpPr>
          <p:cNvPr id="10" name="Text 6"/>
          <p:cNvSpPr/>
          <p:nvPr/>
        </p:nvSpPr>
        <p:spPr>
          <a:xfrm>
            <a:off x="8709660" y="3847795"/>
            <a:ext cx="2093976" cy="285293"/>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COMBINED CAPACITY ≤ 15 MI</a:t>
            </a:r>
            <a:endParaRPr lang="en-US" sz="830" dirty="0"/>
          </a:p>
        </p:txBody>
      </p:sp>
      <p:sp>
        <p:nvSpPr>
          <p:cNvPr id="11" name="Shape 7"/>
          <p:cNvSpPr/>
          <p:nvPr/>
        </p:nvSpPr>
        <p:spPr>
          <a:xfrm flipH="1" flipV="1">
            <a:off x="6400351" y="3747503"/>
            <a:ext cx="2190437" cy="10681"/>
          </a:xfrm>
          <a:prstGeom prst="line">
            <a:avLst/>
          </a:prstGeom>
          <a:noFill/>
          <a:ln w="15875">
            <a:solidFill>
              <a:srgbClr val="B06220"/>
            </a:solidFill>
            <a:prstDash val="dash"/>
          </a:ln>
        </p:spPr>
      </p:sp>
      <p:sp>
        <p:nvSpPr>
          <p:cNvPr id="12" name="Shape 8"/>
          <p:cNvSpPr/>
          <p:nvPr/>
        </p:nvSpPr>
        <p:spPr>
          <a:xfrm>
            <a:off x="6354631" y="3701783"/>
            <a:ext cx="91440" cy="91440"/>
          </a:xfrm>
          <a:prstGeom prst="ellipse">
            <a:avLst/>
          </a:prstGeom>
          <a:solidFill>
            <a:srgbClr val="B06220"/>
          </a:solidFill>
          <a:ln w="12700">
            <a:solidFill>
              <a:srgbClr val="FFFFFF"/>
            </a:solidFill>
            <a:prstDash val="solid"/>
          </a:ln>
        </p:spPr>
      </p:sp>
      <p:sp>
        <p:nvSpPr>
          <p:cNvPr id="13" name="Shape 9"/>
          <p:cNvSpPr/>
          <p:nvPr/>
        </p:nvSpPr>
        <p:spPr>
          <a:xfrm>
            <a:off x="8590788" y="1572768"/>
            <a:ext cx="2331720" cy="896112"/>
          </a:xfrm>
          <a:prstGeom prst="roundRect">
            <a:avLst>
              <a:gd name="adj" fmla="val 5102"/>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4" name="Text 10"/>
          <p:cNvSpPr/>
          <p:nvPr/>
        </p:nvSpPr>
        <p:spPr>
          <a:xfrm>
            <a:off x="8709660" y="1627632"/>
            <a:ext cx="2093976" cy="519745"/>
          </a:xfrm>
          <a:prstGeom prst="rect">
            <a:avLst/>
          </a:prstGeom>
          <a:noFill/>
          <a:ln/>
        </p:spPr>
        <p:txBody>
          <a:bodyPr wrap="square" rtlCol="0" anchor="b"/>
          <a:lstStyle/>
          <a:p>
            <a:pPr indent="0" marL="0">
              <a:buNone/>
            </a:pPr>
            <a:r>
              <a:rPr lang="en-US" sz="1900" b="1" dirty="0">
                <a:solidFill>
                  <a:srgbClr val="B06220"/>
                </a:solidFill>
                <a:latin typeface="Calibri" pitchFamily="34" charset="0"/>
                <a:ea typeface="Calibri" pitchFamily="34" charset="-122"/>
                <a:cs typeface="Calibri" pitchFamily="34" charset="-120"/>
              </a:rPr>
              <a:t>8.9 GW</a:t>
            </a:r>
            <a:endParaRPr lang="en-US" sz="1900" dirty="0"/>
          </a:p>
        </p:txBody>
      </p:sp>
      <p:sp>
        <p:nvSpPr>
          <p:cNvPr id="15" name="Text 11"/>
          <p:cNvSpPr/>
          <p:nvPr/>
        </p:nvSpPr>
        <p:spPr>
          <a:xfrm>
            <a:off x="8709660" y="2110435"/>
            <a:ext cx="2093976" cy="285293"/>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COMBINED CAPACITY ≤ 30 MI</a:t>
            </a:r>
            <a:endParaRPr lang="en-US" sz="830" dirty="0"/>
          </a:p>
        </p:txBody>
      </p:sp>
      <p:sp>
        <p:nvSpPr>
          <p:cNvPr id="16" name="Shape 12"/>
          <p:cNvSpPr/>
          <p:nvPr/>
        </p:nvSpPr>
        <p:spPr>
          <a:xfrm flipH="1">
            <a:off x="6529464" y="2331720"/>
            <a:ext cx="2061324" cy="982332"/>
          </a:xfrm>
          <a:prstGeom prst="line">
            <a:avLst/>
          </a:prstGeom>
          <a:noFill/>
          <a:ln w="15875">
            <a:solidFill>
              <a:srgbClr val="B06220"/>
            </a:solidFill>
            <a:prstDash val="dash"/>
          </a:ln>
        </p:spPr>
      </p:sp>
      <p:sp>
        <p:nvSpPr>
          <p:cNvPr id="17" name="Shape 13"/>
          <p:cNvSpPr/>
          <p:nvPr/>
        </p:nvSpPr>
        <p:spPr>
          <a:xfrm>
            <a:off x="6483744" y="3268332"/>
            <a:ext cx="91440" cy="91440"/>
          </a:xfrm>
          <a:prstGeom prst="ellipse">
            <a:avLst/>
          </a:prstGeom>
          <a:solidFill>
            <a:srgbClr val="B06220"/>
          </a:solidFill>
          <a:ln w="12700">
            <a:solidFill>
              <a:srgbClr val="FFFFFF"/>
            </a:solidFill>
            <a:prstDash val="solid"/>
          </a:ln>
        </p:spPr>
      </p:sp>
      <p:sp>
        <p:nvSpPr>
          <p:cNvPr id="18" name="Shape 14"/>
          <p:cNvSpPr/>
          <p:nvPr/>
        </p:nvSpPr>
        <p:spPr>
          <a:xfrm>
            <a:off x="8590788" y="5074920"/>
            <a:ext cx="2331720" cy="896112"/>
          </a:xfrm>
          <a:prstGeom prst="roundRect">
            <a:avLst>
              <a:gd name="adj" fmla="val 5102"/>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9" name="Text 15"/>
          <p:cNvSpPr/>
          <p:nvPr/>
        </p:nvSpPr>
        <p:spPr>
          <a:xfrm>
            <a:off x="8709660" y="5129784"/>
            <a:ext cx="2093976" cy="519745"/>
          </a:xfrm>
          <a:prstGeom prst="rect">
            <a:avLst/>
          </a:prstGeom>
          <a:noFill/>
          <a:ln/>
        </p:spPr>
        <p:txBody>
          <a:bodyPr wrap="square" rtlCol="0" anchor="b"/>
          <a:lstStyle/>
          <a:p>
            <a:pPr indent="0" marL="0">
              <a:buNone/>
            </a:pPr>
            <a:r>
              <a:rPr lang="en-US" sz="1900" b="1" dirty="0">
                <a:solidFill>
                  <a:srgbClr val="0F1B2D"/>
                </a:solidFill>
                <a:latin typeface="Calibri" pitchFamily="34" charset="0"/>
                <a:ea typeface="Calibri" pitchFamily="34" charset="-122"/>
                <a:cs typeface="Calibri" pitchFamily="34" charset="-120"/>
              </a:rPr>
              <a:t>32.72 GW</a:t>
            </a:r>
            <a:endParaRPr lang="en-US" sz="1900" dirty="0"/>
          </a:p>
        </p:txBody>
      </p:sp>
      <p:sp>
        <p:nvSpPr>
          <p:cNvPr id="20" name="Text 16"/>
          <p:cNvSpPr/>
          <p:nvPr/>
        </p:nvSpPr>
        <p:spPr>
          <a:xfrm>
            <a:off x="8709660" y="5612587"/>
            <a:ext cx="2093976" cy="285293"/>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COMBINED CAPACITY ≤ 60 MI</a:t>
            </a:r>
            <a:endParaRPr lang="en-US" sz="830" dirty="0"/>
          </a:p>
        </p:txBody>
      </p:sp>
      <p:sp>
        <p:nvSpPr>
          <p:cNvPr id="21" name="Shape 17"/>
          <p:cNvSpPr/>
          <p:nvPr/>
        </p:nvSpPr>
        <p:spPr>
          <a:xfrm flipH="1" flipV="1">
            <a:off x="6972137" y="4623627"/>
            <a:ext cx="1618651" cy="588453"/>
          </a:xfrm>
          <a:prstGeom prst="line">
            <a:avLst/>
          </a:prstGeom>
          <a:noFill/>
          <a:ln w="15875">
            <a:solidFill>
              <a:srgbClr val="0F1B2D"/>
            </a:solidFill>
            <a:prstDash val="dash"/>
          </a:ln>
        </p:spPr>
      </p:sp>
      <p:sp>
        <p:nvSpPr>
          <p:cNvPr id="22" name="Shape 18"/>
          <p:cNvSpPr/>
          <p:nvPr/>
        </p:nvSpPr>
        <p:spPr>
          <a:xfrm>
            <a:off x="6926417" y="4577907"/>
            <a:ext cx="91440" cy="91440"/>
          </a:xfrm>
          <a:prstGeom prst="ellipse">
            <a:avLst/>
          </a:prstGeom>
          <a:solidFill>
            <a:srgbClr val="0F1B2D"/>
          </a:solidFill>
          <a:ln w="12700">
            <a:solidFill>
              <a:srgbClr val="FFFFFF"/>
            </a:solidFill>
            <a:prstDash val="solid"/>
          </a:ln>
        </p:spPr>
      </p:sp>
      <p:sp>
        <p:nvSpPr>
          <p:cNvPr id="23" name="Shape 19"/>
          <p:cNvSpPr/>
          <p:nvPr/>
        </p:nvSpPr>
        <p:spPr>
          <a:xfrm>
            <a:off x="1266444" y="3310128"/>
            <a:ext cx="2331720" cy="896112"/>
          </a:xfrm>
          <a:prstGeom prst="roundRect">
            <a:avLst>
              <a:gd name="adj" fmla="val 5102"/>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24" name="Text 20"/>
          <p:cNvSpPr/>
          <p:nvPr/>
        </p:nvSpPr>
        <p:spPr>
          <a:xfrm>
            <a:off x="1385316" y="3364992"/>
            <a:ext cx="2093976" cy="519745"/>
          </a:xfrm>
          <a:prstGeom prst="rect">
            <a:avLst/>
          </a:prstGeom>
          <a:noFill/>
          <a:ln/>
        </p:spPr>
        <p:txBody>
          <a:bodyPr wrap="square" rtlCol="0" anchor="b"/>
          <a:lstStyle/>
          <a:p>
            <a:pPr indent="0" marL="0">
              <a:buNone/>
            </a:pPr>
            <a:r>
              <a:rPr lang="en-US" sz="1900" b="1" dirty="0">
                <a:solidFill>
                  <a:srgbClr val="0F1B2D"/>
                </a:solidFill>
                <a:latin typeface="Calibri" pitchFamily="34" charset="0"/>
                <a:ea typeface="Calibri" pitchFamily="34" charset="-122"/>
                <a:cs typeface="Calibri" pitchFamily="34" charset="-120"/>
              </a:rPr>
              <a:t>53.5 GW</a:t>
            </a:r>
            <a:endParaRPr lang="en-US" sz="1900" dirty="0"/>
          </a:p>
        </p:txBody>
      </p:sp>
      <p:sp>
        <p:nvSpPr>
          <p:cNvPr id="25" name="Text 21"/>
          <p:cNvSpPr/>
          <p:nvPr/>
        </p:nvSpPr>
        <p:spPr>
          <a:xfrm>
            <a:off x="1385316" y="3847795"/>
            <a:ext cx="2093976" cy="285293"/>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COMBINED CAPACITY ≤ 100 MI</a:t>
            </a:r>
            <a:endParaRPr lang="en-US" sz="830" dirty="0"/>
          </a:p>
        </p:txBody>
      </p:sp>
      <p:sp>
        <p:nvSpPr>
          <p:cNvPr id="26" name="Shape 22"/>
          <p:cNvSpPr/>
          <p:nvPr/>
        </p:nvSpPr>
        <p:spPr>
          <a:xfrm flipV="1">
            <a:off x="3598164" y="3747503"/>
            <a:ext cx="428966" cy="10681"/>
          </a:xfrm>
          <a:prstGeom prst="line">
            <a:avLst/>
          </a:prstGeom>
          <a:noFill/>
          <a:ln w="15875">
            <a:solidFill>
              <a:srgbClr val="0F1B2D"/>
            </a:solidFill>
            <a:prstDash val="dash"/>
          </a:ln>
        </p:spPr>
      </p:sp>
      <p:sp>
        <p:nvSpPr>
          <p:cNvPr id="27" name="Shape 23"/>
          <p:cNvSpPr/>
          <p:nvPr/>
        </p:nvSpPr>
        <p:spPr>
          <a:xfrm>
            <a:off x="3981410" y="3701783"/>
            <a:ext cx="91440" cy="91440"/>
          </a:xfrm>
          <a:prstGeom prst="ellipse">
            <a:avLst/>
          </a:prstGeom>
          <a:solidFill>
            <a:srgbClr val="0F1B2D"/>
          </a:solidFill>
          <a:ln w="12700">
            <a:solidFill>
              <a:srgbClr val="FFFFFF"/>
            </a:solidFill>
            <a:prstDash val="solid"/>
          </a:ln>
        </p:spPr>
      </p:sp>
      <p:sp>
        <p:nvSpPr>
          <p:cNvPr id="28" name="Text 24"/>
          <p:cNvSpPr/>
          <p:nvPr/>
        </p:nvSpPr>
        <p:spPr>
          <a:xfrm>
            <a:off x="548640" y="6199632"/>
            <a:ext cx="11091672" cy="237744"/>
          </a:xfrm>
          <a:prstGeom prst="rect">
            <a:avLst/>
          </a:prstGeom>
          <a:noFill/>
          <a:ln/>
        </p:spPr>
        <p:txBody>
          <a:bodyPr wrap="square"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Bearing from Caramba North: GW Ranch ≈ 19° (near-due north); Longfellow ≈ 188° (near-due south) — the tract sits on the line between them, not off to one side.</a:t>
            </a:r>
            <a:endParaRPr lang="en-US" sz="950" dirty="0"/>
          </a:p>
        </p:txBody>
      </p:sp>
      <p:sp>
        <p:nvSpPr>
          <p:cNvPr id="29" name="Text 25"/>
          <p:cNvSpPr/>
          <p:nvPr/>
        </p:nvSpPr>
        <p:spPr>
          <a:xfrm>
            <a:off x="548640" y="6528816"/>
            <a:ext cx="7315200" cy="256032"/>
          </a:xfrm>
          <a:prstGeom prst="rect">
            <a:avLst/>
          </a:prstGeom>
          <a:noFill/>
          <a:ln/>
        </p:spPr>
        <p:txBody>
          <a:bodyPr wrap="square" rtlCol="0" anchor="ctr"/>
          <a:lstStyle/>
          <a:p>
            <a:pPr indent="0" marL="0">
              <a:buNone/>
            </a:pPr>
            <a:r>
              <a:rPr lang="en-US" sz="750" spc="50" kern="0" dirty="0">
                <a:solidFill>
                  <a:srgbClr val="64748B"/>
                </a:solidFill>
                <a:latin typeface="Calibri" pitchFamily="34" charset="0"/>
                <a:ea typeface="Calibri" pitchFamily="34" charset="-122"/>
                <a:cs typeface="Calibri" pitchFamily="34" charset="-120"/>
              </a:rPr>
              <a:t>CARAMBA NORTH — MAP-LED SUMMARY, CONFIDENTIAL</a:t>
            </a:r>
            <a:endParaRPr lang="en-US" sz="750" dirty="0"/>
          </a:p>
        </p:txBody>
      </p:sp>
      <p:sp>
        <p:nvSpPr>
          <p:cNvPr id="30" name="Text 26"/>
          <p:cNvSpPr/>
          <p:nvPr/>
        </p:nvSpPr>
        <p:spPr>
          <a:xfrm>
            <a:off x="11185855" y="6528816"/>
            <a:ext cx="457200" cy="256032"/>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37744"/>
            <a:ext cx="365760" cy="365760"/>
          </a:xfrm>
          <a:prstGeom prst="ellipse">
            <a:avLst/>
          </a:prstGeom>
          <a:solidFill>
            <a:srgbClr val="B06220"/>
          </a:solidFill>
          <a:ln/>
          <a:effectLst>
            <a:outerShdw sx="100000" sy="100000" kx="0" ky="0" algn="bl" rotWithShape="0" blurRad="101600" dist="25400" dir="5400000">
              <a:srgbClr val="0F1B2D">
                <a:alpha val="18000"/>
              </a:srgbClr>
            </a:outerShdw>
          </a:effectLst>
        </p:spPr>
      </p:sp>
      <p:pic>
        <p:nvPicPr>
          <p:cNvPr id="3" name="Image 0" descr="/home/claude/repo/outputs/reports/om_exhibits/icons/mappin.png">    </p:cNvPr>
          <p:cNvPicPr>
            <a:picLocks noChangeAspect="1"/>
          </p:cNvPicPr>
          <p:nvPr/>
        </p:nvPicPr>
        <p:blipFill>
          <a:blip r:embed="rId1"/>
          <a:stretch>
            <a:fillRect/>
          </a:stretch>
        </p:blipFill>
        <p:spPr>
          <a:xfrm>
            <a:off x="643738" y="332842"/>
            <a:ext cx="175565" cy="175565"/>
          </a:xfrm>
          <a:prstGeom prst="rect">
            <a:avLst/>
          </a:prstGeom>
        </p:spPr>
      </p:pic>
      <p:sp>
        <p:nvSpPr>
          <p:cNvPr id="4" name="Text 1"/>
          <p:cNvSpPr/>
          <p:nvPr/>
        </p:nvSpPr>
        <p:spPr>
          <a:xfrm>
            <a:off x="1024128" y="256032"/>
            <a:ext cx="8686800" cy="292608"/>
          </a:xfrm>
          <a:prstGeom prst="rect">
            <a:avLst/>
          </a:prstGeom>
          <a:noFill/>
          <a:ln/>
        </p:spPr>
        <p:txBody>
          <a:bodyPr wrap="square" rtlCol="0" anchor="ctr"/>
          <a:lstStyle/>
          <a:p>
            <a:pPr indent="0" marL="0">
              <a:buNone/>
            </a:pPr>
            <a:r>
              <a:rPr lang="en-US" sz="1050" b="1" spc="180" kern="0" dirty="0">
                <a:solidFill>
                  <a:srgbClr val="B06220"/>
                </a:solidFill>
                <a:latin typeface="Calibri" pitchFamily="34" charset="0"/>
                <a:ea typeface="Calibri" pitchFamily="34" charset="-122"/>
                <a:cs typeface="Calibri" pitchFamily="34" charset="-120"/>
              </a:rPr>
              <a:t>02.1 · THE PROPERTY</a:t>
            </a:r>
            <a:endParaRPr lang="en-US" sz="1050" dirty="0"/>
          </a:p>
        </p:txBody>
      </p:sp>
      <p:sp>
        <p:nvSpPr>
          <p:cNvPr id="5" name="Text 2"/>
          <p:cNvSpPr/>
          <p:nvPr/>
        </p:nvSpPr>
        <p:spPr>
          <a:xfrm>
            <a:off x="548640" y="512064"/>
            <a:ext cx="11064240" cy="512064"/>
          </a:xfrm>
          <a:prstGeom prst="rect">
            <a:avLst/>
          </a:prstGeom>
          <a:noFill/>
          <a:ln/>
        </p:spPr>
        <p:txBody>
          <a:bodyPr wrap="square" rtlCol="0" anchor="t"/>
          <a:lstStyle/>
          <a:p>
            <a:pPr indent="0" marL="0">
              <a:buNone/>
            </a:pPr>
            <a:r>
              <a:rPr lang="en-US" sz="2300" b="1" dirty="0">
                <a:solidFill>
                  <a:srgbClr val="0F1B2D"/>
                </a:solidFill>
                <a:latin typeface="Bookman Old Style" pitchFamily="34" charset="0"/>
                <a:ea typeface="Bookman Old Style" pitchFamily="34" charset="-122"/>
                <a:cs typeface="Bookman Old Style" pitchFamily="34" charset="-120"/>
              </a:rPr>
              <a:t>As-of-right industrial land, five miles from Fort Stockton</a:t>
            </a:r>
            <a:endParaRPr lang="en-US" sz="2300" dirty="0"/>
          </a:p>
        </p:txBody>
      </p:sp>
      <p:sp>
        <p:nvSpPr>
          <p:cNvPr id="6" name="Text 3"/>
          <p:cNvSpPr/>
          <p:nvPr/>
        </p:nvSpPr>
        <p:spPr>
          <a:xfrm>
            <a:off x="548640" y="1005840"/>
            <a:ext cx="11064240" cy="384048"/>
          </a:xfrm>
          <a:prstGeom prst="rect">
            <a:avLst/>
          </a:prstGeom>
          <a:noFill/>
          <a:ln/>
        </p:spPr>
        <p:txBody>
          <a:bodyPr wrap="square" rtlCol="0" anchor="t"/>
          <a:lstStyle/>
          <a:p>
            <a:pPr indent="0" marL="0">
              <a:buNone/>
            </a:pPr>
            <a:r>
              <a:rPr lang="en-US" sz="1250" i="1" dirty="0">
                <a:solidFill>
                  <a:srgbClr val="475569"/>
                </a:solidFill>
                <a:latin typeface="Calibri" pitchFamily="34" charset="0"/>
                <a:ea typeface="Calibri" pitchFamily="34" charset="-122"/>
                <a:cs typeface="Calibri" pitchFamily="34" charset="-120"/>
              </a:rPr>
              <a:t>No zoning ordinance and a Far West ERCOT position — this is a use-as-of-right story, not a rezoning story.</a:t>
            </a:r>
            <a:endParaRPr lang="en-US" sz="1250" dirty="0"/>
          </a:p>
        </p:txBody>
      </p:sp>
      <p:pic>
        <p:nvPicPr>
          <p:cNvPr id="7" name="Image 1" descr="/home/claude/repo/outputs/reports/om_exhibits/exhibit_2_1_site-setting.jpg">    </p:cNvPr>
          <p:cNvPicPr>
            <a:picLocks noChangeAspect="1"/>
          </p:cNvPicPr>
          <p:nvPr/>
        </p:nvPicPr>
        <p:blipFill>
          <a:blip r:embed="rId2"/>
          <a:stretch>
            <a:fillRect/>
          </a:stretch>
        </p:blipFill>
        <p:spPr>
          <a:xfrm>
            <a:off x="2180844" y="1417320"/>
            <a:ext cx="7827264" cy="4892040"/>
          </a:xfrm>
          <a:prstGeom prst="rect">
            <a:avLst/>
          </a:prstGeom>
          <a:effectLst>
            <a:outerShdw sx="100000" sy="100000" kx="0" ky="0" algn="bl" rotWithShape="0" blurRad="101600" dist="25400" dir="5400000">
              <a:srgbClr val="0F1B2D">
                <a:alpha val="18000"/>
              </a:srgbClr>
            </a:outerShdw>
          </a:effectLst>
        </p:spPr>
      </p:pic>
      <p:sp>
        <p:nvSpPr>
          <p:cNvPr id="8" name="Shape 4"/>
          <p:cNvSpPr/>
          <p:nvPr/>
        </p:nvSpPr>
        <p:spPr>
          <a:xfrm>
            <a:off x="2180844" y="1417320"/>
            <a:ext cx="7827264" cy="4892040"/>
          </a:xfrm>
          <a:prstGeom prst="rect">
            <a:avLst/>
          </a:prstGeom>
          <a:ln w="12700">
            <a:solidFill>
              <a:srgbClr val="E2E8F0"/>
            </a:solidFill>
            <a:prstDash val="solid"/>
          </a:ln>
        </p:spPr>
      </p:sp>
      <p:sp>
        <p:nvSpPr>
          <p:cNvPr id="9" name="Shape 5"/>
          <p:cNvSpPr/>
          <p:nvPr/>
        </p:nvSpPr>
        <p:spPr>
          <a:xfrm>
            <a:off x="685800" y="1554480"/>
            <a:ext cx="2286000" cy="841248"/>
          </a:xfrm>
          <a:prstGeom prst="roundRect">
            <a:avLst>
              <a:gd name="adj" fmla="val 5435"/>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0" name="Text 6"/>
          <p:cNvSpPr/>
          <p:nvPr/>
        </p:nvSpPr>
        <p:spPr>
          <a:xfrm>
            <a:off x="804672" y="1609344"/>
            <a:ext cx="2048256" cy="487924"/>
          </a:xfrm>
          <a:prstGeom prst="rect">
            <a:avLst/>
          </a:prstGeom>
          <a:noFill/>
          <a:ln/>
        </p:spPr>
        <p:txBody>
          <a:bodyPr wrap="square" rtlCol="0" anchor="b"/>
          <a:lstStyle/>
          <a:p>
            <a:pPr indent="0" marL="0">
              <a:buNone/>
            </a:pPr>
            <a:r>
              <a:rPr lang="en-US" sz="1900" b="1" dirty="0">
                <a:solidFill>
                  <a:srgbClr val="0F1B2D"/>
                </a:solidFill>
                <a:latin typeface="Calibri" pitchFamily="34" charset="0"/>
                <a:ea typeface="Calibri" pitchFamily="34" charset="-122"/>
                <a:cs typeface="Calibri" pitchFamily="34" charset="-120"/>
              </a:rPr>
              <a:t>1,300</a:t>
            </a:r>
            <a:endParaRPr lang="en-US" sz="1900" dirty="0"/>
          </a:p>
        </p:txBody>
      </p:sp>
      <p:sp>
        <p:nvSpPr>
          <p:cNvPr id="11" name="Text 7"/>
          <p:cNvSpPr/>
          <p:nvPr/>
        </p:nvSpPr>
        <p:spPr>
          <a:xfrm>
            <a:off x="804672" y="2059229"/>
            <a:ext cx="2048256" cy="263347"/>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MAX CONTIGUOUS ACRES</a:t>
            </a:r>
            <a:endParaRPr lang="en-US" sz="830" dirty="0"/>
          </a:p>
        </p:txBody>
      </p:sp>
      <p:sp>
        <p:nvSpPr>
          <p:cNvPr id="12" name="Shape 8"/>
          <p:cNvSpPr/>
          <p:nvPr/>
        </p:nvSpPr>
        <p:spPr>
          <a:xfrm>
            <a:off x="1828800" y="2395728"/>
            <a:ext cx="4187403" cy="1738305"/>
          </a:xfrm>
          <a:prstGeom prst="line">
            <a:avLst/>
          </a:prstGeom>
          <a:noFill/>
          <a:ln w="15875">
            <a:solidFill>
              <a:srgbClr val="0F1B2D"/>
            </a:solidFill>
            <a:prstDash val="dash"/>
          </a:ln>
        </p:spPr>
      </p:sp>
      <p:sp>
        <p:nvSpPr>
          <p:cNvPr id="13" name="Shape 9"/>
          <p:cNvSpPr/>
          <p:nvPr/>
        </p:nvSpPr>
        <p:spPr>
          <a:xfrm>
            <a:off x="5970483" y="4088313"/>
            <a:ext cx="91440" cy="91440"/>
          </a:xfrm>
          <a:prstGeom prst="ellipse">
            <a:avLst/>
          </a:prstGeom>
          <a:solidFill>
            <a:srgbClr val="0F1B2D"/>
          </a:solidFill>
          <a:ln w="12700">
            <a:solidFill>
              <a:srgbClr val="FFFFFF"/>
            </a:solidFill>
            <a:prstDash val="solid"/>
          </a:ln>
        </p:spPr>
      </p:sp>
      <p:sp>
        <p:nvSpPr>
          <p:cNvPr id="14" name="Shape 10"/>
          <p:cNvSpPr/>
          <p:nvPr/>
        </p:nvSpPr>
        <p:spPr>
          <a:xfrm>
            <a:off x="9125712" y="1554480"/>
            <a:ext cx="2377440" cy="841248"/>
          </a:xfrm>
          <a:prstGeom prst="roundRect">
            <a:avLst>
              <a:gd name="adj" fmla="val 5435"/>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5" name="Text 11"/>
          <p:cNvSpPr/>
          <p:nvPr/>
        </p:nvSpPr>
        <p:spPr>
          <a:xfrm>
            <a:off x="9244584" y="1609344"/>
            <a:ext cx="2139696" cy="487924"/>
          </a:xfrm>
          <a:prstGeom prst="rect">
            <a:avLst/>
          </a:prstGeom>
          <a:noFill/>
          <a:ln/>
        </p:spPr>
        <p:txBody>
          <a:bodyPr wrap="square" rtlCol="0" anchor="b"/>
          <a:lstStyle/>
          <a:p>
            <a:pPr indent="0" marL="0">
              <a:buNone/>
            </a:pPr>
            <a:r>
              <a:rPr lang="en-US" sz="1900" b="1" dirty="0">
                <a:solidFill>
                  <a:srgbClr val="B06220"/>
                </a:solidFill>
                <a:latin typeface="Calibri" pitchFamily="34" charset="0"/>
                <a:ea typeface="Calibri" pitchFamily="34" charset="-122"/>
                <a:cs typeface="Calibri" pitchFamily="34" charset="-120"/>
              </a:rPr>
              <a:t>≈5 mi</a:t>
            </a:r>
            <a:endParaRPr lang="en-US" sz="1900" dirty="0"/>
          </a:p>
        </p:txBody>
      </p:sp>
      <p:sp>
        <p:nvSpPr>
          <p:cNvPr id="16" name="Text 12"/>
          <p:cNvSpPr/>
          <p:nvPr/>
        </p:nvSpPr>
        <p:spPr>
          <a:xfrm>
            <a:off x="9244584" y="2059229"/>
            <a:ext cx="2139696" cy="263347"/>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TO FORT STOCKTON (SERVICES, AIRPORT)</a:t>
            </a:r>
            <a:endParaRPr lang="en-US" sz="830" dirty="0"/>
          </a:p>
        </p:txBody>
      </p:sp>
      <p:sp>
        <p:nvSpPr>
          <p:cNvPr id="17" name="Shape 13"/>
          <p:cNvSpPr/>
          <p:nvPr/>
        </p:nvSpPr>
        <p:spPr>
          <a:xfrm flipH="1">
            <a:off x="7232691" y="1975104"/>
            <a:ext cx="4270461" cy="2093702"/>
          </a:xfrm>
          <a:prstGeom prst="line">
            <a:avLst/>
          </a:prstGeom>
          <a:noFill/>
          <a:ln w="15875">
            <a:solidFill>
              <a:srgbClr val="B06220"/>
            </a:solidFill>
            <a:prstDash val="dash"/>
          </a:ln>
        </p:spPr>
      </p:sp>
      <p:sp>
        <p:nvSpPr>
          <p:cNvPr id="18" name="Shape 14"/>
          <p:cNvSpPr/>
          <p:nvPr/>
        </p:nvSpPr>
        <p:spPr>
          <a:xfrm>
            <a:off x="7186971" y="4023086"/>
            <a:ext cx="91440" cy="91440"/>
          </a:xfrm>
          <a:prstGeom prst="ellipse">
            <a:avLst/>
          </a:prstGeom>
          <a:solidFill>
            <a:srgbClr val="B06220"/>
          </a:solidFill>
          <a:ln w="12700">
            <a:solidFill>
              <a:srgbClr val="FFFFFF"/>
            </a:solidFill>
            <a:prstDash val="solid"/>
          </a:ln>
        </p:spPr>
      </p:sp>
      <p:sp>
        <p:nvSpPr>
          <p:cNvPr id="19" name="Shape 15"/>
          <p:cNvSpPr/>
          <p:nvPr/>
        </p:nvSpPr>
        <p:spPr>
          <a:xfrm>
            <a:off x="685800" y="5303520"/>
            <a:ext cx="2560320" cy="868680"/>
          </a:xfrm>
          <a:prstGeom prst="roundRect">
            <a:avLst>
              <a:gd name="adj" fmla="val 5263"/>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20" name="Text 16"/>
          <p:cNvSpPr/>
          <p:nvPr/>
        </p:nvSpPr>
        <p:spPr>
          <a:xfrm>
            <a:off x="804672" y="5358384"/>
            <a:ext cx="2322576" cy="503834"/>
          </a:xfrm>
          <a:prstGeom prst="rect">
            <a:avLst/>
          </a:prstGeom>
          <a:noFill/>
          <a:ln/>
        </p:spPr>
        <p:txBody>
          <a:bodyPr wrap="square" rtlCol="0" anchor="b"/>
          <a:lstStyle/>
          <a:p>
            <a:pPr indent="0" marL="0">
              <a:buNone/>
            </a:pPr>
            <a:r>
              <a:rPr lang="en-US" sz="1900" b="1" dirty="0">
                <a:solidFill>
                  <a:srgbClr val="B06220"/>
                </a:solidFill>
                <a:latin typeface="Calibri" pitchFamily="34" charset="0"/>
                <a:ea typeface="Calibri" pitchFamily="34" charset="-122"/>
                <a:cs typeface="Calibri" pitchFamily="34" charset="-120"/>
              </a:rPr>
              <a:t>No zoning</a:t>
            </a:r>
            <a:endParaRPr lang="en-US" sz="1900" dirty="0"/>
          </a:p>
        </p:txBody>
      </p:sp>
      <p:sp>
        <p:nvSpPr>
          <p:cNvPr id="21" name="Text 17"/>
          <p:cNvSpPr/>
          <p:nvPr/>
        </p:nvSpPr>
        <p:spPr>
          <a:xfrm>
            <a:off x="804672" y="5824728"/>
            <a:ext cx="2322576" cy="274320"/>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INDUSTRIAL / ENERGY USE AS OF RIGHT</a:t>
            </a:r>
            <a:endParaRPr lang="en-US" sz="830" dirty="0"/>
          </a:p>
        </p:txBody>
      </p:sp>
      <p:sp>
        <p:nvSpPr>
          <p:cNvPr id="22" name="Shape 18"/>
          <p:cNvSpPr/>
          <p:nvPr/>
        </p:nvSpPr>
        <p:spPr>
          <a:xfrm flipV="1">
            <a:off x="1965960" y="3269772"/>
            <a:ext cx="4454652" cy="2033748"/>
          </a:xfrm>
          <a:prstGeom prst="line">
            <a:avLst/>
          </a:prstGeom>
          <a:noFill/>
          <a:ln w="15875">
            <a:solidFill>
              <a:srgbClr val="B06220"/>
            </a:solidFill>
            <a:prstDash val="dash"/>
          </a:ln>
        </p:spPr>
      </p:sp>
      <p:sp>
        <p:nvSpPr>
          <p:cNvPr id="23" name="Shape 19"/>
          <p:cNvSpPr/>
          <p:nvPr/>
        </p:nvSpPr>
        <p:spPr>
          <a:xfrm>
            <a:off x="6374892" y="3224052"/>
            <a:ext cx="91440" cy="91440"/>
          </a:xfrm>
          <a:prstGeom prst="ellipse">
            <a:avLst/>
          </a:prstGeom>
          <a:solidFill>
            <a:srgbClr val="B06220"/>
          </a:solidFill>
          <a:ln w="12700">
            <a:solidFill>
              <a:srgbClr val="FFFFFF"/>
            </a:solidFill>
            <a:prstDash val="solid"/>
          </a:ln>
        </p:spPr>
      </p:sp>
      <p:sp>
        <p:nvSpPr>
          <p:cNvPr id="24" name="Shape 20"/>
          <p:cNvSpPr/>
          <p:nvPr/>
        </p:nvSpPr>
        <p:spPr>
          <a:xfrm>
            <a:off x="8988552" y="5303520"/>
            <a:ext cx="2514600" cy="868680"/>
          </a:xfrm>
          <a:prstGeom prst="roundRect">
            <a:avLst>
              <a:gd name="adj" fmla="val 5263"/>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25" name="Text 21"/>
          <p:cNvSpPr/>
          <p:nvPr/>
        </p:nvSpPr>
        <p:spPr>
          <a:xfrm>
            <a:off x="9107424" y="5358384"/>
            <a:ext cx="2276856" cy="503834"/>
          </a:xfrm>
          <a:prstGeom prst="rect">
            <a:avLst/>
          </a:prstGeom>
          <a:noFill/>
          <a:ln/>
        </p:spPr>
        <p:txBody>
          <a:bodyPr wrap="square" rtlCol="0" anchor="b"/>
          <a:lstStyle/>
          <a:p>
            <a:pPr indent="0" marL="0">
              <a:buNone/>
            </a:pPr>
            <a:r>
              <a:rPr lang="en-US" sz="1900" b="1" dirty="0">
                <a:solidFill>
                  <a:srgbClr val="0F1B2D"/>
                </a:solidFill>
                <a:latin typeface="Calibri" pitchFamily="34" charset="0"/>
                <a:ea typeface="Calibri" pitchFamily="34" charset="-122"/>
                <a:cs typeface="Calibri" pitchFamily="34" charset="-120"/>
              </a:rPr>
              <a:t>Far West</a:t>
            </a:r>
            <a:endParaRPr lang="en-US" sz="1900" dirty="0"/>
          </a:p>
        </p:txBody>
      </p:sp>
      <p:sp>
        <p:nvSpPr>
          <p:cNvPr id="26" name="Text 22"/>
          <p:cNvSpPr/>
          <p:nvPr/>
        </p:nvSpPr>
        <p:spPr>
          <a:xfrm>
            <a:off x="9107424" y="5824728"/>
            <a:ext cx="2276856" cy="274320"/>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HIGHEST-GROWTH LARGE-LOAD POCKET, ERCOT</a:t>
            </a:r>
            <a:endParaRPr lang="en-US" sz="830" dirty="0"/>
          </a:p>
        </p:txBody>
      </p:sp>
      <p:sp>
        <p:nvSpPr>
          <p:cNvPr id="27" name="Shape 23"/>
          <p:cNvSpPr/>
          <p:nvPr/>
        </p:nvSpPr>
        <p:spPr>
          <a:xfrm flipH="1" flipV="1">
            <a:off x="3583229" y="4134033"/>
            <a:ext cx="6685483" cy="1169487"/>
          </a:xfrm>
          <a:prstGeom prst="line">
            <a:avLst/>
          </a:prstGeom>
          <a:noFill/>
          <a:ln w="15875">
            <a:solidFill>
              <a:srgbClr val="0F1B2D"/>
            </a:solidFill>
            <a:prstDash val="dash"/>
          </a:ln>
        </p:spPr>
      </p:sp>
      <p:sp>
        <p:nvSpPr>
          <p:cNvPr id="28" name="Shape 24"/>
          <p:cNvSpPr/>
          <p:nvPr/>
        </p:nvSpPr>
        <p:spPr>
          <a:xfrm>
            <a:off x="3537509" y="4088313"/>
            <a:ext cx="91440" cy="91440"/>
          </a:xfrm>
          <a:prstGeom prst="ellipse">
            <a:avLst/>
          </a:prstGeom>
          <a:solidFill>
            <a:srgbClr val="0F1B2D"/>
          </a:solidFill>
          <a:ln w="12700">
            <a:solidFill>
              <a:srgbClr val="FFFFFF"/>
            </a:solidFill>
            <a:prstDash val="solid"/>
          </a:ln>
        </p:spPr>
      </p:sp>
      <p:sp>
        <p:nvSpPr>
          <p:cNvPr id="29" name="Text 25"/>
          <p:cNvSpPr/>
          <p:nvPr/>
        </p:nvSpPr>
        <p:spPr>
          <a:xfrm>
            <a:off x="548640" y="6528816"/>
            <a:ext cx="7315200" cy="256032"/>
          </a:xfrm>
          <a:prstGeom prst="rect">
            <a:avLst/>
          </a:prstGeom>
          <a:noFill/>
          <a:ln/>
        </p:spPr>
        <p:txBody>
          <a:bodyPr wrap="square" rtlCol="0" anchor="ctr"/>
          <a:lstStyle/>
          <a:p>
            <a:pPr indent="0" marL="0">
              <a:buNone/>
            </a:pPr>
            <a:r>
              <a:rPr lang="en-US" sz="750" spc="50" kern="0" dirty="0">
                <a:solidFill>
                  <a:srgbClr val="64748B"/>
                </a:solidFill>
                <a:latin typeface="Calibri" pitchFamily="34" charset="0"/>
                <a:ea typeface="Calibri" pitchFamily="34" charset="-122"/>
                <a:cs typeface="Calibri" pitchFamily="34" charset="-120"/>
              </a:rPr>
              <a:t>CARAMBA NORTH — MAP-LED SUMMARY, CONFIDENTIAL</a:t>
            </a:r>
            <a:endParaRPr lang="en-US" sz="750" dirty="0"/>
          </a:p>
        </p:txBody>
      </p:sp>
      <p:sp>
        <p:nvSpPr>
          <p:cNvPr id="30" name="Text 26"/>
          <p:cNvSpPr/>
          <p:nvPr/>
        </p:nvSpPr>
        <p:spPr>
          <a:xfrm>
            <a:off x="11185855" y="6528816"/>
            <a:ext cx="457200" cy="256032"/>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37744"/>
            <a:ext cx="365760" cy="365760"/>
          </a:xfrm>
          <a:prstGeom prst="ellipse">
            <a:avLst/>
          </a:prstGeom>
          <a:solidFill>
            <a:srgbClr val="B06220"/>
          </a:solidFill>
          <a:ln/>
          <a:effectLst>
            <a:outerShdw sx="100000" sy="100000" kx="0" ky="0" algn="bl" rotWithShape="0" blurRad="101600" dist="25400" dir="5400000">
              <a:srgbClr val="0F1B2D">
                <a:alpha val="18000"/>
              </a:srgbClr>
            </a:outerShdw>
          </a:effectLst>
        </p:spPr>
      </p:sp>
      <p:pic>
        <p:nvPicPr>
          <p:cNvPr id="3" name="Image 0" descr="/home/claude/repo/outputs/reports/om_exhibits/icons/tower.png">    </p:cNvPr>
          <p:cNvPicPr>
            <a:picLocks noChangeAspect="1"/>
          </p:cNvPicPr>
          <p:nvPr/>
        </p:nvPicPr>
        <p:blipFill>
          <a:blip r:embed="rId1"/>
          <a:stretch>
            <a:fillRect/>
          </a:stretch>
        </p:blipFill>
        <p:spPr>
          <a:xfrm>
            <a:off x="643738" y="332842"/>
            <a:ext cx="175565" cy="175565"/>
          </a:xfrm>
          <a:prstGeom prst="rect">
            <a:avLst/>
          </a:prstGeom>
        </p:spPr>
      </p:pic>
      <p:sp>
        <p:nvSpPr>
          <p:cNvPr id="4" name="Text 1"/>
          <p:cNvSpPr/>
          <p:nvPr/>
        </p:nvSpPr>
        <p:spPr>
          <a:xfrm>
            <a:off x="1024128" y="256032"/>
            <a:ext cx="8686800" cy="292608"/>
          </a:xfrm>
          <a:prstGeom prst="rect">
            <a:avLst/>
          </a:prstGeom>
          <a:noFill/>
          <a:ln/>
        </p:spPr>
        <p:txBody>
          <a:bodyPr wrap="square" rtlCol="0" anchor="ctr"/>
          <a:lstStyle/>
          <a:p>
            <a:pPr indent="0" marL="0">
              <a:buNone/>
            </a:pPr>
            <a:r>
              <a:rPr lang="en-US" sz="1050" b="1" spc="180" kern="0" dirty="0">
                <a:solidFill>
                  <a:srgbClr val="B06220"/>
                </a:solidFill>
                <a:latin typeface="Calibri" pitchFamily="34" charset="0"/>
                <a:ea typeface="Calibri" pitchFamily="34" charset="-122"/>
                <a:cs typeface="Calibri" pitchFamily="34" charset="-120"/>
              </a:rPr>
              <a:t>02.2 · TRANSMISSION</a:t>
            </a:r>
            <a:endParaRPr lang="en-US" sz="1050" dirty="0"/>
          </a:p>
        </p:txBody>
      </p:sp>
      <p:sp>
        <p:nvSpPr>
          <p:cNvPr id="5" name="Text 2"/>
          <p:cNvSpPr/>
          <p:nvPr/>
        </p:nvSpPr>
        <p:spPr>
          <a:xfrm>
            <a:off x="548640" y="512064"/>
            <a:ext cx="11064240" cy="512064"/>
          </a:xfrm>
          <a:prstGeom prst="rect">
            <a:avLst/>
          </a:prstGeom>
          <a:noFill/>
          <a:ln/>
        </p:spPr>
        <p:txBody>
          <a:bodyPr wrap="square" rtlCol="0" anchor="t"/>
          <a:lstStyle/>
          <a:p>
            <a:pPr indent="0" marL="0">
              <a:buNone/>
            </a:pPr>
            <a:r>
              <a:rPr lang="en-US" sz="2300" b="1" dirty="0">
                <a:solidFill>
                  <a:srgbClr val="0F1B2D"/>
                </a:solidFill>
                <a:latin typeface="Bookman Old Style" pitchFamily="34" charset="0"/>
                <a:ea typeface="Bookman Old Style" pitchFamily="34" charset="-122"/>
                <a:cs typeface="Bookman Old Style" pitchFamily="34" charset="-120"/>
              </a:rPr>
              <a:t>Fifteen miles from the western terminus of ERCOT’s 765 kV backbone</a:t>
            </a:r>
            <a:endParaRPr lang="en-US" sz="2300" dirty="0"/>
          </a:p>
        </p:txBody>
      </p:sp>
      <p:sp>
        <p:nvSpPr>
          <p:cNvPr id="6" name="Text 3"/>
          <p:cNvSpPr/>
          <p:nvPr/>
        </p:nvSpPr>
        <p:spPr>
          <a:xfrm>
            <a:off x="548640" y="1005840"/>
            <a:ext cx="11064240" cy="384048"/>
          </a:xfrm>
          <a:prstGeom prst="rect">
            <a:avLst/>
          </a:prstGeom>
          <a:noFill/>
          <a:ln/>
        </p:spPr>
        <p:txBody>
          <a:bodyPr wrap="square" rtlCol="0" anchor="t"/>
          <a:lstStyle/>
          <a:p>
            <a:pPr indent="0" marL="0">
              <a:buNone/>
            </a:pPr>
            <a:r>
              <a:rPr lang="en-US" sz="1250" i="1" dirty="0">
                <a:solidFill>
                  <a:srgbClr val="475569"/>
                </a:solidFill>
                <a:latin typeface="Calibri" pitchFamily="34" charset="0"/>
                <a:ea typeface="Calibri" pitchFamily="34" charset="-122"/>
                <a:cs typeface="Calibri" pitchFamily="34" charset="-120"/>
              </a:rPr>
              <a:t>The transmission decision is already made, upstream of this site — not a future contingency.</a:t>
            </a:r>
            <a:endParaRPr lang="en-US" sz="1250" dirty="0"/>
          </a:p>
        </p:txBody>
      </p:sp>
      <p:pic>
        <p:nvPicPr>
          <p:cNvPr id="7" name="Image 1" descr="/home/claude/repo/outputs/reports/om_exhibits/exhibit_3_1_planned-grid-upgrades.jpg">    </p:cNvPr>
          <p:cNvPicPr>
            <a:picLocks noChangeAspect="1"/>
          </p:cNvPicPr>
          <p:nvPr/>
        </p:nvPicPr>
        <p:blipFill>
          <a:blip r:embed="rId2"/>
          <a:stretch>
            <a:fillRect/>
          </a:stretch>
        </p:blipFill>
        <p:spPr>
          <a:xfrm>
            <a:off x="1821952" y="1417320"/>
            <a:ext cx="8545048" cy="4892040"/>
          </a:xfrm>
          <a:prstGeom prst="rect">
            <a:avLst/>
          </a:prstGeom>
          <a:effectLst>
            <a:outerShdw sx="100000" sy="100000" kx="0" ky="0" algn="bl" rotWithShape="0" blurRad="101600" dist="25400" dir="5400000">
              <a:srgbClr val="0F1B2D">
                <a:alpha val="18000"/>
              </a:srgbClr>
            </a:outerShdw>
          </a:effectLst>
        </p:spPr>
      </p:pic>
      <p:sp>
        <p:nvSpPr>
          <p:cNvPr id="8" name="Shape 4"/>
          <p:cNvSpPr/>
          <p:nvPr/>
        </p:nvSpPr>
        <p:spPr>
          <a:xfrm>
            <a:off x="1821952" y="1417320"/>
            <a:ext cx="8545048" cy="4892040"/>
          </a:xfrm>
          <a:prstGeom prst="rect">
            <a:avLst/>
          </a:prstGeom>
          <a:ln w="12700">
            <a:solidFill>
              <a:srgbClr val="E2E8F0"/>
            </a:solidFill>
            <a:prstDash val="solid"/>
          </a:ln>
        </p:spPr>
      </p:sp>
      <p:sp>
        <p:nvSpPr>
          <p:cNvPr id="9" name="Shape 5"/>
          <p:cNvSpPr/>
          <p:nvPr/>
        </p:nvSpPr>
        <p:spPr>
          <a:xfrm>
            <a:off x="685800" y="1554480"/>
            <a:ext cx="3246120" cy="1051560"/>
          </a:xfrm>
          <a:prstGeom prst="roundRect">
            <a:avLst>
              <a:gd name="adj" fmla="val 4348"/>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0" name="Text 6"/>
          <p:cNvSpPr/>
          <p:nvPr/>
        </p:nvSpPr>
        <p:spPr>
          <a:xfrm>
            <a:off x="804672" y="1609344"/>
            <a:ext cx="3008376" cy="609905"/>
          </a:xfrm>
          <a:prstGeom prst="rect">
            <a:avLst/>
          </a:prstGeom>
          <a:noFill/>
          <a:ln/>
        </p:spPr>
        <p:txBody>
          <a:bodyPr wrap="square" rtlCol="0" anchor="b"/>
          <a:lstStyle/>
          <a:p>
            <a:pPr indent="0" marL="0">
              <a:buNone/>
            </a:pPr>
            <a:r>
              <a:rPr lang="en-US" sz="1900" b="1" dirty="0">
                <a:solidFill>
                  <a:srgbClr val="B06220"/>
                </a:solidFill>
                <a:latin typeface="Calibri" pitchFamily="34" charset="0"/>
                <a:ea typeface="Calibri" pitchFamily="34" charset="-122"/>
                <a:cs typeface="Calibri" pitchFamily="34" charset="-120"/>
              </a:rPr>
              <a:t>15 mi</a:t>
            </a:r>
            <a:endParaRPr lang="en-US" sz="1900" dirty="0"/>
          </a:p>
        </p:txBody>
      </p:sp>
      <p:sp>
        <p:nvSpPr>
          <p:cNvPr id="11" name="Text 7"/>
          <p:cNvSpPr/>
          <p:nvPr/>
        </p:nvSpPr>
        <p:spPr>
          <a:xfrm>
            <a:off x="804672" y="2185416"/>
            <a:ext cx="3008376" cy="347472"/>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TO AEP SOLSTICE — WESTERN TERMINUS OF ALL 3 APPROVED 765 KV PERMIAN IMPORT PATHS (PBRP NO. 55718, APR 2025)</a:t>
            </a:r>
            <a:endParaRPr lang="en-US" sz="830" dirty="0"/>
          </a:p>
        </p:txBody>
      </p:sp>
      <p:sp>
        <p:nvSpPr>
          <p:cNvPr id="12" name="Shape 8"/>
          <p:cNvSpPr/>
          <p:nvPr/>
        </p:nvSpPr>
        <p:spPr>
          <a:xfrm>
            <a:off x="2240280" y="2606040"/>
            <a:ext cx="2551076" cy="1410399"/>
          </a:xfrm>
          <a:prstGeom prst="line">
            <a:avLst/>
          </a:prstGeom>
          <a:noFill/>
          <a:ln w="15875">
            <a:solidFill>
              <a:srgbClr val="B06220"/>
            </a:solidFill>
            <a:prstDash val="dash"/>
          </a:ln>
        </p:spPr>
      </p:sp>
      <p:sp>
        <p:nvSpPr>
          <p:cNvPr id="13" name="Shape 9"/>
          <p:cNvSpPr/>
          <p:nvPr/>
        </p:nvSpPr>
        <p:spPr>
          <a:xfrm>
            <a:off x="4745636" y="3970719"/>
            <a:ext cx="91440" cy="91440"/>
          </a:xfrm>
          <a:prstGeom prst="ellipse">
            <a:avLst/>
          </a:prstGeom>
          <a:solidFill>
            <a:srgbClr val="B06220"/>
          </a:solidFill>
          <a:ln w="12700">
            <a:solidFill>
              <a:srgbClr val="FFFFFF"/>
            </a:solidFill>
            <a:prstDash val="solid"/>
          </a:ln>
        </p:spPr>
      </p:sp>
      <p:sp>
        <p:nvSpPr>
          <p:cNvPr id="14" name="Shape 10"/>
          <p:cNvSpPr/>
          <p:nvPr/>
        </p:nvSpPr>
        <p:spPr>
          <a:xfrm>
            <a:off x="9217152" y="1554480"/>
            <a:ext cx="2286000" cy="868680"/>
          </a:xfrm>
          <a:prstGeom prst="roundRect">
            <a:avLst>
              <a:gd name="adj" fmla="val 5263"/>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5" name="Text 11"/>
          <p:cNvSpPr/>
          <p:nvPr/>
        </p:nvSpPr>
        <p:spPr>
          <a:xfrm>
            <a:off x="9336024" y="1609344"/>
            <a:ext cx="2048256" cy="503834"/>
          </a:xfrm>
          <a:prstGeom prst="rect">
            <a:avLst/>
          </a:prstGeom>
          <a:noFill/>
          <a:ln/>
        </p:spPr>
        <p:txBody>
          <a:bodyPr wrap="square" rtlCol="0" anchor="b"/>
          <a:lstStyle/>
          <a:p>
            <a:pPr indent="0" marL="0">
              <a:buNone/>
            </a:pPr>
            <a:r>
              <a:rPr lang="en-US" sz="1900" b="1" dirty="0">
                <a:solidFill>
                  <a:srgbClr val="0F1B2D"/>
                </a:solidFill>
                <a:latin typeface="Calibri" pitchFamily="34" charset="0"/>
                <a:ea typeface="Calibri" pitchFamily="34" charset="-122"/>
                <a:cs typeface="Calibri" pitchFamily="34" charset="-120"/>
              </a:rPr>
              <a:t>6</a:t>
            </a:r>
            <a:endParaRPr lang="en-US" sz="1900" dirty="0"/>
          </a:p>
        </p:txBody>
      </p:sp>
      <p:sp>
        <p:nvSpPr>
          <p:cNvPr id="16" name="Text 12"/>
          <p:cNvSpPr/>
          <p:nvPr/>
        </p:nvSpPr>
        <p:spPr>
          <a:xfrm>
            <a:off x="9336024" y="2075688"/>
            <a:ext cx="2048256" cy="274320"/>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LOCAL SUBSTATIONS WITHIN 10 MILES</a:t>
            </a:r>
            <a:endParaRPr lang="en-US" sz="830" dirty="0"/>
          </a:p>
        </p:txBody>
      </p:sp>
      <p:sp>
        <p:nvSpPr>
          <p:cNvPr id="17" name="Shape 13"/>
          <p:cNvSpPr/>
          <p:nvPr/>
        </p:nvSpPr>
        <p:spPr>
          <a:xfrm flipH="1">
            <a:off x="6112278" y="2423160"/>
            <a:ext cx="4247874" cy="1614641"/>
          </a:xfrm>
          <a:prstGeom prst="line">
            <a:avLst/>
          </a:prstGeom>
          <a:noFill/>
          <a:ln w="15875">
            <a:solidFill>
              <a:srgbClr val="0F1B2D"/>
            </a:solidFill>
            <a:prstDash val="dash"/>
          </a:ln>
        </p:spPr>
      </p:sp>
      <p:sp>
        <p:nvSpPr>
          <p:cNvPr id="18" name="Shape 14"/>
          <p:cNvSpPr/>
          <p:nvPr/>
        </p:nvSpPr>
        <p:spPr>
          <a:xfrm>
            <a:off x="6066558" y="3992081"/>
            <a:ext cx="91440" cy="91440"/>
          </a:xfrm>
          <a:prstGeom prst="ellipse">
            <a:avLst/>
          </a:prstGeom>
          <a:solidFill>
            <a:srgbClr val="0F1B2D"/>
          </a:solidFill>
          <a:ln w="12700">
            <a:solidFill>
              <a:srgbClr val="FFFFFF"/>
            </a:solidFill>
            <a:prstDash val="solid"/>
          </a:ln>
        </p:spPr>
      </p:sp>
      <p:sp>
        <p:nvSpPr>
          <p:cNvPr id="19" name="Shape 15"/>
          <p:cNvSpPr/>
          <p:nvPr/>
        </p:nvSpPr>
        <p:spPr>
          <a:xfrm>
            <a:off x="8988552" y="5349240"/>
            <a:ext cx="2514600" cy="822960"/>
          </a:xfrm>
          <a:prstGeom prst="roundRect">
            <a:avLst>
              <a:gd name="adj" fmla="val 5556"/>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20" name="Text 16"/>
          <p:cNvSpPr/>
          <p:nvPr/>
        </p:nvSpPr>
        <p:spPr>
          <a:xfrm>
            <a:off x="9107424" y="5404104"/>
            <a:ext cx="2276856" cy="477317"/>
          </a:xfrm>
          <a:prstGeom prst="rect">
            <a:avLst/>
          </a:prstGeom>
          <a:noFill/>
          <a:ln/>
        </p:spPr>
        <p:txBody>
          <a:bodyPr wrap="square" rtlCol="0" anchor="b"/>
          <a:lstStyle/>
          <a:p>
            <a:pPr indent="0" marL="0">
              <a:buNone/>
            </a:pPr>
            <a:r>
              <a:rPr lang="en-US" sz="1900" b="1" dirty="0">
                <a:solidFill>
                  <a:srgbClr val="B06220"/>
                </a:solidFill>
                <a:latin typeface="Calibri" pitchFamily="34" charset="0"/>
                <a:ea typeface="Calibri" pitchFamily="34" charset="-122"/>
                <a:cs typeface="Calibri" pitchFamily="34" charset="-120"/>
              </a:rPr>
              <a:t>141 + 133</a:t>
            </a:r>
            <a:endParaRPr lang="en-US" sz="1900" dirty="0"/>
          </a:p>
        </p:txBody>
      </p:sp>
      <p:sp>
        <p:nvSpPr>
          <p:cNvPr id="21" name="Text 17"/>
          <p:cNvSpPr/>
          <p:nvPr/>
        </p:nvSpPr>
        <p:spPr>
          <a:xfrm>
            <a:off x="9107424" y="5843016"/>
            <a:ext cx="2276856" cy="256032"/>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SUBSTATION + LINE UPGRADES TRACKED ERCOT-WIDE (TPIT PIPELINE)</a:t>
            </a:r>
            <a:endParaRPr lang="en-US" sz="830" dirty="0"/>
          </a:p>
        </p:txBody>
      </p:sp>
      <p:sp>
        <p:nvSpPr>
          <p:cNvPr id="22" name="Text 18"/>
          <p:cNvSpPr/>
          <p:nvPr/>
        </p:nvSpPr>
        <p:spPr>
          <a:xfrm>
            <a:off x="548640" y="6528816"/>
            <a:ext cx="7315200" cy="256032"/>
          </a:xfrm>
          <a:prstGeom prst="rect">
            <a:avLst/>
          </a:prstGeom>
          <a:noFill/>
          <a:ln/>
        </p:spPr>
        <p:txBody>
          <a:bodyPr wrap="square" rtlCol="0" anchor="ctr"/>
          <a:lstStyle/>
          <a:p>
            <a:pPr indent="0" marL="0">
              <a:buNone/>
            </a:pPr>
            <a:r>
              <a:rPr lang="en-US" sz="750" spc="50" kern="0" dirty="0">
                <a:solidFill>
                  <a:srgbClr val="64748B"/>
                </a:solidFill>
                <a:latin typeface="Calibri" pitchFamily="34" charset="0"/>
                <a:ea typeface="Calibri" pitchFamily="34" charset="-122"/>
                <a:cs typeface="Calibri" pitchFamily="34" charset="-120"/>
              </a:rPr>
              <a:t>CARAMBA NORTH — MAP-LED SUMMARY, CONFIDENTIAL</a:t>
            </a:r>
            <a:endParaRPr lang="en-US" sz="750" dirty="0"/>
          </a:p>
        </p:txBody>
      </p:sp>
      <p:sp>
        <p:nvSpPr>
          <p:cNvPr id="23" name="Text 19"/>
          <p:cNvSpPr/>
          <p:nvPr/>
        </p:nvSpPr>
        <p:spPr>
          <a:xfrm>
            <a:off x="11185855" y="6528816"/>
            <a:ext cx="457200" cy="256032"/>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37744"/>
            <a:ext cx="365760" cy="365760"/>
          </a:xfrm>
          <a:prstGeom prst="ellipse">
            <a:avLst/>
          </a:prstGeom>
          <a:solidFill>
            <a:srgbClr val="B06220"/>
          </a:solidFill>
          <a:ln/>
          <a:effectLst>
            <a:outerShdw sx="100000" sy="100000" kx="0" ky="0" algn="bl" rotWithShape="0" blurRad="101600" dist="25400" dir="5400000">
              <a:srgbClr val="0F1B2D">
                <a:alpha val="18000"/>
              </a:srgbClr>
            </a:outerShdw>
          </a:effectLst>
        </p:spPr>
      </p:sp>
      <p:pic>
        <p:nvPicPr>
          <p:cNvPr id="3" name="Image 0" descr="/home/claude/repo/outputs/reports/om_exhibits/icons/industry.png">    </p:cNvPr>
          <p:cNvPicPr>
            <a:picLocks noChangeAspect="1"/>
          </p:cNvPicPr>
          <p:nvPr/>
        </p:nvPicPr>
        <p:blipFill>
          <a:blip r:embed="rId1"/>
          <a:stretch>
            <a:fillRect/>
          </a:stretch>
        </p:blipFill>
        <p:spPr>
          <a:xfrm>
            <a:off x="643738" y="332842"/>
            <a:ext cx="175565" cy="175565"/>
          </a:xfrm>
          <a:prstGeom prst="rect">
            <a:avLst/>
          </a:prstGeom>
        </p:spPr>
      </p:pic>
      <p:sp>
        <p:nvSpPr>
          <p:cNvPr id="4" name="Text 1"/>
          <p:cNvSpPr/>
          <p:nvPr/>
        </p:nvSpPr>
        <p:spPr>
          <a:xfrm>
            <a:off x="1024128" y="256032"/>
            <a:ext cx="8686800" cy="292608"/>
          </a:xfrm>
          <a:prstGeom prst="rect">
            <a:avLst/>
          </a:prstGeom>
          <a:noFill/>
          <a:ln/>
        </p:spPr>
        <p:txBody>
          <a:bodyPr wrap="square" rtlCol="0" anchor="ctr"/>
          <a:lstStyle/>
          <a:p>
            <a:pPr indent="0" marL="0">
              <a:buNone/>
            </a:pPr>
            <a:r>
              <a:rPr lang="en-US" sz="1050" b="1" spc="180" kern="0" dirty="0">
                <a:solidFill>
                  <a:srgbClr val="B06220"/>
                </a:solidFill>
                <a:latin typeface="Calibri" pitchFamily="34" charset="0"/>
                <a:ea typeface="Calibri" pitchFamily="34" charset="-122"/>
                <a:cs typeface="Calibri" pitchFamily="34" charset="-120"/>
              </a:rPr>
              <a:t>02.3 · REGIONAL POWER CLUSTER</a:t>
            </a:r>
            <a:endParaRPr lang="en-US" sz="1050" dirty="0"/>
          </a:p>
        </p:txBody>
      </p:sp>
      <p:sp>
        <p:nvSpPr>
          <p:cNvPr id="5" name="Text 2"/>
          <p:cNvSpPr/>
          <p:nvPr/>
        </p:nvSpPr>
        <p:spPr>
          <a:xfrm>
            <a:off x="548640" y="512064"/>
            <a:ext cx="11064240" cy="512064"/>
          </a:xfrm>
          <a:prstGeom prst="rect">
            <a:avLst/>
          </a:prstGeom>
          <a:noFill/>
          <a:ln/>
        </p:spPr>
        <p:txBody>
          <a:bodyPr wrap="square" rtlCol="0" anchor="t"/>
          <a:lstStyle/>
          <a:p>
            <a:pPr indent="0" marL="0">
              <a:buNone/>
            </a:pPr>
            <a:r>
              <a:rPr lang="en-US" sz="2300" b="1" dirty="0">
                <a:solidFill>
                  <a:srgbClr val="0F1B2D"/>
                </a:solidFill>
                <a:latin typeface="Bookman Old Style" pitchFamily="34" charset="0"/>
                <a:ea typeface="Bookman Old Style" pitchFamily="34" charset="-122"/>
                <a:cs typeface="Bookman Old Style" pitchFamily="34" charset="-120"/>
              </a:rPr>
              <a:t>12 GW already queued in Pecos County alone</a:t>
            </a:r>
            <a:endParaRPr lang="en-US" sz="2300" dirty="0"/>
          </a:p>
        </p:txBody>
      </p:sp>
      <p:sp>
        <p:nvSpPr>
          <p:cNvPr id="6" name="Text 3"/>
          <p:cNvSpPr/>
          <p:nvPr/>
        </p:nvSpPr>
        <p:spPr>
          <a:xfrm>
            <a:off x="548640" y="1005840"/>
            <a:ext cx="11064240" cy="384048"/>
          </a:xfrm>
          <a:prstGeom prst="rect">
            <a:avLst/>
          </a:prstGeom>
          <a:noFill/>
          <a:ln/>
        </p:spPr>
        <p:txBody>
          <a:bodyPr wrap="square" rtlCol="0" anchor="t"/>
          <a:lstStyle/>
          <a:p>
            <a:pPr indent="0" marL="0">
              <a:buNone/>
            </a:pPr>
            <a:r>
              <a:rPr lang="en-US" sz="1250" i="1" dirty="0">
                <a:solidFill>
                  <a:srgbClr val="475569"/>
                </a:solidFill>
                <a:latin typeface="Calibri" pitchFamily="34" charset="0"/>
                <a:ea typeface="Calibri" pitchFamily="34" charset="-122"/>
                <a:cs typeface="Calibri" pitchFamily="34" charset="-120"/>
              </a:rPr>
              <a:t>Before counting the two hyperscale campuses profiled ahead — this is the densest renewable + storage cluster in ERCOT.</a:t>
            </a:r>
            <a:endParaRPr lang="en-US" sz="1250" dirty="0"/>
          </a:p>
        </p:txBody>
      </p:sp>
      <p:pic>
        <p:nvPicPr>
          <p:cNvPr id="7" name="Image 1" descr="/home/claude/repo/outputs/reports/om_exhibits/exhibit_4_1_generation-cluster.jpg">    </p:cNvPr>
          <p:cNvPicPr>
            <a:picLocks noChangeAspect="1"/>
          </p:cNvPicPr>
          <p:nvPr/>
        </p:nvPicPr>
        <p:blipFill>
          <a:blip r:embed="rId2"/>
          <a:stretch>
            <a:fillRect/>
          </a:stretch>
        </p:blipFill>
        <p:spPr>
          <a:xfrm>
            <a:off x="1821952" y="1417320"/>
            <a:ext cx="8545048" cy="4892040"/>
          </a:xfrm>
          <a:prstGeom prst="rect">
            <a:avLst/>
          </a:prstGeom>
          <a:effectLst>
            <a:outerShdw sx="100000" sy="100000" kx="0" ky="0" algn="bl" rotWithShape="0" blurRad="101600" dist="25400" dir="5400000">
              <a:srgbClr val="0F1B2D">
                <a:alpha val="18000"/>
              </a:srgbClr>
            </a:outerShdw>
          </a:effectLst>
        </p:spPr>
      </p:pic>
      <p:sp>
        <p:nvSpPr>
          <p:cNvPr id="8" name="Shape 4"/>
          <p:cNvSpPr/>
          <p:nvPr/>
        </p:nvSpPr>
        <p:spPr>
          <a:xfrm>
            <a:off x="1821952" y="1417320"/>
            <a:ext cx="8545048" cy="4892040"/>
          </a:xfrm>
          <a:prstGeom prst="rect">
            <a:avLst/>
          </a:prstGeom>
          <a:ln w="12700">
            <a:solidFill>
              <a:srgbClr val="E2E8F0"/>
            </a:solidFill>
            <a:prstDash val="solid"/>
          </a:ln>
        </p:spPr>
      </p:sp>
      <p:sp>
        <p:nvSpPr>
          <p:cNvPr id="9" name="Shape 5"/>
          <p:cNvSpPr/>
          <p:nvPr/>
        </p:nvSpPr>
        <p:spPr>
          <a:xfrm>
            <a:off x="685800" y="1554480"/>
            <a:ext cx="2514600" cy="868680"/>
          </a:xfrm>
          <a:prstGeom prst="roundRect">
            <a:avLst>
              <a:gd name="adj" fmla="val 5263"/>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0" name="Text 6"/>
          <p:cNvSpPr/>
          <p:nvPr/>
        </p:nvSpPr>
        <p:spPr>
          <a:xfrm>
            <a:off x="804672" y="1609344"/>
            <a:ext cx="2276856" cy="503834"/>
          </a:xfrm>
          <a:prstGeom prst="rect">
            <a:avLst/>
          </a:prstGeom>
          <a:noFill/>
          <a:ln/>
        </p:spPr>
        <p:txBody>
          <a:bodyPr wrap="square" rtlCol="0" anchor="b"/>
          <a:lstStyle/>
          <a:p>
            <a:pPr indent="0" marL="0">
              <a:buNone/>
            </a:pPr>
            <a:r>
              <a:rPr lang="en-US" sz="1900" b="1" dirty="0">
                <a:solidFill>
                  <a:srgbClr val="0F1B2D"/>
                </a:solidFill>
                <a:latin typeface="Calibri" pitchFamily="34" charset="0"/>
                <a:ea typeface="Calibri" pitchFamily="34" charset="-122"/>
                <a:cs typeface="Calibri" pitchFamily="34" charset="-120"/>
              </a:rPr>
              <a:t>3,226 MW</a:t>
            </a:r>
            <a:endParaRPr lang="en-US" sz="1900" dirty="0"/>
          </a:p>
        </p:txBody>
      </p:sp>
      <p:sp>
        <p:nvSpPr>
          <p:cNvPr id="11" name="Text 7"/>
          <p:cNvSpPr/>
          <p:nvPr/>
        </p:nvSpPr>
        <p:spPr>
          <a:xfrm>
            <a:off x="804672" y="2075688"/>
            <a:ext cx="2276856" cy="274320"/>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OPERATING, PECOS COUNTY</a:t>
            </a:r>
            <a:endParaRPr lang="en-US" sz="830" dirty="0"/>
          </a:p>
        </p:txBody>
      </p:sp>
      <p:sp>
        <p:nvSpPr>
          <p:cNvPr id="12" name="Shape 8"/>
          <p:cNvSpPr/>
          <p:nvPr/>
        </p:nvSpPr>
        <p:spPr>
          <a:xfrm>
            <a:off x="685800" y="2514600"/>
            <a:ext cx="2514600" cy="868680"/>
          </a:xfrm>
          <a:prstGeom prst="roundRect">
            <a:avLst>
              <a:gd name="adj" fmla="val 5263"/>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3" name="Text 9"/>
          <p:cNvSpPr/>
          <p:nvPr/>
        </p:nvSpPr>
        <p:spPr>
          <a:xfrm>
            <a:off x="804672" y="2569464"/>
            <a:ext cx="2276856" cy="503834"/>
          </a:xfrm>
          <a:prstGeom prst="rect">
            <a:avLst/>
          </a:prstGeom>
          <a:noFill/>
          <a:ln/>
        </p:spPr>
        <p:txBody>
          <a:bodyPr wrap="square" rtlCol="0" anchor="b"/>
          <a:lstStyle/>
          <a:p>
            <a:pPr indent="0" marL="0">
              <a:buNone/>
            </a:pPr>
            <a:r>
              <a:rPr lang="en-US" sz="1900" b="1" dirty="0">
                <a:solidFill>
                  <a:srgbClr val="B06220"/>
                </a:solidFill>
                <a:latin typeface="Calibri" pitchFamily="34" charset="0"/>
                <a:ea typeface="Calibri" pitchFamily="34" charset="-122"/>
                <a:cs typeface="Calibri" pitchFamily="34" charset="-120"/>
              </a:rPr>
              <a:t>12,039 MW</a:t>
            </a:r>
            <a:endParaRPr lang="en-US" sz="1900" dirty="0"/>
          </a:p>
        </p:txBody>
      </p:sp>
      <p:sp>
        <p:nvSpPr>
          <p:cNvPr id="14" name="Text 10"/>
          <p:cNvSpPr/>
          <p:nvPr/>
        </p:nvSpPr>
        <p:spPr>
          <a:xfrm>
            <a:off x="804672" y="3035808"/>
            <a:ext cx="2276856" cy="274320"/>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ERCOT QUEUE, PECOS COUNTY</a:t>
            </a:r>
            <a:endParaRPr lang="en-US" sz="830" dirty="0"/>
          </a:p>
        </p:txBody>
      </p:sp>
      <p:sp>
        <p:nvSpPr>
          <p:cNvPr id="15" name="Shape 11"/>
          <p:cNvSpPr/>
          <p:nvPr/>
        </p:nvSpPr>
        <p:spPr>
          <a:xfrm>
            <a:off x="8851392" y="1554480"/>
            <a:ext cx="2651760" cy="868680"/>
          </a:xfrm>
          <a:prstGeom prst="roundRect">
            <a:avLst>
              <a:gd name="adj" fmla="val 5263"/>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6" name="Text 12"/>
          <p:cNvSpPr/>
          <p:nvPr/>
        </p:nvSpPr>
        <p:spPr>
          <a:xfrm>
            <a:off x="8970264" y="1609344"/>
            <a:ext cx="2414016" cy="503834"/>
          </a:xfrm>
          <a:prstGeom prst="rect">
            <a:avLst/>
          </a:prstGeom>
          <a:noFill/>
          <a:ln/>
        </p:spPr>
        <p:txBody>
          <a:bodyPr wrap="square" rtlCol="0" anchor="b"/>
          <a:lstStyle/>
          <a:p>
            <a:pPr indent="0" marL="0">
              <a:buNone/>
            </a:pPr>
            <a:r>
              <a:rPr lang="en-US" sz="1900" b="1" dirty="0">
                <a:solidFill>
                  <a:srgbClr val="0F1B2D"/>
                </a:solidFill>
                <a:latin typeface="Calibri" pitchFamily="34" charset="0"/>
                <a:ea typeface="Calibri" pitchFamily="34" charset="-122"/>
                <a:cs typeface="Calibri" pitchFamily="34" charset="-120"/>
              </a:rPr>
              <a:t>13 · 3,973 MW</a:t>
            </a:r>
            <a:endParaRPr lang="en-US" sz="1900" dirty="0"/>
          </a:p>
        </p:txBody>
      </p:sp>
      <p:sp>
        <p:nvSpPr>
          <p:cNvPr id="17" name="Text 13"/>
          <p:cNvSpPr/>
          <p:nvPr/>
        </p:nvSpPr>
        <p:spPr>
          <a:xfrm>
            <a:off x="8970264" y="2075688"/>
            <a:ext cx="2414016" cy="274320"/>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QUEUED PROJECTS WITHIN 20 MILES</a:t>
            </a:r>
            <a:endParaRPr lang="en-US" sz="830" dirty="0"/>
          </a:p>
        </p:txBody>
      </p:sp>
      <p:sp>
        <p:nvSpPr>
          <p:cNvPr id="18" name="Shape 14"/>
          <p:cNvSpPr/>
          <p:nvPr/>
        </p:nvSpPr>
        <p:spPr>
          <a:xfrm flipH="1">
            <a:off x="5581773" y="2423160"/>
            <a:ext cx="4595499" cy="1440180"/>
          </a:xfrm>
          <a:prstGeom prst="line">
            <a:avLst/>
          </a:prstGeom>
          <a:noFill/>
          <a:ln w="15875">
            <a:solidFill>
              <a:srgbClr val="0F1B2D"/>
            </a:solidFill>
            <a:prstDash val="dash"/>
          </a:ln>
        </p:spPr>
      </p:sp>
      <p:sp>
        <p:nvSpPr>
          <p:cNvPr id="19" name="Shape 15"/>
          <p:cNvSpPr/>
          <p:nvPr/>
        </p:nvSpPr>
        <p:spPr>
          <a:xfrm>
            <a:off x="5536053" y="3817620"/>
            <a:ext cx="91440" cy="91440"/>
          </a:xfrm>
          <a:prstGeom prst="ellipse">
            <a:avLst/>
          </a:prstGeom>
          <a:solidFill>
            <a:srgbClr val="0F1B2D"/>
          </a:solidFill>
          <a:ln w="12700">
            <a:solidFill>
              <a:srgbClr val="FFFFFF"/>
            </a:solidFill>
            <a:prstDash val="solid"/>
          </a:ln>
        </p:spPr>
      </p:sp>
      <p:sp>
        <p:nvSpPr>
          <p:cNvPr id="20" name="Shape 16"/>
          <p:cNvSpPr/>
          <p:nvPr/>
        </p:nvSpPr>
        <p:spPr>
          <a:xfrm>
            <a:off x="8851392" y="5303520"/>
            <a:ext cx="2651760" cy="868680"/>
          </a:xfrm>
          <a:prstGeom prst="roundRect">
            <a:avLst>
              <a:gd name="adj" fmla="val 5263"/>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21" name="Text 17"/>
          <p:cNvSpPr/>
          <p:nvPr/>
        </p:nvSpPr>
        <p:spPr>
          <a:xfrm>
            <a:off x="8970264" y="5358384"/>
            <a:ext cx="2414016" cy="503834"/>
          </a:xfrm>
          <a:prstGeom prst="rect">
            <a:avLst/>
          </a:prstGeom>
          <a:noFill/>
          <a:ln/>
        </p:spPr>
        <p:txBody>
          <a:bodyPr wrap="square" rtlCol="0" anchor="b"/>
          <a:lstStyle/>
          <a:p>
            <a:pPr indent="0" marL="0">
              <a:buNone/>
            </a:pPr>
            <a:r>
              <a:rPr lang="en-US" sz="1900" b="1" dirty="0">
                <a:solidFill>
                  <a:srgbClr val="B06220"/>
                </a:solidFill>
                <a:latin typeface="Calibri" pitchFamily="34" charset="0"/>
                <a:ea typeface="Calibri" pitchFamily="34" charset="-122"/>
                <a:cs typeface="Calibri" pitchFamily="34" charset="-120"/>
              </a:rPr>
              <a:t>1.9 mi · 103 MW</a:t>
            </a:r>
            <a:endParaRPr lang="en-US" sz="1900" dirty="0"/>
          </a:p>
        </p:txBody>
      </p:sp>
      <p:sp>
        <p:nvSpPr>
          <p:cNvPr id="22" name="Text 18"/>
          <p:cNvSpPr/>
          <p:nvPr/>
        </p:nvSpPr>
        <p:spPr>
          <a:xfrm>
            <a:off x="8970264" y="5824728"/>
            <a:ext cx="2414016" cy="274320"/>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NEAREST OPERATING STORAGE — ST. GALL ENERGY STORAGE I</a:t>
            </a:r>
            <a:endParaRPr lang="en-US" sz="830" dirty="0"/>
          </a:p>
        </p:txBody>
      </p:sp>
      <p:sp>
        <p:nvSpPr>
          <p:cNvPr id="23" name="Shape 19"/>
          <p:cNvSpPr/>
          <p:nvPr/>
        </p:nvSpPr>
        <p:spPr>
          <a:xfrm flipH="1" flipV="1">
            <a:off x="6226212" y="4436570"/>
            <a:ext cx="3951060" cy="866950"/>
          </a:xfrm>
          <a:prstGeom prst="line">
            <a:avLst/>
          </a:prstGeom>
          <a:noFill/>
          <a:ln w="15875">
            <a:solidFill>
              <a:srgbClr val="B06220"/>
            </a:solidFill>
            <a:prstDash val="dash"/>
          </a:ln>
        </p:spPr>
      </p:sp>
      <p:sp>
        <p:nvSpPr>
          <p:cNvPr id="24" name="Shape 20"/>
          <p:cNvSpPr/>
          <p:nvPr/>
        </p:nvSpPr>
        <p:spPr>
          <a:xfrm>
            <a:off x="6180492" y="4390850"/>
            <a:ext cx="91440" cy="91440"/>
          </a:xfrm>
          <a:prstGeom prst="ellipse">
            <a:avLst/>
          </a:prstGeom>
          <a:solidFill>
            <a:srgbClr val="B06220"/>
          </a:solidFill>
          <a:ln w="12700">
            <a:solidFill>
              <a:srgbClr val="FFFFFF"/>
            </a:solidFill>
            <a:prstDash val="solid"/>
          </a:ln>
        </p:spPr>
      </p:sp>
      <p:sp>
        <p:nvSpPr>
          <p:cNvPr id="25" name="Text 21"/>
          <p:cNvSpPr/>
          <p:nvPr/>
        </p:nvSpPr>
        <p:spPr>
          <a:xfrm>
            <a:off x="548640" y="6528816"/>
            <a:ext cx="7315200" cy="256032"/>
          </a:xfrm>
          <a:prstGeom prst="rect">
            <a:avLst/>
          </a:prstGeom>
          <a:noFill/>
          <a:ln/>
        </p:spPr>
        <p:txBody>
          <a:bodyPr wrap="square" rtlCol="0" anchor="ctr"/>
          <a:lstStyle/>
          <a:p>
            <a:pPr indent="0" marL="0">
              <a:buNone/>
            </a:pPr>
            <a:r>
              <a:rPr lang="en-US" sz="750" spc="50" kern="0" dirty="0">
                <a:solidFill>
                  <a:srgbClr val="64748B"/>
                </a:solidFill>
                <a:latin typeface="Calibri" pitchFamily="34" charset="0"/>
                <a:ea typeface="Calibri" pitchFamily="34" charset="-122"/>
                <a:cs typeface="Calibri" pitchFamily="34" charset="-120"/>
              </a:rPr>
              <a:t>CARAMBA NORTH — MAP-LED SUMMARY, CONFIDENTIAL</a:t>
            </a:r>
            <a:endParaRPr lang="en-US" sz="750" dirty="0"/>
          </a:p>
        </p:txBody>
      </p:sp>
      <p:sp>
        <p:nvSpPr>
          <p:cNvPr id="26" name="Text 22"/>
          <p:cNvSpPr/>
          <p:nvPr/>
        </p:nvSpPr>
        <p:spPr>
          <a:xfrm>
            <a:off x="11185855" y="6528816"/>
            <a:ext cx="457200" cy="256032"/>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37744"/>
            <a:ext cx="365760" cy="365760"/>
          </a:xfrm>
          <a:prstGeom prst="ellipse">
            <a:avLst/>
          </a:prstGeom>
          <a:solidFill>
            <a:srgbClr val="B06220"/>
          </a:solidFill>
          <a:ln/>
          <a:effectLst>
            <a:outerShdw sx="100000" sy="100000" kx="0" ky="0" algn="bl" rotWithShape="0" blurRad="101600" dist="25400" dir="5400000">
              <a:srgbClr val="0F1B2D">
                <a:alpha val="18000"/>
              </a:srgbClr>
            </a:outerShdw>
          </a:effectLst>
        </p:spPr>
      </p:sp>
      <p:pic>
        <p:nvPicPr>
          <p:cNvPr id="3" name="Image 0" descr="/home/claude/repo/outputs/reports/om_exhibits/icons/droplet.png">    </p:cNvPr>
          <p:cNvPicPr>
            <a:picLocks noChangeAspect="1"/>
          </p:cNvPicPr>
          <p:nvPr/>
        </p:nvPicPr>
        <p:blipFill>
          <a:blip r:embed="rId1"/>
          <a:stretch>
            <a:fillRect/>
          </a:stretch>
        </p:blipFill>
        <p:spPr>
          <a:xfrm>
            <a:off x="643738" y="332842"/>
            <a:ext cx="175565" cy="175565"/>
          </a:xfrm>
          <a:prstGeom prst="rect">
            <a:avLst/>
          </a:prstGeom>
        </p:spPr>
      </p:pic>
      <p:sp>
        <p:nvSpPr>
          <p:cNvPr id="4" name="Text 1"/>
          <p:cNvSpPr/>
          <p:nvPr/>
        </p:nvSpPr>
        <p:spPr>
          <a:xfrm>
            <a:off x="1024128" y="256032"/>
            <a:ext cx="8686800" cy="292608"/>
          </a:xfrm>
          <a:prstGeom prst="rect">
            <a:avLst/>
          </a:prstGeom>
          <a:noFill/>
          <a:ln/>
        </p:spPr>
        <p:txBody>
          <a:bodyPr wrap="square" rtlCol="0" anchor="ctr"/>
          <a:lstStyle/>
          <a:p>
            <a:pPr indent="0" marL="0">
              <a:buNone/>
            </a:pPr>
            <a:r>
              <a:rPr lang="en-US" sz="1050" b="1" spc="180" kern="0" dirty="0">
                <a:solidFill>
                  <a:srgbClr val="B06220"/>
                </a:solidFill>
                <a:latin typeface="Calibri" pitchFamily="34" charset="0"/>
                <a:ea typeface="Calibri" pitchFamily="34" charset="-122"/>
                <a:cs typeface="Calibri" pitchFamily="34" charset="-120"/>
              </a:rPr>
              <a:t>02.4 / 02.5 · WATER &amp; NATURAL GAS</a:t>
            </a:r>
            <a:endParaRPr lang="en-US" sz="1050" dirty="0"/>
          </a:p>
        </p:txBody>
      </p:sp>
      <p:sp>
        <p:nvSpPr>
          <p:cNvPr id="5" name="Text 2"/>
          <p:cNvSpPr/>
          <p:nvPr/>
        </p:nvSpPr>
        <p:spPr>
          <a:xfrm>
            <a:off x="548640" y="512064"/>
            <a:ext cx="11064240" cy="512064"/>
          </a:xfrm>
          <a:prstGeom prst="rect">
            <a:avLst/>
          </a:prstGeom>
          <a:noFill/>
          <a:ln/>
        </p:spPr>
        <p:txBody>
          <a:bodyPr wrap="square" rtlCol="0" anchor="t"/>
          <a:lstStyle/>
          <a:p>
            <a:pPr indent="0" marL="0">
              <a:buNone/>
            </a:pPr>
            <a:r>
              <a:rPr lang="en-US" sz="2300" b="1" dirty="0">
                <a:solidFill>
                  <a:srgbClr val="0F1B2D"/>
                </a:solidFill>
                <a:latin typeface="Bookman Old Style" pitchFamily="34" charset="0"/>
                <a:ea typeface="Bookman Old Style" pitchFamily="34" charset="-122"/>
                <a:cs typeface="Bookman Old Style" pitchFamily="34" charset="-120"/>
              </a:rPr>
              <a:t>Water and gas positions that are already closed, not open</a:t>
            </a:r>
            <a:endParaRPr lang="en-US" sz="2300" dirty="0"/>
          </a:p>
        </p:txBody>
      </p:sp>
      <p:sp>
        <p:nvSpPr>
          <p:cNvPr id="6" name="Text 3"/>
          <p:cNvSpPr/>
          <p:nvPr/>
        </p:nvSpPr>
        <p:spPr>
          <a:xfrm>
            <a:off x="548640" y="1005840"/>
            <a:ext cx="11064240" cy="384048"/>
          </a:xfrm>
          <a:prstGeom prst="rect">
            <a:avLst/>
          </a:prstGeom>
          <a:noFill/>
          <a:ln/>
        </p:spPr>
        <p:txBody>
          <a:bodyPr wrap="square" rtlCol="0" anchor="t"/>
          <a:lstStyle/>
          <a:p>
            <a:pPr indent="0" marL="0">
              <a:buNone/>
            </a:pPr>
            <a:r>
              <a:rPr lang="en-US" sz="1250" i="1" dirty="0">
                <a:solidFill>
                  <a:srgbClr val="475569"/>
                </a:solidFill>
                <a:latin typeface="Calibri" pitchFamily="34" charset="0"/>
                <a:ea typeface="Calibri" pitchFamily="34" charset="-122"/>
                <a:cs typeface="Calibri" pitchFamily="34" charset="-120"/>
              </a:rPr>
              <a:t>Two-thirds of the district’s industrial water rights, and a signable 15-year Waha-basis gas quote, sit on this position today.</a:t>
            </a:r>
            <a:endParaRPr lang="en-US" sz="1250" dirty="0"/>
          </a:p>
        </p:txBody>
      </p:sp>
      <p:sp>
        <p:nvSpPr>
          <p:cNvPr id="7" name="Shape 4"/>
          <p:cNvSpPr/>
          <p:nvPr/>
        </p:nvSpPr>
        <p:spPr>
          <a:xfrm>
            <a:off x="1737360" y="3794760"/>
            <a:ext cx="4361688" cy="0"/>
          </a:xfrm>
          <a:prstGeom prst="line">
            <a:avLst/>
          </a:prstGeom>
          <a:noFill/>
          <a:ln w="25400">
            <a:solidFill>
              <a:srgbClr val="E2E8F0"/>
            </a:solidFill>
            <a:prstDash val="solid"/>
          </a:ln>
        </p:spPr>
      </p:sp>
      <p:sp>
        <p:nvSpPr>
          <p:cNvPr id="8" name="Shape 5"/>
          <p:cNvSpPr/>
          <p:nvPr/>
        </p:nvSpPr>
        <p:spPr>
          <a:xfrm>
            <a:off x="6099048" y="3794760"/>
            <a:ext cx="4325112" cy="0"/>
          </a:xfrm>
          <a:prstGeom prst="line">
            <a:avLst/>
          </a:prstGeom>
          <a:noFill/>
          <a:ln w="25400">
            <a:solidFill>
              <a:srgbClr val="E2E8F0"/>
            </a:solidFill>
            <a:prstDash val="solid"/>
          </a:ln>
        </p:spPr>
      </p:sp>
      <p:sp>
        <p:nvSpPr>
          <p:cNvPr id="9" name="Shape 6"/>
          <p:cNvSpPr/>
          <p:nvPr/>
        </p:nvSpPr>
        <p:spPr>
          <a:xfrm>
            <a:off x="1426464" y="3483864"/>
            <a:ext cx="621792" cy="621792"/>
          </a:xfrm>
          <a:prstGeom prst="ellipse">
            <a:avLst/>
          </a:prstGeom>
          <a:solidFill>
            <a:srgbClr val="B06220"/>
          </a:solidFill>
          <a:ln/>
          <a:effectLst>
            <a:outerShdw sx="100000" sy="100000" kx="0" ky="0" algn="bl" rotWithShape="0" blurRad="101600" dist="25400" dir="5400000">
              <a:srgbClr val="0F1B2D">
                <a:alpha val="18000"/>
              </a:srgbClr>
            </a:outerShdw>
          </a:effectLst>
        </p:spPr>
      </p:sp>
      <p:pic>
        <p:nvPicPr>
          <p:cNvPr id="10" name="Image 1" descr="/home/claude/repo/outputs/reports/om_exhibits/icons/gaspump.png">    </p:cNvPr>
          <p:cNvPicPr>
            <a:picLocks noChangeAspect="1"/>
          </p:cNvPicPr>
          <p:nvPr/>
        </p:nvPicPr>
        <p:blipFill>
          <a:blip r:embed="rId2"/>
          <a:stretch>
            <a:fillRect/>
          </a:stretch>
        </p:blipFill>
        <p:spPr>
          <a:xfrm>
            <a:off x="1588130" y="3645530"/>
            <a:ext cx="298460" cy="298460"/>
          </a:xfrm>
          <a:prstGeom prst="rect">
            <a:avLst/>
          </a:prstGeom>
        </p:spPr>
      </p:pic>
      <p:sp>
        <p:nvSpPr>
          <p:cNvPr id="11" name="Text 7"/>
          <p:cNvSpPr/>
          <p:nvPr/>
        </p:nvSpPr>
        <p:spPr>
          <a:xfrm>
            <a:off x="914400" y="4178808"/>
            <a:ext cx="1645920" cy="274320"/>
          </a:xfrm>
          <a:prstGeom prst="rect">
            <a:avLst/>
          </a:prstGeom>
          <a:noFill/>
          <a:ln/>
        </p:spPr>
        <p:txBody>
          <a:bodyPr wrap="square" rtlCol="0" anchor="ctr"/>
          <a:lstStyle/>
          <a:p>
            <a:pPr algn="ctr" indent="0" marL="0">
              <a:buNone/>
            </a:pPr>
            <a:r>
              <a:rPr lang="en-US" sz="1100" b="1" dirty="0">
                <a:solidFill>
                  <a:srgbClr val="0F1B2D"/>
                </a:solidFill>
                <a:latin typeface="Calibri" pitchFamily="34" charset="0"/>
                <a:ea typeface="Calibri" pitchFamily="34" charset="-122"/>
                <a:cs typeface="Calibri" pitchFamily="34" charset="-120"/>
              </a:rPr>
              <a:t>WAHA HUB</a:t>
            </a:r>
            <a:endParaRPr lang="en-US" sz="1100" dirty="0"/>
          </a:p>
        </p:txBody>
      </p:sp>
      <p:sp>
        <p:nvSpPr>
          <p:cNvPr id="12" name="Shape 8"/>
          <p:cNvSpPr/>
          <p:nvPr/>
        </p:nvSpPr>
        <p:spPr>
          <a:xfrm>
            <a:off x="5715000" y="3410712"/>
            <a:ext cx="768096" cy="768096"/>
          </a:xfrm>
          <a:prstGeom prst="ellipse">
            <a:avLst/>
          </a:prstGeom>
          <a:solidFill>
            <a:srgbClr val="0F1B2D"/>
          </a:solidFill>
          <a:ln/>
          <a:effectLst>
            <a:outerShdw sx="100000" sy="100000" kx="0" ky="0" algn="bl" rotWithShape="0" blurRad="101600" dist="25400" dir="5400000">
              <a:srgbClr val="0F1B2D">
                <a:alpha val="18000"/>
              </a:srgbClr>
            </a:outerShdw>
          </a:effectLst>
        </p:spPr>
      </p:sp>
      <p:pic>
        <p:nvPicPr>
          <p:cNvPr id="13" name="Image 2" descr="/home/claude/repo/outputs/reports/om_exhibits/icons/mappin.png">    </p:cNvPr>
          <p:cNvPicPr>
            <a:picLocks noChangeAspect="1"/>
          </p:cNvPicPr>
          <p:nvPr/>
        </p:nvPicPr>
        <p:blipFill>
          <a:blip r:embed="rId3"/>
          <a:stretch>
            <a:fillRect/>
          </a:stretch>
        </p:blipFill>
        <p:spPr>
          <a:xfrm>
            <a:off x="5914705" y="3610417"/>
            <a:ext cx="368686" cy="368686"/>
          </a:xfrm>
          <a:prstGeom prst="rect">
            <a:avLst/>
          </a:prstGeom>
        </p:spPr>
      </p:pic>
      <p:sp>
        <p:nvSpPr>
          <p:cNvPr id="14" name="Text 9"/>
          <p:cNvSpPr/>
          <p:nvPr/>
        </p:nvSpPr>
        <p:spPr>
          <a:xfrm>
            <a:off x="5093208" y="4251960"/>
            <a:ext cx="2011680" cy="274320"/>
          </a:xfrm>
          <a:prstGeom prst="rect">
            <a:avLst/>
          </a:prstGeom>
          <a:noFill/>
          <a:ln/>
        </p:spPr>
        <p:txBody>
          <a:bodyPr wrap="square" rtlCol="0" anchor="ctr"/>
          <a:lstStyle/>
          <a:p>
            <a:pPr algn="ctr" indent="0" marL="0">
              <a:buNone/>
            </a:pPr>
            <a:r>
              <a:rPr lang="en-US" sz="1200" b="1" dirty="0">
                <a:solidFill>
                  <a:srgbClr val="0F1B2D"/>
                </a:solidFill>
                <a:latin typeface="Calibri" pitchFamily="34" charset="0"/>
                <a:ea typeface="Calibri" pitchFamily="34" charset="-122"/>
                <a:cs typeface="Calibri" pitchFamily="34" charset="-120"/>
              </a:rPr>
              <a:t>CARAMBA NORTH</a:t>
            </a:r>
            <a:endParaRPr lang="en-US" sz="1200" dirty="0"/>
          </a:p>
        </p:txBody>
      </p:sp>
      <p:sp>
        <p:nvSpPr>
          <p:cNvPr id="15" name="Shape 10"/>
          <p:cNvSpPr/>
          <p:nvPr/>
        </p:nvSpPr>
        <p:spPr>
          <a:xfrm>
            <a:off x="10113264" y="3483864"/>
            <a:ext cx="621792" cy="621792"/>
          </a:xfrm>
          <a:prstGeom prst="ellipse">
            <a:avLst/>
          </a:prstGeom>
          <a:solidFill>
            <a:srgbClr val="B06220"/>
          </a:solidFill>
          <a:ln/>
          <a:effectLst>
            <a:outerShdw sx="100000" sy="100000" kx="0" ky="0" algn="bl" rotWithShape="0" blurRad="101600" dist="25400" dir="5400000">
              <a:srgbClr val="0F1B2D">
                <a:alpha val="18000"/>
              </a:srgbClr>
            </a:outerShdw>
          </a:effectLst>
        </p:spPr>
      </p:sp>
      <p:pic>
        <p:nvPicPr>
          <p:cNvPr id="16" name="Image 3" descr="/home/claude/repo/outputs/reports/om_exhibits/icons/droplet.png">    </p:cNvPr>
          <p:cNvPicPr>
            <a:picLocks noChangeAspect="1"/>
          </p:cNvPicPr>
          <p:nvPr/>
        </p:nvPicPr>
        <p:blipFill>
          <a:blip r:embed="rId4"/>
          <a:stretch>
            <a:fillRect/>
          </a:stretch>
        </p:blipFill>
        <p:spPr>
          <a:xfrm>
            <a:off x="10274930" y="3645530"/>
            <a:ext cx="298460" cy="298460"/>
          </a:xfrm>
          <a:prstGeom prst="rect">
            <a:avLst/>
          </a:prstGeom>
        </p:spPr>
      </p:pic>
      <p:sp>
        <p:nvSpPr>
          <p:cNvPr id="17" name="Text 11"/>
          <p:cNvSpPr/>
          <p:nvPr/>
        </p:nvSpPr>
        <p:spPr>
          <a:xfrm>
            <a:off x="9418320" y="4178808"/>
            <a:ext cx="2011680" cy="274320"/>
          </a:xfrm>
          <a:prstGeom prst="rect">
            <a:avLst/>
          </a:prstGeom>
          <a:noFill/>
          <a:ln/>
        </p:spPr>
        <p:txBody>
          <a:bodyPr wrap="square" rtlCol="0" anchor="ctr"/>
          <a:lstStyle/>
          <a:p>
            <a:pPr algn="ctr" indent="0" marL="0">
              <a:buNone/>
            </a:pPr>
            <a:r>
              <a:rPr lang="en-US" sz="1100" b="1" dirty="0">
                <a:solidFill>
                  <a:srgbClr val="0F1B2D"/>
                </a:solidFill>
                <a:latin typeface="Calibri" pitchFamily="34" charset="0"/>
                <a:ea typeface="Calibri" pitchFamily="34" charset="-122"/>
                <a:cs typeface="Calibri" pitchFamily="34" charset="-120"/>
              </a:rPr>
              <a:t>MIDDLE PECOS GCD</a:t>
            </a:r>
            <a:endParaRPr lang="en-US" sz="1100" dirty="0"/>
          </a:p>
        </p:txBody>
      </p:sp>
      <p:sp>
        <p:nvSpPr>
          <p:cNvPr id="18" name="Shape 12"/>
          <p:cNvSpPr/>
          <p:nvPr/>
        </p:nvSpPr>
        <p:spPr>
          <a:xfrm>
            <a:off x="3461004" y="3593592"/>
            <a:ext cx="914400" cy="402336"/>
          </a:xfrm>
          <a:prstGeom prst="roundRect">
            <a:avLst>
              <a:gd name="adj" fmla="val 13636"/>
            </a:avLst>
          </a:prstGeom>
          <a:solidFill>
            <a:srgbClr val="FFFFFF"/>
          </a:solidFill>
          <a:ln w="15875">
            <a:solidFill>
              <a:srgbClr val="B06220"/>
            </a:solidFill>
            <a:prstDash val="solid"/>
          </a:ln>
        </p:spPr>
      </p:sp>
      <p:sp>
        <p:nvSpPr>
          <p:cNvPr id="19" name="Text 13"/>
          <p:cNvSpPr/>
          <p:nvPr/>
        </p:nvSpPr>
        <p:spPr>
          <a:xfrm>
            <a:off x="3461004" y="3593592"/>
            <a:ext cx="914400" cy="402336"/>
          </a:xfrm>
          <a:prstGeom prst="rect">
            <a:avLst/>
          </a:prstGeom>
          <a:noFill/>
          <a:ln/>
        </p:spPr>
        <p:txBody>
          <a:bodyPr wrap="square" rtlCol="0" anchor="ctr"/>
          <a:lstStyle/>
          <a:p>
            <a:pPr algn="ctr" indent="0" marL="0">
              <a:buNone/>
            </a:pPr>
            <a:r>
              <a:rPr lang="en-US" sz="1250" b="1" dirty="0">
                <a:solidFill>
                  <a:srgbClr val="B06220"/>
                </a:solidFill>
                <a:latin typeface="Calibri" pitchFamily="34" charset="0"/>
                <a:ea typeface="Calibri" pitchFamily="34" charset="-122"/>
                <a:cs typeface="Calibri" pitchFamily="34" charset="-120"/>
              </a:rPr>
              <a:t>20 MI</a:t>
            </a:r>
            <a:endParaRPr lang="en-US" sz="1250" dirty="0"/>
          </a:p>
        </p:txBody>
      </p:sp>
      <p:sp>
        <p:nvSpPr>
          <p:cNvPr id="20" name="Shape 14"/>
          <p:cNvSpPr/>
          <p:nvPr/>
        </p:nvSpPr>
        <p:spPr>
          <a:xfrm>
            <a:off x="1188720" y="1508760"/>
            <a:ext cx="2834640" cy="914400"/>
          </a:xfrm>
          <a:prstGeom prst="roundRect">
            <a:avLst>
              <a:gd name="adj" fmla="val 5000"/>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21" name="Text 15"/>
          <p:cNvSpPr/>
          <p:nvPr/>
        </p:nvSpPr>
        <p:spPr>
          <a:xfrm>
            <a:off x="1307592" y="1563624"/>
            <a:ext cx="2596896" cy="530352"/>
          </a:xfrm>
          <a:prstGeom prst="rect">
            <a:avLst/>
          </a:prstGeom>
          <a:noFill/>
          <a:ln/>
        </p:spPr>
        <p:txBody>
          <a:bodyPr wrap="square" rtlCol="0" anchor="b"/>
          <a:lstStyle/>
          <a:p>
            <a:pPr indent="0" marL="0">
              <a:buNone/>
            </a:pPr>
            <a:r>
              <a:rPr lang="en-US" sz="1900" b="1" dirty="0">
                <a:solidFill>
                  <a:srgbClr val="B06220"/>
                </a:solidFill>
                <a:latin typeface="Calibri" pitchFamily="34" charset="0"/>
                <a:ea typeface="Calibri" pitchFamily="34" charset="-122"/>
                <a:cs typeface="Calibri" pitchFamily="34" charset="-120"/>
              </a:rPr>
              <a:t>200,000 MMBtu/d</a:t>
            </a:r>
            <a:endParaRPr lang="en-US" sz="1900" dirty="0"/>
          </a:p>
        </p:txBody>
      </p:sp>
      <p:sp>
        <p:nvSpPr>
          <p:cNvPr id="22" name="Text 16"/>
          <p:cNvSpPr/>
          <p:nvPr/>
        </p:nvSpPr>
        <p:spPr>
          <a:xfrm>
            <a:off x="1307592" y="2057400"/>
            <a:ext cx="2596896" cy="292608"/>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15-YR TERM · WAHA-INDEX PRICING</a:t>
            </a:r>
            <a:endParaRPr lang="en-US" sz="830" dirty="0"/>
          </a:p>
        </p:txBody>
      </p:sp>
      <p:sp>
        <p:nvSpPr>
          <p:cNvPr id="23" name="Shape 17"/>
          <p:cNvSpPr/>
          <p:nvPr/>
        </p:nvSpPr>
        <p:spPr>
          <a:xfrm>
            <a:off x="2606040" y="2423160"/>
            <a:ext cx="548640" cy="1344168"/>
          </a:xfrm>
          <a:prstGeom prst="line">
            <a:avLst/>
          </a:prstGeom>
          <a:noFill/>
          <a:ln w="15875">
            <a:solidFill>
              <a:srgbClr val="B06220"/>
            </a:solidFill>
            <a:prstDash val="dash"/>
          </a:ln>
        </p:spPr>
      </p:sp>
      <p:sp>
        <p:nvSpPr>
          <p:cNvPr id="24" name="Shape 18"/>
          <p:cNvSpPr/>
          <p:nvPr/>
        </p:nvSpPr>
        <p:spPr>
          <a:xfrm>
            <a:off x="3108960" y="3721608"/>
            <a:ext cx="91440" cy="91440"/>
          </a:xfrm>
          <a:prstGeom prst="ellipse">
            <a:avLst/>
          </a:prstGeom>
          <a:solidFill>
            <a:srgbClr val="B06220"/>
          </a:solidFill>
          <a:ln w="12700">
            <a:solidFill>
              <a:srgbClr val="FFFFFF"/>
            </a:solidFill>
            <a:prstDash val="solid"/>
          </a:ln>
        </p:spPr>
      </p:sp>
      <p:sp>
        <p:nvSpPr>
          <p:cNvPr id="25" name="Shape 19"/>
          <p:cNvSpPr/>
          <p:nvPr/>
        </p:nvSpPr>
        <p:spPr>
          <a:xfrm>
            <a:off x="1188720" y="4617720"/>
            <a:ext cx="2834640" cy="914400"/>
          </a:xfrm>
          <a:prstGeom prst="roundRect">
            <a:avLst>
              <a:gd name="adj" fmla="val 5000"/>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26" name="Text 20"/>
          <p:cNvSpPr/>
          <p:nvPr/>
        </p:nvSpPr>
        <p:spPr>
          <a:xfrm>
            <a:off x="1307592" y="4672584"/>
            <a:ext cx="2596896" cy="530352"/>
          </a:xfrm>
          <a:prstGeom prst="rect">
            <a:avLst/>
          </a:prstGeom>
          <a:noFill/>
          <a:ln/>
        </p:spPr>
        <p:txBody>
          <a:bodyPr wrap="square" rtlCol="0" anchor="b"/>
          <a:lstStyle/>
          <a:p>
            <a:pPr indent="0" marL="0">
              <a:buNone/>
            </a:pPr>
            <a:r>
              <a:rPr lang="en-US" sz="1900" b="1" dirty="0">
                <a:solidFill>
                  <a:srgbClr val="B06220"/>
                </a:solidFill>
                <a:latin typeface="Calibri" pitchFamily="34" charset="0"/>
                <a:ea typeface="Calibri" pitchFamily="34" charset="-122"/>
                <a:cs typeface="Calibri" pitchFamily="34" charset="-120"/>
              </a:rPr>
              <a:t>$15–25M CIAC</a:t>
            </a:r>
            <a:endParaRPr lang="en-US" sz="1900" dirty="0"/>
          </a:p>
        </p:txBody>
      </p:sp>
      <p:sp>
        <p:nvSpPr>
          <p:cNvPr id="27" name="Text 21"/>
          <p:cNvSpPr/>
          <p:nvPr/>
        </p:nvSpPr>
        <p:spPr>
          <a:xfrm>
            <a:off x="1307592" y="5166360"/>
            <a:ext cx="2596896" cy="292608"/>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LEAD TIME 9–15 MONTHS · COUNTERPARTY-SUPPLIED TERMS</a:t>
            </a:r>
            <a:endParaRPr lang="en-US" sz="830" dirty="0"/>
          </a:p>
        </p:txBody>
      </p:sp>
      <p:sp>
        <p:nvSpPr>
          <p:cNvPr id="28" name="Shape 22"/>
          <p:cNvSpPr/>
          <p:nvPr/>
        </p:nvSpPr>
        <p:spPr>
          <a:xfrm flipV="1">
            <a:off x="2606040" y="3822192"/>
            <a:ext cx="548640" cy="795528"/>
          </a:xfrm>
          <a:prstGeom prst="line">
            <a:avLst/>
          </a:prstGeom>
          <a:noFill/>
          <a:ln w="15875">
            <a:solidFill>
              <a:srgbClr val="B06220"/>
            </a:solidFill>
            <a:prstDash val="dash"/>
          </a:ln>
        </p:spPr>
      </p:sp>
      <p:sp>
        <p:nvSpPr>
          <p:cNvPr id="29" name="Shape 23"/>
          <p:cNvSpPr/>
          <p:nvPr/>
        </p:nvSpPr>
        <p:spPr>
          <a:xfrm>
            <a:off x="3108960" y="3776472"/>
            <a:ext cx="91440" cy="91440"/>
          </a:xfrm>
          <a:prstGeom prst="ellipse">
            <a:avLst/>
          </a:prstGeom>
          <a:solidFill>
            <a:srgbClr val="B06220"/>
          </a:solidFill>
          <a:ln w="12700">
            <a:solidFill>
              <a:srgbClr val="FFFFFF"/>
            </a:solidFill>
            <a:prstDash val="solid"/>
          </a:ln>
        </p:spPr>
      </p:sp>
      <p:sp>
        <p:nvSpPr>
          <p:cNvPr id="30" name="Shape 24"/>
          <p:cNvSpPr/>
          <p:nvPr/>
        </p:nvSpPr>
        <p:spPr>
          <a:xfrm>
            <a:off x="8138160" y="1508760"/>
            <a:ext cx="2834640" cy="914400"/>
          </a:xfrm>
          <a:prstGeom prst="roundRect">
            <a:avLst>
              <a:gd name="adj" fmla="val 5000"/>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31" name="Text 25"/>
          <p:cNvSpPr/>
          <p:nvPr/>
        </p:nvSpPr>
        <p:spPr>
          <a:xfrm>
            <a:off x="8257032" y="1563624"/>
            <a:ext cx="2596896" cy="530352"/>
          </a:xfrm>
          <a:prstGeom prst="rect">
            <a:avLst/>
          </a:prstGeom>
          <a:noFill/>
          <a:ln/>
        </p:spPr>
        <p:txBody>
          <a:bodyPr wrap="square" rtlCol="0" anchor="b"/>
          <a:lstStyle/>
          <a:p>
            <a:pPr indent="0" marL="0">
              <a:buNone/>
            </a:pPr>
            <a:r>
              <a:rPr lang="en-US" sz="1900" b="1" dirty="0">
                <a:solidFill>
                  <a:srgbClr val="0F1B2D"/>
                </a:solidFill>
                <a:latin typeface="Calibri" pitchFamily="34" charset="0"/>
                <a:ea typeface="Calibri" pitchFamily="34" charset="-122"/>
                <a:cs typeface="Calibri" pitchFamily="34" charset="-120"/>
              </a:rPr>
              <a:t>47,418 AF/yr</a:t>
            </a:r>
            <a:endParaRPr lang="en-US" sz="1900" dirty="0"/>
          </a:p>
        </p:txBody>
      </p:sp>
      <p:sp>
        <p:nvSpPr>
          <p:cNvPr id="32" name="Text 26"/>
          <p:cNvSpPr/>
          <p:nvPr/>
        </p:nvSpPr>
        <p:spPr>
          <a:xfrm>
            <a:off x="8257032" y="2057400"/>
            <a:ext cx="2596896" cy="292608"/>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 42.3 MGD — EDWARDS-TRINITY (PLATEAU) AQUIFER</a:t>
            </a:r>
            <a:endParaRPr lang="en-US" sz="830" dirty="0"/>
          </a:p>
        </p:txBody>
      </p:sp>
      <p:sp>
        <p:nvSpPr>
          <p:cNvPr id="33" name="Shape 27"/>
          <p:cNvSpPr/>
          <p:nvPr/>
        </p:nvSpPr>
        <p:spPr>
          <a:xfrm flipH="1">
            <a:off x="9006840" y="2423160"/>
            <a:ext cx="960120" cy="1344168"/>
          </a:xfrm>
          <a:prstGeom prst="line">
            <a:avLst/>
          </a:prstGeom>
          <a:noFill/>
          <a:ln w="15875">
            <a:solidFill>
              <a:srgbClr val="0F1B2D"/>
            </a:solidFill>
            <a:prstDash val="dash"/>
          </a:ln>
        </p:spPr>
      </p:sp>
      <p:sp>
        <p:nvSpPr>
          <p:cNvPr id="34" name="Shape 28"/>
          <p:cNvSpPr/>
          <p:nvPr/>
        </p:nvSpPr>
        <p:spPr>
          <a:xfrm>
            <a:off x="8961120" y="3721608"/>
            <a:ext cx="91440" cy="91440"/>
          </a:xfrm>
          <a:prstGeom prst="ellipse">
            <a:avLst/>
          </a:prstGeom>
          <a:solidFill>
            <a:srgbClr val="0F1B2D"/>
          </a:solidFill>
          <a:ln w="12700">
            <a:solidFill>
              <a:srgbClr val="FFFFFF"/>
            </a:solidFill>
            <a:prstDash val="solid"/>
          </a:ln>
        </p:spPr>
      </p:sp>
      <p:sp>
        <p:nvSpPr>
          <p:cNvPr id="35" name="Shape 29"/>
          <p:cNvSpPr/>
          <p:nvPr/>
        </p:nvSpPr>
        <p:spPr>
          <a:xfrm>
            <a:off x="8138160" y="4617720"/>
            <a:ext cx="2834640" cy="914400"/>
          </a:xfrm>
          <a:prstGeom prst="roundRect">
            <a:avLst>
              <a:gd name="adj" fmla="val 5000"/>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36" name="Text 30"/>
          <p:cNvSpPr/>
          <p:nvPr/>
        </p:nvSpPr>
        <p:spPr>
          <a:xfrm>
            <a:off x="8257032" y="4672584"/>
            <a:ext cx="2596896" cy="530352"/>
          </a:xfrm>
          <a:prstGeom prst="rect">
            <a:avLst/>
          </a:prstGeom>
          <a:noFill/>
          <a:ln/>
        </p:spPr>
        <p:txBody>
          <a:bodyPr wrap="square" rtlCol="0" anchor="b"/>
          <a:lstStyle/>
          <a:p>
            <a:pPr indent="0" marL="0">
              <a:buNone/>
            </a:pPr>
            <a:r>
              <a:rPr lang="en-US" sz="1900" b="1" dirty="0">
                <a:solidFill>
                  <a:srgbClr val="0F1B2D"/>
                </a:solidFill>
                <a:latin typeface="Calibri" pitchFamily="34" charset="0"/>
                <a:ea typeface="Calibri" pitchFamily="34" charset="-122"/>
                <a:cs typeface="Calibri" pitchFamily="34" charset="-120"/>
              </a:rPr>
              <a:t>≈ 2/3</a:t>
            </a:r>
            <a:endParaRPr lang="en-US" sz="1900" dirty="0"/>
          </a:p>
        </p:txBody>
      </p:sp>
      <p:sp>
        <p:nvSpPr>
          <p:cNvPr id="37" name="Text 31"/>
          <p:cNvSpPr/>
          <p:nvPr/>
        </p:nvSpPr>
        <p:spPr>
          <a:xfrm>
            <a:off x="8257032" y="5166360"/>
            <a:ext cx="2596896" cy="292608"/>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OF ALL MIDDLE PECOS GCD INDUSTRIAL WATER RIGHTS</a:t>
            </a:r>
            <a:endParaRPr lang="en-US" sz="830" dirty="0"/>
          </a:p>
        </p:txBody>
      </p:sp>
      <p:sp>
        <p:nvSpPr>
          <p:cNvPr id="38" name="Shape 32"/>
          <p:cNvSpPr/>
          <p:nvPr/>
        </p:nvSpPr>
        <p:spPr>
          <a:xfrm flipH="1" flipV="1">
            <a:off x="9006840" y="3822192"/>
            <a:ext cx="960120" cy="795528"/>
          </a:xfrm>
          <a:prstGeom prst="line">
            <a:avLst/>
          </a:prstGeom>
          <a:noFill/>
          <a:ln w="15875">
            <a:solidFill>
              <a:srgbClr val="0F1B2D"/>
            </a:solidFill>
            <a:prstDash val="dash"/>
          </a:ln>
        </p:spPr>
      </p:sp>
      <p:sp>
        <p:nvSpPr>
          <p:cNvPr id="39" name="Shape 33"/>
          <p:cNvSpPr/>
          <p:nvPr/>
        </p:nvSpPr>
        <p:spPr>
          <a:xfrm>
            <a:off x="8961120" y="3776472"/>
            <a:ext cx="91440" cy="91440"/>
          </a:xfrm>
          <a:prstGeom prst="ellipse">
            <a:avLst/>
          </a:prstGeom>
          <a:solidFill>
            <a:srgbClr val="0F1B2D"/>
          </a:solidFill>
          <a:ln w="12700">
            <a:solidFill>
              <a:srgbClr val="FFFFFF"/>
            </a:solidFill>
            <a:prstDash val="solid"/>
          </a:ln>
        </p:spPr>
      </p:sp>
      <p:sp>
        <p:nvSpPr>
          <p:cNvPr id="40" name="Text 34"/>
          <p:cNvSpPr/>
          <p:nvPr/>
        </p:nvSpPr>
        <p:spPr>
          <a:xfrm>
            <a:off x="548640" y="6309360"/>
            <a:ext cx="11091672" cy="365760"/>
          </a:xfrm>
          <a:prstGeom prst="rect">
            <a:avLst/>
          </a:prstGeom>
          <a:noFill/>
          <a:ln/>
        </p:spPr>
        <p:txBody>
          <a:bodyPr wrap="square"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Basis context: structural discount to Henry Hub, with negative Waha prints in 2024–2025 as Matterhorn, Blackcomb, Hugh Brinson, and GCX rebalance Permian egress.</a:t>
            </a:r>
            <a:endParaRPr lang="en-US" sz="950" dirty="0"/>
          </a:p>
        </p:txBody>
      </p:sp>
      <p:sp>
        <p:nvSpPr>
          <p:cNvPr id="41" name="Text 35"/>
          <p:cNvSpPr/>
          <p:nvPr/>
        </p:nvSpPr>
        <p:spPr>
          <a:xfrm>
            <a:off x="548640" y="6528816"/>
            <a:ext cx="7315200" cy="256032"/>
          </a:xfrm>
          <a:prstGeom prst="rect">
            <a:avLst/>
          </a:prstGeom>
          <a:noFill/>
          <a:ln/>
        </p:spPr>
        <p:txBody>
          <a:bodyPr wrap="square" rtlCol="0" anchor="ctr"/>
          <a:lstStyle/>
          <a:p>
            <a:pPr indent="0" marL="0">
              <a:buNone/>
            </a:pPr>
            <a:r>
              <a:rPr lang="en-US" sz="750" spc="50" kern="0" dirty="0">
                <a:solidFill>
                  <a:srgbClr val="64748B"/>
                </a:solidFill>
                <a:latin typeface="Calibri" pitchFamily="34" charset="0"/>
                <a:ea typeface="Calibri" pitchFamily="34" charset="-122"/>
                <a:cs typeface="Calibri" pitchFamily="34" charset="-120"/>
              </a:rPr>
              <a:t>CARAMBA NORTH — MAP-LED SUMMARY, CONFIDENTIAL</a:t>
            </a:r>
            <a:endParaRPr lang="en-US" sz="750" dirty="0"/>
          </a:p>
        </p:txBody>
      </p:sp>
      <p:sp>
        <p:nvSpPr>
          <p:cNvPr id="42" name="Text 36"/>
          <p:cNvSpPr/>
          <p:nvPr/>
        </p:nvSpPr>
        <p:spPr>
          <a:xfrm>
            <a:off x="11185855" y="6528816"/>
            <a:ext cx="457200" cy="256032"/>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37744"/>
            <a:ext cx="365760" cy="365760"/>
          </a:xfrm>
          <a:prstGeom prst="ellipse">
            <a:avLst/>
          </a:prstGeom>
          <a:solidFill>
            <a:srgbClr val="B06220"/>
          </a:solidFill>
          <a:ln/>
          <a:effectLst>
            <a:outerShdw sx="100000" sy="100000" kx="0" ky="0" algn="bl" rotWithShape="0" blurRad="101600" dist="25400" dir="5400000">
              <a:srgbClr val="0F1B2D">
                <a:alpha val="18000"/>
              </a:srgbClr>
            </a:outerShdw>
          </a:effectLst>
        </p:spPr>
      </p:sp>
      <p:pic>
        <p:nvPicPr>
          <p:cNvPr id="3" name="Image 0" descr="/home/claude/repo/outputs/reports/om_exhibits/icons/server.png">    </p:cNvPr>
          <p:cNvPicPr>
            <a:picLocks noChangeAspect="1"/>
          </p:cNvPicPr>
          <p:nvPr/>
        </p:nvPicPr>
        <p:blipFill>
          <a:blip r:embed="rId1"/>
          <a:stretch>
            <a:fillRect/>
          </a:stretch>
        </p:blipFill>
        <p:spPr>
          <a:xfrm>
            <a:off x="643738" y="332842"/>
            <a:ext cx="175565" cy="175565"/>
          </a:xfrm>
          <a:prstGeom prst="rect">
            <a:avLst/>
          </a:prstGeom>
        </p:spPr>
      </p:pic>
      <p:sp>
        <p:nvSpPr>
          <p:cNvPr id="4" name="Text 1"/>
          <p:cNvSpPr/>
          <p:nvPr/>
        </p:nvSpPr>
        <p:spPr>
          <a:xfrm>
            <a:off x="1024128" y="256032"/>
            <a:ext cx="8686800" cy="292608"/>
          </a:xfrm>
          <a:prstGeom prst="rect">
            <a:avLst/>
          </a:prstGeom>
          <a:noFill/>
          <a:ln/>
        </p:spPr>
        <p:txBody>
          <a:bodyPr wrap="square" rtlCol="0" anchor="ctr"/>
          <a:lstStyle/>
          <a:p>
            <a:pPr indent="0" marL="0">
              <a:buNone/>
            </a:pPr>
            <a:r>
              <a:rPr lang="en-US" sz="1050" b="1" spc="180" kern="0" dirty="0">
                <a:solidFill>
                  <a:srgbClr val="B06220"/>
                </a:solidFill>
                <a:latin typeface="Calibri" pitchFamily="34" charset="0"/>
                <a:ea typeface="Calibri" pitchFamily="34" charset="-122"/>
                <a:cs typeface="Calibri" pitchFamily="34" charset="-120"/>
              </a:rPr>
              <a:t>02.6 · REGIONAL DATA-CENTER / POWER PIPELINE</a:t>
            </a:r>
            <a:endParaRPr lang="en-US" sz="1050" dirty="0"/>
          </a:p>
        </p:txBody>
      </p:sp>
      <p:sp>
        <p:nvSpPr>
          <p:cNvPr id="5" name="Text 2"/>
          <p:cNvSpPr/>
          <p:nvPr/>
        </p:nvSpPr>
        <p:spPr>
          <a:xfrm>
            <a:off x="548640" y="512064"/>
            <a:ext cx="11064240" cy="512064"/>
          </a:xfrm>
          <a:prstGeom prst="rect">
            <a:avLst/>
          </a:prstGeom>
          <a:noFill/>
          <a:ln/>
        </p:spPr>
        <p:txBody>
          <a:bodyPr wrap="square" rtlCol="0" anchor="t"/>
          <a:lstStyle/>
          <a:p>
            <a:pPr indent="0" marL="0">
              <a:buNone/>
            </a:pPr>
            <a:r>
              <a:rPr lang="en-US" sz="2300" b="1" dirty="0">
                <a:solidFill>
                  <a:srgbClr val="0F1B2D"/>
                </a:solidFill>
                <a:latin typeface="Bookman Old Style" pitchFamily="34" charset="0"/>
                <a:ea typeface="Bookman Old Style" pitchFamily="34" charset="-122"/>
                <a:cs typeface="Bookman Old Style" pitchFamily="34" charset="-120"/>
              </a:rPr>
              <a:t>Five projects on one map — the corridor is not a two-project story</a:t>
            </a:r>
            <a:endParaRPr lang="en-US" sz="2300" dirty="0"/>
          </a:p>
        </p:txBody>
      </p:sp>
      <p:sp>
        <p:nvSpPr>
          <p:cNvPr id="6" name="Text 3"/>
          <p:cNvSpPr/>
          <p:nvPr/>
        </p:nvSpPr>
        <p:spPr>
          <a:xfrm>
            <a:off x="548640" y="1005840"/>
            <a:ext cx="11064240" cy="384048"/>
          </a:xfrm>
          <a:prstGeom prst="rect">
            <a:avLst/>
          </a:prstGeom>
          <a:noFill/>
          <a:ln/>
        </p:spPr>
        <p:txBody>
          <a:bodyPr wrap="square" rtlCol="0" anchor="t"/>
          <a:lstStyle/>
          <a:p>
            <a:pPr indent="0" marL="0">
              <a:buNone/>
            </a:pPr>
            <a:r>
              <a:rPr lang="en-US" sz="1250" i="1" dirty="0">
                <a:solidFill>
                  <a:srgbClr val="475569"/>
                </a:solidFill>
                <a:latin typeface="Calibri" pitchFamily="34" charset="0"/>
                <a:ea typeface="Calibri" pitchFamily="34" charset="-122"/>
                <a:cs typeface="Calibri" pitchFamily="34" charset="-120"/>
              </a:rPr>
              <a:t>The two feature anchors ahead (GW Ranch, Longfellow) sit alongside three more announced positions on the same catchment.</a:t>
            </a:r>
            <a:endParaRPr lang="en-US" sz="1250" dirty="0"/>
          </a:p>
        </p:txBody>
      </p:sp>
      <p:pic>
        <p:nvPicPr>
          <p:cNvPr id="7" name="Image 1" descr="/home/claude/repo/outputs/reports/om_exhibits/exhibit_pipeline5_mapled.jpg">    </p:cNvPr>
          <p:cNvPicPr>
            <a:picLocks noChangeAspect="1"/>
          </p:cNvPicPr>
          <p:nvPr/>
        </p:nvPicPr>
        <p:blipFill>
          <a:blip r:embed="rId2"/>
          <a:stretch>
            <a:fillRect/>
          </a:stretch>
        </p:blipFill>
        <p:spPr>
          <a:xfrm>
            <a:off x="2924952" y="2217420"/>
            <a:ext cx="6339048" cy="3108960"/>
          </a:xfrm>
          <a:prstGeom prst="rect">
            <a:avLst/>
          </a:prstGeom>
          <a:effectLst>
            <a:outerShdw sx="100000" sy="100000" kx="0" ky="0" algn="bl" rotWithShape="0" blurRad="101600" dist="25400" dir="5400000">
              <a:srgbClr val="0F1B2D">
                <a:alpha val="18000"/>
              </a:srgbClr>
            </a:outerShdw>
          </a:effectLst>
        </p:spPr>
      </p:pic>
      <p:sp>
        <p:nvSpPr>
          <p:cNvPr id="8" name="Shape 4"/>
          <p:cNvSpPr/>
          <p:nvPr/>
        </p:nvSpPr>
        <p:spPr>
          <a:xfrm>
            <a:off x="2924952" y="2217420"/>
            <a:ext cx="6339048" cy="3108960"/>
          </a:xfrm>
          <a:prstGeom prst="rect">
            <a:avLst/>
          </a:prstGeom>
          <a:ln w="12700">
            <a:solidFill>
              <a:srgbClr val="E2E8F0"/>
            </a:solidFill>
            <a:prstDash val="solid"/>
          </a:ln>
        </p:spPr>
      </p:sp>
      <p:sp>
        <p:nvSpPr>
          <p:cNvPr id="9" name="Shape 5"/>
          <p:cNvSpPr/>
          <p:nvPr/>
        </p:nvSpPr>
        <p:spPr>
          <a:xfrm>
            <a:off x="9445752" y="1417320"/>
            <a:ext cx="2194560" cy="896112"/>
          </a:xfrm>
          <a:prstGeom prst="roundRect">
            <a:avLst>
              <a:gd name="adj" fmla="val 5102"/>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0" name="Text 6"/>
          <p:cNvSpPr/>
          <p:nvPr/>
        </p:nvSpPr>
        <p:spPr>
          <a:xfrm>
            <a:off x="9564624" y="1472184"/>
            <a:ext cx="1956816" cy="519745"/>
          </a:xfrm>
          <a:prstGeom prst="rect">
            <a:avLst/>
          </a:prstGeom>
          <a:noFill/>
          <a:ln/>
        </p:spPr>
        <p:txBody>
          <a:bodyPr wrap="square" rtlCol="0" anchor="b"/>
          <a:lstStyle/>
          <a:p>
            <a:pPr indent="0" marL="0">
              <a:buNone/>
            </a:pPr>
            <a:r>
              <a:rPr lang="en-US" sz="1700" b="1" dirty="0">
                <a:solidFill>
                  <a:srgbClr val="B06220"/>
                </a:solidFill>
                <a:latin typeface="Calibri" pitchFamily="34" charset="0"/>
                <a:ea typeface="Calibri" pitchFamily="34" charset="-122"/>
                <a:cs typeface="Calibri" pitchFamily="34" charset="-120"/>
              </a:rPr>
              <a:t>2.5–5 GW</a:t>
            </a:r>
            <a:endParaRPr lang="en-US" sz="1700" dirty="0"/>
          </a:p>
        </p:txBody>
      </p:sp>
      <p:sp>
        <p:nvSpPr>
          <p:cNvPr id="11" name="Text 7"/>
          <p:cNvSpPr/>
          <p:nvPr/>
        </p:nvSpPr>
        <p:spPr>
          <a:xfrm>
            <a:off x="9564624" y="1954987"/>
            <a:ext cx="1956816" cy="285293"/>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1 · CHEVRON WEST TEXAS POWER PLANT (ANNOUNCED)</a:t>
            </a:r>
            <a:endParaRPr lang="en-US" sz="830" dirty="0"/>
          </a:p>
        </p:txBody>
      </p:sp>
      <p:sp>
        <p:nvSpPr>
          <p:cNvPr id="12" name="Shape 8"/>
          <p:cNvSpPr/>
          <p:nvPr/>
        </p:nvSpPr>
        <p:spPr>
          <a:xfrm flipH="1">
            <a:off x="3183359" y="1865376"/>
            <a:ext cx="6262393" cy="614489"/>
          </a:xfrm>
          <a:prstGeom prst="line">
            <a:avLst/>
          </a:prstGeom>
          <a:noFill/>
          <a:ln w="15875">
            <a:solidFill>
              <a:srgbClr val="B06220"/>
            </a:solidFill>
            <a:prstDash val="dash"/>
          </a:ln>
        </p:spPr>
      </p:sp>
      <p:sp>
        <p:nvSpPr>
          <p:cNvPr id="13" name="Shape 9"/>
          <p:cNvSpPr/>
          <p:nvPr/>
        </p:nvSpPr>
        <p:spPr>
          <a:xfrm>
            <a:off x="3137639" y="2434145"/>
            <a:ext cx="91440" cy="91440"/>
          </a:xfrm>
          <a:prstGeom prst="ellipse">
            <a:avLst/>
          </a:prstGeom>
          <a:solidFill>
            <a:srgbClr val="B06220"/>
          </a:solidFill>
          <a:ln w="12700">
            <a:solidFill>
              <a:srgbClr val="FFFFFF"/>
            </a:solidFill>
            <a:prstDash val="solid"/>
          </a:ln>
        </p:spPr>
      </p:sp>
      <p:sp>
        <p:nvSpPr>
          <p:cNvPr id="14" name="Shape 10"/>
          <p:cNvSpPr/>
          <p:nvPr/>
        </p:nvSpPr>
        <p:spPr>
          <a:xfrm>
            <a:off x="9445752" y="2441448"/>
            <a:ext cx="2194560" cy="896112"/>
          </a:xfrm>
          <a:prstGeom prst="roundRect">
            <a:avLst>
              <a:gd name="adj" fmla="val 5102"/>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5" name="Text 11"/>
          <p:cNvSpPr/>
          <p:nvPr/>
        </p:nvSpPr>
        <p:spPr>
          <a:xfrm>
            <a:off x="9564624" y="2496312"/>
            <a:ext cx="1956816" cy="519745"/>
          </a:xfrm>
          <a:prstGeom prst="rect">
            <a:avLst/>
          </a:prstGeom>
          <a:noFill/>
          <a:ln/>
        </p:spPr>
        <p:txBody>
          <a:bodyPr wrap="square" rtlCol="0" anchor="b"/>
          <a:lstStyle/>
          <a:p>
            <a:pPr indent="0" marL="0">
              <a:buNone/>
            </a:pPr>
            <a:r>
              <a:rPr lang="en-US" sz="1700" b="1" dirty="0">
                <a:solidFill>
                  <a:srgbClr val="B91C1C"/>
                </a:solidFill>
                <a:latin typeface="Calibri" pitchFamily="34" charset="0"/>
                <a:ea typeface="Calibri" pitchFamily="34" charset="-122"/>
                <a:cs typeface="Calibri" pitchFamily="34" charset="-120"/>
              </a:rPr>
              <a:t>7.65 GW</a:t>
            </a:r>
            <a:endParaRPr lang="en-US" sz="1700" dirty="0"/>
          </a:p>
        </p:txBody>
      </p:sp>
      <p:sp>
        <p:nvSpPr>
          <p:cNvPr id="16" name="Text 12"/>
          <p:cNvSpPr/>
          <p:nvPr/>
        </p:nvSpPr>
        <p:spPr>
          <a:xfrm>
            <a:off x="9564624" y="2979115"/>
            <a:ext cx="1956816" cy="285293"/>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2 · GW RANCH — UNDER CONSTRUCTION</a:t>
            </a:r>
            <a:endParaRPr lang="en-US" sz="830" dirty="0"/>
          </a:p>
        </p:txBody>
      </p:sp>
      <p:sp>
        <p:nvSpPr>
          <p:cNvPr id="17" name="Shape 13"/>
          <p:cNvSpPr/>
          <p:nvPr/>
        </p:nvSpPr>
        <p:spPr>
          <a:xfrm flipH="1">
            <a:off x="5690715" y="2889504"/>
            <a:ext cx="3755037" cy="351450"/>
          </a:xfrm>
          <a:prstGeom prst="line">
            <a:avLst/>
          </a:prstGeom>
          <a:noFill/>
          <a:ln w="15875">
            <a:solidFill>
              <a:srgbClr val="B91C1C"/>
            </a:solidFill>
            <a:prstDash val="dash"/>
          </a:ln>
        </p:spPr>
      </p:sp>
      <p:sp>
        <p:nvSpPr>
          <p:cNvPr id="18" name="Shape 14"/>
          <p:cNvSpPr/>
          <p:nvPr/>
        </p:nvSpPr>
        <p:spPr>
          <a:xfrm>
            <a:off x="5644995" y="3195234"/>
            <a:ext cx="91440" cy="91440"/>
          </a:xfrm>
          <a:prstGeom prst="ellipse">
            <a:avLst/>
          </a:prstGeom>
          <a:solidFill>
            <a:srgbClr val="B91C1C"/>
          </a:solidFill>
          <a:ln w="12700">
            <a:solidFill>
              <a:srgbClr val="FFFFFF"/>
            </a:solidFill>
            <a:prstDash val="solid"/>
          </a:ln>
        </p:spPr>
      </p:sp>
      <p:sp>
        <p:nvSpPr>
          <p:cNvPr id="19" name="Shape 15"/>
          <p:cNvSpPr/>
          <p:nvPr/>
        </p:nvSpPr>
        <p:spPr>
          <a:xfrm>
            <a:off x="548640" y="1417320"/>
            <a:ext cx="2194560" cy="896112"/>
          </a:xfrm>
          <a:prstGeom prst="roundRect">
            <a:avLst>
              <a:gd name="adj" fmla="val 5102"/>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20" name="Text 16"/>
          <p:cNvSpPr/>
          <p:nvPr/>
        </p:nvSpPr>
        <p:spPr>
          <a:xfrm>
            <a:off x="667512" y="1472184"/>
            <a:ext cx="1956816" cy="519745"/>
          </a:xfrm>
          <a:prstGeom prst="rect">
            <a:avLst/>
          </a:prstGeom>
          <a:noFill/>
          <a:ln/>
        </p:spPr>
        <p:txBody>
          <a:bodyPr wrap="square" rtlCol="0" anchor="b"/>
          <a:lstStyle/>
          <a:p>
            <a:pPr indent="0" marL="0">
              <a:buNone/>
            </a:pPr>
            <a:r>
              <a:rPr lang="en-US" sz="1700" b="1" dirty="0">
                <a:solidFill>
                  <a:srgbClr val="B06220"/>
                </a:solidFill>
                <a:latin typeface="Calibri" pitchFamily="34" charset="0"/>
                <a:ea typeface="Calibri" pitchFamily="34" charset="-122"/>
                <a:cs typeface="Calibri" pitchFamily="34" charset="-120"/>
              </a:rPr>
              <a:t>≈ 2 GW</a:t>
            </a:r>
            <a:endParaRPr lang="en-US" sz="1700" dirty="0"/>
          </a:p>
        </p:txBody>
      </p:sp>
      <p:sp>
        <p:nvSpPr>
          <p:cNvPr id="21" name="Text 17"/>
          <p:cNvSpPr/>
          <p:nvPr/>
        </p:nvSpPr>
        <p:spPr>
          <a:xfrm>
            <a:off x="667512" y="1954987"/>
            <a:ext cx="1956816" cy="285293"/>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3 · ALPHA DIGITAL CAMPUS (WOLF BONE RANCH)</a:t>
            </a:r>
            <a:endParaRPr lang="en-US" sz="830" dirty="0"/>
          </a:p>
        </p:txBody>
      </p:sp>
      <p:sp>
        <p:nvSpPr>
          <p:cNvPr id="22" name="Shape 18"/>
          <p:cNvSpPr/>
          <p:nvPr/>
        </p:nvSpPr>
        <p:spPr>
          <a:xfrm>
            <a:off x="2743200" y="1865376"/>
            <a:ext cx="1881586" cy="1587553"/>
          </a:xfrm>
          <a:prstGeom prst="line">
            <a:avLst/>
          </a:prstGeom>
          <a:noFill/>
          <a:ln w="15875">
            <a:solidFill>
              <a:srgbClr val="B06220"/>
            </a:solidFill>
            <a:prstDash val="dash"/>
          </a:ln>
        </p:spPr>
      </p:sp>
      <p:sp>
        <p:nvSpPr>
          <p:cNvPr id="23" name="Shape 19"/>
          <p:cNvSpPr/>
          <p:nvPr/>
        </p:nvSpPr>
        <p:spPr>
          <a:xfrm>
            <a:off x="4579066" y="3407209"/>
            <a:ext cx="91440" cy="91440"/>
          </a:xfrm>
          <a:prstGeom prst="ellipse">
            <a:avLst/>
          </a:prstGeom>
          <a:solidFill>
            <a:srgbClr val="B06220"/>
          </a:solidFill>
          <a:ln w="12700">
            <a:solidFill>
              <a:srgbClr val="FFFFFF"/>
            </a:solidFill>
            <a:prstDash val="solid"/>
          </a:ln>
        </p:spPr>
      </p:sp>
      <p:sp>
        <p:nvSpPr>
          <p:cNvPr id="24" name="Shape 20"/>
          <p:cNvSpPr/>
          <p:nvPr/>
        </p:nvSpPr>
        <p:spPr>
          <a:xfrm>
            <a:off x="9445752" y="5230368"/>
            <a:ext cx="2194560" cy="896112"/>
          </a:xfrm>
          <a:prstGeom prst="roundRect">
            <a:avLst>
              <a:gd name="adj" fmla="val 5102"/>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25" name="Text 21"/>
          <p:cNvSpPr/>
          <p:nvPr/>
        </p:nvSpPr>
        <p:spPr>
          <a:xfrm>
            <a:off x="9564624" y="5285232"/>
            <a:ext cx="1956816" cy="519745"/>
          </a:xfrm>
          <a:prstGeom prst="rect">
            <a:avLst/>
          </a:prstGeom>
          <a:noFill/>
          <a:ln/>
        </p:spPr>
        <p:txBody>
          <a:bodyPr wrap="square" rtlCol="0" anchor="b"/>
          <a:lstStyle/>
          <a:p>
            <a:pPr indent="0" marL="0">
              <a:buNone/>
            </a:pPr>
            <a:r>
              <a:rPr lang="en-US" sz="1700" b="1" dirty="0">
                <a:solidFill>
                  <a:srgbClr val="B91C1C"/>
                </a:solidFill>
                <a:latin typeface="Calibri" pitchFamily="34" charset="0"/>
                <a:ea typeface="Calibri" pitchFamily="34" charset="-122"/>
                <a:cs typeface="Calibri" pitchFamily="34" charset="-120"/>
              </a:rPr>
              <a:t>≈19.3 mi</a:t>
            </a:r>
            <a:endParaRPr lang="en-US" sz="1700" dirty="0"/>
          </a:p>
        </p:txBody>
      </p:sp>
      <p:sp>
        <p:nvSpPr>
          <p:cNvPr id="26" name="Text 22"/>
          <p:cNvSpPr/>
          <p:nvPr/>
        </p:nvSpPr>
        <p:spPr>
          <a:xfrm>
            <a:off x="9564624" y="5768035"/>
            <a:ext cx="1956816" cy="285293"/>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4 · LONGFELLOW — PHASE-1 SITE WORK UNDERWAY</a:t>
            </a:r>
            <a:endParaRPr lang="en-US" sz="830" dirty="0"/>
          </a:p>
        </p:txBody>
      </p:sp>
      <p:sp>
        <p:nvSpPr>
          <p:cNvPr id="27" name="Shape 23"/>
          <p:cNvSpPr/>
          <p:nvPr/>
        </p:nvSpPr>
        <p:spPr>
          <a:xfrm flipH="1" flipV="1">
            <a:off x="5618038" y="4216037"/>
            <a:ext cx="3827714" cy="1462387"/>
          </a:xfrm>
          <a:prstGeom prst="line">
            <a:avLst/>
          </a:prstGeom>
          <a:noFill/>
          <a:ln w="15875">
            <a:solidFill>
              <a:srgbClr val="B91C1C"/>
            </a:solidFill>
            <a:prstDash val="dash"/>
          </a:ln>
        </p:spPr>
      </p:sp>
      <p:sp>
        <p:nvSpPr>
          <p:cNvPr id="28" name="Shape 24"/>
          <p:cNvSpPr/>
          <p:nvPr/>
        </p:nvSpPr>
        <p:spPr>
          <a:xfrm>
            <a:off x="5572318" y="4170317"/>
            <a:ext cx="91440" cy="91440"/>
          </a:xfrm>
          <a:prstGeom prst="ellipse">
            <a:avLst/>
          </a:prstGeom>
          <a:solidFill>
            <a:srgbClr val="B91C1C"/>
          </a:solidFill>
          <a:ln w="12700">
            <a:solidFill>
              <a:srgbClr val="FFFFFF"/>
            </a:solidFill>
            <a:prstDash val="solid"/>
          </a:ln>
        </p:spPr>
      </p:sp>
      <p:sp>
        <p:nvSpPr>
          <p:cNvPr id="29" name="Shape 25"/>
          <p:cNvSpPr/>
          <p:nvPr/>
        </p:nvSpPr>
        <p:spPr>
          <a:xfrm>
            <a:off x="548640" y="5230368"/>
            <a:ext cx="2194560" cy="896112"/>
          </a:xfrm>
          <a:prstGeom prst="roundRect">
            <a:avLst>
              <a:gd name="adj" fmla="val 5102"/>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30" name="Text 26"/>
          <p:cNvSpPr/>
          <p:nvPr/>
        </p:nvSpPr>
        <p:spPr>
          <a:xfrm>
            <a:off x="667512" y="5285232"/>
            <a:ext cx="1956816" cy="519745"/>
          </a:xfrm>
          <a:prstGeom prst="rect">
            <a:avLst/>
          </a:prstGeom>
          <a:noFill/>
          <a:ln/>
        </p:spPr>
        <p:txBody>
          <a:bodyPr wrap="square" rtlCol="0" anchor="b"/>
          <a:lstStyle/>
          <a:p>
            <a:pPr indent="0" marL="0">
              <a:buNone/>
            </a:pPr>
            <a:r>
              <a:rPr lang="en-US" sz="1500" b="1" dirty="0">
                <a:solidFill>
                  <a:srgbClr val="B06220"/>
                </a:solidFill>
                <a:latin typeface="Calibri" pitchFamily="34" charset="0"/>
                <a:ea typeface="Calibri" pitchFamily="34" charset="-122"/>
                <a:cs typeface="Calibri" pitchFamily="34" charset="-120"/>
              </a:rPr>
              <a:t>Pecos Flats</a:t>
            </a:r>
            <a:endParaRPr lang="en-US" sz="1500" dirty="0"/>
          </a:p>
        </p:txBody>
      </p:sp>
      <p:sp>
        <p:nvSpPr>
          <p:cNvPr id="31" name="Text 27"/>
          <p:cNvSpPr/>
          <p:nvPr/>
        </p:nvSpPr>
        <p:spPr>
          <a:xfrm>
            <a:off x="667512" y="5768035"/>
            <a:ext cx="1956816" cy="285293"/>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5 · LA ESCALERA RANCH — APEX CLEAN ENERGY</a:t>
            </a:r>
            <a:endParaRPr lang="en-US" sz="830" dirty="0"/>
          </a:p>
        </p:txBody>
      </p:sp>
      <p:sp>
        <p:nvSpPr>
          <p:cNvPr id="32" name="Shape 28"/>
          <p:cNvSpPr/>
          <p:nvPr/>
        </p:nvSpPr>
        <p:spPr>
          <a:xfrm flipV="1">
            <a:off x="2743200" y="5076048"/>
            <a:ext cx="2773898" cy="602376"/>
          </a:xfrm>
          <a:prstGeom prst="line">
            <a:avLst/>
          </a:prstGeom>
          <a:noFill/>
          <a:ln w="15875">
            <a:solidFill>
              <a:srgbClr val="B06220"/>
            </a:solidFill>
            <a:prstDash val="dash"/>
          </a:ln>
        </p:spPr>
      </p:sp>
      <p:sp>
        <p:nvSpPr>
          <p:cNvPr id="33" name="Shape 29"/>
          <p:cNvSpPr/>
          <p:nvPr/>
        </p:nvSpPr>
        <p:spPr>
          <a:xfrm>
            <a:off x="5471378" y="5030328"/>
            <a:ext cx="91440" cy="91440"/>
          </a:xfrm>
          <a:prstGeom prst="ellipse">
            <a:avLst/>
          </a:prstGeom>
          <a:solidFill>
            <a:srgbClr val="B06220"/>
          </a:solidFill>
          <a:ln w="12700">
            <a:solidFill>
              <a:srgbClr val="FFFFFF"/>
            </a:solidFill>
            <a:prstDash val="solid"/>
          </a:ln>
        </p:spPr>
      </p:sp>
      <p:sp>
        <p:nvSpPr>
          <p:cNvPr id="34" name="Text 30"/>
          <p:cNvSpPr/>
          <p:nvPr/>
        </p:nvSpPr>
        <p:spPr>
          <a:xfrm>
            <a:off x="548640" y="6528816"/>
            <a:ext cx="7315200" cy="256032"/>
          </a:xfrm>
          <a:prstGeom prst="rect">
            <a:avLst/>
          </a:prstGeom>
          <a:noFill/>
          <a:ln/>
        </p:spPr>
        <p:txBody>
          <a:bodyPr wrap="square" rtlCol="0" anchor="ctr"/>
          <a:lstStyle/>
          <a:p>
            <a:pPr indent="0" marL="0">
              <a:buNone/>
            </a:pPr>
            <a:r>
              <a:rPr lang="en-US" sz="750" spc="50" kern="0" dirty="0">
                <a:solidFill>
                  <a:srgbClr val="64748B"/>
                </a:solidFill>
                <a:latin typeface="Calibri" pitchFamily="34" charset="0"/>
                <a:ea typeface="Calibri" pitchFamily="34" charset="-122"/>
                <a:cs typeface="Calibri" pitchFamily="34" charset="-120"/>
              </a:rPr>
              <a:t>CARAMBA NORTH — MAP-LED SUMMARY, CONFIDENTIAL</a:t>
            </a:r>
            <a:endParaRPr lang="en-US" sz="750" dirty="0"/>
          </a:p>
        </p:txBody>
      </p:sp>
      <p:sp>
        <p:nvSpPr>
          <p:cNvPr id="35" name="Text 31"/>
          <p:cNvSpPr/>
          <p:nvPr/>
        </p:nvSpPr>
        <p:spPr>
          <a:xfrm>
            <a:off x="11185855" y="6528816"/>
            <a:ext cx="457200" cy="256032"/>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37744"/>
            <a:ext cx="365760" cy="365760"/>
          </a:xfrm>
          <a:prstGeom prst="ellipse">
            <a:avLst/>
          </a:prstGeom>
          <a:solidFill>
            <a:srgbClr val="B91C1C"/>
          </a:solidFill>
          <a:ln/>
          <a:effectLst>
            <a:outerShdw sx="100000" sy="100000" kx="0" ky="0" algn="bl" rotWithShape="0" blurRad="101600" dist="25400" dir="5400000">
              <a:srgbClr val="0F1B2D">
                <a:alpha val="18000"/>
              </a:srgbClr>
            </a:outerShdw>
          </a:effectLst>
        </p:spPr>
      </p:sp>
      <p:pic>
        <p:nvPicPr>
          <p:cNvPr id="3" name="Image 0" descr="/home/claude/repo/outputs/reports/om_exhibits/icons/handshake.png">    </p:cNvPr>
          <p:cNvPicPr>
            <a:picLocks noChangeAspect="1"/>
          </p:cNvPicPr>
          <p:nvPr/>
        </p:nvPicPr>
        <p:blipFill>
          <a:blip r:embed="rId1"/>
          <a:stretch>
            <a:fillRect/>
          </a:stretch>
        </p:blipFill>
        <p:spPr>
          <a:xfrm>
            <a:off x="643738" y="332842"/>
            <a:ext cx="175565" cy="175565"/>
          </a:xfrm>
          <a:prstGeom prst="rect">
            <a:avLst/>
          </a:prstGeom>
        </p:spPr>
      </p:pic>
      <p:sp>
        <p:nvSpPr>
          <p:cNvPr id="4" name="Text 1"/>
          <p:cNvSpPr/>
          <p:nvPr/>
        </p:nvSpPr>
        <p:spPr>
          <a:xfrm>
            <a:off x="1024128" y="256032"/>
            <a:ext cx="8686800" cy="292608"/>
          </a:xfrm>
          <a:prstGeom prst="rect">
            <a:avLst/>
          </a:prstGeom>
          <a:noFill/>
          <a:ln/>
        </p:spPr>
        <p:txBody>
          <a:bodyPr wrap="square" rtlCol="0" anchor="ctr"/>
          <a:lstStyle/>
          <a:p>
            <a:pPr indent="0" marL="0">
              <a:buNone/>
            </a:pPr>
            <a:r>
              <a:rPr lang="en-US" sz="1050" b="1" spc="180" kern="0" dirty="0">
                <a:solidFill>
                  <a:srgbClr val="B91C1C"/>
                </a:solidFill>
                <a:latin typeface="Calibri" pitchFamily="34" charset="0"/>
                <a:ea typeface="Calibri" pitchFamily="34" charset="-122"/>
                <a:cs typeface="Calibri" pitchFamily="34" charset="-120"/>
              </a:rPr>
              <a:t>FEATURE · AMAZON / GW RANCH</a:t>
            </a:r>
            <a:endParaRPr lang="en-US" sz="1050" dirty="0"/>
          </a:p>
        </p:txBody>
      </p:sp>
      <p:sp>
        <p:nvSpPr>
          <p:cNvPr id="5" name="Text 2"/>
          <p:cNvSpPr/>
          <p:nvPr/>
        </p:nvSpPr>
        <p:spPr>
          <a:xfrm>
            <a:off x="548640" y="512064"/>
            <a:ext cx="11064240" cy="512064"/>
          </a:xfrm>
          <a:prstGeom prst="rect">
            <a:avLst/>
          </a:prstGeom>
          <a:noFill/>
          <a:ln/>
        </p:spPr>
        <p:txBody>
          <a:bodyPr wrap="square" rtlCol="0" anchor="t"/>
          <a:lstStyle/>
          <a:p>
            <a:pPr indent="0" marL="0">
              <a:buNone/>
            </a:pPr>
            <a:r>
              <a:rPr lang="en-US" sz="2300" b="1" dirty="0">
                <a:solidFill>
                  <a:srgbClr val="0F1B2D"/>
                </a:solidFill>
                <a:latin typeface="Bookman Old Style" pitchFamily="34" charset="0"/>
                <a:ea typeface="Bookman Old Style" pitchFamily="34" charset="-122"/>
                <a:cs typeface="Bookman Old Style" pitchFamily="34" charset="-120"/>
              </a:rPr>
              <a:t>GW Ranch — ≈ 15.5 miles from Caramba North</a:t>
            </a:r>
            <a:endParaRPr lang="en-US" sz="2300" dirty="0"/>
          </a:p>
        </p:txBody>
      </p:sp>
      <p:sp>
        <p:nvSpPr>
          <p:cNvPr id="6" name="Text 3"/>
          <p:cNvSpPr/>
          <p:nvPr/>
        </p:nvSpPr>
        <p:spPr>
          <a:xfrm>
            <a:off x="548640" y="1005840"/>
            <a:ext cx="11064240" cy="384048"/>
          </a:xfrm>
          <a:prstGeom prst="rect">
            <a:avLst/>
          </a:prstGeom>
          <a:noFill/>
          <a:ln/>
        </p:spPr>
        <p:txBody>
          <a:bodyPr wrap="square" rtlCol="0" anchor="t"/>
          <a:lstStyle/>
          <a:p>
            <a:pPr indent="0" marL="0">
              <a:buNone/>
            </a:pPr>
            <a:r>
              <a:rPr lang="en-US" sz="1250" i="1" dirty="0">
                <a:solidFill>
                  <a:srgbClr val="475569"/>
                </a:solidFill>
                <a:latin typeface="Calibri" pitchFamily="34" charset="0"/>
                <a:ea typeface="Calibri" pitchFamily="34" charset="-122"/>
                <a:cs typeface="Calibri" pitchFamily="34" charset="-120"/>
              </a:rPr>
              <a:t>The largest air permit issued in the US this year sits up the same highway corridor — under construction, not announced.</a:t>
            </a:r>
            <a:endParaRPr lang="en-US" sz="1250" dirty="0"/>
          </a:p>
        </p:txBody>
      </p:sp>
      <p:pic>
        <p:nvPicPr>
          <p:cNvPr id="7" name="Image 1" descr="/home/claude/repo/outputs/reports/om_exhibits/exhibit_amz_gwranch.jpg">    </p:cNvPr>
          <p:cNvPicPr>
            <a:picLocks noChangeAspect="1"/>
          </p:cNvPicPr>
          <p:nvPr/>
        </p:nvPicPr>
        <p:blipFill>
          <a:blip r:embed="rId2"/>
          <a:stretch>
            <a:fillRect/>
          </a:stretch>
        </p:blipFill>
        <p:spPr>
          <a:xfrm>
            <a:off x="1705356" y="1656620"/>
            <a:ext cx="8778240" cy="3361879"/>
          </a:xfrm>
          <a:prstGeom prst="rect">
            <a:avLst/>
          </a:prstGeom>
          <a:effectLst>
            <a:outerShdw sx="100000" sy="100000" kx="0" ky="0" algn="bl" rotWithShape="0" blurRad="101600" dist="25400" dir="5400000">
              <a:srgbClr val="0F1B2D">
                <a:alpha val="18000"/>
              </a:srgbClr>
            </a:outerShdw>
          </a:effectLst>
        </p:spPr>
      </p:pic>
      <p:sp>
        <p:nvSpPr>
          <p:cNvPr id="8" name="Shape 4"/>
          <p:cNvSpPr/>
          <p:nvPr/>
        </p:nvSpPr>
        <p:spPr>
          <a:xfrm>
            <a:off x="1705356" y="1656620"/>
            <a:ext cx="8778240" cy="3361879"/>
          </a:xfrm>
          <a:prstGeom prst="rect">
            <a:avLst/>
          </a:prstGeom>
          <a:ln w="12700">
            <a:solidFill>
              <a:srgbClr val="E2E8F0"/>
            </a:solidFill>
            <a:prstDash val="solid"/>
          </a:ln>
        </p:spPr>
      </p:sp>
      <p:sp>
        <p:nvSpPr>
          <p:cNvPr id="9" name="Shape 5"/>
          <p:cNvSpPr/>
          <p:nvPr/>
        </p:nvSpPr>
        <p:spPr>
          <a:xfrm>
            <a:off x="662940" y="4925503"/>
            <a:ext cx="2606040" cy="1024128"/>
          </a:xfrm>
          <a:prstGeom prst="roundRect">
            <a:avLst>
              <a:gd name="adj" fmla="val 4464"/>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0" name="Text 6"/>
          <p:cNvSpPr/>
          <p:nvPr/>
        </p:nvSpPr>
        <p:spPr>
          <a:xfrm>
            <a:off x="781812" y="4980367"/>
            <a:ext cx="2368296" cy="593994"/>
          </a:xfrm>
          <a:prstGeom prst="rect">
            <a:avLst/>
          </a:prstGeom>
          <a:noFill/>
          <a:ln/>
        </p:spPr>
        <p:txBody>
          <a:bodyPr wrap="square" rtlCol="0" anchor="b"/>
          <a:lstStyle/>
          <a:p>
            <a:pPr indent="0" marL="0">
              <a:buNone/>
            </a:pPr>
            <a:r>
              <a:rPr lang="en-US" sz="1800" b="1" dirty="0">
                <a:solidFill>
                  <a:srgbClr val="B91C1C"/>
                </a:solidFill>
                <a:latin typeface="Calibri" pitchFamily="34" charset="0"/>
                <a:ea typeface="Calibri" pitchFamily="34" charset="-122"/>
                <a:cs typeface="Calibri" pitchFamily="34" charset="-120"/>
              </a:rPr>
              <a:t>7.65 GW</a:t>
            </a:r>
            <a:endParaRPr lang="en-US" sz="1800" dirty="0"/>
          </a:p>
        </p:txBody>
      </p:sp>
      <p:sp>
        <p:nvSpPr>
          <p:cNvPr id="11" name="Text 7"/>
          <p:cNvSpPr/>
          <p:nvPr/>
        </p:nvSpPr>
        <p:spPr>
          <a:xfrm>
            <a:off x="781812" y="5539980"/>
            <a:ext cx="2368296" cy="336499"/>
          </a:xfrm>
          <a:prstGeom prst="rect">
            <a:avLst/>
          </a:prstGeom>
          <a:noFill/>
          <a:ln/>
        </p:spPr>
        <p:txBody>
          <a:bodyPr wrap="square" rtlCol="0" anchor="t"/>
          <a:lstStyle/>
          <a:p>
            <a:pPr indent="0" marL="0">
              <a:lnSpc>
                <a:spcPct val="105000"/>
              </a:lnSpc>
              <a:buNone/>
            </a:pPr>
            <a:r>
              <a:rPr lang="en-US" sz="800" spc="50" kern="0" dirty="0">
                <a:solidFill>
                  <a:srgbClr val="64748B"/>
                </a:solidFill>
                <a:latin typeface="Calibri" pitchFamily="34" charset="0"/>
                <a:ea typeface="Calibri" pitchFamily="34" charset="-122"/>
                <a:cs typeface="Calibri" pitchFamily="34" charset="-120"/>
              </a:rPr>
              <a:t>TCEQ AIR PERMIT — LARGEST ISSUED IN THE US (JAN/FEB 2026)</a:t>
            </a:r>
            <a:endParaRPr lang="en-US" sz="800" dirty="0"/>
          </a:p>
        </p:txBody>
      </p:sp>
      <p:sp>
        <p:nvSpPr>
          <p:cNvPr id="12" name="Shape 8"/>
          <p:cNvSpPr/>
          <p:nvPr/>
        </p:nvSpPr>
        <p:spPr>
          <a:xfrm>
            <a:off x="3415284" y="4925503"/>
            <a:ext cx="2606040" cy="1024128"/>
          </a:xfrm>
          <a:prstGeom prst="roundRect">
            <a:avLst>
              <a:gd name="adj" fmla="val 4464"/>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3" name="Text 9"/>
          <p:cNvSpPr/>
          <p:nvPr/>
        </p:nvSpPr>
        <p:spPr>
          <a:xfrm>
            <a:off x="3534156" y="4980367"/>
            <a:ext cx="2368296" cy="593994"/>
          </a:xfrm>
          <a:prstGeom prst="rect">
            <a:avLst/>
          </a:prstGeom>
          <a:noFill/>
          <a:ln/>
        </p:spPr>
        <p:txBody>
          <a:bodyPr wrap="square" rtlCol="0" anchor="b"/>
          <a:lstStyle/>
          <a:p>
            <a:pPr indent="0" marL="0">
              <a:buNone/>
            </a:pPr>
            <a:r>
              <a:rPr lang="en-US" sz="1800" b="1" dirty="0">
                <a:solidFill>
                  <a:srgbClr val="B91C1C"/>
                </a:solidFill>
                <a:latin typeface="Calibri" pitchFamily="34" charset="0"/>
                <a:ea typeface="Calibri" pitchFamily="34" charset="-122"/>
                <a:cs typeface="Calibri" pitchFamily="34" charset="-120"/>
              </a:rPr>
              <a:t>1.8 GW + 750 MW</a:t>
            </a:r>
            <a:endParaRPr lang="en-US" sz="1800" dirty="0"/>
          </a:p>
        </p:txBody>
      </p:sp>
      <p:sp>
        <p:nvSpPr>
          <p:cNvPr id="14" name="Text 10"/>
          <p:cNvSpPr/>
          <p:nvPr/>
        </p:nvSpPr>
        <p:spPr>
          <a:xfrm>
            <a:off x="3534156" y="5539980"/>
            <a:ext cx="2368296" cy="336499"/>
          </a:xfrm>
          <a:prstGeom prst="rect">
            <a:avLst/>
          </a:prstGeom>
          <a:noFill/>
          <a:ln/>
        </p:spPr>
        <p:txBody>
          <a:bodyPr wrap="square" rtlCol="0" anchor="t"/>
          <a:lstStyle/>
          <a:p>
            <a:pPr indent="0" marL="0">
              <a:lnSpc>
                <a:spcPct val="105000"/>
              </a:lnSpc>
              <a:buNone/>
            </a:pPr>
            <a:r>
              <a:rPr lang="en-US" sz="800" spc="50" kern="0" dirty="0">
                <a:solidFill>
                  <a:srgbClr val="64748B"/>
                </a:solidFill>
                <a:latin typeface="Calibri" pitchFamily="34" charset="0"/>
                <a:ea typeface="Calibri" pitchFamily="34" charset="-122"/>
                <a:cs typeface="Calibri" pitchFamily="34" charset="-120"/>
              </a:rPr>
              <a:t>BATTERY STORAGE · SOLAR, ALONGSIDE 35 GAS TURBINES</a:t>
            </a:r>
            <a:endParaRPr lang="en-US" sz="800" dirty="0"/>
          </a:p>
        </p:txBody>
      </p:sp>
      <p:sp>
        <p:nvSpPr>
          <p:cNvPr id="15" name="Shape 11"/>
          <p:cNvSpPr/>
          <p:nvPr/>
        </p:nvSpPr>
        <p:spPr>
          <a:xfrm>
            <a:off x="6167628" y="4925503"/>
            <a:ext cx="2606040" cy="1024128"/>
          </a:xfrm>
          <a:prstGeom prst="roundRect">
            <a:avLst>
              <a:gd name="adj" fmla="val 4464"/>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6" name="Text 12"/>
          <p:cNvSpPr/>
          <p:nvPr/>
        </p:nvSpPr>
        <p:spPr>
          <a:xfrm>
            <a:off x="6286500" y="4980367"/>
            <a:ext cx="2368296" cy="593994"/>
          </a:xfrm>
          <a:prstGeom prst="rect">
            <a:avLst/>
          </a:prstGeom>
          <a:noFill/>
          <a:ln/>
        </p:spPr>
        <p:txBody>
          <a:bodyPr wrap="square" rtlCol="0" anchor="b"/>
          <a:lstStyle/>
          <a:p>
            <a:pPr indent="0" marL="0">
              <a:buNone/>
            </a:pPr>
            <a:r>
              <a:rPr lang="en-US" sz="1800" b="1" dirty="0">
                <a:solidFill>
                  <a:srgbClr val="B91C1C"/>
                </a:solidFill>
                <a:latin typeface="Calibri" pitchFamily="34" charset="0"/>
                <a:ea typeface="Calibri" pitchFamily="34" charset="-122"/>
                <a:cs typeface="Calibri" pitchFamily="34" charset="-120"/>
              </a:rPr>
              <a:t>3 buildings</a:t>
            </a:r>
            <a:endParaRPr lang="en-US" sz="1800" dirty="0"/>
          </a:p>
        </p:txBody>
      </p:sp>
      <p:sp>
        <p:nvSpPr>
          <p:cNvPr id="17" name="Text 13"/>
          <p:cNvSpPr/>
          <p:nvPr/>
        </p:nvSpPr>
        <p:spPr>
          <a:xfrm>
            <a:off x="6286500" y="5539980"/>
            <a:ext cx="2368296" cy="336499"/>
          </a:xfrm>
          <a:prstGeom prst="rect">
            <a:avLst/>
          </a:prstGeom>
          <a:noFill/>
          <a:ln/>
        </p:spPr>
        <p:txBody>
          <a:bodyPr wrap="square" rtlCol="0" anchor="t"/>
          <a:lstStyle/>
          <a:p>
            <a:pPr indent="0" marL="0">
              <a:lnSpc>
                <a:spcPct val="105000"/>
              </a:lnSpc>
              <a:buNone/>
            </a:pPr>
            <a:r>
              <a:rPr lang="en-US" sz="800" spc="50" kern="0" dirty="0">
                <a:solidFill>
                  <a:srgbClr val="64748B"/>
                </a:solidFill>
                <a:latin typeface="Calibri" pitchFamily="34" charset="0"/>
                <a:ea typeface="Calibri" pitchFamily="34" charset="-122"/>
                <a:cs typeface="Calibri" pitchFamily="34" charset="-120"/>
              </a:rPr>
              <a:t>189,000 SQ FT EACH (GENSLER) — TARGETED DEC 2026</a:t>
            </a:r>
            <a:endParaRPr lang="en-US" sz="800" dirty="0"/>
          </a:p>
        </p:txBody>
      </p:sp>
      <p:sp>
        <p:nvSpPr>
          <p:cNvPr id="18" name="Shape 14"/>
          <p:cNvSpPr/>
          <p:nvPr/>
        </p:nvSpPr>
        <p:spPr>
          <a:xfrm>
            <a:off x="8919972" y="4925503"/>
            <a:ext cx="2606040" cy="1024128"/>
          </a:xfrm>
          <a:prstGeom prst="roundRect">
            <a:avLst>
              <a:gd name="adj" fmla="val 4464"/>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9" name="Text 15"/>
          <p:cNvSpPr/>
          <p:nvPr/>
        </p:nvSpPr>
        <p:spPr>
          <a:xfrm>
            <a:off x="9038844" y="4980367"/>
            <a:ext cx="2368296" cy="593994"/>
          </a:xfrm>
          <a:prstGeom prst="rect">
            <a:avLst/>
          </a:prstGeom>
          <a:noFill/>
          <a:ln/>
        </p:spPr>
        <p:txBody>
          <a:bodyPr wrap="square" rtlCol="0" anchor="b"/>
          <a:lstStyle/>
          <a:p>
            <a:pPr indent="0" marL="0">
              <a:buNone/>
            </a:pPr>
            <a:r>
              <a:rPr lang="en-US" sz="1800" b="1" dirty="0">
                <a:solidFill>
                  <a:srgbClr val="B91C1C"/>
                </a:solidFill>
                <a:latin typeface="Calibri" pitchFamily="34" charset="0"/>
                <a:ea typeface="Calibri" pitchFamily="34" charset="-122"/>
                <a:cs typeface="Calibri" pitchFamily="34" charset="-120"/>
              </a:rPr>
              <a:t>≈ $12B</a:t>
            </a:r>
            <a:endParaRPr lang="en-US" sz="1800" dirty="0"/>
          </a:p>
        </p:txBody>
      </p:sp>
      <p:sp>
        <p:nvSpPr>
          <p:cNvPr id="20" name="Text 16"/>
          <p:cNvSpPr/>
          <p:nvPr/>
        </p:nvSpPr>
        <p:spPr>
          <a:xfrm>
            <a:off x="9038844" y="5539980"/>
            <a:ext cx="2368296" cy="336499"/>
          </a:xfrm>
          <a:prstGeom prst="rect">
            <a:avLst/>
          </a:prstGeom>
          <a:noFill/>
          <a:ln/>
        </p:spPr>
        <p:txBody>
          <a:bodyPr wrap="square" rtlCol="0" anchor="t"/>
          <a:lstStyle/>
          <a:p>
            <a:pPr indent="0" marL="0">
              <a:lnSpc>
                <a:spcPct val="105000"/>
              </a:lnSpc>
              <a:buNone/>
            </a:pPr>
            <a:r>
              <a:rPr lang="en-US" sz="800" spc="50" kern="0" dirty="0">
                <a:solidFill>
                  <a:srgbClr val="64748B"/>
                </a:solidFill>
                <a:latin typeface="Calibri" pitchFamily="34" charset="0"/>
                <a:ea typeface="Calibri" pitchFamily="34" charset="-122"/>
                <a:cs typeface="Calibri" pitchFamily="34" charset="-120"/>
              </a:rPr>
              <a:t>ESTIMATED TOTAL PROJECT INVESTMENT</a:t>
            </a:r>
            <a:endParaRPr lang="en-US" sz="800" dirty="0"/>
          </a:p>
        </p:txBody>
      </p:sp>
      <p:sp>
        <p:nvSpPr>
          <p:cNvPr id="21" name="Text 17"/>
          <p:cNvSpPr/>
          <p:nvPr/>
        </p:nvSpPr>
        <p:spPr>
          <a:xfrm>
            <a:off x="548640" y="6041071"/>
            <a:ext cx="11091672" cy="384048"/>
          </a:xfrm>
          <a:prstGeom prst="rect">
            <a:avLst/>
          </a:prstGeom>
          <a:noFill/>
          <a:ln/>
        </p:spPr>
        <p:txBody>
          <a:bodyPr wrap="square" rtlCol="0" anchor="ctr"/>
          <a:lstStyle/>
          <a:p>
            <a:pPr indent="0" marL="0">
              <a:lnSpc>
                <a:spcPct val="105000"/>
              </a:lnSpc>
              <a:buNone/>
            </a:pPr>
            <a:r>
              <a:rPr lang="en-US" sz="830" i="1" dirty="0">
                <a:solidFill>
                  <a:srgbClr val="64748B"/>
                </a:solidFill>
                <a:latin typeface="Calibri" pitchFamily="34" charset="0"/>
                <a:ea typeface="Calibri" pitchFamily="34" charset="-122"/>
                <a:cs typeface="Calibri" pitchFamily="34" charset="-120"/>
              </a:rPr>
              <a:t>Under construction — 79.3% of the two profiled anchors’ combined announced MW. Clarification: the 7.65 GW figure is a TCEQ generation air permit, not an ERCOT interconnection queue position; the site is off-grid initially and subject to the Aug 3, 2026 state data-center permitting pause pending audit.</a:t>
            </a:r>
            <a:endParaRPr lang="en-US" sz="830" dirty="0"/>
          </a:p>
        </p:txBody>
      </p:sp>
      <p:sp>
        <p:nvSpPr>
          <p:cNvPr id="22" name="Text 18"/>
          <p:cNvSpPr/>
          <p:nvPr/>
        </p:nvSpPr>
        <p:spPr>
          <a:xfrm>
            <a:off x="548640" y="6528816"/>
            <a:ext cx="7315200" cy="256032"/>
          </a:xfrm>
          <a:prstGeom prst="rect">
            <a:avLst/>
          </a:prstGeom>
          <a:noFill/>
          <a:ln/>
        </p:spPr>
        <p:txBody>
          <a:bodyPr wrap="square" rtlCol="0" anchor="ctr"/>
          <a:lstStyle/>
          <a:p>
            <a:pPr indent="0" marL="0">
              <a:buNone/>
            </a:pPr>
            <a:r>
              <a:rPr lang="en-US" sz="750" spc="50" kern="0" dirty="0">
                <a:solidFill>
                  <a:srgbClr val="64748B"/>
                </a:solidFill>
                <a:latin typeface="Calibri" pitchFamily="34" charset="0"/>
                <a:ea typeface="Calibri" pitchFamily="34" charset="-122"/>
                <a:cs typeface="Calibri" pitchFamily="34" charset="-120"/>
              </a:rPr>
              <a:t>CARAMBA NORTH — MAP-LED SUMMARY, CONFIDENTIAL</a:t>
            </a:r>
            <a:endParaRPr lang="en-US" sz="750" dirty="0"/>
          </a:p>
        </p:txBody>
      </p:sp>
      <p:sp>
        <p:nvSpPr>
          <p:cNvPr id="23" name="Text 19"/>
          <p:cNvSpPr/>
          <p:nvPr/>
        </p:nvSpPr>
        <p:spPr>
          <a:xfrm>
            <a:off x="11185855" y="6528816"/>
            <a:ext cx="457200" cy="256032"/>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37744"/>
            <a:ext cx="365760" cy="365760"/>
          </a:xfrm>
          <a:prstGeom prst="ellipse">
            <a:avLst/>
          </a:prstGeom>
          <a:solidFill>
            <a:srgbClr val="B91C1C"/>
          </a:solidFill>
          <a:ln/>
          <a:effectLst>
            <a:outerShdw sx="100000" sy="100000" kx="0" ky="0" algn="bl" rotWithShape="0" blurRad="101600" dist="25400" dir="5400000">
              <a:srgbClr val="0F1B2D">
                <a:alpha val="18000"/>
              </a:srgbClr>
            </a:outerShdw>
          </a:effectLst>
        </p:spPr>
      </p:sp>
      <p:pic>
        <p:nvPicPr>
          <p:cNvPr id="3" name="Image 0" descr="/home/claude/repo/outputs/reports/om_exhibits/icons/fire.png">    </p:cNvPr>
          <p:cNvPicPr>
            <a:picLocks noChangeAspect="1"/>
          </p:cNvPicPr>
          <p:nvPr/>
        </p:nvPicPr>
        <p:blipFill>
          <a:blip r:embed="rId1"/>
          <a:stretch>
            <a:fillRect/>
          </a:stretch>
        </p:blipFill>
        <p:spPr>
          <a:xfrm>
            <a:off x="643738" y="332842"/>
            <a:ext cx="175565" cy="175565"/>
          </a:xfrm>
          <a:prstGeom prst="rect">
            <a:avLst/>
          </a:prstGeom>
        </p:spPr>
      </p:pic>
      <p:sp>
        <p:nvSpPr>
          <p:cNvPr id="4" name="Text 1"/>
          <p:cNvSpPr/>
          <p:nvPr/>
        </p:nvSpPr>
        <p:spPr>
          <a:xfrm>
            <a:off x="1024128" y="256032"/>
            <a:ext cx="8686800" cy="292608"/>
          </a:xfrm>
          <a:prstGeom prst="rect">
            <a:avLst/>
          </a:prstGeom>
          <a:noFill/>
          <a:ln/>
        </p:spPr>
        <p:txBody>
          <a:bodyPr wrap="square" rtlCol="0" anchor="ctr"/>
          <a:lstStyle/>
          <a:p>
            <a:pPr indent="0" marL="0">
              <a:buNone/>
            </a:pPr>
            <a:r>
              <a:rPr lang="en-US" sz="1050" b="1" spc="180" kern="0" dirty="0">
                <a:solidFill>
                  <a:srgbClr val="B91C1C"/>
                </a:solidFill>
                <a:latin typeface="Calibri" pitchFamily="34" charset="0"/>
                <a:ea typeface="Calibri" pitchFamily="34" charset="-122"/>
                <a:cs typeface="Calibri" pitchFamily="34" charset="-120"/>
              </a:rPr>
              <a:t>FEATURE · LONGFELLOW</a:t>
            </a:r>
            <a:endParaRPr lang="en-US" sz="1050" dirty="0"/>
          </a:p>
        </p:txBody>
      </p:sp>
      <p:sp>
        <p:nvSpPr>
          <p:cNvPr id="5" name="Text 2"/>
          <p:cNvSpPr/>
          <p:nvPr/>
        </p:nvSpPr>
        <p:spPr>
          <a:xfrm>
            <a:off x="548640" y="512064"/>
            <a:ext cx="11064240" cy="512064"/>
          </a:xfrm>
          <a:prstGeom prst="rect">
            <a:avLst/>
          </a:prstGeom>
          <a:noFill/>
          <a:ln/>
        </p:spPr>
        <p:txBody>
          <a:bodyPr wrap="square" rtlCol="0" anchor="t"/>
          <a:lstStyle/>
          <a:p>
            <a:pPr indent="0" marL="0">
              <a:buNone/>
            </a:pPr>
            <a:r>
              <a:rPr lang="en-US" sz="2300" b="1" dirty="0">
                <a:solidFill>
                  <a:srgbClr val="0F1B2D"/>
                </a:solidFill>
                <a:latin typeface="Bookman Old Style" pitchFamily="34" charset="0"/>
                <a:ea typeface="Bookman Old Style" pitchFamily="34" charset="-122"/>
                <a:cs typeface="Bookman Old Style" pitchFamily="34" charset="-120"/>
              </a:rPr>
              <a:t>Longfellow — ≈ 19.3 miles from Caramba North</a:t>
            </a:r>
            <a:endParaRPr lang="en-US" sz="2300" dirty="0"/>
          </a:p>
        </p:txBody>
      </p:sp>
      <p:sp>
        <p:nvSpPr>
          <p:cNvPr id="6" name="Text 3"/>
          <p:cNvSpPr/>
          <p:nvPr/>
        </p:nvSpPr>
        <p:spPr>
          <a:xfrm>
            <a:off x="548640" y="1005840"/>
            <a:ext cx="11064240" cy="384048"/>
          </a:xfrm>
          <a:prstGeom prst="rect">
            <a:avLst/>
          </a:prstGeom>
          <a:noFill/>
          <a:ln/>
        </p:spPr>
        <p:txBody>
          <a:bodyPr wrap="square" rtlCol="0" anchor="t"/>
          <a:lstStyle/>
          <a:p>
            <a:pPr indent="0" marL="0">
              <a:buNone/>
            </a:pPr>
            <a:r>
              <a:rPr lang="en-US" sz="1250" i="1" dirty="0">
                <a:solidFill>
                  <a:srgbClr val="475569"/>
                </a:solidFill>
                <a:latin typeface="Calibri" pitchFamily="34" charset="0"/>
                <a:ea typeface="Calibri" pitchFamily="34" charset="-122"/>
                <a:cs typeface="Calibri" pitchFamily="34" charset="-120"/>
              </a:rPr>
              <a:t>A second phased gas-generation campus twenty miles south — the corridor’s demand for on-site power isn’t one project deep.</a:t>
            </a:r>
            <a:endParaRPr lang="en-US" sz="1250" dirty="0"/>
          </a:p>
        </p:txBody>
      </p:sp>
      <p:pic>
        <p:nvPicPr>
          <p:cNvPr id="7" name="Image 1" descr="/home/claude/repo/outputs/reports/om_exhibits/exhibit_longfellow.jpg">    </p:cNvPr>
          <p:cNvPicPr>
            <a:picLocks noChangeAspect="1"/>
          </p:cNvPicPr>
          <p:nvPr/>
        </p:nvPicPr>
        <p:blipFill>
          <a:blip r:embed="rId2"/>
          <a:stretch>
            <a:fillRect/>
          </a:stretch>
        </p:blipFill>
        <p:spPr>
          <a:xfrm>
            <a:off x="1705356" y="1766455"/>
            <a:ext cx="8778240" cy="3142211"/>
          </a:xfrm>
          <a:prstGeom prst="rect">
            <a:avLst/>
          </a:prstGeom>
          <a:effectLst>
            <a:outerShdw sx="100000" sy="100000" kx="0" ky="0" algn="bl" rotWithShape="0" blurRad="101600" dist="25400" dir="5400000">
              <a:srgbClr val="0F1B2D">
                <a:alpha val="18000"/>
              </a:srgbClr>
            </a:outerShdw>
          </a:effectLst>
        </p:spPr>
      </p:pic>
      <p:sp>
        <p:nvSpPr>
          <p:cNvPr id="8" name="Shape 4"/>
          <p:cNvSpPr/>
          <p:nvPr/>
        </p:nvSpPr>
        <p:spPr>
          <a:xfrm>
            <a:off x="1705356" y="1766455"/>
            <a:ext cx="8778240" cy="3142211"/>
          </a:xfrm>
          <a:prstGeom prst="rect">
            <a:avLst/>
          </a:prstGeom>
          <a:ln w="12700">
            <a:solidFill>
              <a:srgbClr val="E2E8F0"/>
            </a:solidFill>
            <a:prstDash val="solid"/>
          </a:ln>
        </p:spPr>
      </p:sp>
      <p:sp>
        <p:nvSpPr>
          <p:cNvPr id="9" name="Shape 5"/>
          <p:cNvSpPr/>
          <p:nvPr/>
        </p:nvSpPr>
        <p:spPr>
          <a:xfrm>
            <a:off x="662940" y="4724123"/>
            <a:ext cx="2606040" cy="1024128"/>
          </a:xfrm>
          <a:prstGeom prst="roundRect">
            <a:avLst>
              <a:gd name="adj" fmla="val 4464"/>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0" name="Text 6"/>
          <p:cNvSpPr/>
          <p:nvPr/>
        </p:nvSpPr>
        <p:spPr>
          <a:xfrm>
            <a:off x="781812" y="4778987"/>
            <a:ext cx="2368296" cy="593994"/>
          </a:xfrm>
          <a:prstGeom prst="rect">
            <a:avLst/>
          </a:prstGeom>
          <a:noFill/>
          <a:ln/>
        </p:spPr>
        <p:txBody>
          <a:bodyPr wrap="square" rtlCol="0" anchor="b"/>
          <a:lstStyle/>
          <a:p>
            <a:pPr indent="0" marL="0">
              <a:buNone/>
            </a:pPr>
            <a:r>
              <a:rPr lang="en-US" sz="1700" b="1" dirty="0">
                <a:solidFill>
                  <a:srgbClr val="B91C1C"/>
                </a:solidFill>
                <a:latin typeface="Calibri" pitchFamily="34" charset="0"/>
                <a:ea typeface="Calibri" pitchFamily="34" charset="-122"/>
                <a:cs typeface="Calibri" pitchFamily="34" charset="-120"/>
              </a:rPr>
              <a:t>568 acres</a:t>
            </a:r>
            <a:endParaRPr lang="en-US" sz="1700" dirty="0"/>
          </a:p>
        </p:txBody>
      </p:sp>
      <p:sp>
        <p:nvSpPr>
          <p:cNvPr id="11" name="Text 7"/>
          <p:cNvSpPr/>
          <p:nvPr/>
        </p:nvSpPr>
        <p:spPr>
          <a:xfrm>
            <a:off x="781812" y="5338600"/>
            <a:ext cx="2368296" cy="336499"/>
          </a:xfrm>
          <a:prstGeom prst="rect">
            <a:avLst/>
          </a:prstGeom>
          <a:noFill/>
          <a:ln/>
        </p:spPr>
        <p:txBody>
          <a:bodyPr wrap="square" rtlCol="0" anchor="t"/>
          <a:lstStyle/>
          <a:p>
            <a:pPr indent="0" marL="0">
              <a:lnSpc>
                <a:spcPct val="105000"/>
              </a:lnSpc>
              <a:buNone/>
            </a:pPr>
            <a:r>
              <a:rPr lang="en-US" sz="800" spc="50" kern="0" dirty="0">
                <a:solidFill>
                  <a:srgbClr val="64748B"/>
                </a:solidFill>
                <a:latin typeface="Calibri" pitchFamily="34" charset="0"/>
                <a:ea typeface="Calibri" pitchFamily="34" charset="-122"/>
                <a:cs typeface="Calibri" pitchFamily="34" charset="-120"/>
              </a:rPr>
              <a:t>PECOS COUNTY SITE (LONGFELLOW RANCH)</a:t>
            </a:r>
            <a:endParaRPr lang="en-US" sz="800" dirty="0"/>
          </a:p>
        </p:txBody>
      </p:sp>
      <p:sp>
        <p:nvSpPr>
          <p:cNvPr id="12" name="Shape 8"/>
          <p:cNvSpPr/>
          <p:nvPr/>
        </p:nvSpPr>
        <p:spPr>
          <a:xfrm>
            <a:off x="3415284" y="4724123"/>
            <a:ext cx="2606040" cy="1024128"/>
          </a:xfrm>
          <a:prstGeom prst="roundRect">
            <a:avLst>
              <a:gd name="adj" fmla="val 4464"/>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3" name="Text 9"/>
          <p:cNvSpPr/>
          <p:nvPr/>
        </p:nvSpPr>
        <p:spPr>
          <a:xfrm>
            <a:off x="3534156" y="4778987"/>
            <a:ext cx="2368296" cy="593994"/>
          </a:xfrm>
          <a:prstGeom prst="rect">
            <a:avLst/>
          </a:prstGeom>
          <a:noFill/>
          <a:ln/>
        </p:spPr>
        <p:txBody>
          <a:bodyPr wrap="square" rtlCol="0" anchor="b"/>
          <a:lstStyle/>
          <a:p>
            <a:pPr indent="0" marL="0">
              <a:buNone/>
            </a:pPr>
            <a:r>
              <a:rPr lang="en-US" sz="1700" b="1" dirty="0">
                <a:solidFill>
                  <a:srgbClr val="B91C1C"/>
                </a:solidFill>
                <a:latin typeface="Calibri" pitchFamily="34" charset="0"/>
                <a:ea typeface="Calibri" pitchFamily="34" charset="-122"/>
                <a:cs typeface="Calibri" pitchFamily="34" charset="-120"/>
              </a:rPr>
              <a:t>≈ 19.3 mi</a:t>
            </a:r>
            <a:endParaRPr lang="en-US" sz="1700" dirty="0"/>
          </a:p>
        </p:txBody>
      </p:sp>
      <p:sp>
        <p:nvSpPr>
          <p:cNvPr id="14" name="Text 10"/>
          <p:cNvSpPr/>
          <p:nvPr/>
        </p:nvSpPr>
        <p:spPr>
          <a:xfrm>
            <a:off x="3534156" y="5338600"/>
            <a:ext cx="2368296" cy="336499"/>
          </a:xfrm>
          <a:prstGeom prst="rect">
            <a:avLst/>
          </a:prstGeom>
          <a:noFill/>
          <a:ln/>
        </p:spPr>
        <p:txBody>
          <a:bodyPr wrap="square" rtlCol="0" anchor="t"/>
          <a:lstStyle/>
          <a:p>
            <a:pPr indent="0" marL="0">
              <a:lnSpc>
                <a:spcPct val="105000"/>
              </a:lnSpc>
              <a:buNone/>
            </a:pPr>
            <a:r>
              <a:rPr lang="en-US" sz="800" spc="50" kern="0" dirty="0">
                <a:solidFill>
                  <a:srgbClr val="64748B"/>
                </a:solidFill>
                <a:latin typeface="Calibri" pitchFamily="34" charset="0"/>
                <a:ea typeface="Calibri" pitchFamily="34" charset="-122"/>
                <a:cs typeface="Calibri" pitchFamily="34" charset="-120"/>
              </a:rPr>
              <a:t>FROM CARAMBA NORTH, EDGE-TO-EDGE</a:t>
            </a:r>
            <a:endParaRPr lang="en-US" sz="800" dirty="0"/>
          </a:p>
        </p:txBody>
      </p:sp>
      <p:sp>
        <p:nvSpPr>
          <p:cNvPr id="15" name="Shape 11"/>
          <p:cNvSpPr/>
          <p:nvPr/>
        </p:nvSpPr>
        <p:spPr>
          <a:xfrm>
            <a:off x="6167628" y="4724123"/>
            <a:ext cx="2606040" cy="1024128"/>
          </a:xfrm>
          <a:prstGeom prst="roundRect">
            <a:avLst>
              <a:gd name="adj" fmla="val 4464"/>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6" name="Text 12"/>
          <p:cNvSpPr/>
          <p:nvPr/>
        </p:nvSpPr>
        <p:spPr>
          <a:xfrm>
            <a:off x="6286500" y="4778987"/>
            <a:ext cx="2368296" cy="593994"/>
          </a:xfrm>
          <a:prstGeom prst="rect">
            <a:avLst/>
          </a:prstGeom>
          <a:noFill/>
          <a:ln/>
        </p:spPr>
        <p:txBody>
          <a:bodyPr wrap="square" rtlCol="0" anchor="b"/>
          <a:lstStyle/>
          <a:p>
            <a:pPr indent="0" marL="0">
              <a:buNone/>
            </a:pPr>
            <a:r>
              <a:rPr lang="en-US" sz="1700" b="1" dirty="0">
                <a:solidFill>
                  <a:srgbClr val="B91C1C"/>
                </a:solidFill>
                <a:latin typeface="Calibri" pitchFamily="34" charset="0"/>
                <a:ea typeface="Calibri" pitchFamily="34" charset="-122"/>
                <a:cs typeface="Calibri" pitchFamily="34" charset="-120"/>
              </a:rPr>
              <a:t>On-site gas</a:t>
            </a:r>
            <a:endParaRPr lang="en-US" sz="1700" dirty="0"/>
          </a:p>
        </p:txBody>
      </p:sp>
      <p:sp>
        <p:nvSpPr>
          <p:cNvPr id="17" name="Text 13"/>
          <p:cNvSpPr/>
          <p:nvPr/>
        </p:nvSpPr>
        <p:spPr>
          <a:xfrm>
            <a:off x="6286500" y="5338600"/>
            <a:ext cx="2368296" cy="336499"/>
          </a:xfrm>
          <a:prstGeom prst="rect">
            <a:avLst/>
          </a:prstGeom>
          <a:noFill/>
          <a:ln/>
        </p:spPr>
        <p:txBody>
          <a:bodyPr wrap="square" rtlCol="0" anchor="t"/>
          <a:lstStyle/>
          <a:p>
            <a:pPr indent="0" marL="0">
              <a:lnSpc>
                <a:spcPct val="105000"/>
              </a:lnSpc>
              <a:buNone/>
            </a:pPr>
            <a:r>
              <a:rPr lang="en-US" sz="800" spc="50" kern="0" dirty="0">
                <a:solidFill>
                  <a:srgbClr val="64748B"/>
                </a:solidFill>
                <a:latin typeface="Calibri" pitchFamily="34" charset="0"/>
                <a:ea typeface="Calibri" pitchFamily="34" charset="-122"/>
                <a:cs typeface="Calibri" pitchFamily="34" charset="-120"/>
              </a:rPr>
              <a:t>AERO-DERIVATIVE TURBINES PLANNED, SCR + CARBON-CAPTURE CAPABILITY</a:t>
            </a:r>
            <a:endParaRPr lang="en-US" sz="800" dirty="0"/>
          </a:p>
        </p:txBody>
      </p:sp>
      <p:sp>
        <p:nvSpPr>
          <p:cNvPr id="18" name="Shape 14"/>
          <p:cNvSpPr/>
          <p:nvPr/>
        </p:nvSpPr>
        <p:spPr>
          <a:xfrm>
            <a:off x="8919972" y="4724123"/>
            <a:ext cx="2606040" cy="1024128"/>
          </a:xfrm>
          <a:prstGeom prst="roundRect">
            <a:avLst>
              <a:gd name="adj" fmla="val 4464"/>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9" name="Text 15"/>
          <p:cNvSpPr/>
          <p:nvPr/>
        </p:nvSpPr>
        <p:spPr>
          <a:xfrm>
            <a:off x="9038844" y="4778987"/>
            <a:ext cx="2368296" cy="593994"/>
          </a:xfrm>
          <a:prstGeom prst="rect">
            <a:avLst/>
          </a:prstGeom>
          <a:noFill/>
          <a:ln/>
        </p:spPr>
        <p:txBody>
          <a:bodyPr wrap="square" rtlCol="0" anchor="b"/>
          <a:lstStyle/>
          <a:p>
            <a:pPr indent="0" marL="0">
              <a:buNone/>
            </a:pPr>
            <a:r>
              <a:rPr lang="en-US" sz="1700" b="1" dirty="0">
                <a:solidFill>
                  <a:srgbClr val="B91C1C"/>
                </a:solidFill>
                <a:latin typeface="Calibri" pitchFamily="34" charset="0"/>
                <a:ea typeface="Calibri" pitchFamily="34" charset="-122"/>
                <a:cs typeface="Calibri" pitchFamily="34" charset="-120"/>
              </a:rPr>
              <a:t>Phase-1 underway</a:t>
            </a:r>
            <a:endParaRPr lang="en-US" sz="1700" dirty="0"/>
          </a:p>
        </p:txBody>
      </p:sp>
      <p:sp>
        <p:nvSpPr>
          <p:cNvPr id="20" name="Text 16"/>
          <p:cNvSpPr/>
          <p:nvPr/>
        </p:nvSpPr>
        <p:spPr>
          <a:xfrm>
            <a:off x="9038844" y="5338600"/>
            <a:ext cx="2368296" cy="336499"/>
          </a:xfrm>
          <a:prstGeom prst="rect">
            <a:avLst/>
          </a:prstGeom>
          <a:noFill/>
          <a:ln/>
        </p:spPr>
        <p:txBody>
          <a:bodyPr wrap="square" rtlCol="0" anchor="t"/>
          <a:lstStyle/>
          <a:p>
            <a:pPr indent="0" marL="0">
              <a:lnSpc>
                <a:spcPct val="105000"/>
              </a:lnSpc>
              <a:buNone/>
            </a:pPr>
            <a:r>
              <a:rPr lang="en-US" sz="800" spc="50" kern="0" dirty="0">
                <a:solidFill>
                  <a:srgbClr val="64748B"/>
                </a:solidFill>
                <a:latin typeface="Calibri" pitchFamily="34" charset="0"/>
                <a:ea typeface="Calibri" pitchFamily="34" charset="-122"/>
                <a:cs typeface="Calibri" pitchFamily="34" charset="-120"/>
              </a:rPr>
              <a:t>SITE WORK UNDERWAY; GENERATION BUILD PLANNED IN PHASES</a:t>
            </a:r>
            <a:endParaRPr lang="en-US" sz="800" dirty="0"/>
          </a:p>
        </p:txBody>
      </p:sp>
      <p:sp>
        <p:nvSpPr>
          <p:cNvPr id="21" name="Text 17"/>
          <p:cNvSpPr/>
          <p:nvPr/>
        </p:nvSpPr>
        <p:spPr>
          <a:xfrm>
            <a:off x="548640" y="5857979"/>
            <a:ext cx="11091672" cy="384048"/>
          </a:xfrm>
          <a:prstGeom prst="rect">
            <a:avLst/>
          </a:prstGeom>
          <a:noFill/>
          <a:ln/>
        </p:spPr>
        <p:txBody>
          <a:bodyPr wrap="square" rtlCol="0" anchor="ctr"/>
          <a:lstStyle/>
          <a:p>
            <a:pPr indent="0" marL="0">
              <a:lnSpc>
                <a:spcPct val="105000"/>
              </a:lnSpc>
              <a:buNone/>
            </a:pPr>
            <a:r>
              <a:rPr lang="en-US" sz="830" i="1" dirty="0">
                <a:solidFill>
                  <a:srgbClr val="64748B"/>
                </a:solidFill>
                <a:latin typeface="Calibri" pitchFamily="34" charset="0"/>
                <a:ea typeface="Calibri" pitchFamily="34" charset="-122"/>
                <a:cs typeface="Calibri" pitchFamily="34" charset="-120"/>
              </a:rPr>
              <a:t>Closed-loop cooling on permitted non-potable groundwater. No confirmed ERCOT interconnection queue position or TCEQ air-permit record found for this site as of Aug 2026 — a fact about permitting status, not commentary on viability.</a:t>
            </a:r>
            <a:endParaRPr lang="en-US" sz="830" dirty="0"/>
          </a:p>
        </p:txBody>
      </p:sp>
      <p:sp>
        <p:nvSpPr>
          <p:cNvPr id="22" name="Text 18"/>
          <p:cNvSpPr/>
          <p:nvPr/>
        </p:nvSpPr>
        <p:spPr>
          <a:xfrm>
            <a:off x="548640" y="6528816"/>
            <a:ext cx="7315200" cy="256032"/>
          </a:xfrm>
          <a:prstGeom prst="rect">
            <a:avLst/>
          </a:prstGeom>
          <a:noFill/>
          <a:ln/>
        </p:spPr>
        <p:txBody>
          <a:bodyPr wrap="square" rtlCol="0" anchor="ctr"/>
          <a:lstStyle/>
          <a:p>
            <a:pPr indent="0" marL="0">
              <a:buNone/>
            </a:pPr>
            <a:r>
              <a:rPr lang="en-US" sz="750" spc="50" kern="0" dirty="0">
                <a:solidFill>
                  <a:srgbClr val="64748B"/>
                </a:solidFill>
                <a:latin typeface="Calibri" pitchFamily="34" charset="0"/>
                <a:ea typeface="Calibri" pitchFamily="34" charset="-122"/>
                <a:cs typeface="Calibri" pitchFamily="34" charset="-120"/>
              </a:rPr>
              <a:t>CARAMBA NORTH — MAP-LED SUMMARY, CONFIDENTIAL</a:t>
            </a:r>
            <a:endParaRPr lang="en-US" sz="750" dirty="0"/>
          </a:p>
        </p:txBody>
      </p:sp>
      <p:sp>
        <p:nvSpPr>
          <p:cNvPr id="23" name="Text 19"/>
          <p:cNvSpPr/>
          <p:nvPr/>
        </p:nvSpPr>
        <p:spPr>
          <a:xfrm>
            <a:off x="11185855" y="6528816"/>
            <a:ext cx="457200" cy="256032"/>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37744"/>
            <a:ext cx="365760" cy="365760"/>
          </a:xfrm>
          <a:prstGeom prst="ellipse">
            <a:avLst/>
          </a:prstGeom>
          <a:solidFill>
            <a:srgbClr val="B06220"/>
          </a:solidFill>
          <a:ln/>
          <a:effectLst>
            <a:outerShdw sx="100000" sy="100000" kx="0" ky="0" algn="bl" rotWithShape="0" blurRad="101600" dist="25400" dir="5400000">
              <a:srgbClr val="0F1B2D">
                <a:alpha val="18000"/>
              </a:srgbClr>
            </a:outerShdw>
          </a:effectLst>
        </p:spPr>
      </p:sp>
      <p:pic>
        <p:nvPicPr>
          <p:cNvPr id="3" name="Image 0" descr="/home/claude/repo/outputs/reports/om_exhibits/icons/chartcol.png">    </p:cNvPr>
          <p:cNvPicPr>
            <a:picLocks noChangeAspect="1"/>
          </p:cNvPicPr>
          <p:nvPr/>
        </p:nvPicPr>
        <p:blipFill>
          <a:blip r:embed="rId1"/>
          <a:stretch>
            <a:fillRect/>
          </a:stretch>
        </p:blipFill>
        <p:spPr>
          <a:xfrm>
            <a:off x="643738" y="332842"/>
            <a:ext cx="175565" cy="175565"/>
          </a:xfrm>
          <a:prstGeom prst="rect">
            <a:avLst/>
          </a:prstGeom>
        </p:spPr>
      </p:pic>
      <p:sp>
        <p:nvSpPr>
          <p:cNvPr id="4" name="Text 1"/>
          <p:cNvSpPr/>
          <p:nvPr/>
        </p:nvSpPr>
        <p:spPr>
          <a:xfrm>
            <a:off x="1024128" y="256032"/>
            <a:ext cx="8686800" cy="292608"/>
          </a:xfrm>
          <a:prstGeom prst="rect">
            <a:avLst/>
          </a:prstGeom>
          <a:noFill/>
          <a:ln/>
        </p:spPr>
        <p:txBody>
          <a:bodyPr wrap="square" rtlCol="0" anchor="ctr"/>
          <a:lstStyle/>
          <a:p>
            <a:pPr indent="0" marL="0">
              <a:buNone/>
            </a:pPr>
            <a:r>
              <a:rPr lang="en-US" sz="1050" b="1" spc="180" kern="0" dirty="0">
                <a:solidFill>
                  <a:srgbClr val="B06220"/>
                </a:solidFill>
                <a:latin typeface="Calibri" pitchFamily="34" charset="0"/>
                <a:ea typeface="Calibri" pitchFamily="34" charset="-122"/>
                <a:cs typeface="Calibri" pitchFamily="34" charset="-120"/>
              </a:rPr>
              <a:t>02.6 · PROJECT-MATURITY FRAMING</a:t>
            </a:r>
            <a:endParaRPr lang="en-US" sz="1050" dirty="0"/>
          </a:p>
        </p:txBody>
      </p:sp>
      <p:sp>
        <p:nvSpPr>
          <p:cNvPr id="5" name="Text 2"/>
          <p:cNvSpPr/>
          <p:nvPr/>
        </p:nvSpPr>
        <p:spPr>
          <a:xfrm>
            <a:off x="548640" y="512064"/>
            <a:ext cx="11064240" cy="512064"/>
          </a:xfrm>
          <a:prstGeom prst="rect">
            <a:avLst/>
          </a:prstGeom>
          <a:noFill/>
          <a:ln/>
        </p:spPr>
        <p:txBody>
          <a:bodyPr wrap="square" rtlCol="0" anchor="t"/>
          <a:lstStyle/>
          <a:p>
            <a:pPr indent="0" marL="0">
              <a:buNone/>
            </a:pPr>
            <a:r>
              <a:rPr lang="en-US" sz="2300" b="1" dirty="0">
                <a:solidFill>
                  <a:srgbClr val="0F1B2D"/>
                </a:solidFill>
                <a:latin typeface="Bookman Old Style" pitchFamily="34" charset="0"/>
                <a:ea typeface="Bookman Old Style" pitchFamily="34" charset="-122"/>
                <a:cs typeface="Bookman Old Style" pitchFamily="34" charset="-120"/>
              </a:rPr>
              <a:t>The regional pipeline is majority-built, not majority-speculative</a:t>
            </a:r>
            <a:endParaRPr lang="en-US" sz="2300" dirty="0"/>
          </a:p>
        </p:txBody>
      </p:sp>
      <p:sp>
        <p:nvSpPr>
          <p:cNvPr id="6" name="Text 3"/>
          <p:cNvSpPr/>
          <p:nvPr/>
        </p:nvSpPr>
        <p:spPr>
          <a:xfrm>
            <a:off x="548640" y="1005840"/>
            <a:ext cx="11064240" cy="384048"/>
          </a:xfrm>
          <a:prstGeom prst="rect">
            <a:avLst/>
          </a:prstGeom>
          <a:noFill/>
          <a:ln/>
        </p:spPr>
        <p:txBody>
          <a:bodyPr wrap="square" rtlCol="0" anchor="t"/>
          <a:lstStyle/>
          <a:p>
            <a:pPr indent="0" marL="0">
              <a:buNone/>
            </a:pPr>
            <a:r>
              <a:rPr lang="en-US" sz="1250" i="1" dirty="0">
                <a:solidFill>
                  <a:srgbClr val="475569"/>
                </a:solidFill>
                <a:latin typeface="Calibri" pitchFamily="34" charset="0"/>
                <a:ea typeface="Calibri" pitchFamily="34" charset="-122"/>
                <a:cs typeface="Calibri" pitchFamily="34" charset="-120"/>
              </a:rPr>
              <a:t>Of the two profiled anchors’ combined announced capacity, four-fifths is already under construction.</a:t>
            </a:r>
            <a:endParaRPr lang="en-US" sz="1250" dirty="0"/>
          </a:p>
        </p:txBody>
      </p:sp>
      <p:graphicFrame>
        <p:nvGraphicFramePr>
          <p:cNvPr id="7" name="Chart 0" descr=""/>
          <p:cNvGraphicFramePr/>
          <p:nvPr/>
        </p:nvGraphicFramePr>
        <p:xfrm>
          <a:off x="1188720" y="1554480"/>
          <a:ext cx="5120640" cy="475488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1188720" y="3246120"/>
            <a:ext cx="5120640" cy="640080"/>
          </a:xfrm>
          <a:prstGeom prst="rect">
            <a:avLst/>
          </a:prstGeom>
          <a:noFill/>
          <a:ln/>
        </p:spPr>
        <p:txBody>
          <a:bodyPr wrap="square" rtlCol="0" anchor="ctr"/>
          <a:lstStyle/>
          <a:p>
            <a:pPr algn="ctr" indent="0" marL="0">
              <a:buNone/>
            </a:pPr>
            <a:r>
              <a:rPr lang="en-US" sz="3400" b="1" dirty="0">
                <a:solidFill>
                  <a:srgbClr val="B91C1C"/>
                </a:solidFill>
                <a:latin typeface="Calibri" pitchFamily="34" charset="0"/>
                <a:ea typeface="Calibri" pitchFamily="34" charset="-122"/>
                <a:cs typeface="Calibri" pitchFamily="34" charset="-120"/>
              </a:rPr>
              <a:t>79.3%</a:t>
            </a:r>
            <a:endParaRPr lang="en-US" sz="3400" dirty="0"/>
          </a:p>
        </p:txBody>
      </p:sp>
      <p:sp>
        <p:nvSpPr>
          <p:cNvPr id="9" name="Text 5"/>
          <p:cNvSpPr/>
          <p:nvPr/>
        </p:nvSpPr>
        <p:spPr>
          <a:xfrm>
            <a:off x="1188720" y="3840480"/>
            <a:ext cx="5120640" cy="320040"/>
          </a:xfrm>
          <a:prstGeom prst="rect">
            <a:avLst/>
          </a:prstGeom>
          <a:noFill/>
          <a:ln/>
        </p:spPr>
        <p:txBody>
          <a:bodyPr wrap="square" rtlCol="0" anchor="ctr"/>
          <a:lstStyle/>
          <a:p>
            <a:pPr algn="ctr" indent="0" marL="0">
              <a:buNone/>
            </a:pPr>
            <a:r>
              <a:rPr lang="en-US" sz="1100" spc="100" kern="0" dirty="0">
                <a:solidFill>
                  <a:srgbClr val="64748B"/>
                </a:solidFill>
                <a:latin typeface="Calibri" pitchFamily="34" charset="0"/>
                <a:ea typeface="Calibri" pitchFamily="34" charset="-122"/>
                <a:cs typeface="Calibri" pitchFamily="34" charset="-120"/>
              </a:rPr>
              <a:t>under construction</a:t>
            </a:r>
            <a:endParaRPr lang="en-US" sz="1100" dirty="0"/>
          </a:p>
        </p:txBody>
      </p:sp>
      <p:sp>
        <p:nvSpPr>
          <p:cNvPr id="10" name="Shape 6"/>
          <p:cNvSpPr/>
          <p:nvPr/>
        </p:nvSpPr>
        <p:spPr>
          <a:xfrm>
            <a:off x="6858000" y="1554480"/>
            <a:ext cx="4782312" cy="1234440"/>
          </a:xfrm>
          <a:prstGeom prst="roundRect">
            <a:avLst>
              <a:gd name="adj" fmla="val 3704"/>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1" name="Text 7"/>
          <p:cNvSpPr/>
          <p:nvPr/>
        </p:nvSpPr>
        <p:spPr>
          <a:xfrm>
            <a:off x="6976872" y="1609344"/>
            <a:ext cx="4544568" cy="715975"/>
          </a:xfrm>
          <a:prstGeom prst="rect">
            <a:avLst/>
          </a:prstGeom>
          <a:noFill/>
          <a:ln/>
        </p:spPr>
        <p:txBody>
          <a:bodyPr wrap="square" rtlCol="0" anchor="b"/>
          <a:lstStyle/>
          <a:p>
            <a:pPr indent="0" marL="0">
              <a:buNone/>
            </a:pPr>
            <a:r>
              <a:rPr lang="en-US" sz="2200" b="1" dirty="0">
                <a:solidFill>
                  <a:srgbClr val="B91C1C"/>
                </a:solidFill>
                <a:latin typeface="Calibri" pitchFamily="34" charset="0"/>
                <a:ea typeface="Calibri" pitchFamily="34" charset="-122"/>
                <a:cs typeface="Calibri" pitchFamily="34" charset="-120"/>
              </a:rPr>
              <a:t>79.3% · 7.65 GW</a:t>
            </a:r>
            <a:endParaRPr lang="en-US" sz="2200" dirty="0"/>
          </a:p>
        </p:txBody>
      </p:sp>
      <p:sp>
        <p:nvSpPr>
          <p:cNvPr id="12" name="Text 8"/>
          <p:cNvSpPr/>
          <p:nvPr/>
        </p:nvSpPr>
        <p:spPr>
          <a:xfrm>
            <a:off x="6976872" y="2295144"/>
            <a:ext cx="4544568" cy="420624"/>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GW RANCH — UNDER CONSTRUCTION, FIRST POWER TARGETED H1 2027</a:t>
            </a:r>
            <a:endParaRPr lang="en-US" sz="830" dirty="0"/>
          </a:p>
        </p:txBody>
      </p:sp>
      <p:sp>
        <p:nvSpPr>
          <p:cNvPr id="13" name="Shape 9"/>
          <p:cNvSpPr/>
          <p:nvPr/>
        </p:nvSpPr>
        <p:spPr>
          <a:xfrm>
            <a:off x="6858000" y="2926080"/>
            <a:ext cx="4782312" cy="1234440"/>
          </a:xfrm>
          <a:prstGeom prst="roundRect">
            <a:avLst>
              <a:gd name="adj" fmla="val 3704"/>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4" name="Text 10"/>
          <p:cNvSpPr/>
          <p:nvPr/>
        </p:nvSpPr>
        <p:spPr>
          <a:xfrm>
            <a:off x="6976872" y="2980944"/>
            <a:ext cx="4544568" cy="715975"/>
          </a:xfrm>
          <a:prstGeom prst="rect">
            <a:avLst/>
          </a:prstGeom>
          <a:noFill/>
          <a:ln/>
        </p:spPr>
        <p:txBody>
          <a:bodyPr wrap="square" rtlCol="0" anchor="b"/>
          <a:lstStyle/>
          <a:p>
            <a:pPr indent="0" marL="0">
              <a:buNone/>
            </a:pPr>
            <a:r>
              <a:rPr lang="en-US" sz="2200" b="1" dirty="0">
                <a:solidFill>
                  <a:srgbClr val="7F1D1D"/>
                </a:solidFill>
                <a:latin typeface="Calibri" pitchFamily="34" charset="0"/>
                <a:ea typeface="Calibri" pitchFamily="34" charset="-122"/>
                <a:cs typeface="Calibri" pitchFamily="34" charset="-120"/>
              </a:rPr>
              <a:t>20.7%</a:t>
            </a:r>
            <a:endParaRPr lang="en-US" sz="2200" dirty="0"/>
          </a:p>
        </p:txBody>
      </p:sp>
      <p:sp>
        <p:nvSpPr>
          <p:cNvPr id="15" name="Text 11"/>
          <p:cNvSpPr/>
          <p:nvPr/>
        </p:nvSpPr>
        <p:spPr>
          <a:xfrm>
            <a:off x="6976872" y="3666744"/>
            <a:ext cx="4544568" cy="420624"/>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LONGFELLOW — PLANNED / PHASE-1 SITE WORK UNDERWAY, OF COMBINED ANNOUNCED CAPACITY</a:t>
            </a:r>
            <a:endParaRPr lang="en-US" sz="830" dirty="0"/>
          </a:p>
        </p:txBody>
      </p:sp>
      <p:sp>
        <p:nvSpPr>
          <p:cNvPr id="16" name="Shape 12"/>
          <p:cNvSpPr/>
          <p:nvPr/>
        </p:nvSpPr>
        <p:spPr>
          <a:xfrm>
            <a:off x="6858000" y="4297680"/>
            <a:ext cx="4782312" cy="1874520"/>
          </a:xfrm>
          <a:prstGeom prst="roundRect">
            <a:avLst>
              <a:gd name="adj" fmla="val 2439"/>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7" name="Text 13"/>
          <p:cNvSpPr/>
          <p:nvPr/>
        </p:nvSpPr>
        <p:spPr>
          <a:xfrm>
            <a:off x="6976872" y="4352544"/>
            <a:ext cx="4544568" cy="1087222"/>
          </a:xfrm>
          <a:prstGeom prst="rect">
            <a:avLst/>
          </a:prstGeom>
          <a:noFill/>
          <a:ln/>
        </p:spPr>
        <p:txBody>
          <a:bodyPr wrap="square" rtlCol="0" anchor="b"/>
          <a:lstStyle/>
          <a:p>
            <a:pPr indent="0" marL="0">
              <a:buNone/>
            </a:pPr>
            <a:r>
              <a:rPr lang="en-US" sz="2200" b="1" dirty="0">
                <a:solidFill>
                  <a:srgbClr val="0F1B2D"/>
                </a:solidFill>
                <a:latin typeface="Calibri" pitchFamily="34" charset="0"/>
                <a:ea typeface="Calibri" pitchFamily="34" charset="-122"/>
                <a:cs typeface="Calibri" pitchFamily="34" charset="-120"/>
              </a:rPr>
              <a:t>2 of 2</a:t>
            </a:r>
            <a:endParaRPr lang="en-US" sz="2200" dirty="0"/>
          </a:p>
        </p:txBody>
      </p:sp>
      <p:sp>
        <p:nvSpPr>
          <p:cNvPr id="18" name="Text 14"/>
          <p:cNvSpPr/>
          <p:nvPr/>
        </p:nvSpPr>
        <p:spPr>
          <a:xfrm>
            <a:off x="6976872" y="5422392"/>
            <a:ext cx="4544568" cy="676656"/>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PROFILED ANCHORS WITHIN 60 MILES — THE PIPELINE IS NOT ONE PROJECT DEEP, AND MOST OF IT IS ALREADY POURED CONCRETE, NOT A RENDERING</a:t>
            </a:r>
            <a:endParaRPr lang="en-US" sz="830" dirty="0"/>
          </a:p>
        </p:txBody>
      </p:sp>
      <p:sp>
        <p:nvSpPr>
          <p:cNvPr id="19" name="Text 15"/>
          <p:cNvSpPr/>
          <p:nvPr/>
        </p:nvSpPr>
        <p:spPr>
          <a:xfrm>
            <a:off x="548640" y="6528816"/>
            <a:ext cx="7315200" cy="256032"/>
          </a:xfrm>
          <a:prstGeom prst="rect">
            <a:avLst/>
          </a:prstGeom>
          <a:noFill/>
          <a:ln/>
        </p:spPr>
        <p:txBody>
          <a:bodyPr wrap="square" rtlCol="0" anchor="ctr"/>
          <a:lstStyle/>
          <a:p>
            <a:pPr indent="0" marL="0">
              <a:buNone/>
            </a:pPr>
            <a:r>
              <a:rPr lang="en-US" sz="750" spc="50" kern="0" dirty="0">
                <a:solidFill>
                  <a:srgbClr val="64748B"/>
                </a:solidFill>
                <a:latin typeface="Calibri" pitchFamily="34" charset="0"/>
                <a:ea typeface="Calibri" pitchFamily="34" charset="-122"/>
                <a:cs typeface="Calibri" pitchFamily="34" charset="-120"/>
              </a:rPr>
              <a:t>CARAMBA NORTH — MAP-LED SUMMARY, CONFIDENTIAL</a:t>
            </a:r>
            <a:endParaRPr lang="en-US" sz="750" dirty="0"/>
          </a:p>
        </p:txBody>
      </p:sp>
      <p:sp>
        <p:nvSpPr>
          <p:cNvPr id="20" name="Text 16"/>
          <p:cNvSpPr/>
          <p:nvPr/>
        </p:nvSpPr>
        <p:spPr>
          <a:xfrm>
            <a:off x="11185855" y="6528816"/>
            <a:ext cx="457200" cy="256032"/>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548640" y="237744"/>
            <a:ext cx="365760" cy="365760"/>
          </a:xfrm>
          <a:prstGeom prst="ellipse">
            <a:avLst/>
          </a:prstGeom>
          <a:solidFill>
            <a:srgbClr val="B06220"/>
          </a:solidFill>
          <a:ln/>
          <a:effectLst>
            <a:outerShdw sx="100000" sy="100000" kx="0" ky="0" algn="bl" rotWithShape="0" blurRad="101600" dist="25400" dir="5400000">
              <a:srgbClr val="0F1B2D">
                <a:alpha val="18000"/>
              </a:srgbClr>
            </a:outerShdw>
          </a:effectLst>
        </p:spPr>
      </p:sp>
      <p:pic>
        <p:nvPicPr>
          <p:cNvPr id="3" name="Image 0" descr="/home/claude/repo/outputs/reports/om_exhibits/icons/trendup.png">    </p:cNvPr>
          <p:cNvPicPr>
            <a:picLocks noChangeAspect="1"/>
          </p:cNvPicPr>
          <p:nvPr/>
        </p:nvPicPr>
        <p:blipFill>
          <a:blip r:embed="rId1"/>
          <a:stretch>
            <a:fillRect/>
          </a:stretch>
        </p:blipFill>
        <p:spPr>
          <a:xfrm>
            <a:off x="643738" y="332842"/>
            <a:ext cx="175565" cy="175565"/>
          </a:xfrm>
          <a:prstGeom prst="rect">
            <a:avLst/>
          </a:prstGeom>
        </p:spPr>
      </p:pic>
      <p:sp>
        <p:nvSpPr>
          <p:cNvPr id="4" name="Text 1"/>
          <p:cNvSpPr/>
          <p:nvPr/>
        </p:nvSpPr>
        <p:spPr>
          <a:xfrm>
            <a:off x="1024128" y="256032"/>
            <a:ext cx="8686800" cy="292608"/>
          </a:xfrm>
          <a:prstGeom prst="rect">
            <a:avLst/>
          </a:prstGeom>
          <a:noFill/>
          <a:ln/>
        </p:spPr>
        <p:txBody>
          <a:bodyPr wrap="square" rtlCol="0" anchor="ctr"/>
          <a:lstStyle/>
          <a:p>
            <a:pPr indent="0" marL="0">
              <a:buNone/>
            </a:pPr>
            <a:r>
              <a:rPr lang="en-US" sz="1050" b="1" spc="180" kern="0" dirty="0">
                <a:solidFill>
                  <a:srgbClr val="B06220"/>
                </a:solidFill>
                <a:latin typeface="Calibri" pitchFamily="34" charset="0"/>
                <a:ea typeface="Calibri" pitchFamily="34" charset="-122"/>
                <a:cs typeface="Calibri" pitchFamily="34" charset="-120"/>
              </a:rPr>
              <a:t>STATE-LEVEL CONTEXT</a:t>
            </a:r>
            <a:endParaRPr lang="en-US" sz="1050" dirty="0"/>
          </a:p>
        </p:txBody>
      </p:sp>
      <p:sp>
        <p:nvSpPr>
          <p:cNvPr id="5" name="Text 2"/>
          <p:cNvSpPr/>
          <p:nvPr/>
        </p:nvSpPr>
        <p:spPr>
          <a:xfrm>
            <a:off x="548640" y="512064"/>
            <a:ext cx="11064240" cy="512064"/>
          </a:xfrm>
          <a:prstGeom prst="rect">
            <a:avLst/>
          </a:prstGeom>
          <a:noFill/>
          <a:ln/>
        </p:spPr>
        <p:txBody>
          <a:bodyPr wrap="square" rtlCol="0" anchor="t"/>
          <a:lstStyle/>
          <a:p>
            <a:pPr indent="0" marL="0">
              <a:buNone/>
            </a:pPr>
            <a:r>
              <a:rPr lang="en-US" sz="2300" b="1" dirty="0">
                <a:solidFill>
                  <a:srgbClr val="FFFFFF"/>
                </a:solidFill>
                <a:latin typeface="Bookman Old Style" pitchFamily="34" charset="0"/>
                <a:ea typeface="Bookman Old Style" pitchFamily="34" charset="-122"/>
                <a:cs typeface="Bookman Old Style" pitchFamily="34" charset="-120"/>
              </a:rPr>
              <a:t>A queue large enough to trigger a state audit</a:t>
            </a:r>
            <a:endParaRPr lang="en-US" sz="2300" dirty="0"/>
          </a:p>
        </p:txBody>
      </p:sp>
      <p:sp>
        <p:nvSpPr>
          <p:cNvPr id="6" name="Text 3"/>
          <p:cNvSpPr/>
          <p:nvPr/>
        </p:nvSpPr>
        <p:spPr>
          <a:xfrm>
            <a:off x="548640" y="1005840"/>
            <a:ext cx="11064240" cy="384048"/>
          </a:xfrm>
          <a:prstGeom prst="rect">
            <a:avLst/>
          </a:prstGeom>
          <a:noFill/>
          <a:ln/>
        </p:spPr>
        <p:txBody>
          <a:bodyPr wrap="square" rtlCol="0" anchor="t"/>
          <a:lstStyle/>
          <a:p>
            <a:pPr indent="0" marL="0">
              <a:buNone/>
            </a:pPr>
            <a:r>
              <a:rPr lang="en-US" sz="1250" i="1" dirty="0">
                <a:solidFill>
                  <a:srgbClr val="CADCFC"/>
                </a:solidFill>
                <a:latin typeface="Calibri" pitchFamily="34" charset="0"/>
                <a:ea typeface="Calibri" pitchFamily="34" charset="-122"/>
                <a:cs typeface="Calibri" pitchFamily="34" charset="-120"/>
              </a:rPr>
              <a:t>The demand signal is real enough to have created a policy problem — a different claim than “this area is growing.”</a:t>
            </a:r>
            <a:endParaRPr lang="en-US" sz="1250" dirty="0"/>
          </a:p>
        </p:txBody>
      </p:sp>
      <p:sp>
        <p:nvSpPr>
          <p:cNvPr id="7" name="Shape 4"/>
          <p:cNvSpPr/>
          <p:nvPr/>
        </p:nvSpPr>
        <p:spPr>
          <a:xfrm>
            <a:off x="1097280" y="3639312"/>
            <a:ext cx="2987040" cy="1115568"/>
          </a:xfrm>
          <a:prstGeom prst="roundRect">
            <a:avLst>
              <a:gd name="adj" fmla="val 4098"/>
            </a:avLst>
          </a:prstGeom>
          <a:solidFill>
            <a:srgbClr val="B06220"/>
          </a:solidFill>
          <a:ln/>
          <a:effectLst>
            <a:outerShdw sx="100000" sy="100000" kx="0" ky="0" algn="bl" rotWithShape="0" blurRad="101600" dist="25400" dir="5400000">
              <a:srgbClr val="0F1B2D">
                <a:alpha val="18000"/>
              </a:srgbClr>
            </a:outerShdw>
          </a:effectLst>
        </p:spPr>
      </p:sp>
      <p:sp>
        <p:nvSpPr>
          <p:cNvPr id="8" name="Text 5"/>
          <p:cNvSpPr/>
          <p:nvPr/>
        </p:nvSpPr>
        <p:spPr>
          <a:xfrm>
            <a:off x="1097280" y="3108960"/>
            <a:ext cx="2987040" cy="457200"/>
          </a:xfrm>
          <a:prstGeom prst="rect">
            <a:avLst/>
          </a:prstGeom>
          <a:noFill/>
          <a:ln/>
        </p:spPr>
        <p:txBody>
          <a:bodyPr wrap="square"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63 GW</a:t>
            </a:r>
            <a:endParaRPr lang="en-US" sz="2700" dirty="0"/>
          </a:p>
        </p:txBody>
      </p:sp>
      <p:sp>
        <p:nvSpPr>
          <p:cNvPr id="9" name="Text 6"/>
          <p:cNvSpPr/>
          <p:nvPr/>
        </p:nvSpPr>
        <p:spPr>
          <a:xfrm>
            <a:off x="868680" y="4901184"/>
            <a:ext cx="3444240" cy="685800"/>
          </a:xfrm>
          <a:prstGeom prst="rect">
            <a:avLst/>
          </a:prstGeom>
          <a:noFill/>
          <a:ln/>
        </p:spPr>
        <p:txBody>
          <a:bodyPr wrap="square" rtlCol="0" anchor="ctr"/>
          <a:lstStyle/>
          <a:p>
            <a:pPr algn="ctr" indent="0" marL="0">
              <a:lnSpc>
                <a:spcPct val="115000"/>
              </a:lnSpc>
              <a:buNone/>
            </a:pPr>
            <a:r>
              <a:rPr lang="en-US" sz="1000" dirty="0">
                <a:solidFill>
                  <a:srgbClr val="9FB0C6"/>
                </a:solidFill>
                <a:latin typeface="Calibri" pitchFamily="34" charset="0"/>
                <a:ea typeface="Calibri" pitchFamily="34" charset="-122"/>
                <a:cs typeface="Calibri" pitchFamily="34" charset="-120"/>
              </a:rPr>
              <a:t>ERCOT large-load queue, end of 2024</a:t>
            </a:r>
            <a:endParaRPr lang="en-US" sz="1000" dirty="0"/>
          </a:p>
        </p:txBody>
      </p:sp>
      <p:sp>
        <p:nvSpPr>
          <p:cNvPr id="10" name="Shape 7"/>
          <p:cNvSpPr/>
          <p:nvPr/>
        </p:nvSpPr>
        <p:spPr>
          <a:xfrm>
            <a:off x="4587240" y="2858414"/>
            <a:ext cx="2987040" cy="1896466"/>
          </a:xfrm>
          <a:prstGeom prst="roundRect">
            <a:avLst>
              <a:gd name="adj" fmla="val 2411"/>
            </a:avLst>
          </a:prstGeom>
          <a:solidFill>
            <a:srgbClr val="B06220"/>
          </a:solidFill>
          <a:ln/>
          <a:effectLst>
            <a:outerShdw sx="100000" sy="100000" kx="0" ky="0" algn="bl" rotWithShape="0" blurRad="101600" dist="25400" dir="5400000">
              <a:srgbClr val="0F1B2D">
                <a:alpha val="18000"/>
              </a:srgbClr>
            </a:outerShdw>
          </a:effectLst>
        </p:spPr>
      </p:sp>
      <p:sp>
        <p:nvSpPr>
          <p:cNvPr id="11" name="Text 8"/>
          <p:cNvSpPr/>
          <p:nvPr/>
        </p:nvSpPr>
        <p:spPr>
          <a:xfrm>
            <a:off x="4587240" y="2328062"/>
            <a:ext cx="2987040" cy="457200"/>
          </a:xfrm>
          <a:prstGeom prst="rect">
            <a:avLst/>
          </a:prstGeom>
          <a:noFill/>
          <a:ln/>
        </p:spPr>
        <p:txBody>
          <a:bodyPr wrap="square"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226 GW</a:t>
            </a:r>
            <a:endParaRPr lang="en-US" sz="2700" dirty="0"/>
          </a:p>
        </p:txBody>
      </p:sp>
      <p:sp>
        <p:nvSpPr>
          <p:cNvPr id="12" name="Text 9"/>
          <p:cNvSpPr/>
          <p:nvPr/>
        </p:nvSpPr>
        <p:spPr>
          <a:xfrm>
            <a:off x="4358640" y="4901184"/>
            <a:ext cx="3444240" cy="685800"/>
          </a:xfrm>
          <a:prstGeom prst="rect">
            <a:avLst/>
          </a:prstGeom>
          <a:noFill/>
          <a:ln/>
        </p:spPr>
        <p:txBody>
          <a:bodyPr wrap="square" rtlCol="0" anchor="ctr"/>
          <a:lstStyle/>
          <a:p>
            <a:pPr algn="ctr" indent="0" marL="0">
              <a:lnSpc>
                <a:spcPct val="115000"/>
              </a:lnSpc>
              <a:buNone/>
            </a:pPr>
            <a:r>
              <a:rPr lang="en-US" sz="1000" dirty="0">
                <a:solidFill>
                  <a:srgbClr val="9FB0C6"/>
                </a:solidFill>
                <a:latin typeface="Calibri" pitchFamily="34" charset="0"/>
                <a:ea typeface="Calibri" pitchFamily="34" charset="-122"/>
                <a:cs typeface="Calibri" pitchFamily="34" charset="-120"/>
              </a:rPr>
              <a:t>ERCOT large-load queue, Nov 2025 — ~77% data centers targeting 2030</a:t>
            </a:r>
            <a:endParaRPr lang="en-US" sz="1000" dirty="0"/>
          </a:p>
        </p:txBody>
      </p:sp>
      <p:sp>
        <p:nvSpPr>
          <p:cNvPr id="13" name="Shape 10"/>
          <p:cNvSpPr/>
          <p:nvPr/>
        </p:nvSpPr>
        <p:spPr>
          <a:xfrm>
            <a:off x="8077200" y="2105406"/>
            <a:ext cx="2987040" cy="2649474"/>
          </a:xfrm>
          <a:prstGeom prst="roundRect">
            <a:avLst>
              <a:gd name="adj" fmla="val 1726"/>
            </a:avLst>
          </a:prstGeom>
          <a:solidFill>
            <a:srgbClr val="B91C1C"/>
          </a:solidFill>
          <a:ln/>
          <a:effectLst>
            <a:outerShdw sx="100000" sy="100000" kx="0" ky="0" algn="bl" rotWithShape="0" blurRad="101600" dist="25400" dir="5400000">
              <a:srgbClr val="0F1B2D">
                <a:alpha val="18000"/>
              </a:srgbClr>
            </a:outerShdw>
          </a:effectLst>
        </p:spPr>
      </p:sp>
      <p:sp>
        <p:nvSpPr>
          <p:cNvPr id="14" name="Text 11"/>
          <p:cNvSpPr/>
          <p:nvPr/>
        </p:nvSpPr>
        <p:spPr>
          <a:xfrm>
            <a:off x="8077200" y="1575054"/>
            <a:ext cx="2987040" cy="457200"/>
          </a:xfrm>
          <a:prstGeom prst="rect">
            <a:avLst/>
          </a:prstGeom>
          <a:noFill/>
          <a:ln/>
        </p:spPr>
        <p:txBody>
          <a:bodyPr wrap="square"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474 GW</a:t>
            </a:r>
            <a:endParaRPr lang="en-US" sz="2700" dirty="0"/>
          </a:p>
        </p:txBody>
      </p:sp>
      <p:sp>
        <p:nvSpPr>
          <p:cNvPr id="15" name="Text 12"/>
          <p:cNvSpPr/>
          <p:nvPr/>
        </p:nvSpPr>
        <p:spPr>
          <a:xfrm>
            <a:off x="7848600" y="4901184"/>
            <a:ext cx="3444240" cy="685800"/>
          </a:xfrm>
          <a:prstGeom prst="rect">
            <a:avLst/>
          </a:prstGeom>
          <a:noFill/>
          <a:ln/>
        </p:spPr>
        <p:txBody>
          <a:bodyPr wrap="square" rtlCol="0" anchor="ctr"/>
          <a:lstStyle/>
          <a:p>
            <a:pPr algn="ctr" indent="0" marL="0">
              <a:lnSpc>
                <a:spcPct val="115000"/>
              </a:lnSpc>
              <a:buNone/>
            </a:pPr>
            <a:r>
              <a:rPr lang="en-US" sz="1000" dirty="0">
                <a:solidFill>
                  <a:srgbClr val="9FB0C6"/>
                </a:solidFill>
                <a:latin typeface="Calibri" pitchFamily="34" charset="0"/>
                <a:ea typeface="Calibri" pitchFamily="34" charset="-122"/>
                <a:cs typeface="Calibri" pitchFamily="34" charset="-120"/>
              </a:rPr>
              <a:t>Statewide backlog, Aug 2026 (~90% data-center-driven)</a:t>
            </a:r>
            <a:endParaRPr lang="en-US" sz="1000" dirty="0"/>
          </a:p>
        </p:txBody>
      </p:sp>
      <p:sp>
        <p:nvSpPr>
          <p:cNvPr id="16" name="Shape 13"/>
          <p:cNvSpPr/>
          <p:nvPr/>
        </p:nvSpPr>
        <p:spPr>
          <a:xfrm flipV="1">
            <a:off x="4084320" y="2995574"/>
            <a:ext cx="502920" cy="780898"/>
          </a:xfrm>
          <a:prstGeom prst="line">
            <a:avLst/>
          </a:prstGeom>
          <a:noFill/>
          <a:ln w="19050">
            <a:solidFill>
              <a:srgbClr val="9FB0C6"/>
            </a:solidFill>
            <a:prstDash val="dash"/>
            <a:tailEnd type="triangle"/>
          </a:ln>
        </p:spPr>
      </p:sp>
      <p:sp>
        <p:nvSpPr>
          <p:cNvPr id="17" name="Shape 14"/>
          <p:cNvSpPr/>
          <p:nvPr/>
        </p:nvSpPr>
        <p:spPr>
          <a:xfrm flipV="1">
            <a:off x="7574280" y="2242566"/>
            <a:ext cx="502920" cy="753008"/>
          </a:xfrm>
          <a:prstGeom prst="line">
            <a:avLst/>
          </a:prstGeom>
          <a:noFill/>
          <a:ln w="19050">
            <a:solidFill>
              <a:srgbClr val="9FB0C6"/>
            </a:solidFill>
            <a:prstDash val="dash"/>
            <a:tailEnd type="triangle"/>
          </a:ln>
        </p:spPr>
      </p:sp>
      <p:sp>
        <p:nvSpPr>
          <p:cNvPr id="18" name="Text 15"/>
          <p:cNvSpPr/>
          <p:nvPr/>
        </p:nvSpPr>
        <p:spPr>
          <a:xfrm>
            <a:off x="1097280" y="5577840"/>
            <a:ext cx="9966960" cy="502920"/>
          </a:xfrm>
          <a:prstGeom prst="rect">
            <a:avLst/>
          </a:prstGeom>
          <a:noFill/>
          <a:ln/>
        </p:spPr>
        <p:txBody>
          <a:bodyPr wrap="square" rtlCol="0" anchor="ctr"/>
          <a:lstStyle/>
          <a:p>
            <a:pPr indent="0" marL="0">
              <a:lnSpc>
                <a:spcPct val="112000"/>
              </a:lnSpc>
              <a:buNone/>
            </a:pPr>
            <a:r>
              <a:rPr lang="en-US" sz="1100" dirty="0">
                <a:solidFill>
                  <a:srgbClr val="CADCFC"/>
                </a:solidFill>
                <a:latin typeface="Calibri" pitchFamily="34" charset="0"/>
                <a:ea typeface="Calibri" pitchFamily="34" charset="-122"/>
                <a:cs typeface="Calibri" pitchFamily="34" charset="-120"/>
              </a:rPr>
              <a:t>The region around Caramba North (32.72 GW within 60 mi) sits inside a queue so large it triggered an Aug 3, 2026 directive to audit all ERCOT-queue data centers and pause the “Batch Zero” large-load review process.</a:t>
            </a:r>
            <a:endParaRPr lang="en-US" sz="1100" dirty="0"/>
          </a:p>
        </p:txBody>
      </p:sp>
      <p:sp>
        <p:nvSpPr>
          <p:cNvPr id="19" name="Text 16"/>
          <p:cNvSpPr/>
          <p:nvPr/>
        </p:nvSpPr>
        <p:spPr>
          <a:xfrm>
            <a:off x="1097280" y="6199632"/>
            <a:ext cx="9966960" cy="274320"/>
          </a:xfrm>
          <a:prstGeom prst="rect">
            <a:avLst/>
          </a:prstGeom>
          <a:noFill/>
          <a:ln/>
        </p:spPr>
        <p:txBody>
          <a:bodyPr wrap="square" rtlCol="0" anchor="ctr"/>
          <a:lstStyle/>
          <a:p>
            <a:pPr indent="0" marL="0">
              <a:buNone/>
            </a:pPr>
            <a:r>
              <a:rPr lang="en-US" sz="850" i="1" dirty="0">
                <a:solidFill>
                  <a:srgbClr val="6B7A90"/>
                </a:solidFill>
                <a:latin typeface="Calibri" pitchFamily="34" charset="0"/>
                <a:ea typeface="Calibri" pitchFamily="34" charset="-122"/>
                <a:cs typeface="Calibri" pitchFamily="34" charset="-120"/>
              </a:rPr>
              <a:t>Source class: public reporting, Aug 2026 — Latitude Media (Dec 3, 2025); Utility Dive (Aug 2026). Full citations in the source register.</a:t>
            </a:r>
            <a:endParaRPr lang="en-US" sz="850" dirty="0"/>
          </a:p>
        </p:txBody>
      </p:sp>
      <p:sp>
        <p:nvSpPr>
          <p:cNvPr id="20" name="Text 17"/>
          <p:cNvSpPr/>
          <p:nvPr/>
        </p:nvSpPr>
        <p:spPr>
          <a:xfrm>
            <a:off x="548640" y="6528816"/>
            <a:ext cx="7315200" cy="256032"/>
          </a:xfrm>
          <a:prstGeom prst="rect">
            <a:avLst/>
          </a:prstGeom>
          <a:noFill/>
          <a:ln/>
        </p:spPr>
        <p:txBody>
          <a:bodyPr wrap="square" rtlCol="0" anchor="ctr"/>
          <a:lstStyle/>
          <a:p>
            <a:pPr indent="0" marL="0">
              <a:buNone/>
            </a:pPr>
            <a:r>
              <a:rPr lang="en-US" sz="750" spc="50" kern="0" dirty="0">
                <a:solidFill>
                  <a:srgbClr val="6B7A90"/>
                </a:solidFill>
                <a:latin typeface="Calibri" pitchFamily="34" charset="0"/>
                <a:ea typeface="Calibri" pitchFamily="34" charset="-122"/>
                <a:cs typeface="Calibri" pitchFamily="34" charset="-120"/>
              </a:rPr>
              <a:t>CARAMBA NORTH — MAP-LED SUMMARY, CONFIDENTIAL</a:t>
            </a:r>
            <a:endParaRPr lang="en-US" sz="750" dirty="0"/>
          </a:p>
        </p:txBody>
      </p:sp>
      <p:sp>
        <p:nvSpPr>
          <p:cNvPr id="21" name="Text 18"/>
          <p:cNvSpPr/>
          <p:nvPr/>
        </p:nvSpPr>
        <p:spPr>
          <a:xfrm>
            <a:off x="11185855" y="6528816"/>
            <a:ext cx="457200" cy="256032"/>
          </a:xfrm>
          <a:prstGeom prst="rect">
            <a:avLst/>
          </a:prstGeom>
          <a:noFill/>
          <a:ln/>
        </p:spPr>
        <p:txBody>
          <a:bodyPr wrap="square" rtlCol="0" anchor="ctr"/>
          <a:lstStyle/>
          <a:p>
            <a:pPr algn="r" indent="0" marL="0">
              <a:buNone/>
            </a:pPr>
            <a:r>
              <a:rPr lang="en-US" sz="750" dirty="0">
                <a:solidFill>
                  <a:srgbClr val="6B7A90"/>
                </a:solidFill>
                <a:latin typeface="Calibri" pitchFamily="34" charset="0"/>
                <a:ea typeface="Calibri" pitchFamily="34" charset="-122"/>
                <a:cs typeface="Calibri" pitchFamily="34" charset="-120"/>
              </a:rPr>
              <a:t>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37744"/>
            <a:ext cx="365760" cy="365760"/>
          </a:xfrm>
          <a:prstGeom prst="ellipse">
            <a:avLst/>
          </a:prstGeom>
          <a:solidFill>
            <a:srgbClr val="B06220"/>
          </a:solidFill>
          <a:ln/>
          <a:effectLst>
            <a:outerShdw sx="100000" sy="100000" kx="0" ky="0" algn="bl" rotWithShape="0" blurRad="101600" dist="25400" dir="5400000">
              <a:srgbClr val="0F1B2D">
                <a:alpha val="18000"/>
              </a:srgbClr>
            </a:outerShdw>
          </a:effectLst>
        </p:spPr>
      </p:sp>
      <p:pic>
        <p:nvPicPr>
          <p:cNvPr id="3" name="Image 0" descr="/home/claude/repo/outputs/reports/om_exhibits/icons/gauge.png">    </p:cNvPr>
          <p:cNvPicPr>
            <a:picLocks noChangeAspect="1"/>
          </p:cNvPicPr>
          <p:nvPr/>
        </p:nvPicPr>
        <p:blipFill>
          <a:blip r:embed="rId1"/>
          <a:stretch>
            <a:fillRect/>
          </a:stretch>
        </p:blipFill>
        <p:spPr>
          <a:xfrm>
            <a:off x="643738" y="332842"/>
            <a:ext cx="175565" cy="175565"/>
          </a:xfrm>
          <a:prstGeom prst="rect">
            <a:avLst/>
          </a:prstGeom>
        </p:spPr>
      </p:pic>
      <p:sp>
        <p:nvSpPr>
          <p:cNvPr id="4" name="Text 1"/>
          <p:cNvSpPr/>
          <p:nvPr/>
        </p:nvSpPr>
        <p:spPr>
          <a:xfrm>
            <a:off x="1024128" y="256032"/>
            <a:ext cx="8686800" cy="292608"/>
          </a:xfrm>
          <a:prstGeom prst="rect">
            <a:avLst/>
          </a:prstGeom>
          <a:noFill/>
          <a:ln/>
        </p:spPr>
        <p:txBody>
          <a:bodyPr wrap="square" rtlCol="0" anchor="ctr"/>
          <a:lstStyle/>
          <a:p>
            <a:pPr indent="0" marL="0">
              <a:buNone/>
            </a:pPr>
            <a:r>
              <a:rPr lang="en-US" sz="1050" b="1" spc="180" kern="0" dirty="0">
                <a:solidFill>
                  <a:srgbClr val="B06220"/>
                </a:solidFill>
                <a:latin typeface="Calibri" pitchFamily="34" charset="0"/>
                <a:ea typeface="Calibri" pitchFamily="34" charset="-122"/>
                <a:cs typeface="Calibri" pitchFamily="34" charset="-120"/>
              </a:rPr>
              <a:t>02.8 · SUBSURFACE &amp; DRILLING ACTIVITY</a:t>
            </a:r>
            <a:endParaRPr lang="en-US" sz="1050" dirty="0"/>
          </a:p>
        </p:txBody>
      </p:sp>
      <p:sp>
        <p:nvSpPr>
          <p:cNvPr id="5" name="Text 2"/>
          <p:cNvSpPr/>
          <p:nvPr/>
        </p:nvSpPr>
        <p:spPr>
          <a:xfrm>
            <a:off x="548640" y="512064"/>
            <a:ext cx="11064240" cy="512064"/>
          </a:xfrm>
          <a:prstGeom prst="rect">
            <a:avLst/>
          </a:prstGeom>
          <a:noFill/>
          <a:ln/>
        </p:spPr>
        <p:txBody>
          <a:bodyPr wrap="square" rtlCol="0" anchor="t"/>
          <a:lstStyle/>
          <a:p>
            <a:pPr indent="0" marL="0">
              <a:buNone/>
            </a:pPr>
            <a:r>
              <a:rPr lang="en-US" sz="2300" b="1" dirty="0">
                <a:solidFill>
                  <a:srgbClr val="0F1B2D"/>
                </a:solidFill>
                <a:latin typeface="Bookman Old Style" pitchFamily="34" charset="0"/>
                <a:ea typeface="Bookman Old Style" pitchFamily="34" charset="-122"/>
                <a:cs typeface="Bookman Old Style" pitchFamily="34" charset="-120"/>
              </a:rPr>
              <a:t>No new drilling is occurring at or near the site</a:t>
            </a:r>
            <a:endParaRPr lang="en-US" sz="2300" dirty="0"/>
          </a:p>
        </p:txBody>
      </p:sp>
      <p:sp>
        <p:nvSpPr>
          <p:cNvPr id="6" name="Text 3"/>
          <p:cNvSpPr/>
          <p:nvPr/>
        </p:nvSpPr>
        <p:spPr>
          <a:xfrm>
            <a:off x="548640" y="1005840"/>
            <a:ext cx="11064240" cy="384048"/>
          </a:xfrm>
          <a:prstGeom prst="rect">
            <a:avLst/>
          </a:prstGeom>
          <a:noFill/>
          <a:ln/>
        </p:spPr>
        <p:txBody>
          <a:bodyPr wrap="square" rtlCol="0" anchor="t"/>
          <a:lstStyle/>
          <a:p>
            <a:pPr indent="0" marL="0">
              <a:buNone/>
            </a:pPr>
            <a:r>
              <a:rPr lang="en-US" sz="1250" i="1" dirty="0">
                <a:solidFill>
                  <a:srgbClr val="475569"/>
                </a:solidFill>
                <a:latin typeface="Calibri" pitchFamily="34" charset="0"/>
                <a:ea typeface="Calibri" pitchFamily="34" charset="-122"/>
                <a:cs typeface="Calibri" pitchFamily="34" charset="-120"/>
              </a:rPr>
              <a:t>Pecos County has the lowest new-drill count of seven comparable Permian counties since 2020 — ~90% below the peer average.</a:t>
            </a:r>
            <a:endParaRPr lang="en-US" sz="1250" dirty="0"/>
          </a:p>
        </p:txBody>
      </p:sp>
      <p:graphicFrame>
        <p:nvGraphicFramePr>
          <p:cNvPr id="7" name="Chart 0" descr=""/>
          <p:cNvGraphicFramePr/>
          <p:nvPr/>
        </p:nvGraphicFramePr>
        <p:xfrm>
          <a:off x="548640" y="1508760"/>
          <a:ext cx="6949440" cy="470916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7726680" y="1508760"/>
            <a:ext cx="3913632" cy="1005840"/>
          </a:xfrm>
          <a:prstGeom prst="roundRect">
            <a:avLst>
              <a:gd name="adj" fmla="val 4545"/>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9" name="Text 5"/>
          <p:cNvSpPr/>
          <p:nvPr/>
        </p:nvSpPr>
        <p:spPr>
          <a:xfrm>
            <a:off x="7845552" y="1563624"/>
            <a:ext cx="3675888" cy="583387"/>
          </a:xfrm>
          <a:prstGeom prst="rect">
            <a:avLst/>
          </a:prstGeom>
          <a:noFill/>
          <a:ln/>
        </p:spPr>
        <p:txBody>
          <a:bodyPr wrap="square" rtlCol="0" anchor="b"/>
          <a:lstStyle/>
          <a:p>
            <a:pPr indent="0" marL="0">
              <a:buNone/>
            </a:pPr>
            <a:r>
              <a:rPr lang="en-US" sz="2400" b="1" dirty="0">
                <a:solidFill>
                  <a:srgbClr val="B06220"/>
                </a:solidFill>
                <a:latin typeface="Calibri" pitchFamily="34" charset="0"/>
                <a:ea typeface="Calibri" pitchFamily="34" charset="-122"/>
                <a:cs typeface="Calibri" pitchFamily="34" charset="-120"/>
              </a:rPr>
              <a:t>115</a:t>
            </a:r>
            <a:endParaRPr lang="en-US" sz="2400" dirty="0"/>
          </a:p>
        </p:txBody>
      </p:sp>
      <p:sp>
        <p:nvSpPr>
          <p:cNvPr id="10" name="Text 6"/>
          <p:cNvSpPr/>
          <p:nvPr/>
        </p:nvSpPr>
        <p:spPr>
          <a:xfrm>
            <a:off x="7845552" y="2112264"/>
            <a:ext cx="3675888" cy="329184"/>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NEW-DRILL WELLS, PECOS, SINCE 2020 — VS. PEER AVG 1,181</a:t>
            </a:r>
            <a:endParaRPr lang="en-US" sz="830" dirty="0"/>
          </a:p>
        </p:txBody>
      </p:sp>
      <p:sp>
        <p:nvSpPr>
          <p:cNvPr id="11" name="Shape 7"/>
          <p:cNvSpPr/>
          <p:nvPr/>
        </p:nvSpPr>
        <p:spPr>
          <a:xfrm>
            <a:off x="7726680" y="2606040"/>
            <a:ext cx="3913632" cy="1005840"/>
          </a:xfrm>
          <a:prstGeom prst="roundRect">
            <a:avLst>
              <a:gd name="adj" fmla="val 4545"/>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2" name="Text 8"/>
          <p:cNvSpPr/>
          <p:nvPr/>
        </p:nvSpPr>
        <p:spPr>
          <a:xfrm>
            <a:off x="7845552" y="2660904"/>
            <a:ext cx="3675888" cy="583387"/>
          </a:xfrm>
          <a:prstGeom prst="rect">
            <a:avLst/>
          </a:prstGeom>
          <a:noFill/>
          <a:ln/>
        </p:spPr>
        <p:txBody>
          <a:bodyPr wrap="square" rtlCol="0" anchor="b"/>
          <a:lstStyle/>
          <a:p>
            <a:pPr indent="0" marL="0">
              <a:buNone/>
            </a:pPr>
            <a:r>
              <a:rPr lang="en-US" sz="2400" b="1" dirty="0">
                <a:solidFill>
                  <a:srgbClr val="0F1B2D"/>
                </a:solidFill>
                <a:latin typeface="Calibri" pitchFamily="34" charset="0"/>
                <a:ea typeface="Calibri" pitchFamily="34" charset="-122"/>
                <a:cs typeface="Calibri" pitchFamily="34" charset="-120"/>
              </a:rPr>
              <a:t>0</a:t>
            </a:r>
            <a:endParaRPr lang="en-US" sz="2400" dirty="0"/>
          </a:p>
        </p:txBody>
      </p:sp>
      <p:sp>
        <p:nvSpPr>
          <p:cNvPr id="13" name="Text 9"/>
          <p:cNvSpPr/>
          <p:nvPr/>
        </p:nvSpPr>
        <p:spPr>
          <a:xfrm>
            <a:off x="7845552" y="3209544"/>
            <a:ext cx="3675888" cy="329184"/>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NEW-DRILL WELLS ≤ 5 MILES OF THE TRACT SINCE 2020</a:t>
            </a:r>
            <a:endParaRPr lang="en-US" sz="830" dirty="0"/>
          </a:p>
        </p:txBody>
      </p:sp>
      <p:sp>
        <p:nvSpPr>
          <p:cNvPr id="14" name="Shape 10"/>
          <p:cNvSpPr/>
          <p:nvPr/>
        </p:nvSpPr>
        <p:spPr>
          <a:xfrm>
            <a:off x="7726680" y="3703320"/>
            <a:ext cx="3913632" cy="1005840"/>
          </a:xfrm>
          <a:prstGeom prst="roundRect">
            <a:avLst>
              <a:gd name="adj" fmla="val 4545"/>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5" name="Text 11"/>
          <p:cNvSpPr/>
          <p:nvPr/>
        </p:nvSpPr>
        <p:spPr>
          <a:xfrm>
            <a:off x="7845552" y="3758184"/>
            <a:ext cx="3675888" cy="583387"/>
          </a:xfrm>
          <a:prstGeom prst="rect">
            <a:avLst/>
          </a:prstGeom>
          <a:noFill/>
          <a:ln/>
        </p:spPr>
        <p:txBody>
          <a:bodyPr wrap="square" rtlCol="0" anchor="b"/>
          <a:lstStyle/>
          <a:p>
            <a:pPr indent="0" marL="0">
              <a:buNone/>
            </a:pPr>
            <a:r>
              <a:rPr lang="en-US" sz="2400" b="1" dirty="0">
                <a:solidFill>
                  <a:srgbClr val="B06220"/>
                </a:solidFill>
                <a:latin typeface="Calibri" pitchFamily="34" charset="0"/>
                <a:ea typeface="Calibri" pitchFamily="34" charset="-122"/>
                <a:cs typeface="Calibri" pitchFamily="34" charset="-120"/>
              </a:rPr>
              <a:t>83%</a:t>
            </a:r>
            <a:endParaRPr lang="en-US" sz="2400" dirty="0"/>
          </a:p>
        </p:txBody>
      </p:sp>
      <p:sp>
        <p:nvSpPr>
          <p:cNvPr id="16" name="Text 12"/>
          <p:cNvSpPr/>
          <p:nvPr/>
        </p:nvSpPr>
        <p:spPr>
          <a:xfrm>
            <a:off x="7845552" y="4306824"/>
            <a:ext cx="3675888" cy="329184"/>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OF NON-PLUGGED WELLBORES ≤ 10 MI ARE MARGINAL / END-OF-LIFE</a:t>
            </a:r>
            <a:endParaRPr lang="en-US" sz="830" dirty="0"/>
          </a:p>
        </p:txBody>
      </p:sp>
      <p:sp>
        <p:nvSpPr>
          <p:cNvPr id="17" name="Shape 13"/>
          <p:cNvSpPr/>
          <p:nvPr/>
        </p:nvSpPr>
        <p:spPr>
          <a:xfrm>
            <a:off x="7726680" y="4800600"/>
            <a:ext cx="3913632" cy="1325880"/>
          </a:xfrm>
          <a:prstGeom prst="roundRect">
            <a:avLst>
              <a:gd name="adj" fmla="val 3448"/>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18" name="Text 14"/>
          <p:cNvSpPr/>
          <p:nvPr/>
        </p:nvSpPr>
        <p:spPr>
          <a:xfrm>
            <a:off x="7845552" y="4855464"/>
            <a:ext cx="3675888" cy="769010"/>
          </a:xfrm>
          <a:prstGeom prst="rect">
            <a:avLst/>
          </a:prstGeom>
          <a:noFill/>
          <a:ln/>
        </p:spPr>
        <p:txBody>
          <a:bodyPr wrap="square" rtlCol="0" anchor="b"/>
          <a:lstStyle/>
          <a:p>
            <a:pPr indent="0" marL="0">
              <a:buNone/>
            </a:pPr>
            <a:r>
              <a:rPr lang="en-US" sz="2400" b="1" dirty="0">
                <a:solidFill>
                  <a:srgbClr val="0F1B2D"/>
                </a:solidFill>
                <a:latin typeface="Calibri" pitchFamily="34" charset="0"/>
                <a:ea typeface="Calibri" pitchFamily="34" charset="-122"/>
                <a:cs typeface="Calibri" pitchFamily="34" charset="-120"/>
              </a:rPr>
              <a:t>1 of 7</a:t>
            </a:r>
            <a:endParaRPr lang="en-US" sz="2400" dirty="0"/>
          </a:p>
        </p:txBody>
      </p:sp>
      <p:sp>
        <p:nvSpPr>
          <p:cNvPr id="19" name="Text 15"/>
          <p:cNvSpPr/>
          <p:nvPr/>
        </p:nvSpPr>
        <p:spPr>
          <a:xfrm>
            <a:off x="7845552" y="5596128"/>
            <a:ext cx="3675888" cy="457200"/>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COUNTIES THIS QUIET — PECOS IS THE LOWEST OF ALL SEVEN COMPARABLE PERMIAN COUNTIES BY A WIDE MARGIN</a:t>
            </a:r>
            <a:endParaRPr lang="en-US" sz="830" dirty="0"/>
          </a:p>
        </p:txBody>
      </p:sp>
      <p:sp>
        <p:nvSpPr>
          <p:cNvPr id="20" name="Text 16"/>
          <p:cNvSpPr/>
          <p:nvPr/>
        </p:nvSpPr>
        <p:spPr>
          <a:xfrm>
            <a:off x="548640" y="6528816"/>
            <a:ext cx="7315200" cy="256032"/>
          </a:xfrm>
          <a:prstGeom prst="rect">
            <a:avLst/>
          </a:prstGeom>
          <a:noFill/>
          <a:ln/>
        </p:spPr>
        <p:txBody>
          <a:bodyPr wrap="square" rtlCol="0" anchor="ctr"/>
          <a:lstStyle/>
          <a:p>
            <a:pPr indent="0" marL="0">
              <a:buNone/>
            </a:pPr>
            <a:r>
              <a:rPr lang="en-US" sz="750" spc="50" kern="0" dirty="0">
                <a:solidFill>
                  <a:srgbClr val="64748B"/>
                </a:solidFill>
                <a:latin typeface="Calibri" pitchFamily="34" charset="0"/>
                <a:ea typeface="Calibri" pitchFamily="34" charset="-122"/>
                <a:cs typeface="Calibri" pitchFamily="34" charset="-120"/>
              </a:rPr>
              <a:t>CARAMBA NORTH — MAP-LED SUMMARY, CONFIDENTIAL</a:t>
            </a:r>
            <a:endParaRPr lang="en-US" sz="750" dirty="0"/>
          </a:p>
        </p:txBody>
      </p:sp>
      <p:sp>
        <p:nvSpPr>
          <p:cNvPr id="21" name="Text 17"/>
          <p:cNvSpPr/>
          <p:nvPr/>
        </p:nvSpPr>
        <p:spPr>
          <a:xfrm>
            <a:off x="11185855" y="6528816"/>
            <a:ext cx="457200" cy="256032"/>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37744"/>
            <a:ext cx="365760" cy="365760"/>
          </a:xfrm>
          <a:prstGeom prst="ellipse">
            <a:avLst/>
          </a:prstGeom>
          <a:solidFill>
            <a:srgbClr val="B06220"/>
          </a:solidFill>
          <a:ln/>
          <a:effectLst>
            <a:outerShdw sx="100000" sy="100000" kx="0" ky="0" algn="bl" rotWithShape="0" blurRad="101600" dist="25400" dir="5400000">
              <a:srgbClr val="0F1B2D">
                <a:alpha val="18000"/>
              </a:srgbClr>
            </a:outerShdw>
          </a:effectLst>
        </p:spPr>
      </p:sp>
      <p:pic>
        <p:nvPicPr>
          <p:cNvPr id="3" name="Image 0" descr="/home/claude/repo/outputs/reports/om_exhibits/icons/shield.png">    </p:cNvPr>
          <p:cNvPicPr>
            <a:picLocks noChangeAspect="1"/>
          </p:cNvPicPr>
          <p:nvPr/>
        </p:nvPicPr>
        <p:blipFill>
          <a:blip r:embed="rId1"/>
          <a:stretch>
            <a:fillRect/>
          </a:stretch>
        </p:blipFill>
        <p:spPr>
          <a:xfrm>
            <a:off x="643738" y="332842"/>
            <a:ext cx="175565" cy="175565"/>
          </a:xfrm>
          <a:prstGeom prst="rect">
            <a:avLst/>
          </a:prstGeom>
        </p:spPr>
      </p:pic>
      <p:sp>
        <p:nvSpPr>
          <p:cNvPr id="4" name="Text 1"/>
          <p:cNvSpPr/>
          <p:nvPr/>
        </p:nvSpPr>
        <p:spPr>
          <a:xfrm>
            <a:off x="1024128" y="256032"/>
            <a:ext cx="8686800" cy="292608"/>
          </a:xfrm>
          <a:prstGeom prst="rect">
            <a:avLst/>
          </a:prstGeom>
          <a:noFill/>
          <a:ln/>
        </p:spPr>
        <p:txBody>
          <a:bodyPr wrap="square" rtlCol="0" anchor="ctr"/>
          <a:lstStyle/>
          <a:p>
            <a:pPr indent="0" marL="0">
              <a:buNone/>
            </a:pPr>
            <a:r>
              <a:rPr lang="en-US" sz="1050" b="1" spc="180" kern="0" dirty="0">
                <a:solidFill>
                  <a:srgbClr val="B06220"/>
                </a:solidFill>
                <a:latin typeface="Calibri" pitchFamily="34" charset="0"/>
                <a:ea typeface="Calibri" pitchFamily="34" charset="-122"/>
                <a:cs typeface="Calibri" pitchFamily="34" charset="-120"/>
              </a:rPr>
              <a:t>02.7 · THE DILIGENCE PLATFORM</a:t>
            </a:r>
            <a:endParaRPr lang="en-US" sz="1050" dirty="0"/>
          </a:p>
        </p:txBody>
      </p:sp>
      <p:sp>
        <p:nvSpPr>
          <p:cNvPr id="5" name="Text 2"/>
          <p:cNvSpPr/>
          <p:nvPr/>
        </p:nvSpPr>
        <p:spPr>
          <a:xfrm>
            <a:off x="548640" y="512064"/>
            <a:ext cx="11064240" cy="512064"/>
          </a:xfrm>
          <a:prstGeom prst="rect">
            <a:avLst/>
          </a:prstGeom>
          <a:noFill/>
          <a:ln/>
        </p:spPr>
        <p:txBody>
          <a:bodyPr wrap="square" rtlCol="0" anchor="t"/>
          <a:lstStyle/>
          <a:p>
            <a:pPr indent="0" marL="0">
              <a:buNone/>
            </a:pPr>
            <a:r>
              <a:rPr lang="en-US" sz="2300" b="1" dirty="0">
                <a:solidFill>
                  <a:srgbClr val="0F1B2D"/>
                </a:solidFill>
                <a:latin typeface="Bookman Old Style" pitchFamily="34" charset="0"/>
                <a:ea typeface="Bookman Old Style" pitchFamily="34" charset="-122"/>
                <a:cs typeface="Bookman Old Style" pitchFamily="34" charset="-120"/>
              </a:rPr>
              <a:t>Every figure is independently re-derivable from a cited source</a:t>
            </a:r>
            <a:endParaRPr lang="en-US" sz="2300" dirty="0"/>
          </a:p>
        </p:txBody>
      </p:sp>
      <p:sp>
        <p:nvSpPr>
          <p:cNvPr id="6" name="Text 3"/>
          <p:cNvSpPr/>
          <p:nvPr/>
        </p:nvSpPr>
        <p:spPr>
          <a:xfrm>
            <a:off x="548640" y="1005840"/>
            <a:ext cx="11064240" cy="384048"/>
          </a:xfrm>
          <a:prstGeom prst="rect">
            <a:avLst/>
          </a:prstGeom>
          <a:noFill/>
          <a:ln/>
        </p:spPr>
        <p:txBody>
          <a:bodyPr wrap="square" rtlCol="0" anchor="t"/>
          <a:lstStyle/>
          <a:p>
            <a:pPr indent="0" marL="0">
              <a:buNone/>
            </a:pPr>
            <a:r>
              <a:rPr lang="en-US" sz="1250" i="1" dirty="0">
                <a:solidFill>
                  <a:srgbClr val="475569"/>
                </a:solidFill>
                <a:latin typeface="Calibri" pitchFamily="34" charset="0"/>
                <a:ea typeface="Calibri" pitchFamily="34" charset="-122"/>
                <a:cs typeface="Calibri" pitchFamily="34" charset="-120"/>
              </a:rPr>
              <a:t>This isn’t a broker’s summary — every point, line, and boundary traces to a public dataset with a per-feature source popup.</a:t>
            </a:r>
            <a:endParaRPr lang="en-US" sz="1250" dirty="0"/>
          </a:p>
        </p:txBody>
      </p:sp>
      <p:sp>
        <p:nvSpPr>
          <p:cNvPr id="7" name="Shape 4"/>
          <p:cNvSpPr/>
          <p:nvPr/>
        </p:nvSpPr>
        <p:spPr>
          <a:xfrm>
            <a:off x="3657600" y="3337560"/>
            <a:ext cx="1005840" cy="1005840"/>
          </a:xfrm>
          <a:prstGeom prst="ellipse">
            <a:avLst/>
          </a:prstGeom>
          <a:solidFill>
            <a:srgbClr val="0F1B2D"/>
          </a:solidFill>
          <a:ln/>
          <a:effectLst>
            <a:outerShdw sx="100000" sy="100000" kx="0" ky="0" algn="bl" rotWithShape="0" blurRad="101600" dist="25400" dir="5400000">
              <a:srgbClr val="0F1B2D">
                <a:alpha val="18000"/>
              </a:srgbClr>
            </a:outerShdw>
          </a:effectLst>
        </p:spPr>
      </p:sp>
      <p:pic>
        <p:nvPicPr>
          <p:cNvPr id="8" name="Image 1" descr="/home/claude/repo/outputs/reports/om_exhibits/icons/shield.png">    </p:cNvPr>
          <p:cNvPicPr>
            <a:picLocks noChangeAspect="1"/>
          </p:cNvPicPr>
          <p:nvPr/>
        </p:nvPicPr>
        <p:blipFill>
          <a:blip r:embed="rId2"/>
          <a:stretch>
            <a:fillRect/>
          </a:stretch>
        </p:blipFill>
        <p:spPr>
          <a:xfrm>
            <a:off x="3919118" y="3599078"/>
            <a:ext cx="482803" cy="482803"/>
          </a:xfrm>
          <a:prstGeom prst="rect">
            <a:avLst/>
          </a:prstGeom>
        </p:spPr>
      </p:pic>
      <p:sp>
        <p:nvSpPr>
          <p:cNvPr id="9" name="Text 5"/>
          <p:cNvSpPr/>
          <p:nvPr/>
        </p:nvSpPr>
        <p:spPr>
          <a:xfrm>
            <a:off x="2971800" y="4407408"/>
            <a:ext cx="2377440" cy="274320"/>
          </a:xfrm>
          <a:prstGeom prst="rect">
            <a:avLst/>
          </a:prstGeom>
          <a:noFill/>
          <a:ln/>
        </p:spPr>
        <p:txBody>
          <a:bodyPr wrap="square" rtlCol="0" anchor="ctr"/>
          <a:lstStyle/>
          <a:p>
            <a:pPr algn="ctr" indent="0" marL="0">
              <a:buNone/>
            </a:pPr>
            <a:r>
              <a:rPr lang="en-US" sz="1100" b="1" dirty="0">
                <a:solidFill>
                  <a:srgbClr val="0F1B2D"/>
                </a:solidFill>
                <a:latin typeface="Calibri" pitchFamily="34" charset="0"/>
                <a:ea typeface="Calibri" pitchFamily="34" charset="-122"/>
                <a:cs typeface="Calibri" pitchFamily="34" charset="-120"/>
              </a:rPr>
              <a:t>GIS PLATFORM</a:t>
            </a:r>
            <a:endParaRPr lang="en-US" sz="1100" dirty="0"/>
          </a:p>
        </p:txBody>
      </p:sp>
      <p:sp>
        <p:nvSpPr>
          <p:cNvPr id="10" name="Shape 6"/>
          <p:cNvSpPr/>
          <p:nvPr/>
        </p:nvSpPr>
        <p:spPr>
          <a:xfrm>
            <a:off x="2286000" y="1965960"/>
            <a:ext cx="3749040" cy="3749040"/>
          </a:xfrm>
          <a:prstGeom prst="ellipse">
            <a:avLst/>
          </a:prstGeom>
          <a:ln w="15875">
            <a:solidFill>
              <a:srgbClr val="E2E8F0"/>
            </a:solidFill>
            <a:prstDash val="dash"/>
          </a:ln>
        </p:spPr>
      </p:sp>
      <p:sp>
        <p:nvSpPr>
          <p:cNvPr id="11" name="Shape 7"/>
          <p:cNvSpPr/>
          <p:nvPr/>
        </p:nvSpPr>
        <p:spPr>
          <a:xfrm>
            <a:off x="4160520" y="1965960"/>
            <a:ext cx="914" cy="1874520"/>
          </a:xfrm>
          <a:prstGeom prst="line">
            <a:avLst/>
          </a:prstGeom>
          <a:noFill/>
          <a:ln w="9525">
            <a:solidFill>
              <a:srgbClr val="E2E8F0"/>
            </a:solidFill>
            <a:prstDash val="solid"/>
          </a:ln>
        </p:spPr>
      </p:sp>
      <p:sp>
        <p:nvSpPr>
          <p:cNvPr id="12" name="Shape 8"/>
          <p:cNvSpPr/>
          <p:nvPr/>
        </p:nvSpPr>
        <p:spPr>
          <a:xfrm>
            <a:off x="4160520" y="2514994"/>
            <a:ext cx="1325486" cy="1325486"/>
          </a:xfrm>
          <a:prstGeom prst="line">
            <a:avLst/>
          </a:prstGeom>
          <a:noFill/>
          <a:ln w="9525">
            <a:solidFill>
              <a:srgbClr val="E2E8F0"/>
            </a:solidFill>
            <a:prstDash val="solid"/>
          </a:ln>
        </p:spPr>
      </p:sp>
      <p:sp>
        <p:nvSpPr>
          <p:cNvPr id="13" name="Shape 9"/>
          <p:cNvSpPr/>
          <p:nvPr/>
        </p:nvSpPr>
        <p:spPr>
          <a:xfrm>
            <a:off x="4160520" y="3840480"/>
            <a:ext cx="1874520" cy="914"/>
          </a:xfrm>
          <a:prstGeom prst="line">
            <a:avLst/>
          </a:prstGeom>
          <a:noFill/>
          <a:ln w="9525">
            <a:solidFill>
              <a:srgbClr val="E2E8F0"/>
            </a:solidFill>
            <a:prstDash val="solid"/>
          </a:ln>
        </p:spPr>
      </p:sp>
      <p:sp>
        <p:nvSpPr>
          <p:cNvPr id="14" name="Shape 10"/>
          <p:cNvSpPr/>
          <p:nvPr/>
        </p:nvSpPr>
        <p:spPr>
          <a:xfrm>
            <a:off x="4160520" y="3840480"/>
            <a:ext cx="1325486" cy="1325486"/>
          </a:xfrm>
          <a:prstGeom prst="line">
            <a:avLst/>
          </a:prstGeom>
          <a:noFill/>
          <a:ln w="9525">
            <a:solidFill>
              <a:srgbClr val="E2E8F0"/>
            </a:solidFill>
            <a:prstDash val="solid"/>
          </a:ln>
        </p:spPr>
      </p:sp>
      <p:sp>
        <p:nvSpPr>
          <p:cNvPr id="15" name="Shape 11"/>
          <p:cNvSpPr/>
          <p:nvPr/>
        </p:nvSpPr>
        <p:spPr>
          <a:xfrm>
            <a:off x="4160520" y="3840480"/>
            <a:ext cx="914" cy="1874520"/>
          </a:xfrm>
          <a:prstGeom prst="line">
            <a:avLst/>
          </a:prstGeom>
          <a:noFill/>
          <a:ln w="9525">
            <a:solidFill>
              <a:srgbClr val="E2E8F0"/>
            </a:solidFill>
            <a:prstDash val="solid"/>
          </a:ln>
        </p:spPr>
      </p:sp>
      <p:sp>
        <p:nvSpPr>
          <p:cNvPr id="16" name="Shape 12"/>
          <p:cNvSpPr/>
          <p:nvPr/>
        </p:nvSpPr>
        <p:spPr>
          <a:xfrm>
            <a:off x="2835034" y="3840480"/>
            <a:ext cx="1325486" cy="1325486"/>
          </a:xfrm>
          <a:prstGeom prst="line">
            <a:avLst/>
          </a:prstGeom>
          <a:noFill/>
          <a:ln w="9525">
            <a:solidFill>
              <a:srgbClr val="E2E8F0"/>
            </a:solidFill>
            <a:prstDash val="solid"/>
          </a:ln>
        </p:spPr>
      </p:sp>
      <p:sp>
        <p:nvSpPr>
          <p:cNvPr id="17" name="Shape 13"/>
          <p:cNvSpPr/>
          <p:nvPr/>
        </p:nvSpPr>
        <p:spPr>
          <a:xfrm>
            <a:off x="2286000" y="3840480"/>
            <a:ext cx="1874520" cy="914"/>
          </a:xfrm>
          <a:prstGeom prst="line">
            <a:avLst/>
          </a:prstGeom>
          <a:noFill/>
          <a:ln w="9525">
            <a:solidFill>
              <a:srgbClr val="E2E8F0"/>
            </a:solidFill>
            <a:prstDash val="solid"/>
          </a:ln>
        </p:spPr>
      </p:sp>
      <p:sp>
        <p:nvSpPr>
          <p:cNvPr id="18" name="Shape 14"/>
          <p:cNvSpPr/>
          <p:nvPr/>
        </p:nvSpPr>
        <p:spPr>
          <a:xfrm>
            <a:off x="2835034" y="2514994"/>
            <a:ext cx="1325486" cy="1325486"/>
          </a:xfrm>
          <a:prstGeom prst="line">
            <a:avLst/>
          </a:prstGeom>
          <a:noFill/>
          <a:ln w="9525">
            <a:solidFill>
              <a:srgbClr val="E2E8F0"/>
            </a:solidFill>
            <a:prstDash val="solid"/>
          </a:ln>
        </p:spPr>
      </p:sp>
      <p:sp>
        <p:nvSpPr>
          <p:cNvPr id="19" name="Shape 15"/>
          <p:cNvSpPr/>
          <p:nvPr/>
        </p:nvSpPr>
        <p:spPr>
          <a:xfrm>
            <a:off x="3831336" y="1636776"/>
            <a:ext cx="658368" cy="658368"/>
          </a:xfrm>
          <a:prstGeom prst="ellipse">
            <a:avLst/>
          </a:prstGeom>
          <a:solidFill>
            <a:srgbClr val="F1F5F9"/>
          </a:solidFill>
          <a:ln w="19050">
            <a:solidFill>
              <a:srgbClr val="B06220"/>
            </a:solidFill>
            <a:prstDash val="solid"/>
          </a:ln>
          <a:effectLst>
            <a:outerShdw sx="100000" sy="100000" kx="0" ky="0" algn="bl" rotWithShape="0" blurRad="101600" dist="25400" dir="5400000">
              <a:srgbClr val="0F1B2D">
                <a:alpha val="18000"/>
              </a:srgbClr>
            </a:outerShdw>
          </a:effectLst>
        </p:spPr>
      </p:sp>
      <p:sp>
        <p:nvSpPr>
          <p:cNvPr id="20" name="Text 16"/>
          <p:cNvSpPr/>
          <p:nvPr/>
        </p:nvSpPr>
        <p:spPr>
          <a:xfrm>
            <a:off x="3474720" y="1828800"/>
            <a:ext cx="1371600" cy="274320"/>
          </a:xfrm>
          <a:prstGeom prst="rect">
            <a:avLst/>
          </a:prstGeom>
          <a:noFill/>
          <a:ln/>
        </p:spPr>
        <p:txBody>
          <a:bodyPr wrap="square"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ERCOT</a:t>
            </a:r>
            <a:endParaRPr lang="en-US" sz="900" dirty="0"/>
          </a:p>
        </p:txBody>
      </p:sp>
      <p:sp>
        <p:nvSpPr>
          <p:cNvPr id="21" name="Shape 17"/>
          <p:cNvSpPr/>
          <p:nvPr/>
        </p:nvSpPr>
        <p:spPr>
          <a:xfrm>
            <a:off x="5156822" y="2185810"/>
            <a:ext cx="658368" cy="658368"/>
          </a:xfrm>
          <a:prstGeom prst="ellipse">
            <a:avLst/>
          </a:prstGeom>
          <a:solidFill>
            <a:srgbClr val="F1F5F9"/>
          </a:solidFill>
          <a:ln w="19050">
            <a:solidFill>
              <a:srgbClr val="B06220"/>
            </a:solidFill>
            <a:prstDash val="solid"/>
          </a:ln>
          <a:effectLst>
            <a:outerShdw sx="100000" sy="100000" kx="0" ky="0" algn="bl" rotWithShape="0" blurRad="101600" dist="25400" dir="5400000">
              <a:srgbClr val="0F1B2D">
                <a:alpha val="18000"/>
              </a:srgbClr>
            </a:outerShdw>
          </a:effectLst>
        </p:spPr>
      </p:sp>
      <p:sp>
        <p:nvSpPr>
          <p:cNvPr id="22" name="Text 18"/>
          <p:cNvSpPr/>
          <p:nvPr/>
        </p:nvSpPr>
        <p:spPr>
          <a:xfrm>
            <a:off x="4800206" y="2377834"/>
            <a:ext cx="1371600" cy="274320"/>
          </a:xfrm>
          <a:prstGeom prst="rect">
            <a:avLst/>
          </a:prstGeom>
          <a:noFill/>
          <a:ln/>
        </p:spPr>
        <p:txBody>
          <a:bodyPr wrap="square"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PUCT</a:t>
            </a:r>
            <a:endParaRPr lang="en-US" sz="900" dirty="0"/>
          </a:p>
        </p:txBody>
      </p:sp>
      <p:sp>
        <p:nvSpPr>
          <p:cNvPr id="23" name="Shape 19"/>
          <p:cNvSpPr/>
          <p:nvPr/>
        </p:nvSpPr>
        <p:spPr>
          <a:xfrm>
            <a:off x="5705856" y="3511296"/>
            <a:ext cx="658368" cy="658368"/>
          </a:xfrm>
          <a:prstGeom prst="ellipse">
            <a:avLst/>
          </a:prstGeom>
          <a:solidFill>
            <a:srgbClr val="F1F5F9"/>
          </a:solidFill>
          <a:ln w="19050">
            <a:solidFill>
              <a:srgbClr val="B06220"/>
            </a:solidFill>
            <a:prstDash val="solid"/>
          </a:ln>
          <a:effectLst>
            <a:outerShdw sx="100000" sy="100000" kx="0" ky="0" algn="bl" rotWithShape="0" blurRad="101600" dist="25400" dir="5400000">
              <a:srgbClr val="0F1B2D">
                <a:alpha val="18000"/>
              </a:srgbClr>
            </a:outerShdw>
          </a:effectLst>
        </p:spPr>
      </p:sp>
      <p:sp>
        <p:nvSpPr>
          <p:cNvPr id="24" name="Text 20"/>
          <p:cNvSpPr/>
          <p:nvPr/>
        </p:nvSpPr>
        <p:spPr>
          <a:xfrm>
            <a:off x="5349240" y="3703320"/>
            <a:ext cx="1371600" cy="274320"/>
          </a:xfrm>
          <a:prstGeom prst="rect">
            <a:avLst/>
          </a:prstGeom>
          <a:noFill/>
          <a:ln/>
        </p:spPr>
        <p:txBody>
          <a:bodyPr wrap="square"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EIA-860</a:t>
            </a:r>
            <a:endParaRPr lang="en-US" sz="900" dirty="0"/>
          </a:p>
        </p:txBody>
      </p:sp>
      <p:sp>
        <p:nvSpPr>
          <p:cNvPr id="25" name="Shape 21"/>
          <p:cNvSpPr/>
          <p:nvPr/>
        </p:nvSpPr>
        <p:spPr>
          <a:xfrm>
            <a:off x="5156822" y="4836782"/>
            <a:ext cx="658368" cy="658368"/>
          </a:xfrm>
          <a:prstGeom prst="ellipse">
            <a:avLst/>
          </a:prstGeom>
          <a:solidFill>
            <a:srgbClr val="F1F5F9"/>
          </a:solidFill>
          <a:ln w="19050">
            <a:solidFill>
              <a:srgbClr val="B06220"/>
            </a:solidFill>
            <a:prstDash val="solid"/>
          </a:ln>
          <a:effectLst>
            <a:outerShdw sx="100000" sy="100000" kx="0" ky="0" algn="bl" rotWithShape="0" blurRad="101600" dist="25400" dir="5400000">
              <a:srgbClr val="0F1B2D">
                <a:alpha val="18000"/>
              </a:srgbClr>
            </a:outerShdw>
          </a:effectLst>
        </p:spPr>
      </p:sp>
      <p:sp>
        <p:nvSpPr>
          <p:cNvPr id="26" name="Text 22"/>
          <p:cNvSpPr/>
          <p:nvPr/>
        </p:nvSpPr>
        <p:spPr>
          <a:xfrm>
            <a:off x="4800206" y="5028806"/>
            <a:ext cx="1371600" cy="274320"/>
          </a:xfrm>
          <a:prstGeom prst="rect">
            <a:avLst/>
          </a:prstGeom>
          <a:noFill/>
          <a:ln/>
        </p:spPr>
        <p:txBody>
          <a:bodyPr wrap="square"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TCEQ</a:t>
            </a:r>
            <a:endParaRPr lang="en-US" sz="900" dirty="0"/>
          </a:p>
        </p:txBody>
      </p:sp>
      <p:sp>
        <p:nvSpPr>
          <p:cNvPr id="27" name="Shape 23"/>
          <p:cNvSpPr/>
          <p:nvPr/>
        </p:nvSpPr>
        <p:spPr>
          <a:xfrm>
            <a:off x="3831336" y="5385816"/>
            <a:ext cx="658368" cy="658368"/>
          </a:xfrm>
          <a:prstGeom prst="ellipse">
            <a:avLst/>
          </a:prstGeom>
          <a:solidFill>
            <a:srgbClr val="F1F5F9"/>
          </a:solidFill>
          <a:ln w="19050">
            <a:solidFill>
              <a:srgbClr val="B06220"/>
            </a:solidFill>
            <a:prstDash val="solid"/>
          </a:ln>
          <a:effectLst>
            <a:outerShdw sx="100000" sy="100000" kx="0" ky="0" algn="bl" rotWithShape="0" blurRad="101600" dist="25400" dir="5400000">
              <a:srgbClr val="0F1B2D">
                <a:alpha val="18000"/>
              </a:srgbClr>
            </a:outerShdw>
          </a:effectLst>
        </p:spPr>
      </p:sp>
      <p:sp>
        <p:nvSpPr>
          <p:cNvPr id="28" name="Text 24"/>
          <p:cNvSpPr/>
          <p:nvPr/>
        </p:nvSpPr>
        <p:spPr>
          <a:xfrm>
            <a:off x="3474720" y="5577840"/>
            <a:ext cx="1371600" cy="274320"/>
          </a:xfrm>
          <a:prstGeom prst="rect">
            <a:avLst/>
          </a:prstGeom>
          <a:noFill/>
          <a:ln/>
        </p:spPr>
        <p:txBody>
          <a:bodyPr wrap="square"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RRC</a:t>
            </a:r>
            <a:endParaRPr lang="en-US" sz="900" dirty="0"/>
          </a:p>
        </p:txBody>
      </p:sp>
      <p:sp>
        <p:nvSpPr>
          <p:cNvPr id="29" name="Shape 25"/>
          <p:cNvSpPr/>
          <p:nvPr/>
        </p:nvSpPr>
        <p:spPr>
          <a:xfrm>
            <a:off x="2505850" y="4836782"/>
            <a:ext cx="658368" cy="658368"/>
          </a:xfrm>
          <a:prstGeom prst="ellipse">
            <a:avLst/>
          </a:prstGeom>
          <a:solidFill>
            <a:srgbClr val="F1F5F9"/>
          </a:solidFill>
          <a:ln w="19050">
            <a:solidFill>
              <a:srgbClr val="B06220"/>
            </a:solidFill>
            <a:prstDash val="solid"/>
          </a:ln>
          <a:effectLst>
            <a:outerShdw sx="100000" sy="100000" kx="0" ky="0" algn="bl" rotWithShape="0" blurRad="101600" dist="25400" dir="5400000">
              <a:srgbClr val="0F1B2D">
                <a:alpha val="18000"/>
              </a:srgbClr>
            </a:outerShdw>
          </a:effectLst>
        </p:spPr>
      </p:sp>
      <p:sp>
        <p:nvSpPr>
          <p:cNvPr id="30" name="Text 26"/>
          <p:cNvSpPr/>
          <p:nvPr/>
        </p:nvSpPr>
        <p:spPr>
          <a:xfrm>
            <a:off x="2149234" y="5028806"/>
            <a:ext cx="1371600" cy="274320"/>
          </a:xfrm>
          <a:prstGeom prst="rect">
            <a:avLst/>
          </a:prstGeom>
          <a:noFill/>
          <a:ln/>
        </p:spPr>
        <p:txBody>
          <a:bodyPr wrap="square"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FracFocus</a:t>
            </a:r>
            <a:endParaRPr lang="en-US" sz="900" dirty="0"/>
          </a:p>
        </p:txBody>
      </p:sp>
      <p:sp>
        <p:nvSpPr>
          <p:cNvPr id="31" name="Shape 27"/>
          <p:cNvSpPr/>
          <p:nvPr/>
        </p:nvSpPr>
        <p:spPr>
          <a:xfrm>
            <a:off x="1956816" y="3511296"/>
            <a:ext cx="658368" cy="658368"/>
          </a:xfrm>
          <a:prstGeom prst="ellipse">
            <a:avLst/>
          </a:prstGeom>
          <a:solidFill>
            <a:srgbClr val="F1F5F9"/>
          </a:solidFill>
          <a:ln w="19050">
            <a:solidFill>
              <a:srgbClr val="B06220"/>
            </a:solidFill>
            <a:prstDash val="solid"/>
          </a:ln>
          <a:effectLst>
            <a:outerShdw sx="100000" sy="100000" kx="0" ky="0" algn="bl" rotWithShape="0" blurRad="101600" dist="25400" dir="5400000">
              <a:srgbClr val="0F1B2D">
                <a:alpha val="18000"/>
              </a:srgbClr>
            </a:outerShdw>
          </a:effectLst>
        </p:spPr>
      </p:sp>
      <p:sp>
        <p:nvSpPr>
          <p:cNvPr id="32" name="Text 28"/>
          <p:cNvSpPr/>
          <p:nvPr/>
        </p:nvSpPr>
        <p:spPr>
          <a:xfrm>
            <a:off x="1600200" y="3703320"/>
            <a:ext cx="1371600" cy="274320"/>
          </a:xfrm>
          <a:prstGeom prst="rect">
            <a:avLst/>
          </a:prstGeom>
          <a:noFill/>
          <a:ln/>
        </p:spPr>
        <p:txBody>
          <a:bodyPr wrap="square"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Mid. Pecos GCD</a:t>
            </a:r>
            <a:endParaRPr lang="en-US" sz="900" dirty="0"/>
          </a:p>
        </p:txBody>
      </p:sp>
      <p:sp>
        <p:nvSpPr>
          <p:cNvPr id="33" name="Shape 29"/>
          <p:cNvSpPr/>
          <p:nvPr/>
        </p:nvSpPr>
        <p:spPr>
          <a:xfrm>
            <a:off x="2505850" y="2185810"/>
            <a:ext cx="658368" cy="658368"/>
          </a:xfrm>
          <a:prstGeom prst="ellipse">
            <a:avLst/>
          </a:prstGeom>
          <a:solidFill>
            <a:srgbClr val="F1F5F9"/>
          </a:solidFill>
          <a:ln w="19050">
            <a:solidFill>
              <a:srgbClr val="B06220"/>
            </a:solidFill>
            <a:prstDash val="solid"/>
          </a:ln>
          <a:effectLst>
            <a:outerShdw sx="100000" sy="100000" kx="0" ky="0" algn="bl" rotWithShape="0" blurRad="101600" dist="25400" dir="5400000">
              <a:srgbClr val="0F1B2D">
                <a:alpha val="18000"/>
              </a:srgbClr>
            </a:outerShdw>
          </a:effectLst>
        </p:spPr>
      </p:sp>
      <p:sp>
        <p:nvSpPr>
          <p:cNvPr id="34" name="Text 30"/>
          <p:cNvSpPr/>
          <p:nvPr/>
        </p:nvSpPr>
        <p:spPr>
          <a:xfrm>
            <a:off x="2149234" y="2377834"/>
            <a:ext cx="1371600" cy="274320"/>
          </a:xfrm>
          <a:prstGeom prst="rect">
            <a:avLst/>
          </a:prstGeom>
          <a:noFill/>
          <a:ln/>
        </p:spPr>
        <p:txBody>
          <a:bodyPr wrap="square"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HIFLD</a:t>
            </a:r>
            <a:endParaRPr lang="en-US" sz="900" dirty="0"/>
          </a:p>
        </p:txBody>
      </p:sp>
      <p:sp>
        <p:nvSpPr>
          <p:cNvPr id="35" name="Shape 31"/>
          <p:cNvSpPr/>
          <p:nvPr/>
        </p:nvSpPr>
        <p:spPr>
          <a:xfrm>
            <a:off x="8321040" y="1554480"/>
            <a:ext cx="3319272" cy="923544"/>
          </a:xfrm>
          <a:prstGeom prst="roundRect">
            <a:avLst>
              <a:gd name="adj" fmla="val 4950"/>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36" name="Text 32"/>
          <p:cNvSpPr/>
          <p:nvPr/>
        </p:nvSpPr>
        <p:spPr>
          <a:xfrm>
            <a:off x="8439912" y="1609344"/>
            <a:ext cx="3081528" cy="535656"/>
          </a:xfrm>
          <a:prstGeom prst="rect">
            <a:avLst/>
          </a:prstGeom>
          <a:noFill/>
          <a:ln/>
        </p:spPr>
        <p:txBody>
          <a:bodyPr wrap="square" rtlCol="0" anchor="b"/>
          <a:lstStyle/>
          <a:p>
            <a:pPr indent="0" marL="0">
              <a:buNone/>
            </a:pPr>
            <a:r>
              <a:rPr lang="en-US" sz="2000" b="1" dirty="0">
                <a:solidFill>
                  <a:srgbClr val="B06220"/>
                </a:solidFill>
                <a:latin typeface="Calibri" pitchFamily="34" charset="0"/>
                <a:ea typeface="Calibri" pitchFamily="34" charset="-122"/>
                <a:cs typeface="Calibri" pitchFamily="34" charset="-120"/>
              </a:rPr>
              <a:t>Weekly</a:t>
            </a:r>
            <a:endParaRPr lang="en-US" sz="2000" dirty="0"/>
          </a:p>
        </p:txBody>
      </p:sp>
      <p:sp>
        <p:nvSpPr>
          <p:cNvPr id="37" name="Text 33"/>
          <p:cNvSpPr/>
          <p:nvPr/>
        </p:nvSpPr>
        <p:spPr>
          <a:xfrm>
            <a:off x="8439912" y="2108606"/>
            <a:ext cx="3081528" cy="296266"/>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RRC REFRESH CADENCE</a:t>
            </a:r>
            <a:endParaRPr lang="en-US" sz="830" dirty="0"/>
          </a:p>
        </p:txBody>
      </p:sp>
      <p:sp>
        <p:nvSpPr>
          <p:cNvPr id="38" name="Shape 34"/>
          <p:cNvSpPr/>
          <p:nvPr/>
        </p:nvSpPr>
        <p:spPr>
          <a:xfrm>
            <a:off x="8321040" y="2606040"/>
            <a:ext cx="3319272" cy="923544"/>
          </a:xfrm>
          <a:prstGeom prst="roundRect">
            <a:avLst>
              <a:gd name="adj" fmla="val 4950"/>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39" name="Text 35"/>
          <p:cNvSpPr/>
          <p:nvPr/>
        </p:nvSpPr>
        <p:spPr>
          <a:xfrm>
            <a:off x="8439912" y="2660904"/>
            <a:ext cx="3081528" cy="535656"/>
          </a:xfrm>
          <a:prstGeom prst="rect">
            <a:avLst/>
          </a:prstGeom>
          <a:noFill/>
          <a:ln/>
        </p:spPr>
        <p:txBody>
          <a:bodyPr wrap="square" rtlCol="0" anchor="b"/>
          <a:lstStyle/>
          <a:p>
            <a:pPr indent="0" marL="0">
              <a:buNone/>
            </a:pPr>
            <a:r>
              <a:rPr lang="en-US" sz="2000" b="1" dirty="0">
                <a:solidFill>
                  <a:srgbClr val="B06220"/>
                </a:solidFill>
                <a:latin typeface="Calibri" pitchFamily="34" charset="0"/>
                <a:ea typeface="Calibri" pitchFamily="34" charset="-122"/>
                <a:cs typeface="Calibri" pitchFamily="34" charset="-120"/>
              </a:rPr>
              <a:t>Monthly</a:t>
            </a:r>
            <a:endParaRPr lang="en-US" sz="2000" dirty="0"/>
          </a:p>
        </p:txBody>
      </p:sp>
      <p:sp>
        <p:nvSpPr>
          <p:cNvPr id="40" name="Text 36"/>
          <p:cNvSpPr/>
          <p:nvPr/>
        </p:nvSpPr>
        <p:spPr>
          <a:xfrm>
            <a:off x="8439912" y="3160166"/>
            <a:ext cx="3081528" cy="296266"/>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ERCOT QUEUE / TPIT REFRESH</a:t>
            </a:r>
            <a:endParaRPr lang="en-US" sz="830" dirty="0"/>
          </a:p>
        </p:txBody>
      </p:sp>
      <p:sp>
        <p:nvSpPr>
          <p:cNvPr id="41" name="Shape 37"/>
          <p:cNvSpPr/>
          <p:nvPr/>
        </p:nvSpPr>
        <p:spPr>
          <a:xfrm>
            <a:off x="8321040" y="3657600"/>
            <a:ext cx="3319272" cy="923544"/>
          </a:xfrm>
          <a:prstGeom prst="roundRect">
            <a:avLst>
              <a:gd name="adj" fmla="val 4950"/>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42" name="Text 38"/>
          <p:cNvSpPr/>
          <p:nvPr/>
        </p:nvSpPr>
        <p:spPr>
          <a:xfrm>
            <a:off x="8439912" y="3712464"/>
            <a:ext cx="3081528" cy="535656"/>
          </a:xfrm>
          <a:prstGeom prst="rect">
            <a:avLst/>
          </a:prstGeom>
          <a:noFill/>
          <a:ln/>
        </p:spPr>
        <p:txBody>
          <a:bodyPr wrap="square" rtlCol="0" anchor="b"/>
          <a:lstStyle/>
          <a:p>
            <a:pPr indent="0" marL="0">
              <a:buNone/>
            </a:pPr>
            <a:r>
              <a:rPr lang="en-US" sz="2000" b="1" dirty="0">
                <a:solidFill>
                  <a:srgbClr val="B06220"/>
                </a:solidFill>
                <a:latin typeface="Calibri" pitchFamily="34" charset="0"/>
                <a:ea typeface="Calibri" pitchFamily="34" charset="-122"/>
                <a:cs typeface="Calibri" pitchFamily="34" charset="-120"/>
              </a:rPr>
              <a:t>Annually</a:t>
            </a:r>
            <a:endParaRPr lang="en-US" sz="2000" dirty="0"/>
          </a:p>
        </p:txBody>
      </p:sp>
      <p:sp>
        <p:nvSpPr>
          <p:cNvPr id="43" name="Text 39"/>
          <p:cNvSpPr/>
          <p:nvPr/>
        </p:nvSpPr>
        <p:spPr>
          <a:xfrm>
            <a:off x="8439912" y="4211726"/>
            <a:ext cx="3081528" cy="296266"/>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EIA / USGS / OSM REFRESH</a:t>
            </a:r>
            <a:endParaRPr lang="en-US" sz="830" dirty="0"/>
          </a:p>
        </p:txBody>
      </p:sp>
      <p:sp>
        <p:nvSpPr>
          <p:cNvPr id="44" name="Shape 40"/>
          <p:cNvSpPr/>
          <p:nvPr/>
        </p:nvSpPr>
        <p:spPr>
          <a:xfrm>
            <a:off x="8321040" y="4709160"/>
            <a:ext cx="3319272" cy="923544"/>
          </a:xfrm>
          <a:prstGeom prst="roundRect">
            <a:avLst>
              <a:gd name="adj" fmla="val 4950"/>
            </a:avLst>
          </a:prstGeom>
          <a:solidFill>
            <a:srgbClr val="FFFFFF"/>
          </a:solidFill>
          <a:ln w="12700">
            <a:solidFill>
              <a:srgbClr val="E2E8F0"/>
            </a:solidFill>
            <a:prstDash val="solid"/>
          </a:ln>
          <a:effectLst>
            <a:outerShdw sx="100000" sy="100000" kx="0" ky="0" algn="bl" rotWithShape="0" blurRad="101600" dist="25400" dir="5400000">
              <a:srgbClr val="0F1B2D">
                <a:alpha val="18000"/>
              </a:srgbClr>
            </a:outerShdw>
          </a:effectLst>
        </p:spPr>
      </p:sp>
      <p:sp>
        <p:nvSpPr>
          <p:cNvPr id="45" name="Text 41"/>
          <p:cNvSpPr/>
          <p:nvPr/>
        </p:nvSpPr>
        <p:spPr>
          <a:xfrm>
            <a:off x="8439912" y="4764024"/>
            <a:ext cx="3081528" cy="535656"/>
          </a:xfrm>
          <a:prstGeom prst="rect">
            <a:avLst/>
          </a:prstGeom>
          <a:noFill/>
          <a:ln/>
        </p:spPr>
        <p:txBody>
          <a:bodyPr wrap="square" rtlCol="0" anchor="b"/>
          <a:lstStyle/>
          <a:p>
            <a:pPr indent="0" marL="0">
              <a:buNone/>
            </a:pPr>
            <a:r>
              <a:rPr lang="en-US" sz="2000" b="1" dirty="0">
                <a:solidFill>
                  <a:srgbClr val="B06220"/>
                </a:solidFill>
                <a:latin typeface="Calibri" pitchFamily="34" charset="0"/>
                <a:ea typeface="Calibri" pitchFamily="34" charset="-122"/>
                <a:cs typeface="Calibri" pitchFamily="34" charset="-120"/>
              </a:rPr>
              <a:t>Byte-verified</a:t>
            </a:r>
            <a:endParaRPr lang="en-US" sz="2000" dirty="0"/>
          </a:p>
        </p:txBody>
      </p:sp>
      <p:sp>
        <p:nvSpPr>
          <p:cNvPr id="46" name="Text 42"/>
          <p:cNvSpPr/>
          <p:nvPr/>
        </p:nvSpPr>
        <p:spPr>
          <a:xfrm>
            <a:off x="8439912" y="5263286"/>
            <a:ext cx="3081528" cy="296266"/>
          </a:xfrm>
          <a:prstGeom prst="rect">
            <a:avLst/>
          </a:prstGeom>
          <a:noFill/>
          <a:ln/>
        </p:spPr>
        <p:txBody>
          <a:bodyPr wrap="square" rtlCol="0" anchor="t"/>
          <a:lstStyle/>
          <a:p>
            <a:pPr indent="0" marL="0">
              <a:lnSpc>
                <a:spcPct val="105000"/>
              </a:lnSpc>
              <a:buNone/>
            </a:pPr>
            <a:r>
              <a:rPr lang="en-US" sz="830" spc="50" kern="0" dirty="0">
                <a:solidFill>
                  <a:srgbClr val="64748B"/>
                </a:solidFill>
                <a:latin typeface="Calibri" pitchFamily="34" charset="0"/>
                <a:ea typeface="Calibri" pitchFamily="34" charset="-122"/>
                <a:cs typeface="Calibri" pitchFamily="34" charset="-120"/>
              </a:rPr>
              <a:t>STATIC, VERSIONED BUILD — ACCESS LOGGED</a:t>
            </a:r>
            <a:endParaRPr lang="en-US" sz="830" dirty="0"/>
          </a:p>
        </p:txBody>
      </p:sp>
      <p:sp>
        <p:nvSpPr>
          <p:cNvPr id="47" name="Text 43"/>
          <p:cNvSpPr/>
          <p:nvPr/>
        </p:nvSpPr>
        <p:spPr>
          <a:xfrm>
            <a:off x="548640" y="6419088"/>
            <a:ext cx="7315200" cy="274320"/>
          </a:xfrm>
          <a:prstGeom prst="rect">
            <a:avLst/>
          </a:prstGeom>
          <a:noFill/>
          <a:ln/>
        </p:spPr>
        <p:txBody>
          <a:bodyPr wrap="square"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lrp-tx-gis.netlify.app · access credentials issued to the deal team separately</a:t>
            </a:r>
            <a:endParaRPr lang="en-US" sz="950" dirty="0"/>
          </a:p>
        </p:txBody>
      </p:sp>
      <p:sp>
        <p:nvSpPr>
          <p:cNvPr id="48" name="Text 44"/>
          <p:cNvSpPr/>
          <p:nvPr/>
        </p:nvSpPr>
        <p:spPr>
          <a:xfrm>
            <a:off x="548640" y="6528816"/>
            <a:ext cx="7315200" cy="256032"/>
          </a:xfrm>
          <a:prstGeom prst="rect">
            <a:avLst/>
          </a:prstGeom>
          <a:noFill/>
          <a:ln/>
        </p:spPr>
        <p:txBody>
          <a:bodyPr wrap="square" rtlCol="0" anchor="ctr"/>
          <a:lstStyle/>
          <a:p>
            <a:pPr indent="0" marL="0">
              <a:buNone/>
            </a:pPr>
            <a:r>
              <a:rPr lang="en-US" sz="750" spc="50" kern="0" dirty="0">
                <a:solidFill>
                  <a:srgbClr val="64748B"/>
                </a:solidFill>
                <a:latin typeface="Calibri" pitchFamily="34" charset="0"/>
                <a:ea typeface="Calibri" pitchFamily="34" charset="-122"/>
                <a:cs typeface="Calibri" pitchFamily="34" charset="-120"/>
              </a:rPr>
              <a:t>CARAMBA NORTH — MAP-LED SUMMARY, CONFIDENTIAL</a:t>
            </a:r>
            <a:endParaRPr lang="en-US" sz="750" dirty="0"/>
          </a:p>
        </p:txBody>
      </p:sp>
      <p:sp>
        <p:nvSpPr>
          <p:cNvPr id="49" name="Text 45"/>
          <p:cNvSpPr/>
          <p:nvPr/>
        </p:nvSpPr>
        <p:spPr>
          <a:xfrm>
            <a:off x="11185855" y="6528816"/>
            <a:ext cx="457200" cy="256032"/>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548640" y="640080"/>
            <a:ext cx="10058400" cy="457200"/>
          </a:xfrm>
          <a:prstGeom prst="rect">
            <a:avLst/>
          </a:prstGeom>
          <a:noFill/>
          <a:ln/>
        </p:spPr>
        <p:txBody>
          <a:bodyPr wrap="square" rtlCol="0" anchor="ctr"/>
          <a:lstStyle/>
          <a:p>
            <a:pPr indent="0" marL="0">
              <a:buNone/>
            </a:pPr>
            <a:r>
              <a:rPr lang="en-US" sz="1500" b="1" spc="200" kern="0" dirty="0">
                <a:solidFill>
                  <a:srgbClr val="B06220"/>
                </a:solidFill>
                <a:latin typeface="Calibri" pitchFamily="34" charset="0"/>
                <a:ea typeface="Calibri" pitchFamily="34" charset="-122"/>
                <a:cs typeface="Calibri" pitchFamily="34" charset="-120"/>
              </a:rPr>
              <a:t>IMPORTANT NOTICES</a:t>
            </a:r>
            <a:endParaRPr lang="en-US" sz="1500" dirty="0"/>
          </a:p>
        </p:txBody>
      </p:sp>
      <p:sp>
        <p:nvSpPr>
          <p:cNvPr id="3" name="Text 1"/>
          <p:cNvSpPr/>
          <p:nvPr/>
        </p:nvSpPr>
        <p:spPr>
          <a:xfrm>
            <a:off x="548640" y="1325880"/>
            <a:ext cx="11064240" cy="4846320"/>
          </a:xfrm>
          <a:prstGeom prst="rect">
            <a:avLst/>
          </a:prstGeom>
          <a:noFill/>
          <a:ln/>
        </p:spPr>
        <p:txBody>
          <a:bodyPr wrap="square" rtlCol="0" anchor="t"/>
          <a:lstStyle/>
          <a:p>
            <a:pPr indent="0" marL="0">
              <a:spcAft>
                <a:spcPts val="1000"/>
              </a:spcAft>
              <a:buNone/>
            </a:pPr>
            <a:r>
              <a:rPr lang="en-US" sz="1150" dirty="0">
                <a:solidFill>
                  <a:srgbClr val="CADCFC"/>
                </a:solidFill>
                <a:latin typeface="Calibri" pitchFamily="34" charset="0"/>
                <a:ea typeface="Calibri" pitchFamily="34" charset="-122"/>
                <a:cs typeface="Calibri" pitchFamily="34" charset="-120"/>
              </a:rPr>
              <a:t>This Confidential Offering Memorandum has been prepared solely for the use of a limited number of prospective counterparties, under executed non-disclosure agreement, in connection with the potential acquisition of, or investment in, the Caramba North property. It is delivered on a strictly confidential basis and may not be reproduced or distributed without consent.</a:t>
            </a:r>
            <a:endParaRPr lang="en-US" sz="1150" dirty="0"/>
          </a:p>
          <a:p>
            <a:pPr indent="0" marL="0">
              <a:spcAft>
                <a:spcPts val="1000"/>
              </a:spcAft>
              <a:buNone/>
            </a:pPr>
            <a:endParaRPr lang="en-US" sz="1150" dirty="0"/>
          </a:p>
          <a:p>
            <a:pPr indent="0" marL="0">
              <a:spcAft>
                <a:spcPts val="1000"/>
              </a:spcAft>
              <a:buNone/>
            </a:pPr>
            <a:r>
              <a:rPr lang="en-US" sz="1150" dirty="0">
                <a:solidFill>
                  <a:srgbClr val="CADCFC"/>
                </a:solidFill>
                <a:latin typeface="Calibri" pitchFamily="34" charset="0"/>
                <a:ea typeface="Calibri" pitchFamily="34" charset="-122"/>
                <a:cs typeface="Calibri" pitchFamily="34" charset="-120"/>
              </a:rPr>
              <a:t>This document does not constitute an offer to sell or a solicitation of an offer to buy any security or interest. Information is preliminary and indicative, compiled from sources believed reliable, and subject to revision without notice. No representation or warranty, express or implied, is made as to accuracy or completeness.</a:t>
            </a:r>
            <a:endParaRPr lang="en-US" sz="1150" dirty="0"/>
          </a:p>
          <a:p>
            <a:pPr indent="0" marL="0">
              <a:spcAft>
                <a:spcPts val="1000"/>
              </a:spcAft>
              <a:buNone/>
            </a:pPr>
            <a:endParaRPr lang="en-US" sz="1150" dirty="0"/>
          </a:p>
          <a:p>
            <a:pPr indent="0" marL="0">
              <a:spcAft>
                <a:spcPts val="1000"/>
              </a:spcAft>
              <a:buNone/>
            </a:pPr>
            <a:r>
              <a:rPr lang="en-US" sz="1150" dirty="0">
                <a:solidFill>
                  <a:srgbClr val="CADCFC"/>
                </a:solidFill>
                <a:latin typeface="Calibri" pitchFamily="34" charset="0"/>
                <a:ea typeface="Calibri" pitchFamily="34" charset="-122"/>
                <a:cs typeface="Calibri" pitchFamily="34" charset="-120"/>
              </a:rPr>
              <a:t>Public data is drawn from ERCOT (GIS Report, TPIT), PUCT, EIA-860, TCEQ, RRC (dbf900, production, W-1), FracFocus, Middle Pecos GCD, HIFLD, USGS, BTS, and U.S. Census TIGER, supplemented by project-level GIS analysis and counterparty-supplied indicative terms. Distances to GW Ranch and Longfellow are measured edge-to-edge — tract boundary to disclosed site location — not centroid-to-centroid; see the companion source register for the full methodology note. Third-party transaction items are drawn from public reporting cited in the companion source register. Recipients should conduct their own independent investigation, including consultation with their own legal, tax, accounting, and engineering advisors.</a:t>
            </a:r>
            <a:endParaRPr lang="en-US" sz="1150" dirty="0"/>
          </a:p>
        </p:txBody>
      </p:sp>
      <p:sp>
        <p:nvSpPr>
          <p:cNvPr id="4" name="Text 2"/>
          <p:cNvSpPr/>
          <p:nvPr/>
        </p:nvSpPr>
        <p:spPr>
          <a:xfrm>
            <a:off x="548640" y="6528816"/>
            <a:ext cx="7315200" cy="256032"/>
          </a:xfrm>
          <a:prstGeom prst="rect">
            <a:avLst/>
          </a:prstGeom>
          <a:noFill/>
          <a:ln/>
        </p:spPr>
        <p:txBody>
          <a:bodyPr wrap="square" rtlCol="0" anchor="ctr"/>
          <a:lstStyle/>
          <a:p>
            <a:pPr indent="0" marL="0">
              <a:buNone/>
            </a:pPr>
            <a:r>
              <a:rPr lang="en-US" sz="750" spc="50" kern="0" dirty="0">
                <a:solidFill>
                  <a:srgbClr val="6B7A90"/>
                </a:solidFill>
                <a:latin typeface="Calibri" pitchFamily="34" charset="0"/>
                <a:ea typeface="Calibri" pitchFamily="34" charset="-122"/>
                <a:cs typeface="Calibri" pitchFamily="34" charset="-120"/>
              </a:rPr>
              <a:t>CARAMBA NORTH — MAP-LED SUMMARY, CONFIDENTIAL</a:t>
            </a:r>
            <a:endParaRPr lang="en-US" sz="750" dirty="0"/>
          </a:p>
        </p:txBody>
      </p:sp>
      <p:sp>
        <p:nvSpPr>
          <p:cNvPr id="5" name="Text 3"/>
          <p:cNvSpPr/>
          <p:nvPr/>
        </p:nvSpPr>
        <p:spPr>
          <a:xfrm>
            <a:off x="11185855" y="6528816"/>
            <a:ext cx="457200" cy="256032"/>
          </a:xfrm>
          <a:prstGeom prst="rect">
            <a:avLst/>
          </a:prstGeom>
          <a:noFill/>
          <a:ln/>
        </p:spPr>
        <p:txBody>
          <a:bodyPr wrap="square" rtlCol="0" anchor="ctr"/>
          <a:lstStyle/>
          <a:p>
            <a:pPr algn="r" indent="0" marL="0">
              <a:buNone/>
            </a:pPr>
            <a:r>
              <a:rPr lang="en-US" sz="750" dirty="0">
                <a:solidFill>
                  <a:srgbClr val="6B7A90"/>
                </a:solidFill>
                <a:latin typeface="Calibri" pitchFamily="34" charset="0"/>
                <a:ea typeface="Calibri" pitchFamily="34" charset="-122"/>
                <a:cs typeface="Calibri" pitchFamily="34" charset="-120"/>
              </a:rPr>
              <a:t>14</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Caramba North — Map-and-Infographic-Led Summary</dc:title>
  <dc:subject>PptxGenJS Presentation</dc:subject>
  <dc:creator>Land Resource Partners</dc:creator>
  <cp:lastModifiedBy>Land Resource Partners</cp:lastModifiedBy>
  <cp:revision>1</cp:revision>
  <dcterms:created xsi:type="dcterms:W3CDTF">2026-08-24T11:45:11Z</dcterms:created>
  <dcterms:modified xsi:type="dcterms:W3CDTF">2026-08-24T11:45:11Z</dcterms:modified>
</cp:coreProperties>
</file>
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F1B2D"/>
                </a:solidFill>
                <a:latin typeface="Arial"/>
              </a:defRPr>
            </a:pPr>
            <a:r>
              <a:rPr sz="1200" b="0" i="0" u="none" strike="noStrike">
                <a:solidFill>
                  <a:srgbClr val="0F1B2D"/>
                </a:solidFill>
                <a:latin typeface="Arial"/>
              </a:rPr>
              <a:t>New-drill wells since 2020, by county</a:t>
            </a:r>
          </a:p>
        </c:rich>
      </c:tx>
      <c:layout/>
      <c:overlay val="0"/>
    </c:title>
    <c:autoTitleDeleted val="0"/>
    <c:plotArea>
      <c:layout/>
      <c:barChart>
        <c:barDir val="bar"/>
        <c:grouping val="clustered"/>
        <c:varyColors val="0"/>
        <c:ser>
          <c:idx val="0"/>
          <c:order val="0"/>
          <c:tx>
            <c:strRef>
              <c:f>Sheet1!$B$1</c:f>
              <c:strCache>
                <c:ptCount val="1"/>
                <c:pt idx="0">
                  <c:v>New-drill wells since 2020</c:v>
                </c:pt>
              </c:strCache>
            </c:strRef>
          </c:tx>
          <c:spPr>
            <a:solidFill>
              <a:srgbClr val="B91C1C"/>
            </a:solidFill>
            <a:effectLst/>
          </c:spPr>
          <c:invertIfNegative val="0"/>
          <c:dLbls>
            <c:numFmt formatCode="#,##0" sourceLinked="0"/>
            <c:txPr>
              <a:bodyPr/>
              <a:lstStyle/>
              <a:p>
                <a:pPr>
                  <a:defRPr b="0" i="0" strike="noStrike" sz="900" u="none">
                    <a:solidFill>
                      <a:srgbClr val="16202E"/>
                    </a:solidFill>
                    <a:latin typeface="Arial"/>
                  </a:defRPr>
                </a:pPr>
              </a:p>
            </c:txPr>
            <c:showLegendKey val="0"/>
            <c:showVal val="1"/>
            <c:showCatName val="0"/>
            <c:showSerName val="0"/>
            <c:showPercent val="0"/>
            <c:showBubbleSize val="0"/>
            <c:showLeaderLines val="0"/>
          </c:dLbls>
          <c:dPt>
            <c:idx val="0"/>
            <c:invertIfNegative val="0"/>
            <c:bubble3D val="0"/>
            <c:spPr>
              <a:solidFill>
                <a:srgbClr val="B91C1C"/>
              </a:solidFill>
              <a:effectLst/>
            </c:spPr>
          </c:dPt>
          <c:dPt>
            <c:idx val="1"/>
            <c:invertIfNegative val="0"/>
            <c:bubble3D val="0"/>
            <c:spPr>
              <a:solidFill>
                <a:srgbClr val="94A3B8"/>
              </a:solidFill>
              <a:effectLst/>
            </c:spPr>
          </c:dPt>
          <c:dPt>
            <c:idx val="2"/>
            <c:invertIfNegative val="0"/>
            <c:bubble3D val="0"/>
            <c:spPr>
              <a:solidFill>
                <a:srgbClr val="94A3B8"/>
              </a:solidFill>
              <a:effectLst/>
            </c:spPr>
          </c:dPt>
          <c:dPt>
            <c:idx val="3"/>
            <c:invertIfNegative val="0"/>
            <c:bubble3D val="0"/>
            <c:spPr>
              <a:solidFill>
                <a:srgbClr val="94A3B8"/>
              </a:solidFill>
              <a:effectLst/>
            </c:spPr>
          </c:dPt>
          <c:dPt>
            <c:idx val="4"/>
            <c:invertIfNegative val="0"/>
            <c:bubble3D val="0"/>
            <c:spPr>
              <a:solidFill>
                <a:srgbClr val="94A3B8"/>
              </a:solidFill>
              <a:effectLst/>
            </c:spPr>
          </c:dPt>
          <c:dPt>
            <c:idx val="5"/>
            <c:invertIfNegative val="0"/>
            <c:bubble3D val="0"/>
            <c:spPr>
              <a:solidFill>
                <a:srgbClr val="94A3B8"/>
              </a:solidFill>
              <a:effectLst/>
            </c:spPr>
          </c:dPt>
          <c:dPt>
            <c:idx val="6"/>
            <c:invertIfNegative val="0"/>
            <c:bubble3D val="0"/>
            <c:spPr>
              <a:solidFill>
                <a:srgbClr val="94A3B8"/>
              </a:solidFill>
              <a:effectLst/>
            </c:spPr>
          </c:dPt>
          <c:cat>
            <c:multiLvlStrRef>
              <c:f>Sheet1!$A$2:$A$8</c:f>
              <c:multiLvlStrCache>
                <c:ptCount val="7"/>
                <c:lvl>
                  <c:pt idx="0">
                    <c:v>Pecos</c:v>
                  </c:pt>
                  <c:pt idx="1">
                    <c:v>Reagan</c:v>
                  </c:pt>
                  <c:pt idx="2">
                    <c:v>Howard</c:v>
                  </c:pt>
                  <c:pt idx="3">
                    <c:v>Reeves</c:v>
                  </c:pt>
                  <c:pt idx="4">
                    <c:v>Loving</c:v>
                  </c:pt>
                  <c:pt idx="5">
                    <c:v>Midland</c:v>
                  </c:pt>
                  <c:pt idx="6">
                    <c:v>Martin</c:v>
                  </c:pt>
                </c:lvl>
              </c:multiLvlStrCache>
            </c:multiLvlStrRef>
          </c:cat>
          <c:val>
            <c:numRef>
              <c:f>Sheet1!$B$2:$B$8</c:f>
              <c:numCache>
                <c:formatCode>General</c:formatCode>
                <c:ptCount val="7"/>
                <c:pt idx="0">
                  <c:v>115</c:v>
                </c:pt>
                <c:pt idx="1">
                  <c:v>668</c:v>
                </c:pt>
                <c:pt idx="2">
                  <c:v>990</c:v>
                </c:pt>
                <c:pt idx="3">
                  <c:v>1053</c:v>
                </c:pt>
                <c:pt idx="4">
                  <c:v>1121</c:v>
                </c:pt>
                <c:pt idx="5">
                  <c:v>1569</c:v>
                </c:pt>
                <c:pt idx="6">
                  <c:v>1685</c:v>
                </c:pt>
              </c:numCache>
            </c:numRef>
          </c:val>
        </c:ser>
        <c:dLbls>
          <c:numFmt formatCode="#,##0" sourceLinked="0"/>
          <c:txPr>
            <a:bodyPr/>
            <a:lstStyle/>
            <a:p>
              <a:pPr>
                <a:defRPr b="0" i="0" strike="noStrike" sz="900" u="none">
                  <a:solidFill>
                    <a:srgbClr val="1620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75569"/>
                </a:solidFill>
                <a:latin typeface="Arial"/>
              </a:defRPr>
            </a:pPr>
            <a:endParaRPr lang="en-US"/>
          </a:p>
        </c:txPr>
        <c:crossAx val="2094734552"/>
        <c:crosses val="autoZero"/>
        <c:auto val="1"/>
        <c:lblAlgn val="ctr"/>
        <c:noMultiLvlLbl val="1"/>
      </c:catAx>
      <c:valAx>
        <c:axId val="2094734552"/>
        <c:scaling>
          <c:orientation val="minMax"/>
          <c:min val="0"/>
        </c:scaling>
        <c:delete val="0"/>
        <c:axPos val="b"/>
        <c:majorGridlines>
          <c:spPr>
            <a:ln w="9525"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475569"/>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image" Target="../media/image-2-12.png"/><Relationship Id="rId13" Type="http://schemas.openxmlformats.org/officeDocument/2006/relationships/slideLayout" Target="../slideLayouts/slideLayout1.xml"/><Relationship Id="rId1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1.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jp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jp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jp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jp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jp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slideLayout" Target="../slideLayouts/slideLayout1.xml"/><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jp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slideLayout" Target="../slideLayouts/slideLayout1.xml"/><Relationship Id="rId9"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12-1.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B2D"/>
        </a:solidFill>
      </p:bgPr>
    </p:bg>
    <p:spTree>
      <p:nvGrpSpPr>
        <p:cNvPr id="1" name=""/>
        <p:cNvGrpSpPr/>
        <p:nvPr/>
      </p:nvGrpSpPr>
      <p:grpSpPr>
        <a:xfrm>
          <a:off x="0" y="0"/>
          <a:ext cx="0" cy="0"/>
          <a:chOff x="0" y="0"/>
          <a:chExt cx="0" cy="0"/>
        </a:xfrm>
      </p:grpSpPr>
      <p:sp>
        <p:nvSpPr>
          <p:cNvPr id="2" name="Text 0"/>
          <p:cNvSpPr/>
          <p:nvPr/>
        </p:nvSpPr>
        <p:spPr>
          <a:xfrm>
            <a:off x="640080" y="1371600"/>
            <a:ext cx="9144000" cy="365760"/>
          </a:xfrm>
          <a:prstGeom prst="rect">
            <a:avLst/>
          </a:prstGeom>
          <a:noFill/>
          <a:ln/>
        </p:spPr>
        <p:txBody>
          <a:bodyPr wrap="square" rtlCol="0" anchor="ctr"/>
          <a:lstStyle/>
          <a:p>
            <a:pPr indent="0" marL="0">
              <a:buNone/>
            </a:pPr>
            <a:r>
              <a:rPr lang="en-US" sz="1300" b="1" spc="200" kern="0" dirty="0">
                <a:solidFill>
                  <a:srgbClr val="F87171"/>
                </a:solidFill>
                <a:latin typeface="Calibri" pitchFamily="34" charset="0"/>
                <a:ea typeface="Calibri" pitchFamily="34" charset="-122"/>
                <a:cs typeface="Calibri" pitchFamily="34" charset="-120"/>
              </a:rPr>
              <a:t>STRICTLY CONFIDENTIAL · OFFERING MEMORANDUM · POST-NDA</a:t>
            </a:r>
            <a:endParaRPr lang="en-US" sz="1300" dirty="0"/>
          </a:p>
        </p:txBody>
      </p:sp>
      <p:sp>
        <p:nvSpPr>
          <p:cNvPr id="3" name="Text 1"/>
          <p:cNvSpPr/>
          <p:nvPr/>
        </p:nvSpPr>
        <p:spPr>
          <a:xfrm>
            <a:off x="594360" y="1737360"/>
            <a:ext cx="10972800" cy="1371600"/>
          </a:xfrm>
          <a:prstGeom prst="rect">
            <a:avLst/>
          </a:prstGeom>
          <a:noFill/>
          <a:ln/>
        </p:spPr>
        <p:txBody>
          <a:bodyPr wrap="square"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CARAMBA NORTH</a:t>
            </a:r>
            <a:endParaRPr lang="en-US" sz="6000" dirty="0"/>
          </a:p>
        </p:txBody>
      </p:sp>
      <p:sp>
        <p:nvSpPr>
          <p:cNvPr id="4" name="Text 2"/>
          <p:cNvSpPr/>
          <p:nvPr/>
        </p:nvSpPr>
        <p:spPr>
          <a:xfrm>
            <a:off x="640080" y="3063240"/>
            <a:ext cx="10058400" cy="548640"/>
          </a:xfrm>
          <a:prstGeom prst="rect">
            <a:avLst/>
          </a:prstGeom>
          <a:noFill/>
          <a:ln/>
        </p:spPr>
        <p:txBody>
          <a:bodyPr wrap="square" rtlCol="0" anchor="ctr"/>
          <a:lstStyle/>
          <a:p>
            <a:pPr indent="0" marL="0">
              <a:buNone/>
            </a:pPr>
            <a:r>
              <a:rPr lang="en-US" sz="1800" dirty="0">
                <a:solidFill>
                  <a:srgbClr val="CADCFC"/>
                </a:solidFill>
                <a:latin typeface="Calibri" pitchFamily="34" charset="0"/>
                <a:ea typeface="Calibri" pitchFamily="34" charset="-122"/>
                <a:cs typeface="Calibri" pitchFamily="34" charset="-120"/>
              </a:rPr>
              <a:t>Up to 1,300 contiguous acres of powered land on the ERCOT 765 kV backbone</a:t>
            </a:r>
            <a:endParaRPr lang="en-US" sz="1800" dirty="0"/>
          </a:p>
        </p:txBody>
      </p:sp>
      <p:sp>
        <p:nvSpPr>
          <p:cNvPr id="5" name="Text 3"/>
          <p:cNvSpPr/>
          <p:nvPr/>
        </p:nvSpPr>
        <p:spPr>
          <a:xfrm>
            <a:off x="640080" y="3611880"/>
            <a:ext cx="10058400" cy="365760"/>
          </a:xfrm>
          <a:prstGeom prst="rect">
            <a:avLst/>
          </a:prstGeom>
          <a:noFill/>
          <a:ln/>
        </p:spPr>
        <p:txBody>
          <a:bodyPr wrap="square" rtlCol="0" anchor="ctr"/>
          <a:lstStyle/>
          <a:p>
            <a:pPr indent="0" marL="0">
              <a:buNone/>
            </a:pPr>
            <a:r>
              <a:rPr lang="en-US" sz="1100" spc="150" kern="0" dirty="0">
                <a:solidFill>
                  <a:srgbClr val="94A3B8"/>
                </a:solidFill>
                <a:latin typeface="Calibri" pitchFamily="34" charset="0"/>
                <a:ea typeface="Calibri" pitchFamily="34" charset="-122"/>
                <a:cs typeface="Calibri" pitchFamily="34" charset="-120"/>
              </a:rPr>
              <a:t>PECOS COUNTY, TEXAS  ·  FAR WEST ERCOT  ·  PERMIAN BASIN  ·  I-10 CORRIDOR</a:t>
            </a:r>
            <a:endParaRPr lang="en-US" sz="1100" dirty="0"/>
          </a:p>
        </p:txBody>
      </p:sp>
      <p:sp>
        <p:nvSpPr>
          <p:cNvPr id="6" name="Text 4"/>
          <p:cNvSpPr/>
          <p:nvPr/>
        </p:nvSpPr>
        <p:spPr>
          <a:xfrm>
            <a:off x="640080" y="4343400"/>
            <a:ext cx="2039112" cy="502920"/>
          </a:xfrm>
          <a:prstGeom prst="rect">
            <a:avLst/>
          </a:prstGeom>
          <a:noFill/>
          <a:ln/>
        </p:spPr>
        <p:txBody>
          <a:bodyPr wrap="square"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1,300</a:t>
            </a:r>
            <a:endParaRPr lang="en-US" sz="2000" dirty="0"/>
          </a:p>
        </p:txBody>
      </p:sp>
      <p:sp>
        <p:nvSpPr>
          <p:cNvPr id="7" name="Text 5"/>
          <p:cNvSpPr/>
          <p:nvPr/>
        </p:nvSpPr>
        <p:spPr>
          <a:xfrm>
            <a:off x="640080" y="4828032"/>
            <a:ext cx="2039112" cy="457200"/>
          </a:xfrm>
          <a:prstGeom prst="rect">
            <a:avLst/>
          </a:prstGeom>
          <a:noFill/>
          <a:ln/>
        </p:spPr>
        <p:txBody>
          <a:bodyPr wrap="square" rtlCol="0" anchor="ctr"/>
          <a:lstStyle/>
          <a:p>
            <a:pPr indent="0" marL="0">
              <a:buNone/>
            </a:pPr>
            <a:r>
              <a:rPr lang="en-US" sz="850" spc="50" kern="0" dirty="0">
                <a:solidFill>
                  <a:srgbClr val="94A3B8"/>
                </a:solidFill>
                <a:latin typeface="Calibri" pitchFamily="34" charset="0"/>
                <a:ea typeface="Calibri" pitchFamily="34" charset="-122"/>
                <a:cs typeface="Calibri" pitchFamily="34" charset="-120"/>
              </a:rPr>
              <a:t>CONTIGUOUS ACRES</a:t>
            </a:r>
            <a:endParaRPr lang="en-US" sz="850" dirty="0"/>
          </a:p>
        </p:txBody>
      </p:sp>
      <p:sp>
        <p:nvSpPr>
          <p:cNvPr id="8" name="Text 6"/>
          <p:cNvSpPr/>
          <p:nvPr/>
        </p:nvSpPr>
        <p:spPr>
          <a:xfrm>
            <a:off x="2816352" y="4343400"/>
            <a:ext cx="2039112" cy="502920"/>
          </a:xfrm>
          <a:prstGeom prst="rect">
            <a:avLst/>
          </a:prstGeom>
          <a:noFill/>
          <a:ln/>
        </p:spPr>
        <p:txBody>
          <a:bodyPr wrap="square"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47,418</a:t>
            </a:r>
            <a:endParaRPr lang="en-US" sz="2000" dirty="0"/>
          </a:p>
        </p:txBody>
      </p:sp>
      <p:sp>
        <p:nvSpPr>
          <p:cNvPr id="9" name="Text 7"/>
          <p:cNvSpPr/>
          <p:nvPr/>
        </p:nvSpPr>
        <p:spPr>
          <a:xfrm>
            <a:off x="2816352" y="4828032"/>
            <a:ext cx="2039112" cy="457200"/>
          </a:xfrm>
          <a:prstGeom prst="rect">
            <a:avLst/>
          </a:prstGeom>
          <a:noFill/>
          <a:ln/>
        </p:spPr>
        <p:txBody>
          <a:bodyPr wrap="square" rtlCol="0" anchor="ctr"/>
          <a:lstStyle/>
          <a:p>
            <a:pPr indent="0" marL="0">
              <a:buNone/>
            </a:pPr>
            <a:r>
              <a:rPr lang="en-US" sz="850" spc="50" kern="0" dirty="0">
                <a:solidFill>
                  <a:srgbClr val="94A3B8"/>
                </a:solidFill>
                <a:latin typeface="Calibri" pitchFamily="34" charset="0"/>
                <a:ea typeface="Calibri" pitchFamily="34" charset="-122"/>
                <a:cs typeface="Calibri" pitchFamily="34" charset="-120"/>
              </a:rPr>
              <a:t>AF/YR WATER RIGHTS</a:t>
            </a:r>
            <a:endParaRPr lang="en-US" sz="850" dirty="0"/>
          </a:p>
        </p:txBody>
      </p:sp>
      <p:sp>
        <p:nvSpPr>
          <p:cNvPr id="10" name="Text 8"/>
          <p:cNvSpPr/>
          <p:nvPr/>
        </p:nvSpPr>
        <p:spPr>
          <a:xfrm>
            <a:off x="4992624" y="4343400"/>
            <a:ext cx="2039112" cy="502920"/>
          </a:xfrm>
          <a:prstGeom prst="rect">
            <a:avLst/>
          </a:prstGeom>
          <a:noFill/>
          <a:ln/>
        </p:spPr>
        <p:txBody>
          <a:bodyPr wrap="square"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15 mi</a:t>
            </a:r>
            <a:endParaRPr lang="en-US" sz="2000" dirty="0"/>
          </a:p>
        </p:txBody>
      </p:sp>
      <p:sp>
        <p:nvSpPr>
          <p:cNvPr id="11" name="Text 9"/>
          <p:cNvSpPr/>
          <p:nvPr/>
        </p:nvSpPr>
        <p:spPr>
          <a:xfrm>
            <a:off x="4992624" y="4828032"/>
            <a:ext cx="2039112" cy="457200"/>
          </a:xfrm>
          <a:prstGeom prst="rect">
            <a:avLst/>
          </a:prstGeom>
          <a:noFill/>
          <a:ln/>
        </p:spPr>
        <p:txBody>
          <a:bodyPr wrap="square" rtlCol="0" anchor="ctr"/>
          <a:lstStyle/>
          <a:p>
            <a:pPr indent="0" marL="0">
              <a:buNone/>
            </a:pPr>
            <a:r>
              <a:rPr lang="en-US" sz="850" spc="50" kern="0" dirty="0">
                <a:solidFill>
                  <a:srgbClr val="94A3B8"/>
                </a:solidFill>
                <a:latin typeface="Calibri" pitchFamily="34" charset="0"/>
                <a:ea typeface="Calibri" pitchFamily="34" charset="-122"/>
                <a:cs typeface="Calibri" pitchFamily="34" charset="-120"/>
              </a:rPr>
              <a:t>TO 765 KV SOLSTICE SUB</a:t>
            </a:r>
            <a:endParaRPr lang="en-US" sz="850" dirty="0"/>
          </a:p>
        </p:txBody>
      </p:sp>
      <p:sp>
        <p:nvSpPr>
          <p:cNvPr id="12" name="Text 10"/>
          <p:cNvSpPr/>
          <p:nvPr/>
        </p:nvSpPr>
        <p:spPr>
          <a:xfrm>
            <a:off x="7168896" y="4343400"/>
            <a:ext cx="2039112" cy="502920"/>
          </a:xfrm>
          <a:prstGeom prst="rect">
            <a:avLst/>
          </a:prstGeom>
          <a:noFill/>
          <a:ln/>
        </p:spPr>
        <p:txBody>
          <a:bodyPr wrap="square"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20 mi</a:t>
            </a:r>
            <a:endParaRPr lang="en-US" sz="2000" dirty="0"/>
          </a:p>
        </p:txBody>
      </p:sp>
      <p:sp>
        <p:nvSpPr>
          <p:cNvPr id="13" name="Text 11"/>
          <p:cNvSpPr/>
          <p:nvPr/>
        </p:nvSpPr>
        <p:spPr>
          <a:xfrm>
            <a:off x="7168896" y="4828032"/>
            <a:ext cx="2039112" cy="457200"/>
          </a:xfrm>
          <a:prstGeom prst="rect">
            <a:avLst/>
          </a:prstGeom>
          <a:noFill/>
          <a:ln/>
        </p:spPr>
        <p:txBody>
          <a:bodyPr wrap="square" rtlCol="0" anchor="ctr"/>
          <a:lstStyle/>
          <a:p>
            <a:pPr indent="0" marL="0">
              <a:buNone/>
            </a:pPr>
            <a:r>
              <a:rPr lang="en-US" sz="850" spc="50" kern="0" dirty="0">
                <a:solidFill>
                  <a:srgbClr val="94A3B8"/>
                </a:solidFill>
                <a:latin typeface="Calibri" pitchFamily="34" charset="0"/>
                <a:ea typeface="Calibri" pitchFamily="34" charset="-122"/>
                <a:cs typeface="Calibri" pitchFamily="34" charset="-120"/>
              </a:rPr>
              <a:t>TO WAHA GAS HUB</a:t>
            </a:r>
            <a:endParaRPr lang="en-US" sz="850" dirty="0"/>
          </a:p>
        </p:txBody>
      </p:sp>
      <p:sp>
        <p:nvSpPr>
          <p:cNvPr id="14" name="Text 12"/>
          <p:cNvSpPr/>
          <p:nvPr/>
        </p:nvSpPr>
        <p:spPr>
          <a:xfrm>
            <a:off x="9345168" y="4343400"/>
            <a:ext cx="2039112" cy="502920"/>
          </a:xfrm>
          <a:prstGeom prst="rect">
            <a:avLst/>
          </a:prstGeom>
          <a:noFill/>
          <a:ln/>
        </p:spPr>
        <p:txBody>
          <a:bodyPr wrap="square"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12.0 GW</a:t>
            </a:r>
            <a:endParaRPr lang="en-US" sz="2000" dirty="0"/>
          </a:p>
        </p:txBody>
      </p:sp>
      <p:sp>
        <p:nvSpPr>
          <p:cNvPr id="15" name="Text 13"/>
          <p:cNvSpPr/>
          <p:nvPr/>
        </p:nvSpPr>
        <p:spPr>
          <a:xfrm>
            <a:off x="9345168" y="4828032"/>
            <a:ext cx="2039112" cy="457200"/>
          </a:xfrm>
          <a:prstGeom prst="rect">
            <a:avLst/>
          </a:prstGeom>
          <a:noFill/>
          <a:ln/>
        </p:spPr>
        <p:txBody>
          <a:bodyPr wrap="square" rtlCol="0" anchor="ctr"/>
          <a:lstStyle/>
          <a:p>
            <a:pPr indent="0" marL="0">
              <a:buNone/>
            </a:pPr>
            <a:r>
              <a:rPr lang="en-US" sz="850" spc="50" kern="0" dirty="0">
                <a:solidFill>
                  <a:srgbClr val="94A3B8"/>
                </a:solidFill>
                <a:latin typeface="Calibri" pitchFamily="34" charset="0"/>
                <a:ea typeface="Calibri" pitchFamily="34" charset="-122"/>
                <a:cs typeface="Calibri" pitchFamily="34" charset="-120"/>
              </a:rPr>
              <a:t>ERCOT QUEUE, PECOS CO.</a:t>
            </a:r>
            <a:endParaRPr lang="en-US" sz="850" dirty="0"/>
          </a:p>
        </p:txBody>
      </p:sp>
      <p:sp>
        <p:nvSpPr>
          <p:cNvPr id="16" name="Shape 14"/>
          <p:cNvSpPr/>
          <p:nvPr/>
        </p:nvSpPr>
        <p:spPr>
          <a:xfrm>
            <a:off x="640080" y="4279392"/>
            <a:ext cx="10881360" cy="0"/>
          </a:xfrm>
          <a:prstGeom prst="line">
            <a:avLst/>
          </a:prstGeom>
          <a:noFill/>
          <a:ln w="12700">
            <a:solidFill>
              <a:srgbClr val="334155"/>
            </a:solidFill>
            <a:prstDash val="solid"/>
          </a:ln>
        </p:spPr>
      </p:sp>
      <p:sp>
        <p:nvSpPr>
          <p:cNvPr id="17" name="Shape 15"/>
          <p:cNvSpPr/>
          <p:nvPr/>
        </p:nvSpPr>
        <p:spPr>
          <a:xfrm>
            <a:off x="640080" y="5989320"/>
            <a:ext cx="10881360" cy="0"/>
          </a:xfrm>
          <a:prstGeom prst="line">
            <a:avLst/>
          </a:prstGeom>
          <a:noFill/>
          <a:ln w="12700">
            <a:solidFill>
              <a:srgbClr val="334155"/>
            </a:solidFill>
            <a:prstDash val="solid"/>
          </a:ln>
        </p:spPr>
      </p:sp>
      <p:sp>
        <p:nvSpPr>
          <p:cNvPr id="18" name="Text 16"/>
          <p:cNvSpPr/>
          <p:nvPr/>
        </p:nvSpPr>
        <p:spPr>
          <a:xfrm>
            <a:off x="640080" y="6108192"/>
            <a:ext cx="7315200" cy="365760"/>
          </a:xfrm>
          <a:prstGeom prst="rect">
            <a:avLst/>
          </a:prstGeom>
          <a:noFill/>
          <a:ln/>
        </p:spPr>
        <p:txBody>
          <a:bodyPr wrap="square" rtlCol="0" anchor="ctr"/>
          <a:lstStyle/>
          <a:p>
            <a:pPr indent="0" marL="0">
              <a:buNone/>
            </a:pPr>
            <a:r>
              <a:rPr lang="en-US" sz="1000" dirty="0">
                <a:solidFill>
                  <a:srgbClr val="94A3B8"/>
                </a:solidFill>
                <a:latin typeface="Calibri" pitchFamily="34" charset="0"/>
                <a:ea typeface="Calibri" pitchFamily="34" charset="-122"/>
                <a:cs typeface="Calibri" pitchFamily="34" charset="-120"/>
              </a:rPr>
              <a:t>Prepared by Land Resource Partners  ·  lrp-tx-gis.netlify.app</a:t>
            </a:r>
            <a:endParaRPr lang="en-US" sz="1000" dirty="0"/>
          </a:p>
        </p:txBody>
      </p:sp>
      <p:sp>
        <p:nvSpPr>
          <p:cNvPr id="19" name="Text 17"/>
          <p:cNvSpPr/>
          <p:nvPr/>
        </p:nvSpPr>
        <p:spPr>
          <a:xfrm>
            <a:off x="7863840" y="6108192"/>
            <a:ext cx="3657600" cy="365760"/>
          </a:xfrm>
          <a:prstGeom prst="rect">
            <a:avLst/>
          </a:prstGeom>
          <a:noFill/>
          <a:ln/>
        </p:spPr>
        <p:txBody>
          <a:bodyPr wrap="square" rtlCol="0" anchor="ctr"/>
          <a:lstStyle/>
          <a:p>
            <a:pPr algn="r" indent="0" marL="0">
              <a:buNone/>
            </a:pPr>
            <a:r>
              <a:rPr lang="en-US" sz="1000" dirty="0">
                <a:solidFill>
                  <a:srgbClr val="94A3B8"/>
                </a:solidFill>
                <a:latin typeface="Calibri" pitchFamily="34" charset="0"/>
                <a:ea typeface="Calibri" pitchFamily="34" charset="-122"/>
                <a:cs typeface="Calibri" pitchFamily="34" charset="-120"/>
              </a:rPr>
              <a:t>2026-08-23  ·  Executive summary deck — editable working draft</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10896"/>
            <a:ext cx="402336" cy="402336"/>
          </a:xfrm>
          <a:prstGeom prst="ellipse">
            <a:avLst/>
          </a:prstGeom>
          <a:solidFill>
            <a:srgbClr val="B91C1C"/>
          </a:solidFill>
          <a:ln/>
          <a:effectLst>
            <a:outerShdw sx="100000" sy="100000" kx="0" ky="0" algn="bl" rotWithShape="0" blurRad="88900" dist="25400" dir="5400000">
              <a:srgbClr val="0F1B2D">
                <a:alpha val="16000"/>
              </a:srgbClr>
            </a:outerShdw>
          </a:effectLst>
        </p:spPr>
      </p:sp>
      <p:pic>
        <p:nvPicPr>
          <p:cNvPr id="3" name="Image 0" descr="preencoded.png">    </p:cNvPr>
          <p:cNvPicPr>
            <a:picLocks noChangeAspect="1"/>
          </p:cNvPicPr>
          <p:nvPr/>
        </p:nvPicPr>
        <p:blipFill>
          <a:blip r:embed="rId1"/>
          <a:stretch>
            <a:fillRect/>
          </a:stretch>
        </p:blipFill>
        <p:spPr>
          <a:xfrm>
            <a:off x="653247" y="415503"/>
            <a:ext cx="193121" cy="193121"/>
          </a:xfrm>
          <a:prstGeom prst="rect">
            <a:avLst/>
          </a:prstGeom>
        </p:spPr>
      </p:pic>
      <p:sp>
        <p:nvSpPr>
          <p:cNvPr id="4" name="Text 1"/>
          <p:cNvSpPr/>
          <p:nvPr/>
        </p:nvSpPr>
        <p:spPr>
          <a:xfrm>
            <a:off x="1097280" y="365760"/>
            <a:ext cx="9144000" cy="365760"/>
          </a:xfrm>
          <a:prstGeom prst="rect">
            <a:avLst/>
          </a:prstGeom>
          <a:noFill/>
          <a:ln/>
        </p:spPr>
        <p:txBody>
          <a:bodyPr wrap="square" rtlCol="0" anchor="ctr"/>
          <a:lstStyle/>
          <a:p>
            <a:pPr indent="0" marL="0">
              <a:buNone/>
            </a:pPr>
            <a:r>
              <a:rPr lang="en-US" sz="1200" b="1" spc="200" kern="0" dirty="0">
                <a:solidFill>
                  <a:srgbClr val="B91C1C"/>
                </a:solidFill>
                <a:latin typeface="Calibri" pitchFamily="34" charset="0"/>
                <a:ea typeface="Calibri" pitchFamily="34" charset="-122"/>
                <a:cs typeface="Calibri" pitchFamily="34" charset="-120"/>
              </a:rPr>
              <a:t>CONTENTS</a:t>
            </a:r>
            <a:endParaRPr lang="en-US" sz="1200" dirty="0"/>
          </a:p>
        </p:txBody>
      </p:sp>
      <p:sp>
        <p:nvSpPr>
          <p:cNvPr id="5" name="Text 2"/>
          <p:cNvSpPr/>
          <p:nvPr/>
        </p:nvSpPr>
        <p:spPr>
          <a:xfrm>
            <a:off x="548640" y="841248"/>
            <a:ext cx="11064240" cy="822960"/>
          </a:xfrm>
          <a:prstGeom prst="rect">
            <a:avLst/>
          </a:prstGeom>
          <a:noFill/>
          <a:ln/>
        </p:spPr>
        <p:txBody>
          <a:bodyPr wrap="square" rtlCol="0" anchor="t"/>
          <a:lstStyle/>
          <a:p>
            <a:pPr indent="0" marL="0">
              <a:buNone/>
            </a:pPr>
            <a:r>
              <a:rPr lang="en-US" sz="2500" b="1" dirty="0">
                <a:solidFill>
                  <a:srgbClr val="0F1B2D"/>
                </a:solidFill>
                <a:latin typeface="Cambria" pitchFamily="34" charset="0"/>
                <a:ea typeface="Cambria" pitchFamily="34" charset="-122"/>
                <a:cs typeface="Cambria" pitchFamily="34" charset="-120"/>
              </a:rPr>
              <a:t>What's in this deck</a:t>
            </a:r>
            <a:endParaRPr lang="en-US" sz="2500" dirty="0"/>
          </a:p>
        </p:txBody>
      </p:sp>
      <p:sp>
        <p:nvSpPr>
          <p:cNvPr id="6" name="Shape 3"/>
          <p:cNvSpPr/>
          <p:nvPr/>
        </p:nvSpPr>
        <p:spPr>
          <a:xfrm>
            <a:off x="548640" y="1810512"/>
            <a:ext cx="365760" cy="365760"/>
          </a:xfrm>
          <a:prstGeom prst="ellipse">
            <a:avLst/>
          </a:prstGeom>
          <a:solidFill>
            <a:srgbClr val="B91C1C"/>
          </a:solidFill>
          <a:ln/>
          <a:effectLst>
            <a:outerShdw sx="100000" sy="100000" kx="0" ky="0" algn="bl" rotWithShape="0" blurRad="88900" dist="25400" dir="5400000">
              <a:srgbClr val="0F1B2D">
                <a:alpha val="16000"/>
              </a:srgbClr>
            </a:outerShdw>
          </a:effectLst>
        </p:spPr>
      </p:sp>
      <p:pic>
        <p:nvPicPr>
          <p:cNvPr id="7" name="Image 1" descr="preencoded.png">    </p:cNvPr>
          <p:cNvPicPr>
            <a:picLocks noChangeAspect="1"/>
          </p:cNvPicPr>
          <p:nvPr/>
        </p:nvPicPr>
        <p:blipFill>
          <a:blip r:embed="rId2"/>
          <a:stretch>
            <a:fillRect/>
          </a:stretch>
        </p:blipFill>
        <p:spPr>
          <a:xfrm>
            <a:off x="643738" y="1905610"/>
            <a:ext cx="175565" cy="175565"/>
          </a:xfrm>
          <a:prstGeom prst="rect">
            <a:avLst/>
          </a:prstGeom>
        </p:spPr>
      </p:pic>
      <p:sp>
        <p:nvSpPr>
          <p:cNvPr id="8" name="Text 4"/>
          <p:cNvSpPr/>
          <p:nvPr/>
        </p:nvSpPr>
        <p:spPr>
          <a:xfrm>
            <a:off x="1051560" y="1783080"/>
            <a:ext cx="4892040" cy="438912"/>
          </a:xfrm>
          <a:prstGeom prst="rect">
            <a:avLst/>
          </a:prstGeom>
          <a:noFill/>
          <a:ln/>
        </p:spPr>
        <p:txBody>
          <a:bodyPr wrap="square" rtlCol="0" anchor="ctr"/>
          <a:lstStyle/>
          <a:p>
            <a:pPr indent="0" marL="0">
              <a:buNone/>
            </a:pPr>
            <a:r>
              <a:rPr lang="en-US" sz="1500" b="1" dirty="0">
                <a:solidFill>
                  <a:srgbClr val="0F1B2D"/>
                </a:solidFill>
                <a:latin typeface="Calibri" pitchFamily="34" charset="0"/>
                <a:ea typeface="Calibri" pitchFamily="34" charset="-122"/>
                <a:cs typeface="Calibri" pitchFamily="34" charset="-120"/>
              </a:rPr>
              <a:t>01  Executive Summary</a:t>
            </a:r>
            <a:endParaRPr lang="en-US" sz="1500" dirty="0"/>
          </a:p>
        </p:txBody>
      </p:sp>
      <p:sp>
        <p:nvSpPr>
          <p:cNvPr id="9" name="Shape 5"/>
          <p:cNvSpPr/>
          <p:nvPr/>
        </p:nvSpPr>
        <p:spPr>
          <a:xfrm>
            <a:off x="548640" y="2340864"/>
            <a:ext cx="365760" cy="365760"/>
          </a:xfrm>
          <a:prstGeom prst="ellipse">
            <a:avLst/>
          </a:prstGeom>
          <a:solidFill>
            <a:srgbClr val="B91C1C"/>
          </a:solidFill>
          <a:ln/>
          <a:effectLst>
            <a:outerShdw sx="100000" sy="100000" kx="0" ky="0" algn="bl" rotWithShape="0" blurRad="88900" dist="25400" dir="5400000">
              <a:srgbClr val="0F1B2D">
                <a:alpha val="16000"/>
              </a:srgbClr>
            </a:outerShdw>
          </a:effectLst>
        </p:spPr>
      </p:sp>
      <p:pic>
        <p:nvPicPr>
          <p:cNvPr id="10" name="Image 2" descr="preencoded.png">    </p:cNvPr>
          <p:cNvPicPr>
            <a:picLocks noChangeAspect="1"/>
          </p:cNvPicPr>
          <p:nvPr/>
        </p:nvPicPr>
        <p:blipFill>
          <a:blip r:embed="rId3"/>
          <a:stretch>
            <a:fillRect/>
          </a:stretch>
        </p:blipFill>
        <p:spPr>
          <a:xfrm>
            <a:off x="643738" y="2435962"/>
            <a:ext cx="175565" cy="175565"/>
          </a:xfrm>
          <a:prstGeom prst="rect">
            <a:avLst/>
          </a:prstGeom>
        </p:spPr>
      </p:pic>
      <p:sp>
        <p:nvSpPr>
          <p:cNvPr id="11" name="Text 6"/>
          <p:cNvSpPr/>
          <p:nvPr/>
        </p:nvSpPr>
        <p:spPr>
          <a:xfrm>
            <a:off x="1051560" y="2313432"/>
            <a:ext cx="4892040" cy="438912"/>
          </a:xfrm>
          <a:prstGeom prst="rect">
            <a:avLst/>
          </a:prstGeom>
          <a:noFill/>
          <a:ln/>
        </p:spPr>
        <p:txBody>
          <a:bodyPr wrap="square" rtlCol="0" anchor="ctr"/>
          <a:lstStyle/>
          <a:p>
            <a:pPr indent="0" marL="0">
              <a:buNone/>
            </a:pPr>
            <a:r>
              <a:rPr lang="en-US" sz="1500" b="1" dirty="0">
                <a:solidFill>
                  <a:srgbClr val="0F1B2D"/>
                </a:solidFill>
                <a:latin typeface="Calibri" pitchFamily="34" charset="0"/>
                <a:ea typeface="Calibri" pitchFamily="34" charset="-122"/>
                <a:cs typeface="Calibri" pitchFamily="34" charset="-120"/>
              </a:rPr>
              <a:t>02  The Property</a:t>
            </a:r>
            <a:endParaRPr lang="en-US" sz="1500" dirty="0"/>
          </a:p>
        </p:txBody>
      </p:sp>
      <p:sp>
        <p:nvSpPr>
          <p:cNvPr id="12" name="Shape 7"/>
          <p:cNvSpPr/>
          <p:nvPr/>
        </p:nvSpPr>
        <p:spPr>
          <a:xfrm>
            <a:off x="548640" y="2871216"/>
            <a:ext cx="365760" cy="365760"/>
          </a:xfrm>
          <a:prstGeom prst="ellipse">
            <a:avLst/>
          </a:prstGeom>
          <a:solidFill>
            <a:srgbClr val="B91C1C"/>
          </a:solidFill>
          <a:ln/>
          <a:effectLst>
            <a:outerShdw sx="100000" sy="100000" kx="0" ky="0" algn="bl" rotWithShape="0" blurRad="88900" dist="25400" dir="5400000">
              <a:srgbClr val="0F1B2D">
                <a:alpha val="16000"/>
              </a:srgbClr>
            </a:outerShdw>
          </a:effectLst>
        </p:spPr>
      </p:sp>
      <p:pic>
        <p:nvPicPr>
          <p:cNvPr id="13" name="Image 3" descr="preencoded.png">    </p:cNvPr>
          <p:cNvPicPr>
            <a:picLocks noChangeAspect="1"/>
          </p:cNvPicPr>
          <p:nvPr/>
        </p:nvPicPr>
        <p:blipFill>
          <a:blip r:embed="rId4"/>
          <a:stretch>
            <a:fillRect/>
          </a:stretch>
        </p:blipFill>
        <p:spPr>
          <a:xfrm>
            <a:off x="643738" y="2966314"/>
            <a:ext cx="175565" cy="175565"/>
          </a:xfrm>
          <a:prstGeom prst="rect">
            <a:avLst/>
          </a:prstGeom>
        </p:spPr>
      </p:pic>
      <p:sp>
        <p:nvSpPr>
          <p:cNvPr id="14" name="Text 8"/>
          <p:cNvSpPr/>
          <p:nvPr/>
        </p:nvSpPr>
        <p:spPr>
          <a:xfrm>
            <a:off x="1051560" y="2843784"/>
            <a:ext cx="4892040" cy="438912"/>
          </a:xfrm>
          <a:prstGeom prst="rect">
            <a:avLst/>
          </a:prstGeom>
          <a:noFill/>
          <a:ln/>
        </p:spPr>
        <p:txBody>
          <a:bodyPr wrap="square" rtlCol="0" anchor="ctr"/>
          <a:lstStyle/>
          <a:p>
            <a:pPr indent="0" marL="0">
              <a:buNone/>
            </a:pPr>
            <a:r>
              <a:rPr lang="en-US" sz="1500" b="1" dirty="0">
                <a:solidFill>
                  <a:srgbClr val="0F1B2D"/>
                </a:solidFill>
                <a:latin typeface="Calibri" pitchFamily="34" charset="0"/>
                <a:ea typeface="Calibri" pitchFamily="34" charset="-122"/>
                <a:cs typeface="Calibri" pitchFamily="34" charset="-120"/>
              </a:rPr>
              <a:t>03  Transmission</a:t>
            </a:r>
            <a:endParaRPr lang="en-US" sz="1500" dirty="0"/>
          </a:p>
        </p:txBody>
      </p:sp>
      <p:sp>
        <p:nvSpPr>
          <p:cNvPr id="15" name="Shape 9"/>
          <p:cNvSpPr/>
          <p:nvPr/>
        </p:nvSpPr>
        <p:spPr>
          <a:xfrm>
            <a:off x="548640" y="3401568"/>
            <a:ext cx="365760" cy="365760"/>
          </a:xfrm>
          <a:prstGeom prst="ellipse">
            <a:avLst/>
          </a:prstGeom>
          <a:solidFill>
            <a:srgbClr val="B91C1C"/>
          </a:solidFill>
          <a:ln/>
          <a:effectLst>
            <a:outerShdw sx="100000" sy="100000" kx="0" ky="0" algn="bl" rotWithShape="0" blurRad="88900" dist="25400" dir="5400000">
              <a:srgbClr val="0F1B2D">
                <a:alpha val="16000"/>
              </a:srgbClr>
            </a:outerShdw>
          </a:effectLst>
        </p:spPr>
      </p:sp>
      <p:pic>
        <p:nvPicPr>
          <p:cNvPr id="16" name="Image 4" descr="preencoded.png">    </p:cNvPr>
          <p:cNvPicPr>
            <a:picLocks noChangeAspect="1"/>
          </p:cNvPicPr>
          <p:nvPr/>
        </p:nvPicPr>
        <p:blipFill>
          <a:blip r:embed="rId5"/>
          <a:stretch>
            <a:fillRect/>
          </a:stretch>
        </p:blipFill>
        <p:spPr>
          <a:xfrm>
            <a:off x="643738" y="3496666"/>
            <a:ext cx="175565" cy="175565"/>
          </a:xfrm>
          <a:prstGeom prst="rect">
            <a:avLst/>
          </a:prstGeom>
        </p:spPr>
      </p:pic>
      <p:sp>
        <p:nvSpPr>
          <p:cNvPr id="17" name="Text 10"/>
          <p:cNvSpPr/>
          <p:nvPr/>
        </p:nvSpPr>
        <p:spPr>
          <a:xfrm>
            <a:off x="1051560" y="3374136"/>
            <a:ext cx="4892040" cy="438912"/>
          </a:xfrm>
          <a:prstGeom prst="rect">
            <a:avLst/>
          </a:prstGeom>
          <a:noFill/>
          <a:ln/>
        </p:spPr>
        <p:txBody>
          <a:bodyPr wrap="square" rtlCol="0" anchor="ctr"/>
          <a:lstStyle/>
          <a:p>
            <a:pPr indent="0" marL="0">
              <a:buNone/>
            </a:pPr>
            <a:r>
              <a:rPr lang="en-US" sz="1500" b="1" dirty="0">
                <a:solidFill>
                  <a:srgbClr val="0F1B2D"/>
                </a:solidFill>
                <a:latin typeface="Calibri" pitchFamily="34" charset="0"/>
                <a:ea typeface="Calibri" pitchFamily="34" charset="-122"/>
                <a:cs typeface="Calibri" pitchFamily="34" charset="-120"/>
              </a:rPr>
              <a:t>04  Regional Power Cluster</a:t>
            </a:r>
            <a:endParaRPr lang="en-US" sz="1500" dirty="0"/>
          </a:p>
        </p:txBody>
      </p:sp>
      <p:sp>
        <p:nvSpPr>
          <p:cNvPr id="18" name="Shape 11"/>
          <p:cNvSpPr/>
          <p:nvPr/>
        </p:nvSpPr>
        <p:spPr>
          <a:xfrm>
            <a:off x="548640" y="3931920"/>
            <a:ext cx="365760" cy="365760"/>
          </a:xfrm>
          <a:prstGeom prst="ellipse">
            <a:avLst/>
          </a:prstGeom>
          <a:solidFill>
            <a:srgbClr val="B91C1C"/>
          </a:solidFill>
          <a:ln/>
          <a:effectLst>
            <a:outerShdw sx="100000" sy="100000" kx="0" ky="0" algn="bl" rotWithShape="0" blurRad="88900" dist="25400" dir="5400000">
              <a:srgbClr val="0F1B2D">
                <a:alpha val="16000"/>
              </a:srgbClr>
            </a:outerShdw>
          </a:effectLst>
        </p:spPr>
      </p:sp>
      <p:pic>
        <p:nvPicPr>
          <p:cNvPr id="19" name="Image 5" descr="preencoded.png">    </p:cNvPr>
          <p:cNvPicPr>
            <a:picLocks noChangeAspect="1"/>
          </p:cNvPicPr>
          <p:nvPr/>
        </p:nvPicPr>
        <p:blipFill>
          <a:blip r:embed="rId6"/>
          <a:stretch>
            <a:fillRect/>
          </a:stretch>
        </p:blipFill>
        <p:spPr>
          <a:xfrm>
            <a:off x="643738" y="4027018"/>
            <a:ext cx="175565" cy="175565"/>
          </a:xfrm>
          <a:prstGeom prst="rect">
            <a:avLst/>
          </a:prstGeom>
        </p:spPr>
      </p:pic>
      <p:sp>
        <p:nvSpPr>
          <p:cNvPr id="20" name="Text 12"/>
          <p:cNvSpPr/>
          <p:nvPr/>
        </p:nvSpPr>
        <p:spPr>
          <a:xfrm>
            <a:off x="1051560" y="3904488"/>
            <a:ext cx="4892040" cy="438912"/>
          </a:xfrm>
          <a:prstGeom prst="rect">
            <a:avLst/>
          </a:prstGeom>
          <a:noFill/>
          <a:ln/>
        </p:spPr>
        <p:txBody>
          <a:bodyPr wrap="square" rtlCol="0" anchor="ctr"/>
          <a:lstStyle/>
          <a:p>
            <a:pPr indent="0" marL="0">
              <a:buNone/>
            </a:pPr>
            <a:r>
              <a:rPr lang="en-US" sz="1500" b="1" dirty="0">
                <a:solidFill>
                  <a:srgbClr val="0F1B2D"/>
                </a:solidFill>
                <a:latin typeface="Calibri" pitchFamily="34" charset="0"/>
                <a:ea typeface="Calibri" pitchFamily="34" charset="-122"/>
                <a:cs typeface="Calibri" pitchFamily="34" charset="-120"/>
              </a:rPr>
              <a:t>05 / 06  Water &amp; Natural Gas</a:t>
            </a:r>
            <a:endParaRPr lang="en-US" sz="1500" dirty="0"/>
          </a:p>
        </p:txBody>
      </p:sp>
      <p:sp>
        <p:nvSpPr>
          <p:cNvPr id="21" name="Shape 13"/>
          <p:cNvSpPr/>
          <p:nvPr/>
        </p:nvSpPr>
        <p:spPr>
          <a:xfrm>
            <a:off x="548640" y="4462272"/>
            <a:ext cx="365760" cy="365760"/>
          </a:xfrm>
          <a:prstGeom prst="ellipse">
            <a:avLst/>
          </a:prstGeom>
          <a:solidFill>
            <a:srgbClr val="B91C1C"/>
          </a:solidFill>
          <a:ln/>
          <a:effectLst>
            <a:outerShdw sx="100000" sy="100000" kx="0" ky="0" algn="bl" rotWithShape="0" blurRad="88900" dist="25400" dir="5400000">
              <a:srgbClr val="0F1B2D">
                <a:alpha val="16000"/>
              </a:srgbClr>
            </a:outerShdw>
          </a:effectLst>
        </p:spPr>
      </p:sp>
      <p:pic>
        <p:nvPicPr>
          <p:cNvPr id="22" name="Image 6" descr="preencoded.png">    </p:cNvPr>
          <p:cNvPicPr>
            <a:picLocks noChangeAspect="1"/>
          </p:cNvPicPr>
          <p:nvPr/>
        </p:nvPicPr>
        <p:blipFill>
          <a:blip r:embed="rId7"/>
          <a:stretch>
            <a:fillRect/>
          </a:stretch>
        </p:blipFill>
        <p:spPr>
          <a:xfrm>
            <a:off x="643738" y="4557370"/>
            <a:ext cx="175565" cy="175565"/>
          </a:xfrm>
          <a:prstGeom prst="rect">
            <a:avLst/>
          </a:prstGeom>
        </p:spPr>
      </p:pic>
      <p:sp>
        <p:nvSpPr>
          <p:cNvPr id="23" name="Text 14"/>
          <p:cNvSpPr/>
          <p:nvPr/>
        </p:nvSpPr>
        <p:spPr>
          <a:xfrm>
            <a:off x="1051560" y="4434840"/>
            <a:ext cx="4892040" cy="438912"/>
          </a:xfrm>
          <a:prstGeom prst="rect">
            <a:avLst/>
          </a:prstGeom>
          <a:noFill/>
          <a:ln/>
        </p:spPr>
        <p:txBody>
          <a:bodyPr wrap="square" rtlCol="0" anchor="ctr"/>
          <a:lstStyle/>
          <a:p>
            <a:pPr indent="0" marL="0">
              <a:buNone/>
            </a:pPr>
            <a:r>
              <a:rPr lang="en-US" sz="1500" b="1" dirty="0">
                <a:solidFill>
                  <a:srgbClr val="0F1B2D"/>
                </a:solidFill>
                <a:latin typeface="Calibri" pitchFamily="34" charset="0"/>
                <a:ea typeface="Calibri" pitchFamily="34" charset="-122"/>
                <a:cs typeface="Calibri" pitchFamily="34" charset="-120"/>
              </a:rPr>
              <a:t>07  Regional Data Center Pipeline</a:t>
            </a:r>
            <a:endParaRPr lang="en-US" sz="1500" dirty="0"/>
          </a:p>
        </p:txBody>
      </p:sp>
      <p:sp>
        <p:nvSpPr>
          <p:cNvPr id="24" name="Shape 15"/>
          <p:cNvSpPr/>
          <p:nvPr/>
        </p:nvSpPr>
        <p:spPr>
          <a:xfrm>
            <a:off x="6400800" y="1810512"/>
            <a:ext cx="365760" cy="365760"/>
          </a:xfrm>
          <a:prstGeom prst="ellipse">
            <a:avLst/>
          </a:prstGeom>
          <a:solidFill>
            <a:srgbClr val="B91C1C"/>
          </a:solidFill>
          <a:ln/>
          <a:effectLst>
            <a:outerShdw sx="100000" sy="100000" kx="0" ky="0" algn="bl" rotWithShape="0" blurRad="88900" dist="25400" dir="5400000">
              <a:srgbClr val="0F1B2D">
                <a:alpha val="16000"/>
              </a:srgbClr>
            </a:outerShdw>
          </a:effectLst>
        </p:spPr>
      </p:sp>
      <p:pic>
        <p:nvPicPr>
          <p:cNvPr id="25" name="Image 7" descr="preencoded.png">    </p:cNvPr>
          <p:cNvPicPr>
            <a:picLocks noChangeAspect="1"/>
          </p:cNvPicPr>
          <p:nvPr/>
        </p:nvPicPr>
        <p:blipFill>
          <a:blip r:embed="rId8"/>
          <a:stretch>
            <a:fillRect/>
          </a:stretch>
        </p:blipFill>
        <p:spPr>
          <a:xfrm>
            <a:off x="6495898" y="1905610"/>
            <a:ext cx="175565" cy="175565"/>
          </a:xfrm>
          <a:prstGeom prst="rect">
            <a:avLst/>
          </a:prstGeom>
        </p:spPr>
      </p:pic>
      <p:sp>
        <p:nvSpPr>
          <p:cNvPr id="26" name="Text 16"/>
          <p:cNvSpPr/>
          <p:nvPr/>
        </p:nvSpPr>
        <p:spPr>
          <a:xfrm>
            <a:off x="6903720" y="1783080"/>
            <a:ext cx="4892040" cy="438912"/>
          </a:xfrm>
          <a:prstGeom prst="rect">
            <a:avLst/>
          </a:prstGeom>
          <a:noFill/>
          <a:ln/>
        </p:spPr>
        <p:txBody>
          <a:bodyPr wrap="square" rtlCol="0" anchor="ctr"/>
          <a:lstStyle/>
          <a:p>
            <a:pPr indent="0" marL="0">
              <a:buNone/>
            </a:pPr>
            <a:r>
              <a:rPr lang="en-US" sz="1500" b="1" dirty="0">
                <a:solidFill>
                  <a:srgbClr val="0F1B2D"/>
                </a:solidFill>
                <a:latin typeface="Calibri" pitchFamily="34" charset="0"/>
                <a:ea typeface="Calibri" pitchFamily="34" charset="-122"/>
                <a:cs typeface="Calibri" pitchFamily="34" charset="-120"/>
              </a:rPr>
              <a:t>Feature  Amazon / GW Ranch</a:t>
            </a:r>
            <a:endParaRPr lang="en-US" sz="1500" dirty="0"/>
          </a:p>
        </p:txBody>
      </p:sp>
      <p:sp>
        <p:nvSpPr>
          <p:cNvPr id="27" name="Shape 17"/>
          <p:cNvSpPr/>
          <p:nvPr/>
        </p:nvSpPr>
        <p:spPr>
          <a:xfrm>
            <a:off x="6400800" y="2340864"/>
            <a:ext cx="365760" cy="365760"/>
          </a:xfrm>
          <a:prstGeom prst="ellipse">
            <a:avLst/>
          </a:prstGeom>
          <a:solidFill>
            <a:srgbClr val="B91C1C"/>
          </a:solidFill>
          <a:ln/>
          <a:effectLst>
            <a:outerShdw sx="100000" sy="100000" kx="0" ky="0" algn="bl" rotWithShape="0" blurRad="88900" dist="25400" dir="5400000">
              <a:srgbClr val="0F1B2D">
                <a:alpha val="16000"/>
              </a:srgbClr>
            </a:outerShdw>
          </a:effectLst>
        </p:spPr>
      </p:sp>
      <p:pic>
        <p:nvPicPr>
          <p:cNvPr id="28" name="Image 8" descr="preencoded.png">    </p:cNvPr>
          <p:cNvPicPr>
            <a:picLocks noChangeAspect="1"/>
          </p:cNvPicPr>
          <p:nvPr/>
        </p:nvPicPr>
        <p:blipFill>
          <a:blip r:embed="rId9"/>
          <a:stretch>
            <a:fillRect/>
          </a:stretch>
        </p:blipFill>
        <p:spPr>
          <a:xfrm>
            <a:off x="6495898" y="2435962"/>
            <a:ext cx="175565" cy="175565"/>
          </a:xfrm>
          <a:prstGeom prst="rect">
            <a:avLst/>
          </a:prstGeom>
        </p:spPr>
      </p:pic>
      <p:sp>
        <p:nvSpPr>
          <p:cNvPr id="29" name="Text 18"/>
          <p:cNvSpPr/>
          <p:nvPr/>
        </p:nvSpPr>
        <p:spPr>
          <a:xfrm>
            <a:off x="6903720" y="2313432"/>
            <a:ext cx="4892040" cy="438912"/>
          </a:xfrm>
          <a:prstGeom prst="rect">
            <a:avLst/>
          </a:prstGeom>
          <a:noFill/>
          <a:ln/>
        </p:spPr>
        <p:txBody>
          <a:bodyPr wrap="square" rtlCol="0" anchor="ctr"/>
          <a:lstStyle/>
          <a:p>
            <a:pPr indent="0" marL="0">
              <a:buNone/>
            </a:pPr>
            <a:r>
              <a:rPr lang="en-US" sz="1500" b="1" dirty="0">
                <a:solidFill>
                  <a:srgbClr val="0F1B2D"/>
                </a:solidFill>
                <a:latin typeface="Calibri" pitchFamily="34" charset="0"/>
                <a:ea typeface="Calibri" pitchFamily="34" charset="-122"/>
                <a:cs typeface="Calibri" pitchFamily="34" charset="-120"/>
              </a:rPr>
              <a:t>Feature  Longfellow / Project Horizon</a:t>
            </a:r>
            <a:endParaRPr lang="en-US" sz="1500" dirty="0"/>
          </a:p>
        </p:txBody>
      </p:sp>
      <p:sp>
        <p:nvSpPr>
          <p:cNvPr id="30" name="Shape 19"/>
          <p:cNvSpPr/>
          <p:nvPr/>
        </p:nvSpPr>
        <p:spPr>
          <a:xfrm>
            <a:off x="6400800" y="2871216"/>
            <a:ext cx="365760" cy="365760"/>
          </a:xfrm>
          <a:prstGeom prst="ellipse">
            <a:avLst/>
          </a:prstGeom>
          <a:solidFill>
            <a:srgbClr val="B91C1C"/>
          </a:solidFill>
          <a:ln/>
          <a:effectLst>
            <a:outerShdw sx="100000" sy="100000" kx="0" ky="0" algn="bl" rotWithShape="0" blurRad="88900" dist="25400" dir="5400000">
              <a:srgbClr val="0F1B2D">
                <a:alpha val="16000"/>
              </a:srgbClr>
            </a:outerShdw>
          </a:effectLst>
        </p:spPr>
      </p:sp>
      <p:pic>
        <p:nvPicPr>
          <p:cNvPr id="31" name="Image 9" descr="preencoded.png">    </p:cNvPr>
          <p:cNvPicPr>
            <a:picLocks noChangeAspect="1"/>
          </p:cNvPicPr>
          <p:nvPr/>
        </p:nvPicPr>
        <p:blipFill>
          <a:blip r:embed="rId10"/>
          <a:stretch>
            <a:fillRect/>
          </a:stretch>
        </p:blipFill>
        <p:spPr>
          <a:xfrm>
            <a:off x="6495898" y="2966314"/>
            <a:ext cx="175565" cy="175565"/>
          </a:xfrm>
          <a:prstGeom prst="rect">
            <a:avLst/>
          </a:prstGeom>
        </p:spPr>
      </p:pic>
      <p:sp>
        <p:nvSpPr>
          <p:cNvPr id="32" name="Text 20"/>
          <p:cNvSpPr/>
          <p:nvPr/>
        </p:nvSpPr>
        <p:spPr>
          <a:xfrm>
            <a:off x="6903720" y="2843784"/>
            <a:ext cx="4892040" cy="438912"/>
          </a:xfrm>
          <a:prstGeom prst="rect">
            <a:avLst/>
          </a:prstGeom>
          <a:noFill/>
          <a:ln/>
        </p:spPr>
        <p:txBody>
          <a:bodyPr wrap="square" rtlCol="0" anchor="ctr"/>
          <a:lstStyle/>
          <a:p>
            <a:pPr indent="0" marL="0">
              <a:buNone/>
            </a:pPr>
            <a:r>
              <a:rPr lang="en-US" sz="1500" b="1" dirty="0">
                <a:solidFill>
                  <a:srgbClr val="0F1B2D"/>
                </a:solidFill>
                <a:latin typeface="Calibri" pitchFamily="34" charset="0"/>
                <a:ea typeface="Calibri" pitchFamily="34" charset="-122"/>
                <a:cs typeface="Calibri" pitchFamily="34" charset="-120"/>
              </a:rPr>
              <a:t>08  The Diligence Platform</a:t>
            </a:r>
            <a:endParaRPr lang="en-US" sz="1500" dirty="0"/>
          </a:p>
        </p:txBody>
      </p:sp>
      <p:sp>
        <p:nvSpPr>
          <p:cNvPr id="33" name="Shape 21"/>
          <p:cNvSpPr/>
          <p:nvPr/>
        </p:nvSpPr>
        <p:spPr>
          <a:xfrm>
            <a:off x="6400800" y="3401568"/>
            <a:ext cx="365760" cy="365760"/>
          </a:xfrm>
          <a:prstGeom prst="ellipse">
            <a:avLst/>
          </a:prstGeom>
          <a:solidFill>
            <a:srgbClr val="B91C1C"/>
          </a:solidFill>
          <a:ln/>
          <a:effectLst>
            <a:outerShdw sx="100000" sy="100000" kx="0" ky="0" algn="bl" rotWithShape="0" blurRad="88900" dist="25400" dir="5400000">
              <a:srgbClr val="0F1B2D">
                <a:alpha val="16000"/>
              </a:srgbClr>
            </a:outerShdw>
          </a:effectLst>
        </p:spPr>
      </p:sp>
      <p:pic>
        <p:nvPicPr>
          <p:cNvPr id="34" name="Image 10" descr="preencoded.png">    </p:cNvPr>
          <p:cNvPicPr>
            <a:picLocks noChangeAspect="1"/>
          </p:cNvPicPr>
          <p:nvPr/>
        </p:nvPicPr>
        <p:blipFill>
          <a:blip r:embed="rId11"/>
          <a:stretch>
            <a:fillRect/>
          </a:stretch>
        </p:blipFill>
        <p:spPr>
          <a:xfrm>
            <a:off x="6495898" y="3496666"/>
            <a:ext cx="175565" cy="175565"/>
          </a:xfrm>
          <a:prstGeom prst="rect">
            <a:avLst/>
          </a:prstGeom>
        </p:spPr>
      </p:pic>
      <p:sp>
        <p:nvSpPr>
          <p:cNvPr id="35" name="Text 22"/>
          <p:cNvSpPr/>
          <p:nvPr/>
        </p:nvSpPr>
        <p:spPr>
          <a:xfrm>
            <a:off x="6903720" y="3374136"/>
            <a:ext cx="4892040" cy="438912"/>
          </a:xfrm>
          <a:prstGeom prst="rect">
            <a:avLst/>
          </a:prstGeom>
          <a:noFill/>
          <a:ln/>
        </p:spPr>
        <p:txBody>
          <a:bodyPr wrap="square" rtlCol="0" anchor="ctr"/>
          <a:lstStyle/>
          <a:p>
            <a:pPr indent="0" marL="0">
              <a:buNone/>
            </a:pPr>
            <a:r>
              <a:rPr lang="en-US" sz="1500" b="1" dirty="0">
                <a:solidFill>
                  <a:srgbClr val="0F1B2D"/>
                </a:solidFill>
                <a:latin typeface="Calibri" pitchFamily="34" charset="0"/>
                <a:ea typeface="Calibri" pitchFamily="34" charset="-122"/>
                <a:cs typeface="Calibri" pitchFamily="34" charset="-120"/>
              </a:rPr>
              <a:t>09  Subsurface &amp; Drilling Activity</a:t>
            </a:r>
            <a:endParaRPr lang="en-US" sz="1500" dirty="0"/>
          </a:p>
        </p:txBody>
      </p:sp>
      <p:sp>
        <p:nvSpPr>
          <p:cNvPr id="36" name="Shape 23"/>
          <p:cNvSpPr/>
          <p:nvPr/>
        </p:nvSpPr>
        <p:spPr>
          <a:xfrm>
            <a:off x="6400800" y="3931920"/>
            <a:ext cx="365760" cy="365760"/>
          </a:xfrm>
          <a:prstGeom prst="ellipse">
            <a:avLst/>
          </a:prstGeom>
          <a:solidFill>
            <a:srgbClr val="B91C1C"/>
          </a:solidFill>
          <a:ln/>
          <a:effectLst>
            <a:outerShdw sx="100000" sy="100000" kx="0" ky="0" algn="bl" rotWithShape="0" blurRad="88900" dist="25400" dir="5400000">
              <a:srgbClr val="0F1B2D">
                <a:alpha val="16000"/>
              </a:srgbClr>
            </a:outerShdw>
          </a:effectLst>
        </p:spPr>
      </p:sp>
      <p:pic>
        <p:nvPicPr>
          <p:cNvPr id="37" name="Image 11" descr="preencoded.png">    </p:cNvPr>
          <p:cNvPicPr>
            <a:picLocks noChangeAspect="1"/>
          </p:cNvPicPr>
          <p:nvPr/>
        </p:nvPicPr>
        <p:blipFill>
          <a:blip r:embed="rId12"/>
          <a:stretch>
            <a:fillRect/>
          </a:stretch>
        </p:blipFill>
        <p:spPr>
          <a:xfrm>
            <a:off x="6495898" y="4027018"/>
            <a:ext cx="175565" cy="175565"/>
          </a:xfrm>
          <a:prstGeom prst="rect">
            <a:avLst/>
          </a:prstGeom>
        </p:spPr>
      </p:pic>
      <p:sp>
        <p:nvSpPr>
          <p:cNvPr id="38" name="Text 24"/>
          <p:cNvSpPr/>
          <p:nvPr/>
        </p:nvSpPr>
        <p:spPr>
          <a:xfrm>
            <a:off x="6903720" y="3904488"/>
            <a:ext cx="4892040" cy="438912"/>
          </a:xfrm>
          <a:prstGeom prst="rect">
            <a:avLst/>
          </a:prstGeom>
          <a:noFill/>
          <a:ln/>
        </p:spPr>
        <p:txBody>
          <a:bodyPr wrap="square" rtlCol="0" anchor="ctr"/>
          <a:lstStyle/>
          <a:p>
            <a:pPr indent="0" marL="0">
              <a:buNone/>
            </a:pPr>
            <a:r>
              <a:rPr lang="en-US" sz="1500" b="1" dirty="0">
                <a:solidFill>
                  <a:srgbClr val="0F1B2D"/>
                </a:solidFill>
                <a:latin typeface="Calibri" pitchFamily="34" charset="0"/>
                <a:ea typeface="Calibri" pitchFamily="34" charset="-122"/>
                <a:cs typeface="Calibri" pitchFamily="34" charset="-120"/>
              </a:rPr>
              <a:t>Appendix  Access, Sources &amp; Notices</a:t>
            </a:r>
            <a:endParaRPr lang="en-US" sz="1500" dirty="0"/>
          </a:p>
        </p:txBody>
      </p:sp>
      <p:sp>
        <p:nvSpPr>
          <p:cNvPr id="39" name="Text 25"/>
          <p:cNvSpPr/>
          <p:nvPr/>
        </p:nvSpPr>
        <p:spPr>
          <a:xfrm>
            <a:off x="548640" y="6035040"/>
            <a:ext cx="10881360" cy="457200"/>
          </a:xfrm>
          <a:prstGeom prst="rect">
            <a:avLst/>
          </a:prstGeom>
          <a:noFill/>
          <a:ln/>
        </p:spPr>
        <p:txBody>
          <a:bodyPr wrap="square" rtlCol="0" anchor="ctr"/>
          <a:lstStyle/>
          <a:p>
            <a:pPr indent="0" marL="0">
              <a:buNone/>
            </a:pPr>
            <a:r>
              <a:rPr lang="en-US" sz="1100" i="1" dirty="0">
                <a:solidFill>
                  <a:srgbClr val="64748B"/>
                </a:solidFill>
                <a:latin typeface="Calibri" pitchFamily="34" charset="0"/>
                <a:ea typeface="Calibri" pitchFamily="34" charset="-122"/>
                <a:cs typeface="Calibri" pitchFamily="34" charset="-120"/>
              </a:rPr>
              <a:t>Full data compendium — every table, footnote, and source citation — is in the companion PDF and Word document.</a:t>
            </a:r>
            <a:endParaRPr lang="en-US" sz="1100" dirty="0"/>
          </a:p>
        </p:txBody>
      </p:sp>
      <p:sp>
        <p:nvSpPr>
          <p:cNvPr id="40" name="Text 26"/>
          <p:cNvSpPr/>
          <p:nvPr/>
        </p:nvSpPr>
        <p:spPr>
          <a:xfrm>
            <a:off x="457200" y="6510528"/>
            <a:ext cx="7315200" cy="274320"/>
          </a:xfrm>
          <a:prstGeom prst="rect">
            <a:avLst/>
          </a:prstGeom>
          <a:noFill/>
          <a:ln/>
        </p:spPr>
        <p:txBody>
          <a:bodyPr wrap="square" rtlCol="0" anchor="ctr"/>
          <a:lstStyle/>
          <a:p>
            <a:pPr indent="0" marL="0">
              <a:buNone/>
            </a:pPr>
            <a:r>
              <a:rPr lang="en-US" sz="800" dirty="0">
                <a:solidFill>
                  <a:srgbClr val="64748B"/>
                </a:solidFill>
                <a:latin typeface="Calibri" pitchFamily="34" charset="0"/>
                <a:ea typeface="Calibri" pitchFamily="34" charset="-122"/>
                <a:cs typeface="Calibri" pitchFamily="34" charset="-120"/>
              </a:rPr>
              <a:t>CARAMBA NORTH — STRICTLY CONFIDENTIAL, POST-NDA</a:t>
            </a:r>
            <a:endParaRPr lang="en-US" sz="800" dirty="0"/>
          </a:p>
        </p:txBody>
      </p:sp>
      <p:sp>
        <p:nvSpPr>
          <p:cNvPr id="41" name="Text 27"/>
          <p:cNvSpPr/>
          <p:nvPr/>
        </p:nvSpPr>
        <p:spPr>
          <a:xfrm>
            <a:off x="11368735" y="6510528"/>
            <a:ext cx="365760" cy="274320"/>
          </a:xfrm>
          <a:prstGeom prst="rect">
            <a:avLst/>
          </a:prstGeom>
          <a:noFill/>
          <a:ln/>
        </p:spPr>
        <p:txBody>
          <a:bodyPr wrap="square" rtlCol="0" anchor="ctr"/>
          <a:lstStyle/>
          <a:p>
            <a:pPr algn="r" indent="0" marL="0">
              <a:buNone/>
            </a:pPr>
            <a:r>
              <a:rPr lang="en-US" sz="800" dirty="0">
                <a:solidFill>
                  <a:srgbClr val="64748B"/>
                </a:solidFill>
                <a:latin typeface="Calibri" pitchFamily="34" charset="0"/>
                <a:ea typeface="Calibri" pitchFamily="34" charset="-122"/>
                <a:cs typeface="Calibri"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10896"/>
            <a:ext cx="402336" cy="402336"/>
          </a:xfrm>
          <a:prstGeom prst="ellipse">
            <a:avLst/>
          </a:prstGeom>
          <a:solidFill>
            <a:srgbClr val="B91C1C"/>
          </a:solidFill>
          <a:ln/>
          <a:effectLst>
            <a:outerShdw sx="100000" sy="100000" kx="0" ky="0" algn="bl" rotWithShape="0" blurRad="88900" dist="25400" dir="5400000">
              <a:srgbClr val="0F1B2D">
                <a:alpha val="16000"/>
              </a:srgbClr>
            </a:outerShdw>
          </a:effectLst>
        </p:spPr>
      </p:sp>
      <p:pic>
        <p:nvPicPr>
          <p:cNvPr id="3" name="Image 0" descr="preencoded.png">    </p:cNvPr>
          <p:cNvPicPr>
            <a:picLocks noChangeAspect="1"/>
          </p:cNvPicPr>
          <p:nvPr/>
        </p:nvPicPr>
        <p:blipFill>
          <a:blip r:embed="rId1"/>
          <a:stretch>
            <a:fillRect/>
          </a:stretch>
        </p:blipFill>
        <p:spPr>
          <a:xfrm>
            <a:off x="653247" y="415503"/>
            <a:ext cx="193121" cy="193121"/>
          </a:xfrm>
          <a:prstGeom prst="rect">
            <a:avLst/>
          </a:prstGeom>
        </p:spPr>
      </p:pic>
      <p:sp>
        <p:nvSpPr>
          <p:cNvPr id="4" name="Text 1"/>
          <p:cNvSpPr/>
          <p:nvPr/>
        </p:nvSpPr>
        <p:spPr>
          <a:xfrm>
            <a:off x="1097280" y="365760"/>
            <a:ext cx="9144000" cy="365760"/>
          </a:xfrm>
          <a:prstGeom prst="rect">
            <a:avLst/>
          </a:prstGeom>
          <a:noFill/>
          <a:ln/>
        </p:spPr>
        <p:txBody>
          <a:bodyPr wrap="square" rtlCol="0" anchor="ctr"/>
          <a:lstStyle/>
          <a:p>
            <a:pPr indent="0" marL="0">
              <a:buNone/>
            </a:pPr>
            <a:r>
              <a:rPr lang="en-US" sz="1200" b="1" spc="200" kern="0" dirty="0">
                <a:solidFill>
                  <a:srgbClr val="B91C1C"/>
                </a:solidFill>
                <a:latin typeface="Calibri" pitchFamily="34" charset="0"/>
                <a:ea typeface="Calibri" pitchFamily="34" charset="-122"/>
                <a:cs typeface="Calibri" pitchFamily="34" charset="-120"/>
              </a:rPr>
              <a:t>01 · EXECUTIVE SUMMARY</a:t>
            </a:r>
            <a:endParaRPr lang="en-US" sz="1200" dirty="0"/>
          </a:p>
        </p:txBody>
      </p:sp>
      <p:sp>
        <p:nvSpPr>
          <p:cNvPr id="5" name="Text 2"/>
          <p:cNvSpPr/>
          <p:nvPr/>
        </p:nvSpPr>
        <p:spPr>
          <a:xfrm>
            <a:off x="548640" y="841248"/>
            <a:ext cx="11064240" cy="822960"/>
          </a:xfrm>
          <a:prstGeom prst="rect">
            <a:avLst/>
          </a:prstGeom>
          <a:noFill/>
          <a:ln/>
        </p:spPr>
        <p:txBody>
          <a:bodyPr wrap="square" rtlCol="0" anchor="t"/>
          <a:lstStyle/>
          <a:p>
            <a:pPr indent="0" marL="0">
              <a:buNone/>
            </a:pPr>
            <a:r>
              <a:rPr lang="en-US" sz="2500" b="1" dirty="0">
                <a:solidFill>
                  <a:srgbClr val="0F1B2D"/>
                </a:solidFill>
                <a:latin typeface="Cambria" pitchFamily="34" charset="0"/>
                <a:ea typeface="Cambria" pitchFamily="34" charset="-122"/>
                <a:cs typeface="Cambria" pitchFamily="34" charset="-120"/>
              </a:rPr>
              <a:t>Transmission, water, gas, and proven hyperscale demand</a:t>
            </a:r>
            <a:endParaRPr lang="en-US" sz="2500" dirty="0"/>
          </a:p>
        </p:txBody>
      </p:sp>
      <p:sp>
        <p:nvSpPr>
          <p:cNvPr id="6" name="Shape 3"/>
          <p:cNvSpPr/>
          <p:nvPr/>
        </p:nvSpPr>
        <p:spPr>
          <a:xfrm>
            <a:off x="548640" y="1911096"/>
            <a:ext cx="475488" cy="475488"/>
          </a:xfrm>
          <a:prstGeom prst="ellipse">
            <a:avLst/>
          </a:prstGeom>
          <a:solidFill>
            <a:srgbClr val="B91C1C"/>
          </a:solidFill>
          <a:ln/>
          <a:effectLst>
            <a:outerShdw sx="100000" sy="100000" kx="0" ky="0" algn="bl" rotWithShape="0" blurRad="88900" dist="25400" dir="5400000">
              <a:srgbClr val="0F1B2D">
                <a:alpha val="16000"/>
              </a:srgbClr>
            </a:outerShdw>
          </a:effectLst>
        </p:spPr>
      </p:sp>
      <p:pic>
        <p:nvPicPr>
          <p:cNvPr id="7" name="Image 1" descr="preencoded.png">    </p:cNvPr>
          <p:cNvPicPr>
            <a:picLocks noChangeAspect="1"/>
          </p:cNvPicPr>
          <p:nvPr/>
        </p:nvPicPr>
        <p:blipFill>
          <a:blip r:embed="rId2"/>
          <a:stretch>
            <a:fillRect/>
          </a:stretch>
        </p:blipFill>
        <p:spPr>
          <a:xfrm>
            <a:off x="672267" y="2034723"/>
            <a:ext cx="228234" cy="228234"/>
          </a:xfrm>
          <a:prstGeom prst="rect">
            <a:avLst/>
          </a:prstGeom>
        </p:spPr>
      </p:pic>
      <p:sp>
        <p:nvSpPr>
          <p:cNvPr id="8" name="Text 4"/>
          <p:cNvSpPr/>
          <p:nvPr/>
        </p:nvSpPr>
        <p:spPr>
          <a:xfrm>
            <a:off x="1234440" y="1783080"/>
            <a:ext cx="3200400" cy="749808"/>
          </a:xfrm>
          <a:prstGeom prst="rect">
            <a:avLst/>
          </a:prstGeom>
          <a:noFill/>
          <a:ln/>
        </p:spPr>
        <p:txBody>
          <a:bodyPr wrap="square" rtlCol="0" anchor="ctr"/>
          <a:lstStyle/>
          <a:p>
            <a:pPr indent="0" marL="0">
              <a:buNone/>
            </a:pPr>
            <a:r>
              <a:rPr lang="en-US" sz="1300" b="1" dirty="0">
                <a:solidFill>
                  <a:srgbClr val="0F1B2D"/>
                </a:solidFill>
                <a:latin typeface="Calibri" pitchFamily="34" charset="0"/>
                <a:ea typeface="Calibri" pitchFamily="34" charset="-122"/>
                <a:cs typeface="Calibri" pitchFamily="34" charset="-120"/>
              </a:rPr>
              <a:t>Structural power cost</a:t>
            </a:r>
            <a:endParaRPr lang="en-US" sz="1300" dirty="0"/>
          </a:p>
        </p:txBody>
      </p:sp>
      <p:sp>
        <p:nvSpPr>
          <p:cNvPr id="9" name="Text 5"/>
          <p:cNvSpPr/>
          <p:nvPr/>
        </p:nvSpPr>
        <p:spPr>
          <a:xfrm>
            <a:off x="4526280" y="1783080"/>
            <a:ext cx="7086600" cy="749808"/>
          </a:xfrm>
          <a:prstGeom prst="rect">
            <a:avLst/>
          </a:prstGeom>
          <a:noFill/>
          <a:ln/>
        </p:spPr>
        <p:txBody>
          <a:bodyPr wrap="square" rtlCol="0" anchor="ctr"/>
          <a:lstStyle/>
          <a:p>
            <a:pPr indent="0" marL="0">
              <a:buNone/>
            </a:pPr>
            <a:r>
              <a:rPr lang="en-US" sz="1150" dirty="0">
                <a:solidFill>
                  <a:srgbClr val="475569"/>
                </a:solidFill>
                <a:latin typeface="Calibri" pitchFamily="34" charset="0"/>
                <a:ea typeface="Calibri" pitchFamily="34" charset="-122"/>
                <a:cs typeface="Calibri" pitchFamily="34" charset="-120"/>
              </a:rPr>
              <a:t>Waha-basis gas at a structural discount to Henry Hub, with recurring negative prints 2024–2025.</a:t>
            </a:r>
            <a:endParaRPr lang="en-US" sz="1150" dirty="0"/>
          </a:p>
        </p:txBody>
      </p:sp>
      <p:sp>
        <p:nvSpPr>
          <p:cNvPr id="10" name="Shape 6"/>
          <p:cNvSpPr/>
          <p:nvPr/>
        </p:nvSpPr>
        <p:spPr>
          <a:xfrm>
            <a:off x="548640" y="2752344"/>
            <a:ext cx="475488" cy="475488"/>
          </a:xfrm>
          <a:prstGeom prst="ellipse">
            <a:avLst/>
          </a:prstGeom>
          <a:solidFill>
            <a:srgbClr val="B91C1C"/>
          </a:solidFill>
          <a:ln/>
          <a:effectLst>
            <a:outerShdw sx="100000" sy="100000" kx="0" ky="0" algn="bl" rotWithShape="0" blurRad="88900" dist="25400" dir="5400000">
              <a:srgbClr val="0F1B2D">
                <a:alpha val="16000"/>
              </a:srgbClr>
            </a:outerShdw>
          </a:effectLst>
        </p:spPr>
      </p:sp>
      <p:pic>
        <p:nvPicPr>
          <p:cNvPr id="11" name="Image 2" descr="preencoded.png">    </p:cNvPr>
          <p:cNvPicPr>
            <a:picLocks noChangeAspect="1"/>
          </p:cNvPicPr>
          <p:nvPr/>
        </p:nvPicPr>
        <p:blipFill>
          <a:blip r:embed="rId3"/>
          <a:stretch>
            <a:fillRect/>
          </a:stretch>
        </p:blipFill>
        <p:spPr>
          <a:xfrm>
            <a:off x="672267" y="2875971"/>
            <a:ext cx="228234" cy="228234"/>
          </a:xfrm>
          <a:prstGeom prst="rect">
            <a:avLst/>
          </a:prstGeom>
        </p:spPr>
      </p:pic>
      <p:sp>
        <p:nvSpPr>
          <p:cNvPr id="12" name="Text 7"/>
          <p:cNvSpPr/>
          <p:nvPr/>
        </p:nvSpPr>
        <p:spPr>
          <a:xfrm>
            <a:off x="1234440" y="2624328"/>
            <a:ext cx="3200400" cy="749808"/>
          </a:xfrm>
          <a:prstGeom prst="rect">
            <a:avLst/>
          </a:prstGeom>
          <a:noFill/>
          <a:ln/>
        </p:spPr>
        <p:txBody>
          <a:bodyPr wrap="square" rtlCol="0" anchor="ctr"/>
          <a:lstStyle/>
          <a:p>
            <a:pPr indent="0" marL="0">
              <a:buNone/>
            </a:pPr>
            <a:r>
              <a:rPr lang="en-US" sz="1300" b="1" dirty="0">
                <a:solidFill>
                  <a:srgbClr val="0F1B2D"/>
                </a:solidFill>
                <a:latin typeface="Calibri" pitchFamily="34" charset="0"/>
                <a:ea typeface="Calibri" pitchFamily="34" charset="-122"/>
                <a:cs typeface="Calibri" pitchFamily="34" charset="-120"/>
              </a:rPr>
              <a:t>765 kV transmission anchor</a:t>
            </a:r>
            <a:endParaRPr lang="en-US" sz="1300" dirty="0"/>
          </a:p>
        </p:txBody>
      </p:sp>
      <p:sp>
        <p:nvSpPr>
          <p:cNvPr id="13" name="Text 8"/>
          <p:cNvSpPr/>
          <p:nvPr/>
        </p:nvSpPr>
        <p:spPr>
          <a:xfrm>
            <a:off x="4526280" y="2624328"/>
            <a:ext cx="7086600" cy="749808"/>
          </a:xfrm>
          <a:prstGeom prst="rect">
            <a:avLst/>
          </a:prstGeom>
          <a:noFill/>
          <a:ln/>
        </p:spPr>
        <p:txBody>
          <a:bodyPr wrap="square" rtlCol="0" anchor="ctr"/>
          <a:lstStyle/>
          <a:p>
            <a:pPr indent="0" marL="0">
              <a:buNone/>
            </a:pPr>
            <a:r>
              <a:rPr lang="en-US" sz="1150" dirty="0">
                <a:solidFill>
                  <a:srgbClr val="475569"/>
                </a:solidFill>
                <a:latin typeface="Calibri" pitchFamily="34" charset="0"/>
                <a:ea typeface="Calibri" pitchFamily="34" charset="-122"/>
                <a:cs typeface="Calibri" pitchFamily="34" charset="-120"/>
              </a:rPr>
              <a:t>AEP Solstice Substation 15 mi north — western terminus of the three PUCT-approved 765 kV Permian import paths.</a:t>
            </a:r>
            <a:endParaRPr lang="en-US" sz="1150" dirty="0"/>
          </a:p>
        </p:txBody>
      </p:sp>
      <p:sp>
        <p:nvSpPr>
          <p:cNvPr id="14" name="Shape 9"/>
          <p:cNvSpPr/>
          <p:nvPr/>
        </p:nvSpPr>
        <p:spPr>
          <a:xfrm>
            <a:off x="548640" y="3593592"/>
            <a:ext cx="475488" cy="475488"/>
          </a:xfrm>
          <a:prstGeom prst="ellipse">
            <a:avLst/>
          </a:prstGeom>
          <a:solidFill>
            <a:srgbClr val="B91C1C"/>
          </a:solidFill>
          <a:ln/>
          <a:effectLst>
            <a:outerShdw sx="100000" sy="100000" kx="0" ky="0" algn="bl" rotWithShape="0" blurRad="88900" dist="25400" dir="5400000">
              <a:srgbClr val="0F1B2D">
                <a:alpha val="16000"/>
              </a:srgbClr>
            </a:outerShdw>
          </a:effectLst>
        </p:spPr>
      </p:sp>
      <p:pic>
        <p:nvPicPr>
          <p:cNvPr id="15" name="Image 3" descr="preencoded.png">    </p:cNvPr>
          <p:cNvPicPr>
            <a:picLocks noChangeAspect="1"/>
          </p:cNvPicPr>
          <p:nvPr/>
        </p:nvPicPr>
        <p:blipFill>
          <a:blip r:embed="rId4"/>
          <a:stretch>
            <a:fillRect/>
          </a:stretch>
        </p:blipFill>
        <p:spPr>
          <a:xfrm>
            <a:off x="672267" y="3717219"/>
            <a:ext cx="228234" cy="228234"/>
          </a:xfrm>
          <a:prstGeom prst="rect">
            <a:avLst/>
          </a:prstGeom>
        </p:spPr>
      </p:pic>
      <p:sp>
        <p:nvSpPr>
          <p:cNvPr id="16" name="Text 10"/>
          <p:cNvSpPr/>
          <p:nvPr/>
        </p:nvSpPr>
        <p:spPr>
          <a:xfrm>
            <a:off x="1234440" y="3465576"/>
            <a:ext cx="3200400" cy="749808"/>
          </a:xfrm>
          <a:prstGeom prst="rect">
            <a:avLst/>
          </a:prstGeom>
          <a:noFill/>
          <a:ln/>
        </p:spPr>
        <p:txBody>
          <a:bodyPr wrap="square" rtlCol="0" anchor="ctr"/>
          <a:lstStyle/>
          <a:p>
            <a:pPr indent="0" marL="0">
              <a:buNone/>
            </a:pPr>
            <a:r>
              <a:rPr lang="en-US" sz="1300" b="1" dirty="0">
                <a:solidFill>
                  <a:srgbClr val="0F1B2D"/>
                </a:solidFill>
                <a:latin typeface="Calibri" pitchFamily="34" charset="0"/>
                <a:ea typeface="Calibri" pitchFamily="34" charset="-122"/>
                <a:cs typeface="Calibri" pitchFamily="34" charset="-120"/>
              </a:rPr>
              <a:t>Water at institutional scale</a:t>
            </a:r>
            <a:endParaRPr lang="en-US" sz="1300" dirty="0"/>
          </a:p>
        </p:txBody>
      </p:sp>
      <p:sp>
        <p:nvSpPr>
          <p:cNvPr id="17" name="Text 11"/>
          <p:cNvSpPr/>
          <p:nvPr/>
        </p:nvSpPr>
        <p:spPr>
          <a:xfrm>
            <a:off x="4526280" y="3465576"/>
            <a:ext cx="7086600" cy="749808"/>
          </a:xfrm>
          <a:prstGeom prst="rect">
            <a:avLst/>
          </a:prstGeom>
          <a:noFill/>
          <a:ln/>
        </p:spPr>
        <p:txBody>
          <a:bodyPr wrap="square" rtlCol="0" anchor="ctr"/>
          <a:lstStyle/>
          <a:p>
            <a:pPr indent="0" marL="0">
              <a:buNone/>
            </a:pPr>
            <a:r>
              <a:rPr lang="en-US" sz="1150" dirty="0">
                <a:solidFill>
                  <a:srgbClr val="475569"/>
                </a:solidFill>
                <a:latin typeface="Calibri" pitchFamily="34" charset="0"/>
                <a:ea typeface="Calibri" pitchFamily="34" charset="-122"/>
                <a:cs typeface="Calibri" pitchFamily="34" charset="-120"/>
              </a:rPr>
              <a:t>47,418 AF/yr permitted on adjacent affiliated lands — ≈ two-thirds of Middle Pecos GCD rights.</a:t>
            </a:r>
            <a:endParaRPr lang="en-US" sz="1150" dirty="0"/>
          </a:p>
        </p:txBody>
      </p:sp>
      <p:sp>
        <p:nvSpPr>
          <p:cNvPr id="18" name="Shape 12"/>
          <p:cNvSpPr/>
          <p:nvPr/>
        </p:nvSpPr>
        <p:spPr>
          <a:xfrm>
            <a:off x="548640" y="4434840"/>
            <a:ext cx="475488" cy="475488"/>
          </a:xfrm>
          <a:prstGeom prst="ellipse">
            <a:avLst/>
          </a:prstGeom>
          <a:solidFill>
            <a:srgbClr val="B91C1C"/>
          </a:solidFill>
          <a:ln/>
          <a:effectLst>
            <a:outerShdw sx="100000" sy="100000" kx="0" ky="0" algn="bl" rotWithShape="0" blurRad="88900" dist="25400" dir="5400000">
              <a:srgbClr val="0F1B2D">
                <a:alpha val="16000"/>
              </a:srgbClr>
            </a:outerShdw>
          </a:effectLst>
        </p:spPr>
      </p:sp>
      <p:pic>
        <p:nvPicPr>
          <p:cNvPr id="19" name="Image 4" descr="preencoded.png">    </p:cNvPr>
          <p:cNvPicPr>
            <a:picLocks noChangeAspect="1"/>
          </p:cNvPicPr>
          <p:nvPr/>
        </p:nvPicPr>
        <p:blipFill>
          <a:blip r:embed="rId5"/>
          <a:stretch>
            <a:fillRect/>
          </a:stretch>
        </p:blipFill>
        <p:spPr>
          <a:xfrm>
            <a:off x="672267" y="4558467"/>
            <a:ext cx="228234" cy="228234"/>
          </a:xfrm>
          <a:prstGeom prst="rect">
            <a:avLst/>
          </a:prstGeom>
        </p:spPr>
      </p:pic>
      <p:sp>
        <p:nvSpPr>
          <p:cNvPr id="20" name="Text 13"/>
          <p:cNvSpPr/>
          <p:nvPr/>
        </p:nvSpPr>
        <p:spPr>
          <a:xfrm>
            <a:off x="1234440" y="4306824"/>
            <a:ext cx="3200400" cy="749808"/>
          </a:xfrm>
          <a:prstGeom prst="rect">
            <a:avLst/>
          </a:prstGeom>
          <a:noFill/>
          <a:ln/>
        </p:spPr>
        <p:txBody>
          <a:bodyPr wrap="square" rtlCol="0" anchor="ctr"/>
          <a:lstStyle/>
          <a:p>
            <a:pPr indent="0" marL="0">
              <a:buNone/>
            </a:pPr>
            <a:r>
              <a:rPr lang="en-US" sz="1300" b="1" dirty="0">
                <a:solidFill>
                  <a:srgbClr val="0F1B2D"/>
                </a:solidFill>
                <a:latin typeface="Calibri" pitchFamily="34" charset="0"/>
                <a:ea typeface="Calibri" pitchFamily="34" charset="-122"/>
                <a:cs typeface="Calibri" pitchFamily="34" charset="-120"/>
              </a:rPr>
              <a:t>Demand already on the ground</a:t>
            </a:r>
            <a:endParaRPr lang="en-US" sz="1300" dirty="0"/>
          </a:p>
        </p:txBody>
      </p:sp>
      <p:sp>
        <p:nvSpPr>
          <p:cNvPr id="21" name="Text 14"/>
          <p:cNvSpPr/>
          <p:nvPr/>
        </p:nvSpPr>
        <p:spPr>
          <a:xfrm>
            <a:off x="4526280" y="4306824"/>
            <a:ext cx="7086600" cy="749808"/>
          </a:xfrm>
          <a:prstGeom prst="rect">
            <a:avLst/>
          </a:prstGeom>
          <a:noFill/>
          <a:ln/>
        </p:spPr>
        <p:txBody>
          <a:bodyPr wrap="square" rtlCol="0" anchor="ctr"/>
          <a:lstStyle/>
          <a:p>
            <a:pPr indent="0" marL="0">
              <a:buNone/>
            </a:pPr>
            <a:r>
              <a:rPr lang="en-US" sz="1150" dirty="0">
                <a:solidFill>
                  <a:srgbClr val="475569"/>
                </a:solidFill>
                <a:latin typeface="Calibri" pitchFamily="34" charset="0"/>
                <a:ea typeface="Calibri" pitchFamily="34" charset="-122"/>
                <a:cs typeface="Calibri" pitchFamily="34" charset="-120"/>
              </a:rPr>
              <a:t>12,039 MW ERCOT queue in Pecos Co.; 9.7 GW of announced hyperscale capacity within 60 mi.</a:t>
            </a:r>
            <a:endParaRPr lang="en-US" sz="1150" dirty="0"/>
          </a:p>
        </p:txBody>
      </p:sp>
      <p:sp>
        <p:nvSpPr>
          <p:cNvPr id="22" name="Shape 15"/>
          <p:cNvSpPr/>
          <p:nvPr/>
        </p:nvSpPr>
        <p:spPr>
          <a:xfrm>
            <a:off x="548640" y="5276088"/>
            <a:ext cx="475488" cy="475488"/>
          </a:xfrm>
          <a:prstGeom prst="ellipse">
            <a:avLst/>
          </a:prstGeom>
          <a:solidFill>
            <a:srgbClr val="B91C1C"/>
          </a:solidFill>
          <a:ln/>
          <a:effectLst>
            <a:outerShdw sx="100000" sy="100000" kx="0" ky="0" algn="bl" rotWithShape="0" blurRad="88900" dist="25400" dir="5400000">
              <a:srgbClr val="0F1B2D">
                <a:alpha val="16000"/>
              </a:srgbClr>
            </a:outerShdw>
          </a:effectLst>
        </p:spPr>
      </p:sp>
      <p:pic>
        <p:nvPicPr>
          <p:cNvPr id="23" name="Image 5" descr="preencoded.png">    </p:cNvPr>
          <p:cNvPicPr>
            <a:picLocks noChangeAspect="1"/>
          </p:cNvPicPr>
          <p:nvPr/>
        </p:nvPicPr>
        <p:blipFill>
          <a:blip r:embed="rId6"/>
          <a:stretch>
            <a:fillRect/>
          </a:stretch>
        </p:blipFill>
        <p:spPr>
          <a:xfrm>
            <a:off x="672267" y="5399715"/>
            <a:ext cx="228234" cy="228234"/>
          </a:xfrm>
          <a:prstGeom prst="rect">
            <a:avLst/>
          </a:prstGeom>
        </p:spPr>
      </p:pic>
      <p:sp>
        <p:nvSpPr>
          <p:cNvPr id="24" name="Text 16"/>
          <p:cNvSpPr/>
          <p:nvPr/>
        </p:nvSpPr>
        <p:spPr>
          <a:xfrm>
            <a:off x="1234440" y="5148072"/>
            <a:ext cx="3200400" cy="749808"/>
          </a:xfrm>
          <a:prstGeom prst="rect">
            <a:avLst/>
          </a:prstGeom>
          <a:noFill/>
          <a:ln/>
        </p:spPr>
        <p:txBody>
          <a:bodyPr wrap="square" rtlCol="0" anchor="ctr"/>
          <a:lstStyle/>
          <a:p>
            <a:pPr indent="0" marL="0">
              <a:buNone/>
            </a:pPr>
            <a:r>
              <a:rPr lang="en-US" sz="1300" b="1" dirty="0">
                <a:solidFill>
                  <a:srgbClr val="0F1B2D"/>
                </a:solidFill>
                <a:latin typeface="Calibri" pitchFamily="34" charset="0"/>
                <a:ea typeface="Calibri" pitchFamily="34" charset="-122"/>
                <a:cs typeface="Calibri" pitchFamily="34" charset="-120"/>
              </a:rPr>
              <a:t>As-of-right development</a:t>
            </a:r>
            <a:endParaRPr lang="en-US" sz="1300" dirty="0"/>
          </a:p>
        </p:txBody>
      </p:sp>
      <p:sp>
        <p:nvSpPr>
          <p:cNvPr id="25" name="Text 17"/>
          <p:cNvSpPr/>
          <p:nvPr/>
        </p:nvSpPr>
        <p:spPr>
          <a:xfrm>
            <a:off x="4526280" y="5148072"/>
            <a:ext cx="7086600" cy="749808"/>
          </a:xfrm>
          <a:prstGeom prst="rect">
            <a:avLst/>
          </a:prstGeom>
          <a:noFill/>
          <a:ln/>
        </p:spPr>
        <p:txBody>
          <a:bodyPr wrap="square" rtlCol="0" anchor="ctr"/>
          <a:lstStyle/>
          <a:p>
            <a:pPr indent="0" marL="0">
              <a:buNone/>
            </a:pPr>
            <a:r>
              <a:rPr lang="en-US" sz="1150" dirty="0">
                <a:solidFill>
                  <a:srgbClr val="475569"/>
                </a:solidFill>
                <a:latin typeface="Calibri" pitchFamily="34" charset="0"/>
                <a:ea typeface="Calibri" pitchFamily="34" charset="-122"/>
                <a:cs typeface="Calibri" pitchFamily="34" charset="-120"/>
              </a:rPr>
              <a:t>Unincorporated Pecos County — no zoning ordinance; industrial and energy uses permitted as of right.</a:t>
            </a:r>
            <a:endParaRPr lang="en-US" sz="1150" dirty="0"/>
          </a:p>
        </p:txBody>
      </p:sp>
      <p:sp>
        <p:nvSpPr>
          <p:cNvPr id="26" name="Text 18"/>
          <p:cNvSpPr/>
          <p:nvPr/>
        </p:nvSpPr>
        <p:spPr>
          <a:xfrm>
            <a:off x="457200" y="6510528"/>
            <a:ext cx="7315200" cy="274320"/>
          </a:xfrm>
          <a:prstGeom prst="rect">
            <a:avLst/>
          </a:prstGeom>
          <a:noFill/>
          <a:ln/>
        </p:spPr>
        <p:txBody>
          <a:bodyPr wrap="square" rtlCol="0" anchor="ctr"/>
          <a:lstStyle/>
          <a:p>
            <a:pPr indent="0" marL="0">
              <a:buNone/>
            </a:pPr>
            <a:r>
              <a:rPr lang="en-US" sz="800" dirty="0">
                <a:solidFill>
                  <a:srgbClr val="64748B"/>
                </a:solidFill>
                <a:latin typeface="Calibri" pitchFamily="34" charset="0"/>
                <a:ea typeface="Calibri" pitchFamily="34" charset="-122"/>
                <a:cs typeface="Calibri" pitchFamily="34" charset="-120"/>
              </a:rPr>
              <a:t>CARAMBA NORTH — STRICTLY CONFIDENTIAL, POST-NDA</a:t>
            </a:r>
            <a:endParaRPr lang="en-US" sz="800" dirty="0"/>
          </a:p>
        </p:txBody>
      </p:sp>
      <p:sp>
        <p:nvSpPr>
          <p:cNvPr id="27" name="Text 19"/>
          <p:cNvSpPr/>
          <p:nvPr/>
        </p:nvSpPr>
        <p:spPr>
          <a:xfrm>
            <a:off x="11368735" y="6510528"/>
            <a:ext cx="365760" cy="274320"/>
          </a:xfrm>
          <a:prstGeom prst="rect">
            <a:avLst/>
          </a:prstGeom>
          <a:noFill/>
          <a:ln/>
        </p:spPr>
        <p:txBody>
          <a:bodyPr wrap="square" rtlCol="0" anchor="ctr"/>
          <a:lstStyle/>
          <a:p>
            <a:pPr algn="r" indent="0" marL="0">
              <a:buNone/>
            </a:pPr>
            <a:r>
              <a:rPr lang="en-US" sz="800" dirty="0">
                <a:solidFill>
                  <a:srgbClr val="64748B"/>
                </a:solidFill>
                <a:latin typeface="Calibri" pitchFamily="34" charset="0"/>
                <a:ea typeface="Calibri" pitchFamily="34" charset="-122"/>
                <a:cs typeface="Calibri"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10896"/>
            <a:ext cx="402336" cy="402336"/>
          </a:xfrm>
          <a:prstGeom prst="ellipse">
            <a:avLst/>
          </a:prstGeom>
          <a:solidFill>
            <a:srgbClr val="B91C1C"/>
          </a:solidFill>
          <a:ln/>
          <a:effectLst>
            <a:outerShdw sx="100000" sy="100000" kx="0" ky="0" algn="bl" rotWithShape="0" blurRad="88900" dist="25400" dir="5400000">
              <a:srgbClr val="0F1B2D">
                <a:alpha val="16000"/>
              </a:srgbClr>
            </a:outerShdw>
          </a:effectLst>
        </p:spPr>
      </p:sp>
      <p:pic>
        <p:nvPicPr>
          <p:cNvPr id="3" name="Image 0" descr="preencoded.png">    </p:cNvPr>
          <p:cNvPicPr>
            <a:picLocks noChangeAspect="1"/>
          </p:cNvPicPr>
          <p:nvPr/>
        </p:nvPicPr>
        <p:blipFill>
          <a:blip r:embed="rId1"/>
          <a:stretch>
            <a:fillRect/>
          </a:stretch>
        </p:blipFill>
        <p:spPr>
          <a:xfrm>
            <a:off x="653247" y="415503"/>
            <a:ext cx="193121" cy="193121"/>
          </a:xfrm>
          <a:prstGeom prst="rect">
            <a:avLst/>
          </a:prstGeom>
        </p:spPr>
      </p:pic>
      <p:sp>
        <p:nvSpPr>
          <p:cNvPr id="4" name="Text 1"/>
          <p:cNvSpPr/>
          <p:nvPr/>
        </p:nvSpPr>
        <p:spPr>
          <a:xfrm>
            <a:off x="1097280" y="365760"/>
            <a:ext cx="9144000" cy="365760"/>
          </a:xfrm>
          <a:prstGeom prst="rect">
            <a:avLst/>
          </a:prstGeom>
          <a:noFill/>
          <a:ln/>
        </p:spPr>
        <p:txBody>
          <a:bodyPr wrap="square" rtlCol="0" anchor="ctr"/>
          <a:lstStyle/>
          <a:p>
            <a:pPr indent="0" marL="0">
              <a:buNone/>
            </a:pPr>
            <a:r>
              <a:rPr lang="en-US" sz="1200" b="1" spc="200" kern="0" dirty="0">
                <a:solidFill>
                  <a:srgbClr val="B91C1C"/>
                </a:solidFill>
                <a:latin typeface="Calibri" pitchFamily="34" charset="0"/>
                <a:ea typeface="Calibri" pitchFamily="34" charset="-122"/>
                <a:cs typeface="Calibri" pitchFamily="34" charset="-120"/>
              </a:rPr>
              <a:t>02 · THE PROPERTY</a:t>
            </a:r>
            <a:endParaRPr lang="en-US" sz="1200" dirty="0"/>
          </a:p>
        </p:txBody>
      </p:sp>
      <p:sp>
        <p:nvSpPr>
          <p:cNvPr id="5" name="Text 2"/>
          <p:cNvSpPr/>
          <p:nvPr/>
        </p:nvSpPr>
        <p:spPr>
          <a:xfrm>
            <a:off x="548640" y="841248"/>
            <a:ext cx="11064240" cy="822960"/>
          </a:xfrm>
          <a:prstGeom prst="rect">
            <a:avLst/>
          </a:prstGeom>
          <a:noFill/>
          <a:ln/>
        </p:spPr>
        <p:txBody>
          <a:bodyPr wrap="square" rtlCol="0" anchor="t"/>
          <a:lstStyle/>
          <a:p>
            <a:pPr indent="0" marL="0">
              <a:buNone/>
            </a:pPr>
            <a:r>
              <a:rPr lang="en-US" sz="2500" b="1" dirty="0">
                <a:solidFill>
                  <a:srgbClr val="0F1B2D"/>
                </a:solidFill>
                <a:latin typeface="Cambria" pitchFamily="34" charset="0"/>
                <a:ea typeface="Cambria" pitchFamily="34" charset="-122"/>
                <a:cs typeface="Cambria" pitchFamily="34" charset="-120"/>
              </a:rPr>
              <a:t>Contiguous, interstate-front acreage, five miles from Fort Stockton</a:t>
            </a:r>
            <a:endParaRPr lang="en-US" sz="25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5394960" cy="914400"/>
        </p:xfrm>
        <a:graphic>
          <a:graphicData uri="http://schemas.openxmlformats.org/drawingml/2006/table">
            <a:tbl>
              <a:tblPr/>
              <a:tblGrid>
                <a:gridCol w="1737360"/>
                <a:gridCol w="3657600"/>
              </a:tblGrid>
              <a:tr h="0">
                <a:tc>
                  <a:txBody>
                    <a:bodyPr/>
                    <a:lstStyle/>
                    <a:p>
                      <a:pPr algn="l" indent="0" marL="0">
                        <a:buNone/>
                      </a:pPr>
                      <a:r>
                        <a:rPr lang="en-US" sz="1000" b="1" dirty="0">
                          <a:solidFill>
                            <a:srgbClr val="475569"/>
                          </a:solidFill>
                          <a:latin typeface="Calibri" pitchFamily="34" charset="0"/>
                          <a:ea typeface="Calibri" pitchFamily="34" charset="-122"/>
                          <a:cs typeface="Calibri" pitchFamily="34" charset="-120"/>
                        </a:rPr>
                        <a:t>ATTRIBUTE</a:t>
                      </a:r>
                      <a:endParaRPr lang="en-US" sz="1000" dirty="0">
                        <a:latin typeface="Calibri" charset="0"/>
                        <a:ea typeface="Calibri" charset="0"/>
                        <a:cs typeface="Calibri" charset="0"/>
                      </a:endParaRPr>
                    </a:p>
                  </a:txBody>
                  <a:tcPr marL="73152" marR="73152" marT="36576" marB="36576"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algn="l" indent="0" marL="0">
                        <a:buNone/>
                      </a:pPr>
                      <a:r>
                        <a:rPr lang="en-US" sz="1000" b="1" dirty="0">
                          <a:solidFill>
                            <a:srgbClr val="475569"/>
                          </a:solidFill>
                          <a:latin typeface="Calibri" pitchFamily="34" charset="0"/>
                          <a:ea typeface="Calibri" pitchFamily="34" charset="-122"/>
                          <a:cs typeface="Calibri" pitchFamily="34" charset="-120"/>
                        </a:rPr>
                        <a:t>DETAIL</a:t>
                      </a:r>
                      <a:endParaRPr lang="en-US" sz="1000" dirty="0">
                        <a:latin typeface="Calibri" charset="0"/>
                        <a:ea typeface="Calibri" charset="0"/>
                        <a:cs typeface="Calibri" charset="0"/>
                      </a:endParaRPr>
                    </a:p>
                  </a:txBody>
                  <a:tcPr marL="73152" marR="73152" marT="36576" marB="36576"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r>
              <a:tr h="0">
                <a:tc>
                  <a:txBody>
                    <a:bodyPr/>
                    <a:lstStyle/>
                    <a:p>
                      <a:pPr algn="l" indent="0" marL="0">
                        <a:buNone/>
                      </a:pPr>
                      <a:r>
                        <a:rPr lang="en-US" sz="1000" dirty="0">
                          <a:solidFill>
                            <a:srgbClr val="16202E"/>
                          </a:solidFill>
                          <a:latin typeface="Calibri" pitchFamily="34" charset="0"/>
                          <a:ea typeface="Calibri" pitchFamily="34" charset="-122"/>
                          <a:cs typeface="Calibri" pitchFamily="34" charset="-120"/>
                        </a:rPr>
                        <a:t>Size / configuration</a:t>
                      </a:r>
                      <a:endParaRPr lang="en-US" sz="1000" dirty="0">
                        <a:latin typeface="Calibri" charset="0"/>
                        <a:ea typeface="Calibri" charset="0"/>
                        <a:cs typeface="Calibri" charset="0"/>
                      </a:endParaRPr>
                    </a:p>
                  </a:txBody>
                  <a:tcPr marL="73152" marR="73152" marT="36576" marB="36576"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algn="l" indent="0" marL="0">
                        <a:buNone/>
                      </a:pPr>
                      <a:r>
                        <a:rPr lang="en-US" sz="1000" dirty="0">
                          <a:solidFill>
                            <a:srgbClr val="16202E"/>
                          </a:solidFill>
                          <a:latin typeface="Calibri" pitchFamily="34" charset="0"/>
                          <a:ea typeface="Calibri" pitchFamily="34" charset="-122"/>
                          <a:cs typeface="Calibri" pitchFamily="34" charset="-120"/>
                        </a:rPr>
                        <a:t>Up to 1,300 contiguous acres, north side of I-10</a:t>
                      </a:r>
                      <a:endParaRPr lang="en-US" sz="1000" dirty="0">
                        <a:latin typeface="Calibri" charset="0"/>
                        <a:ea typeface="Calibri" charset="0"/>
                        <a:cs typeface="Calibri" charset="0"/>
                      </a:endParaRPr>
                    </a:p>
                  </a:txBody>
                  <a:tcPr marL="73152" marR="73152" marT="36576" marB="36576"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0">
                <a:tc>
                  <a:txBody>
                    <a:bodyPr/>
                    <a:lstStyle/>
                    <a:p>
                      <a:pPr algn="l" indent="0" marL="0">
                        <a:buNone/>
                      </a:pPr>
                      <a:r>
                        <a:rPr lang="en-US" sz="1000" dirty="0">
                          <a:solidFill>
                            <a:srgbClr val="16202E"/>
                          </a:solidFill>
                          <a:latin typeface="Calibri" pitchFamily="34" charset="0"/>
                          <a:ea typeface="Calibri" pitchFamily="34" charset="-122"/>
                          <a:cs typeface="Calibri" pitchFamily="34" charset="-120"/>
                        </a:rPr>
                        <a:t>Access</a:t>
                      </a:r>
                      <a:endParaRPr lang="en-US" sz="1000" dirty="0">
                        <a:latin typeface="Calibri" charset="0"/>
                        <a:ea typeface="Calibri" charset="0"/>
                        <a:cs typeface="Calibri" charset="0"/>
                      </a:endParaRPr>
                    </a:p>
                  </a:txBody>
                  <a:tcPr marL="73152" marR="73152" marT="36576" marB="36576"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algn="l" indent="0" marL="0">
                        <a:buNone/>
                      </a:pPr>
                      <a:r>
                        <a:rPr lang="en-US" sz="1000" dirty="0">
                          <a:solidFill>
                            <a:srgbClr val="16202E"/>
                          </a:solidFill>
                          <a:latin typeface="Calibri" pitchFamily="34" charset="0"/>
                          <a:ea typeface="Calibri" pitchFamily="34" charset="-122"/>
                          <a:cs typeface="Calibri" pitchFamily="34" charset="-120"/>
                        </a:rPr>
                        <a:t>Direct I-10 frontage; UP Sunset Route proximate; long-haul fiber</a:t>
                      </a:r>
                      <a:endParaRPr lang="en-US" sz="1000" dirty="0">
                        <a:latin typeface="Calibri" charset="0"/>
                        <a:ea typeface="Calibri" charset="0"/>
                        <a:cs typeface="Calibri" charset="0"/>
                      </a:endParaRPr>
                    </a:p>
                  </a:txBody>
                  <a:tcPr marL="73152" marR="73152" marT="36576" marB="36576"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0">
                <a:tc>
                  <a:txBody>
                    <a:bodyPr/>
                    <a:lstStyle/>
                    <a:p>
                      <a:pPr algn="l" indent="0" marL="0">
                        <a:buNone/>
                      </a:pPr>
                      <a:r>
                        <a:rPr lang="en-US" sz="1000" dirty="0">
                          <a:solidFill>
                            <a:srgbClr val="16202E"/>
                          </a:solidFill>
                          <a:latin typeface="Calibri" pitchFamily="34" charset="0"/>
                          <a:ea typeface="Calibri" pitchFamily="34" charset="-122"/>
                          <a:cs typeface="Calibri" pitchFamily="34" charset="-120"/>
                        </a:rPr>
                        <a:t>Municipal services</a:t>
                      </a:r>
                      <a:endParaRPr lang="en-US" sz="1000" dirty="0">
                        <a:latin typeface="Calibri" charset="0"/>
                        <a:ea typeface="Calibri" charset="0"/>
                        <a:cs typeface="Calibri" charset="0"/>
                      </a:endParaRPr>
                    </a:p>
                  </a:txBody>
                  <a:tcPr marL="73152" marR="73152" marT="36576" marB="36576"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algn="l" indent="0" marL="0">
                        <a:buNone/>
                      </a:pPr>
                      <a:r>
                        <a:rPr lang="en-US" sz="1000" dirty="0">
                          <a:solidFill>
                            <a:srgbClr val="16202E"/>
                          </a:solidFill>
                          <a:latin typeface="Calibri" pitchFamily="34" charset="0"/>
                          <a:ea typeface="Calibri" pitchFamily="34" charset="-122"/>
                          <a:cs typeface="Calibri" pitchFamily="34" charset="-120"/>
                        </a:rPr>
                        <a:t>Fort Stockton (~5 mi): services, regional airport</a:t>
                      </a:r>
                      <a:endParaRPr lang="en-US" sz="1000" dirty="0">
                        <a:latin typeface="Calibri" charset="0"/>
                        <a:ea typeface="Calibri" charset="0"/>
                        <a:cs typeface="Calibri" charset="0"/>
                      </a:endParaRPr>
                    </a:p>
                  </a:txBody>
                  <a:tcPr marL="73152" marR="73152" marT="36576" marB="36576"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0">
                <a:tc>
                  <a:txBody>
                    <a:bodyPr/>
                    <a:lstStyle/>
                    <a:p>
                      <a:pPr algn="l" indent="0" marL="0">
                        <a:buNone/>
                      </a:pPr>
                      <a:r>
                        <a:rPr lang="en-US" sz="1000" dirty="0">
                          <a:solidFill>
                            <a:srgbClr val="16202E"/>
                          </a:solidFill>
                          <a:latin typeface="Calibri" pitchFamily="34" charset="0"/>
                          <a:ea typeface="Calibri" pitchFamily="34" charset="-122"/>
                          <a:cs typeface="Calibri" pitchFamily="34" charset="-120"/>
                        </a:rPr>
                        <a:t>Land-use regime</a:t>
                      </a:r>
                      <a:endParaRPr lang="en-US" sz="1000" dirty="0">
                        <a:latin typeface="Calibri" charset="0"/>
                        <a:ea typeface="Calibri" charset="0"/>
                        <a:cs typeface="Calibri" charset="0"/>
                      </a:endParaRPr>
                    </a:p>
                  </a:txBody>
                  <a:tcPr marL="73152" marR="73152" marT="36576" marB="36576"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algn="l" indent="0" marL="0">
                        <a:buNone/>
                      </a:pPr>
                      <a:r>
                        <a:rPr lang="en-US" sz="1000" dirty="0">
                          <a:solidFill>
                            <a:srgbClr val="16202E"/>
                          </a:solidFill>
                          <a:latin typeface="Calibri" pitchFamily="34" charset="0"/>
                          <a:ea typeface="Calibri" pitchFamily="34" charset="-122"/>
                          <a:cs typeface="Calibri" pitchFamily="34" charset="-120"/>
                        </a:rPr>
                        <a:t>No zoning ordinance; industrial/energy uses as of right</a:t>
                      </a:r>
                      <a:endParaRPr lang="en-US" sz="1000" dirty="0">
                        <a:latin typeface="Calibri" charset="0"/>
                        <a:ea typeface="Calibri" charset="0"/>
                        <a:cs typeface="Calibri" charset="0"/>
                      </a:endParaRPr>
                    </a:p>
                  </a:txBody>
                  <a:tcPr marL="73152" marR="73152" marT="36576" marB="36576"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0">
                <a:tc>
                  <a:txBody>
                    <a:bodyPr/>
                    <a:lstStyle/>
                    <a:p>
                      <a:pPr algn="l" indent="0" marL="0">
                        <a:buNone/>
                      </a:pPr>
                      <a:r>
                        <a:rPr lang="en-US" sz="1000" dirty="0">
                          <a:solidFill>
                            <a:srgbClr val="16202E"/>
                          </a:solidFill>
                          <a:latin typeface="Calibri" pitchFamily="34" charset="0"/>
                          <a:ea typeface="Calibri" pitchFamily="34" charset="-122"/>
                          <a:cs typeface="Calibri" pitchFamily="34" charset="-120"/>
                        </a:rPr>
                        <a:t>ERCOT position</a:t>
                      </a:r>
                      <a:endParaRPr lang="en-US" sz="1000" dirty="0">
                        <a:latin typeface="Calibri" charset="0"/>
                        <a:ea typeface="Calibri" charset="0"/>
                        <a:cs typeface="Calibri" charset="0"/>
                      </a:endParaRPr>
                    </a:p>
                  </a:txBody>
                  <a:tcPr marL="73152" marR="73152" marT="36576" marB="36576"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algn="l" indent="0" marL="0">
                        <a:buNone/>
                      </a:pPr>
                      <a:r>
                        <a:rPr lang="en-US" sz="1000" dirty="0">
                          <a:solidFill>
                            <a:srgbClr val="16202E"/>
                          </a:solidFill>
                          <a:latin typeface="Calibri" pitchFamily="34" charset="0"/>
                          <a:ea typeface="Calibri" pitchFamily="34" charset="-122"/>
                          <a:cs typeface="Calibri" pitchFamily="34" charset="-120"/>
                        </a:rPr>
                        <a:t>Far West weather zone — highest-growth large-load pocket</a:t>
                      </a:r>
                      <a:endParaRPr lang="en-US" sz="1000" dirty="0">
                        <a:latin typeface="Calibri" charset="0"/>
                        <a:ea typeface="Calibri" charset="0"/>
                        <a:cs typeface="Calibri" charset="0"/>
                      </a:endParaRPr>
                    </a:p>
                  </a:txBody>
                  <a:tcPr marL="73152" marR="73152" marT="36576" marB="36576"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bl>
          </a:graphicData>
        </a:graphic>
      </p:graphicFrame>
      <p:pic>
        <p:nvPicPr>
          <p:cNvPr id="7" name="Image 1" descr="/home/claude/repo/outputs/reports/om_exhibits/exhibit_2_1_site-setting.jpg">    </p:cNvPr>
          <p:cNvPicPr>
            <a:picLocks noChangeAspect="1"/>
          </p:cNvPicPr>
          <p:nvPr/>
        </p:nvPicPr>
        <p:blipFill>
          <a:blip r:embed="rId2"/>
          <a:stretch>
            <a:fillRect/>
          </a:stretch>
        </p:blipFill>
        <p:spPr>
          <a:xfrm>
            <a:off x="6263640" y="1783080"/>
            <a:ext cx="5394960" cy="3371850"/>
          </a:xfrm>
          <a:prstGeom prst="rect">
            <a:avLst/>
          </a:prstGeom>
          <a:effectLst>
            <a:outerShdw sx="100000" sy="100000" kx="0" ky="0" algn="bl" rotWithShape="0" blurRad="88900" dist="25400" dir="5400000">
              <a:srgbClr val="0F1B2D">
                <a:alpha val="16000"/>
              </a:srgbClr>
            </a:outerShdw>
          </a:effectLst>
        </p:spPr>
      </p:pic>
      <p:sp>
        <p:nvSpPr>
          <p:cNvPr id="8" name="Shape 3"/>
          <p:cNvSpPr/>
          <p:nvPr/>
        </p:nvSpPr>
        <p:spPr>
          <a:xfrm>
            <a:off x="6263640" y="1783080"/>
            <a:ext cx="5394960" cy="3371850"/>
          </a:xfrm>
          <a:prstGeom prst="rect">
            <a:avLst/>
          </a:prstGeom>
          <a:ln w="12700">
            <a:solidFill>
              <a:srgbClr val="E2E8F0"/>
            </a:solidFill>
            <a:prstDash val="solid"/>
          </a:ln>
        </p:spPr>
      </p:sp>
      <p:sp>
        <p:nvSpPr>
          <p:cNvPr id="9" name="Text 4"/>
          <p:cNvSpPr/>
          <p:nvPr/>
        </p:nvSpPr>
        <p:spPr>
          <a:xfrm>
            <a:off x="6263640" y="5246370"/>
            <a:ext cx="5394960" cy="457200"/>
          </a:xfrm>
          <a:prstGeom prst="rect">
            <a:avLst/>
          </a:prstGeom>
          <a:noFill/>
          <a:ln/>
        </p:spPr>
        <p:txBody>
          <a:bodyPr wrap="square" rtlCol="0" anchor="ctr"/>
          <a:lstStyle/>
          <a:p>
            <a:pPr indent="0" marL="0">
              <a:buNone/>
            </a:pPr>
            <a:r>
              <a:rPr lang="en-US" sz="950" i="1" dirty="0">
                <a:solidFill>
                  <a:srgbClr val="64748B"/>
                </a:solidFill>
                <a:latin typeface="Calibri" pitchFamily="34" charset="0"/>
                <a:ea typeface="Calibri" pitchFamily="34" charset="-122"/>
                <a:cs typeface="Calibri" pitchFamily="34" charset="-120"/>
              </a:rPr>
              <a:t>Exhibit 2.1 — The Caramba North tract on the north side of I-10, five miles from Fort Stockton.</a:t>
            </a:r>
            <a:endParaRPr lang="en-US" sz="950" dirty="0"/>
          </a:p>
        </p:txBody>
      </p:sp>
      <p:sp>
        <p:nvSpPr>
          <p:cNvPr id="10" name="Text 5"/>
          <p:cNvSpPr/>
          <p:nvPr/>
        </p:nvSpPr>
        <p:spPr>
          <a:xfrm>
            <a:off x="457200" y="6510528"/>
            <a:ext cx="7315200" cy="274320"/>
          </a:xfrm>
          <a:prstGeom prst="rect">
            <a:avLst/>
          </a:prstGeom>
          <a:noFill/>
          <a:ln/>
        </p:spPr>
        <p:txBody>
          <a:bodyPr wrap="square" rtlCol="0" anchor="ctr"/>
          <a:lstStyle/>
          <a:p>
            <a:pPr indent="0" marL="0">
              <a:buNone/>
            </a:pPr>
            <a:r>
              <a:rPr lang="en-US" sz="800" dirty="0">
                <a:solidFill>
                  <a:srgbClr val="64748B"/>
                </a:solidFill>
                <a:latin typeface="Calibri" pitchFamily="34" charset="0"/>
                <a:ea typeface="Calibri" pitchFamily="34" charset="-122"/>
                <a:cs typeface="Calibri" pitchFamily="34" charset="-120"/>
              </a:rPr>
              <a:t>CARAMBA NORTH — STRICTLY CONFIDENTIAL, POST-NDA</a:t>
            </a:r>
            <a:endParaRPr lang="en-US" sz="800" dirty="0"/>
          </a:p>
        </p:txBody>
      </p:sp>
      <p:sp>
        <p:nvSpPr>
          <p:cNvPr id="11" name="Text 6"/>
          <p:cNvSpPr/>
          <p:nvPr/>
        </p:nvSpPr>
        <p:spPr>
          <a:xfrm>
            <a:off x="11368735" y="6510528"/>
            <a:ext cx="365760" cy="274320"/>
          </a:xfrm>
          <a:prstGeom prst="rect">
            <a:avLst/>
          </a:prstGeom>
          <a:noFill/>
          <a:ln/>
        </p:spPr>
        <p:txBody>
          <a:bodyPr wrap="square" rtlCol="0" anchor="ctr"/>
          <a:lstStyle/>
          <a:p>
            <a:pPr algn="r" indent="0" marL="0">
              <a:buNone/>
            </a:pPr>
            <a:r>
              <a:rPr lang="en-US" sz="800" dirty="0">
                <a:solidFill>
                  <a:srgbClr val="64748B"/>
                </a:solidFill>
                <a:latin typeface="Calibri" pitchFamily="34" charset="0"/>
                <a:ea typeface="Calibri" pitchFamily="34" charset="-122"/>
                <a:cs typeface="Calibri"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10896"/>
            <a:ext cx="402336" cy="402336"/>
          </a:xfrm>
          <a:prstGeom prst="ellipse">
            <a:avLst/>
          </a:prstGeom>
          <a:solidFill>
            <a:srgbClr val="B91C1C"/>
          </a:solidFill>
          <a:ln/>
          <a:effectLst>
            <a:outerShdw sx="100000" sy="100000" kx="0" ky="0" algn="bl" rotWithShape="0" blurRad="88900" dist="25400" dir="5400000">
              <a:srgbClr val="0F1B2D">
                <a:alpha val="16000"/>
              </a:srgbClr>
            </a:outerShdw>
          </a:effectLst>
        </p:spPr>
      </p:sp>
      <p:pic>
        <p:nvPicPr>
          <p:cNvPr id="3" name="Image 0" descr="preencoded.png">    </p:cNvPr>
          <p:cNvPicPr>
            <a:picLocks noChangeAspect="1"/>
          </p:cNvPicPr>
          <p:nvPr/>
        </p:nvPicPr>
        <p:blipFill>
          <a:blip r:embed="rId1"/>
          <a:stretch>
            <a:fillRect/>
          </a:stretch>
        </p:blipFill>
        <p:spPr>
          <a:xfrm>
            <a:off x="653247" y="415503"/>
            <a:ext cx="193121" cy="193121"/>
          </a:xfrm>
          <a:prstGeom prst="rect">
            <a:avLst/>
          </a:prstGeom>
        </p:spPr>
      </p:pic>
      <p:sp>
        <p:nvSpPr>
          <p:cNvPr id="4" name="Text 1"/>
          <p:cNvSpPr/>
          <p:nvPr/>
        </p:nvSpPr>
        <p:spPr>
          <a:xfrm>
            <a:off x="1097280" y="365760"/>
            <a:ext cx="9144000" cy="365760"/>
          </a:xfrm>
          <a:prstGeom prst="rect">
            <a:avLst/>
          </a:prstGeom>
          <a:noFill/>
          <a:ln/>
        </p:spPr>
        <p:txBody>
          <a:bodyPr wrap="square" rtlCol="0" anchor="ctr"/>
          <a:lstStyle/>
          <a:p>
            <a:pPr indent="0" marL="0">
              <a:buNone/>
            </a:pPr>
            <a:r>
              <a:rPr lang="en-US" sz="1200" b="1" spc="200" kern="0" dirty="0">
                <a:solidFill>
                  <a:srgbClr val="B91C1C"/>
                </a:solidFill>
                <a:latin typeface="Calibri" pitchFamily="34" charset="0"/>
                <a:ea typeface="Calibri" pitchFamily="34" charset="-122"/>
                <a:cs typeface="Calibri" pitchFamily="34" charset="-120"/>
              </a:rPr>
              <a:t>03 · TRANSMISSION</a:t>
            </a:r>
            <a:endParaRPr lang="en-US" sz="1200" dirty="0"/>
          </a:p>
        </p:txBody>
      </p:sp>
      <p:sp>
        <p:nvSpPr>
          <p:cNvPr id="5" name="Text 2"/>
          <p:cNvSpPr/>
          <p:nvPr/>
        </p:nvSpPr>
        <p:spPr>
          <a:xfrm>
            <a:off x="548640" y="841248"/>
            <a:ext cx="11064240" cy="822960"/>
          </a:xfrm>
          <a:prstGeom prst="rect">
            <a:avLst/>
          </a:prstGeom>
          <a:noFill/>
          <a:ln/>
        </p:spPr>
        <p:txBody>
          <a:bodyPr wrap="square" rtlCol="0" anchor="t"/>
          <a:lstStyle/>
          <a:p>
            <a:pPr indent="0" marL="0">
              <a:buNone/>
            </a:pPr>
            <a:r>
              <a:rPr lang="en-US" sz="2500" b="1" dirty="0">
                <a:solidFill>
                  <a:srgbClr val="0F1B2D"/>
                </a:solidFill>
                <a:latin typeface="Cambria" pitchFamily="34" charset="0"/>
                <a:ea typeface="Cambria" pitchFamily="34" charset="-122"/>
                <a:cs typeface="Cambria" pitchFamily="34" charset="-120"/>
              </a:rPr>
              <a:t>15 miles from the western terminus of ERCOT's 765 kV backbone</a:t>
            </a:r>
            <a:endParaRPr lang="en-US" sz="25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5394960" cy="914400"/>
        </p:xfrm>
        <a:graphic>
          <a:graphicData uri="http://schemas.openxmlformats.org/drawingml/2006/table">
            <a:tbl>
              <a:tblPr/>
              <a:tblGrid>
                <a:gridCol w="1737360"/>
                <a:gridCol w="3657600"/>
              </a:tblGrid>
              <a:tr h="0">
                <a:tc>
                  <a:txBody>
                    <a:bodyPr/>
                    <a:lstStyle/>
                    <a:p>
                      <a:pPr algn="l" indent="0" marL="0">
                        <a:buNone/>
                      </a:pPr>
                      <a:r>
                        <a:rPr lang="en-US" sz="1000" b="1" dirty="0">
                          <a:solidFill>
                            <a:srgbClr val="475569"/>
                          </a:solidFill>
                          <a:latin typeface="Calibri" pitchFamily="34" charset="0"/>
                          <a:ea typeface="Calibri" pitchFamily="34" charset="-122"/>
                          <a:cs typeface="Calibri" pitchFamily="34" charset="-120"/>
                        </a:rPr>
                        <a:t>ELEMENT</a:t>
                      </a:r>
                      <a:endParaRPr lang="en-US" sz="1000" dirty="0">
                        <a:latin typeface="Calibri" charset="0"/>
                        <a:ea typeface="Calibri" charset="0"/>
                        <a:cs typeface="Calibri" charset="0"/>
                      </a:endParaRPr>
                    </a:p>
                  </a:txBody>
                  <a:tcPr marL="73152" marR="73152" marT="36576" marB="36576"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algn="l" indent="0" marL="0">
                        <a:buNone/>
                      </a:pPr>
                      <a:r>
                        <a:rPr lang="en-US" sz="1000" b="1" dirty="0">
                          <a:solidFill>
                            <a:srgbClr val="475569"/>
                          </a:solidFill>
                          <a:latin typeface="Calibri" pitchFamily="34" charset="0"/>
                          <a:ea typeface="Calibri" pitchFamily="34" charset="-122"/>
                          <a:cs typeface="Calibri" pitchFamily="34" charset="-120"/>
                        </a:rPr>
                        <a:t>DETAIL</a:t>
                      </a:r>
                      <a:endParaRPr lang="en-US" sz="1000" dirty="0">
                        <a:latin typeface="Calibri" charset="0"/>
                        <a:ea typeface="Calibri" charset="0"/>
                        <a:cs typeface="Calibri" charset="0"/>
                      </a:endParaRPr>
                    </a:p>
                  </a:txBody>
                  <a:tcPr marL="73152" marR="73152" marT="36576" marB="36576"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r>
              <a:tr h="0">
                <a:tc>
                  <a:txBody>
                    <a:bodyPr/>
                    <a:lstStyle/>
                    <a:p>
                      <a:pPr algn="l" indent="0" marL="0">
                        <a:buNone/>
                      </a:pPr>
                      <a:r>
                        <a:rPr lang="en-US" sz="1000" dirty="0">
                          <a:solidFill>
                            <a:srgbClr val="16202E"/>
                          </a:solidFill>
                          <a:latin typeface="Calibri" pitchFamily="34" charset="0"/>
                          <a:ea typeface="Calibri" pitchFamily="34" charset="-122"/>
                          <a:cs typeface="Calibri" pitchFamily="34" charset="-120"/>
                        </a:rPr>
                        <a:t>765 kV PUCT approval</a:t>
                      </a:r>
                      <a:endParaRPr lang="en-US" sz="1000" dirty="0">
                        <a:latin typeface="Calibri" charset="0"/>
                        <a:ea typeface="Calibri" charset="0"/>
                        <a:cs typeface="Calibri" charset="0"/>
                      </a:endParaRPr>
                    </a:p>
                  </a:txBody>
                  <a:tcPr marL="73152" marR="73152" marT="36576" marB="36576"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algn="l" indent="0" marL="0">
                        <a:buNone/>
                      </a:pPr>
                      <a:r>
                        <a:rPr lang="en-US" sz="1000" dirty="0">
                          <a:solidFill>
                            <a:srgbClr val="16202E"/>
                          </a:solidFill>
                          <a:latin typeface="Calibri" pitchFamily="34" charset="0"/>
                          <a:ea typeface="Calibri" pitchFamily="34" charset="-122"/>
                          <a:cs typeface="Calibri" pitchFamily="34" charset="-120"/>
                        </a:rPr>
                        <a:t>Three import paths approved Apr 24, 2025 (PBRP, No. 55718)</a:t>
                      </a:r>
                      <a:endParaRPr lang="en-US" sz="1000" dirty="0">
                        <a:latin typeface="Calibri" charset="0"/>
                        <a:ea typeface="Calibri" charset="0"/>
                        <a:cs typeface="Calibri" charset="0"/>
                      </a:endParaRPr>
                    </a:p>
                  </a:txBody>
                  <a:tcPr marL="73152" marR="73152" marT="36576" marB="36576"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0">
                <a:tc>
                  <a:txBody>
                    <a:bodyPr/>
                    <a:lstStyle/>
                    <a:p>
                      <a:pPr algn="l" indent="0" marL="0">
                        <a:buNone/>
                      </a:pPr>
                      <a:r>
                        <a:rPr lang="en-US" sz="1000" dirty="0">
                          <a:solidFill>
                            <a:srgbClr val="16202E"/>
                          </a:solidFill>
                          <a:latin typeface="Calibri" pitchFamily="34" charset="0"/>
                          <a:ea typeface="Calibri" pitchFamily="34" charset="-122"/>
                          <a:cs typeface="Calibri" pitchFamily="34" charset="-120"/>
                        </a:rPr>
                        <a:t>Solstice Substation</a:t>
                      </a:r>
                      <a:endParaRPr lang="en-US" sz="1000" dirty="0">
                        <a:latin typeface="Calibri" charset="0"/>
                        <a:ea typeface="Calibri" charset="0"/>
                        <a:cs typeface="Calibri" charset="0"/>
                      </a:endParaRPr>
                    </a:p>
                  </a:txBody>
                  <a:tcPr marL="73152" marR="73152" marT="36576" marB="36576"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algn="l" indent="0" marL="0">
                        <a:buNone/>
                      </a:pPr>
                      <a:r>
                        <a:rPr lang="en-US" sz="1000" dirty="0">
                          <a:solidFill>
                            <a:srgbClr val="16202E"/>
                          </a:solidFill>
                          <a:latin typeface="Calibri" pitchFamily="34" charset="0"/>
                          <a:ea typeface="Calibri" pitchFamily="34" charset="-122"/>
                          <a:cs typeface="Calibri" pitchFamily="34" charset="-120"/>
                        </a:rPr>
                        <a:t>AEP/CPS Energy; 15 mi north of the Property</a:t>
                      </a:r>
                      <a:endParaRPr lang="en-US" sz="1000" dirty="0">
                        <a:latin typeface="Calibri" charset="0"/>
                        <a:ea typeface="Calibri" charset="0"/>
                        <a:cs typeface="Calibri" charset="0"/>
                      </a:endParaRPr>
                    </a:p>
                  </a:txBody>
                  <a:tcPr marL="73152" marR="73152" marT="36576" marB="36576"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0">
                <a:tc>
                  <a:txBody>
                    <a:bodyPr/>
                    <a:lstStyle/>
                    <a:p>
                      <a:pPr algn="l" indent="0" marL="0">
                        <a:buNone/>
                      </a:pPr>
                      <a:r>
                        <a:rPr lang="en-US" sz="1000" dirty="0">
                          <a:solidFill>
                            <a:srgbClr val="16202E"/>
                          </a:solidFill>
                          <a:latin typeface="Calibri" pitchFamily="34" charset="0"/>
                          <a:ea typeface="Calibri" pitchFamily="34" charset="-122"/>
                          <a:cs typeface="Calibri" pitchFamily="34" charset="-120"/>
                        </a:rPr>
                        <a:t>Local substations</a:t>
                      </a:r>
                      <a:endParaRPr lang="en-US" sz="1000" dirty="0">
                        <a:latin typeface="Calibri" charset="0"/>
                        <a:ea typeface="Calibri" charset="0"/>
                        <a:cs typeface="Calibri" charset="0"/>
                      </a:endParaRPr>
                    </a:p>
                  </a:txBody>
                  <a:tcPr marL="73152" marR="73152" marT="36576" marB="36576"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algn="l" indent="0" marL="0">
                        <a:buNone/>
                      </a:pPr>
                      <a:r>
                        <a:rPr lang="en-US" sz="1000" dirty="0">
                          <a:solidFill>
                            <a:srgbClr val="16202E"/>
                          </a:solidFill>
                          <a:latin typeface="Calibri" pitchFamily="34" charset="0"/>
                          <a:ea typeface="Calibri" pitchFamily="34" charset="-122"/>
                          <a:cs typeface="Calibri" pitchFamily="34" charset="-120"/>
                        </a:rPr>
                        <a:t>Fort Stockton Plant (2 mi), Airport (3.3 mi), Fort Stockton (5.4 mi), 16th Street (6 mi)</a:t>
                      </a:r>
                      <a:endParaRPr lang="en-US" sz="1000" dirty="0">
                        <a:latin typeface="Calibri" charset="0"/>
                        <a:ea typeface="Calibri" charset="0"/>
                        <a:cs typeface="Calibri" charset="0"/>
                      </a:endParaRPr>
                    </a:p>
                  </a:txBody>
                  <a:tcPr marL="73152" marR="73152" marT="36576" marB="36576"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0">
                <a:tc>
                  <a:txBody>
                    <a:bodyPr/>
                    <a:lstStyle/>
                    <a:p>
                      <a:pPr algn="l" indent="0" marL="0">
                        <a:buNone/>
                      </a:pPr>
                      <a:r>
                        <a:rPr lang="en-US" sz="1000" dirty="0">
                          <a:solidFill>
                            <a:srgbClr val="16202E"/>
                          </a:solidFill>
                          <a:latin typeface="Calibri" pitchFamily="34" charset="0"/>
                          <a:ea typeface="Calibri" pitchFamily="34" charset="-122"/>
                          <a:cs typeface="Calibri" pitchFamily="34" charset="-120"/>
                        </a:rPr>
                        <a:t>Planned upgrades (TPIT)</a:t>
                      </a:r>
                      <a:endParaRPr lang="en-US" sz="1000" dirty="0">
                        <a:latin typeface="Calibri" charset="0"/>
                        <a:ea typeface="Calibri" charset="0"/>
                        <a:cs typeface="Calibri" charset="0"/>
                      </a:endParaRPr>
                    </a:p>
                  </a:txBody>
                  <a:tcPr marL="73152" marR="73152" marT="36576" marB="36576"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algn="l" indent="0" marL="0">
                        <a:buNone/>
                      </a:pPr>
                      <a:r>
                        <a:rPr lang="en-US" sz="1000" dirty="0">
                          <a:solidFill>
                            <a:srgbClr val="16202E"/>
                          </a:solidFill>
                          <a:latin typeface="Calibri" pitchFamily="34" charset="0"/>
                          <a:ea typeface="Calibri" pitchFamily="34" charset="-122"/>
                          <a:cs typeface="Calibri" pitchFamily="34" charset="-120"/>
                        </a:rPr>
                        <a:t>141 substation + 133 line upgrades tracked ERCOT-wide</a:t>
                      </a:r>
                      <a:endParaRPr lang="en-US" sz="1000" dirty="0">
                        <a:latin typeface="Calibri" charset="0"/>
                        <a:ea typeface="Calibri" charset="0"/>
                        <a:cs typeface="Calibri" charset="0"/>
                      </a:endParaRPr>
                    </a:p>
                  </a:txBody>
                  <a:tcPr marL="73152" marR="73152" marT="36576" marB="36576"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bl>
          </a:graphicData>
        </a:graphic>
      </p:graphicFrame>
      <p:pic>
        <p:nvPicPr>
          <p:cNvPr id="7" name="Image 1" descr="/home/claude/repo/outputs/reports/om_exhibits/exhibit_3_1_planned-grid-upgrades.jpg">    </p:cNvPr>
          <p:cNvPicPr>
            <a:picLocks noChangeAspect="1"/>
          </p:cNvPicPr>
          <p:nvPr/>
        </p:nvPicPr>
        <p:blipFill>
          <a:blip r:embed="rId2"/>
          <a:stretch>
            <a:fillRect/>
          </a:stretch>
        </p:blipFill>
        <p:spPr>
          <a:xfrm>
            <a:off x="6263640" y="1783080"/>
            <a:ext cx="5394960" cy="3088615"/>
          </a:xfrm>
          <a:prstGeom prst="rect">
            <a:avLst/>
          </a:prstGeom>
          <a:effectLst>
            <a:outerShdw sx="100000" sy="100000" kx="0" ky="0" algn="bl" rotWithShape="0" blurRad="88900" dist="25400" dir="5400000">
              <a:srgbClr val="0F1B2D">
                <a:alpha val="16000"/>
              </a:srgbClr>
            </a:outerShdw>
          </a:effectLst>
        </p:spPr>
      </p:pic>
      <p:sp>
        <p:nvSpPr>
          <p:cNvPr id="8" name="Shape 3"/>
          <p:cNvSpPr/>
          <p:nvPr/>
        </p:nvSpPr>
        <p:spPr>
          <a:xfrm>
            <a:off x="6263640" y="1783080"/>
            <a:ext cx="5394960" cy="3088615"/>
          </a:xfrm>
          <a:prstGeom prst="rect">
            <a:avLst/>
          </a:prstGeom>
          <a:ln w="12700">
            <a:solidFill>
              <a:srgbClr val="E2E8F0"/>
            </a:solidFill>
            <a:prstDash val="solid"/>
          </a:ln>
        </p:spPr>
      </p:sp>
      <p:sp>
        <p:nvSpPr>
          <p:cNvPr id="9" name="Text 4"/>
          <p:cNvSpPr/>
          <p:nvPr/>
        </p:nvSpPr>
        <p:spPr>
          <a:xfrm>
            <a:off x="6263640" y="4963135"/>
            <a:ext cx="5394960" cy="457200"/>
          </a:xfrm>
          <a:prstGeom prst="rect">
            <a:avLst/>
          </a:prstGeom>
          <a:noFill/>
          <a:ln/>
        </p:spPr>
        <p:txBody>
          <a:bodyPr wrap="square" rtlCol="0" anchor="ctr"/>
          <a:lstStyle/>
          <a:p>
            <a:pPr indent="0" marL="0">
              <a:buNone/>
            </a:pPr>
            <a:r>
              <a:rPr lang="en-US" sz="950" i="1" dirty="0">
                <a:solidFill>
                  <a:srgbClr val="64748B"/>
                </a:solidFill>
                <a:latin typeface="Calibri" pitchFamily="34" charset="0"/>
                <a:ea typeface="Calibri" pitchFamily="34" charset="-122"/>
                <a:cs typeface="Calibri" pitchFamily="34" charset="-120"/>
              </a:rPr>
              <a:t>Exhibit 3.1 — Planned grid upgrades only (ERCOT TPIT); Solstice terminus circled.</a:t>
            </a:r>
            <a:endParaRPr lang="en-US" sz="950" dirty="0"/>
          </a:p>
        </p:txBody>
      </p:sp>
      <p:sp>
        <p:nvSpPr>
          <p:cNvPr id="10" name="Text 5"/>
          <p:cNvSpPr/>
          <p:nvPr/>
        </p:nvSpPr>
        <p:spPr>
          <a:xfrm>
            <a:off x="457200" y="6510528"/>
            <a:ext cx="7315200" cy="274320"/>
          </a:xfrm>
          <a:prstGeom prst="rect">
            <a:avLst/>
          </a:prstGeom>
          <a:noFill/>
          <a:ln/>
        </p:spPr>
        <p:txBody>
          <a:bodyPr wrap="square" rtlCol="0" anchor="ctr"/>
          <a:lstStyle/>
          <a:p>
            <a:pPr indent="0" marL="0">
              <a:buNone/>
            </a:pPr>
            <a:r>
              <a:rPr lang="en-US" sz="800" dirty="0">
                <a:solidFill>
                  <a:srgbClr val="64748B"/>
                </a:solidFill>
                <a:latin typeface="Calibri" pitchFamily="34" charset="0"/>
                <a:ea typeface="Calibri" pitchFamily="34" charset="-122"/>
                <a:cs typeface="Calibri" pitchFamily="34" charset="-120"/>
              </a:rPr>
              <a:t>CARAMBA NORTH — STRICTLY CONFIDENTIAL, POST-NDA</a:t>
            </a:r>
            <a:endParaRPr lang="en-US" sz="800" dirty="0"/>
          </a:p>
        </p:txBody>
      </p:sp>
      <p:sp>
        <p:nvSpPr>
          <p:cNvPr id="11" name="Text 6"/>
          <p:cNvSpPr/>
          <p:nvPr/>
        </p:nvSpPr>
        <p:spPr>
          <a:xfrm>
            <a:off x="11368735" y="6510528"/>
            <a:ext cx="365760" cy="274320"/>
          </a:xfrm>
          <a:prstGeom prst="rect">
            <a:avLst/>
          </a:prstGeom>
          <a:noFill/>
          <a:ln/>
        </p:spPr>
        <p:txBody>
          <a:bodyPr wrap="square" rtlCol="0" anchor="ctr"/>
          <a:lstStyle/>
          <a:p>
            <a:pPr algn="r" indent="0" marL="0">
              <a:buNone/>
            </a:pPr>
            <a:r>
              <a:rPr lang="en-US" sz="800" dirty="0">
                <a:solidFill>
                  <a:srgbClr val="64748B"/>
                </a:solidFill>
                <a:latin typeface="Calibri" pitchFamily="34" charset="0"/>
                <a:ea typeface="Calibri" pitchFamily="34" charset="-122"/>
                <a:cs typeface="Calibri"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10896"/>
            <a:ext cx="402336" cy="402336"/>
          </a:xfrm>
          <a:prstGeom prst="ellipse">
            <a:avLst/>
          </a:prstGeom>
          <a:solidFill>
            <a:srgbClr val="B91C1C"/>
          </a:solidFill>
          <a:ln/>
          <a:effectLst>
            <a:outerShdw sx="100000" sy="100000" kx="0" ky="0" algn="bl" rotWithShape="0" blurRad="88900" dist="25400" dir="5400000">
              <a:srgbClr val="0F1B2D">
                <a:alpha val="16000"/>
              </a:srgbClr>
            </a:outerShdw>
          </a:effectLst>
        </p:spPr>
      </p:sp>
      <p:pic>
        <p:nvPicPr>
          <p:cNvPr id="3" name="Image 0" descr="preencoded.png">    </p:cNvPr>
          <p:cNvPicPr>
            <a:picLocks noChangeAspect="1"/>
          </p:cNvPicPr>
          <p:nvPr/>
        </p:nvPicPr>
        <p:blipFill>
          <a:blip r:embed="rId1"/>
          <a:stretch>
            <a:fillRect/>
          </a:stretch>
        </p:blipFill>
        <p:spPr>
          <a:xfrm>
            <a:off x="653247" y="415503"/>
            <a:ext cx="193121" cy="193121"/>
          </a:xfrm>
          <a:prstGeom prst="rect">
            <a:avLst/>
          </a:prstGeom>
        </p:spPr>
      </p:pic>
      <p:sp>
        <p:nvSpPr>
          <p:cNvPr id="4" name="Text 1"/>
          <p:cNvSpPr/>
          <p:nvPr/>
        </p:nvSpPr>
        <p:spPr>
          <a:xfrm>
            <a:off x="1097280" y="365760"/>
            <a:ext cx="9144000" cy="365760"/>
          </a:xfrm>
          <a:prstGeom prst="rect">
            <a:avLst/>
          </a:prstGeom>
          <a:noFill/>
          <a:ln/>
        </p:spPr>
        <p:txBody>
          <a:bodyPr wrap="square" rtlCol="0" anchor="ctr"/>
          <a:lstStyle/>
          <a:p>
            <a:pPr indent="0" marL="0">
              <a:buNone/>
            </a:pPr>
            <a:r>
              <a:rPr lang="en-US" sz="1200" b="1" spc="200" kern="0" dirty="0">
                <a:solidFill>
                  <a:srgbClr val="B91C1C"/>
                </a:solidFill>
                <a:latin typeface="Calibri" pitchFamily="34" charset="0"/>
                <a:ea typeface="Calibri" pitchFamily="34" charset="-122"/>
                <a:cs typeface="Calibri" pitchFamily="34" charset="-120"/>
              </a:rPr>
              <a:t>04 · REGIONAL POWER CLUSTER</a:t>
            </a:r>
            <a:endParaRPr lang="en-US" sz="1200" dirty="0"/>
          </a:p>
        </p:txBody>
      </p:sp>
      <p:sp>
        <p:nvSpPr>
          <p:cNvPr id="5" name="Text 2"/>
          <p:cNvSpPr/>
          <p:nvPr/>
        </p:nvSpPr>
        <p:spPr>
          <a:xfrm>
            <a:off x="548640" y="841248"/>
            <a:ext cx="11064240" cy="822960"/>
          </a:xfrm>
          <a:prstGeom prst="rect">
            <a:avLst/>
          </a:prstGeom>
          <a:noFill/>
          <a:ln/>
        </p:spPr>
        <p:txBody>
          <a:bodyPr wrap="square" rtlCol="0" anchor="t"/>
          <a:lstStyle/>
          <a:p>
            <a:pPr indent="0" marL="0">
              <a:buNone/>
            </a:pPr>
            <a:r>
              <a:rPr lang="en-US" sz="2500" b="1" dirty="0">
                <a:solidFill>
                  <a:srgbClr val="0F1B2D"/>
                </a:solidFill>
                <a:latin typeface="Cambria" pitchFamily="34" charset="0"/>
                <a:ea typeface="Cambria" pitchFamily="34" charset="-122"/>
                <a:cs typeface="Cambria" pitchFamily="34" charset="-120"/>
              </a:rPr>
              <a:t>12.0 GW queued in Pecos County — densest renewable cluster in ERCOT</a:t>
            </a:r>
            <a:endParaRPr lang="en-US" sz="25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5394960" cy="914400"/>
        </p:xfrm>
        <a:graphic>
          <a:graphicData uri="http://schemas.openxmlformats.org/drawingml/2006/table">
            <a:tbl>
              <a:tblPr/>
              <a:tblGrid>
                <a:gridCol w="1554480"/>
                <a:gridCol w="1920240"/>
                <a:gridCol w="1920240"/>
              </a:tblGrid>
              <a:tr h="0">
                <a:tc>
                  <a:txBody>
                    <a:bodyPr/>
                    <a:lstStyle/>
                    <a:p>
                      <a:pPr algn="l" indent="0" marL="0">
                        <a:buNone/>
                      </a:pPr>
                      <a:r>
                        <a:rPr lang="en-US" sz="1050" b="1" dirty="0">
                          <a:solidFill>
                            <a:srgbClr val="475569"/>
                          </a:solidFill>
                          <a:latin typeface="Calibri" pitchFamily="34" charset="0"/>
                          <a:ea typeface="Calibri" pitchFamily="34" charset="-122"/>
                          <a:cs typeface="Calibri" pitchFamily="34" charset="-120"/>
                        </a:rPr>
                        <a:t>TECHNOLOGY</a:t>
                      </a:r>
                      <a:endParaRPr lang="en-US" sz="1050" dirty="0">
                        <a:latin typeface="Calibri" charset="0"/>
                        <a:ea typeface="Calibri" charset="0"/>
                        <a:cs typeface="Calibri" charset="0"/>
                      </a:endParaRPr>
                    </a:p>
                  </a:txBody>
                  <a:tcPr marL="73152" marR="73152" marT="36576" marB="36576"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algn="r" indent="0" marL="0">
                        <a:buNone/>
                      </a:pPr>
                      <a:r>
                        <a:rPr lang="en-US" sz="1050" b="1" dirty="0">
                          <a:solidFill>
                            <a:srgbClr val="475569"/>
                          </a:solidFill>
                          <a:latin typeface="Calibri" pitchFamily="34" charset="0"/>
                          <a:ea typeface="Calibri" pitchFamily="34" charset="-122"/>
                          <a:cs typeface="Calibri" pitchFamily="34" charset="-120"/>
                        </a:rPr>
                        <a:t>PECOS — OPERATING</a:t>
                      </a:r>
                      <a:endParaRPr lang="en-US" sz="1050" dirty="0">
                        <a:latin typeface="Calibri" charset="0"/>
                        <a:ea typeface="Calibri" charset="0"/>
                        <a:cs typeface="Calibri" charset="0"/>
                      </a:endParaRPr>
                    </a:p>
                  </a:txBody>
                  <a:tcPr marL="73152" marR="73152" marT="36576" marB="36576"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algn="r" indent="0" marL="0">
                        <a:buNone/>
                      </a:pPr>
                      <a:r>
                        <a:rPr lang="en-US" sz="1050" b="1" dirty="0">
                          <a:solidFill>
                            <a:srgbClr val="475569"/>
                          </a:solidFill>
                          <a:latin typeface="Calibri" pitchFamily="34" charset="0"/>
                          <a:ea typeface="Calibri" pitchFamily="34" charset="-122"/>
                          <a:cs typeface="Calibri" pitchFamily="34" charset="-120"/>
                        </a:rPr>
                        <a:t>PECOS — ERCOT QUEUE</a:t>
                      </a:r>
                      <a:endParaRPr lang="en-US" sz="1050" dirty="0">
                        <a:latin typeface="Calibri" charset="0"/>
                        <a:ea typeface="Calibri" charset="0"/>
                        <a:cs typeface="Calibri" charset="0"/>
                      </a:endParaRPr>
                    </a:p>
                  </a:txBody>
                  <a:tcPr marL="73152" marR="73152" marT="36576" marB="36576"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r>
              <a:tr h="0">
                <a:tc>
                  <a:txBody>
                    <a:bodyPr/>
                    <a:lstStyle/>
                    <a:p>
                      <a:pPr algn="l" indent="0" marL="0">
                        <a:buNone/>
                      </a:pPr>
                      <a:r>
                        <a:rPr lang="en-US" sz="1050" dirty="0">
                          <a:solidFill>
                            <a:srgbClr val="16202E"/>
                          </a:solidFill>
                          <a:latin typeface="Calibri" pitchFamily="34" charset="0"/>
                          <a:ea typeface="Calibri" pitchFamily="34" charset="-122"/>
                          <a:cs typeface="Calibri" pitchFamily="34" charset="-120"/>
                        </a:rPr>
                        <a:t>Solar</a:t>
                      </a:r>
                      <a:endParaRPr lang="en-US" sz="1050" dirty="0">
                        <a:latin typeface="Calibri" charset="0"/>
                        <a:ea typeface="Calibri" charset="0"/>
                        <a:cs typeface="Calibri" charset="0"/>
                      </a:endParaRPr>
                    </a:p>
                  </a:txBody>
                  <a:tcPr marL="73152" marR="73152" marT="36576" marB="36576"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algn="r" indent="0" marL="0">
                        <a:buNone/>
                      </a:pPr>
                      <a:r>
                        <a:rPr lang="en-US" sz="1050" dirty="0">
                          <a:solidFill>
                            <a:srgbClr val="16202E"/>
                          </a:solidFill>
                          <a:latin typeface="Calibri" pitchFamily="34" charset="0"/>
                          <a:ea typeface="Calibri" pitchFamily="34" charset="-122"/>
                          <a:cs typeface="Calibri" pitchFamily="34" charset="-120"/>
                        </a:rPr>
                        <a:t>13 · 2.2 GW</a:t>
                      </a:r>
                      <a:endParaRPr lang="en-US" sz="1050" dirty="0">
                        <a:latin typeface="Calibri" charset="0"/>
                        <a:ea typeface="Calibri" charset="0"/>
                        <a:cs typeface="Calibri" charset="0"/>
                      </a:endParaRPr>
                    </a:p>
                  </a:txBody>
                  <a:tcPr marL="73152" marR="73152" marT="36576" marB="36576"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algn="r" indent="0" marL="0">
                        <a:buNone/>
                      </a:pPr>
                      <a:r>
                        <a:rPr lang="en-US" sz="1050" dirty="0">
                          <a:solidFill>
                            <a:srgbClr val="16202E"/>
                          </a:solidFill>
                          <a:latin typeface="Calibri" pitchFamily="34" charset="0"/>
                          <a:ea typeface="Calibri" pitchFamily="34" charset="-122"/>
                          <a:cs typeface="Calibri" pitchFamily="34" charset="-120"/>
                        </a:rPr>
                        <a:t>16 · 6.3 GW</a:t>
                      </a:r>
                      <a:endParaRPr lang="en-US" sz="1050" dirty="0">
                        <a:latin typeface="Calibri" charset="0"/>
                        <a:ea typeface="Calibri" charset="0"/>
                        <a:cs typeface="Calibri" charset="0"/>
                      </a:endParaRPr>
                    </a:p>
                  </a:txBody>
                  <a:tcPr marL="73152" marR="73152" marT="36576" marB="36576"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0">
                <a:tc>
                  <a:txBody>
                    <a:bodyPr/>
                    <a:lstStyle/>
                    <a:p>
                      <a:pPr algn="l" indent="0" marL="0">
                        <a:buNone/>
                      </a:pPr>
                      <a:r>
                        <a:rPr lang="en-US" sz="1050" dirty="0">
                          <a:solidFill>
                            <a:srgbClr val="16202E"/>
                          </a:solidFill>
                          <a:latin typeface="Calibri" pitchFamily="34" charset="0"/>
                          <a:ea typeface="Calibri" pitchFamily="34" charset="-122"/>
                          <a:cs typeface="Calibri" pitchFamily="34" charset="-120"/>
                        </a:rPr>
                        <a:t>Wind</a:t>
                      </a:r>
                      <a:endParaRPr lang="en-US" sz="1050" dirty="0">
                        <a:latin typeface="Calibri" charset="0"/>
                        <a:ea typeface="Calibri" charset="0"/>
                        <a:cs typeface="Calibri" charset="0"/>
                      </a:endParaRPr>
                    </a:p>
                  </a:txBody>
                  <a:tcPr marL="73152" marR="73152" marT="36576" marB="36576"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algn="r" indent="0" marL="0">
                        <a:buNone/>
                      </a:pPr>
                      <a:r>
                        <a:rPr lang="en-US" sz="1050" dirty="0">
                          <a:solidFill>
                            <a:srgbClr val="16202E"/>
                          </a:solidFill>
                          <a:latin typeface="Calibri" pitchFamily="34" charset="0"/>
                          <a:ea typeface="Calibri" pitchFamily="34" charset="-122"/>
                          <a:cs typeface="Calibri" pitchFamily="34" charset="-120"/>
                        </a:rPr>
                        <a:t>5 · 542 MW</a:t>
                      </a:r>
                      <a:endParaRPr lang="en-US" sz="1050" dirty="0">
                        <a:latin typeface="Calibri" charset="0"/>
                        <a:ea typeface="Calibri" charset="0"/>
                        <a:cs typeface="Calibri" charset="0"/>
                      </a:endParaRPr>
                    </a:p>
                  </a:txBody>
                  <a:tcPr marL="73152" marR="73152" marT="36576" marB="36576"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algn="r" indent="0" marL="0">
                        <a:buNone/>
                      </a:pPr>
                      <a:r>
                        <a:rPr lang="en-US" sz="1050" dirty="0">
                          <a:solidFill>
                            <a:srgbClr val="16202E"/>
                          </a:solidFill>
                          <a:latin typeface="Calibri" pitchFamily="34" charset="0"/>
                          <a:ea typeface="Calibri" pitchFamily="34" charset="-122"/>
                          <a:cs typeface="Calibri" pitchFamily="34" charset="-120"/>
                        </a:rPr>
                        <a:t>10 · 3.0 GW</a:t>
                      </a:r>
                      <a:endParaRPr lang="en-US" sz="1050" dirty="0">
                        <a:latin typeface="Calibri" charset="0"/>
                        <a:ea typeface="Calibri" charset="0"/>
                        <a:cs typeface="Calibri" charset="0"/>
                      </a:endParaRPr>
                    </a:p>
                  </a:txBody>
                  <a:tcPr marL="73152" marR="73152" marT="36576" marB="36576"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0">
                <a:tc>
                  <a:txBody>
                    <a:bodyPr/>
                    <a:lstStyle/>
                    <a:p>
                      <a:pPr algn="l" indent="0" marL="0">
                        <a:buNone/>
                      </a:pPr>
                      <a:r>
                        <a:rPr lang="en-US" sz="1050" dirty="0">
                          <a:solidFill>
                            <a:srgbClr val="16202E"/>
                          </a:solidFill>
                          <a:latin typeface="Calibri" pitchFamily="34" charset="0"/>
                          <a:ea typeface="Calibri" pitchFamily="34" charset="-122"/>
                          <a:cs typeface="Calibri" pitchFamily="34" charset="-120"/>
                        </a:rPr>
                        <a:t>BESS</a:t>
                      </a:r>
                      <a:endParaRPr lang="en-US" sz="1050" dirty="0">
                        <a:latin typeface="Calibri" charset="0"/>
                        <a:ea typeface="Calibri" charset="0"/>
                        <a:cs typeface="Calibri" charset="0"/>
                      </a:endParaRPr>
                    </a:p>
                  </a:txBody>
                  <a:tcPr marL="73152" marR="73152" marT="36576" marB="36576"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algn="r" indent="0" marL="0">
                        <a:buNone/>
                      </a:pPr>
                      <a:r>
                        <a:rPr lang="en-US" sz="1050" dirty="0">
                          <a:solidFill>
                            <a:srgbClr val="16202E"/>
                          </a:solidFill>
                          <a:latin typeface="Calibri" pitchFamily="34" charset="0"/>
                          <a:ea typeface="Calibri" pitchFamily="34" charset="-122"/>
                          <a:cs typeface="Calibri" pitchFamily="34" charset="-120"/>
                        </a:rPr>
                        <a:t>6 · 505 MW</a:t>
                      </a:r>
                      <a:endParaRPr lang="en-US" sz="1050" dirty="0">
                        <a:latin typeface="Calibri" charset="0"/>
                        <a:ea typeface="Calibri" charset="0"/>
                        <a:cs typeface="Calibri" charset="0"/>
                      </a:endParaRPr>
                    </a:p>
                  </a:txBody>
                  <a:tcPr marL="73152" marR="73152" marT="36576" marB="36576"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algn="r" indent="0" marL="0">
                        <a:buNone/>
                      </a:pPr>
                      <a:r>
                        <a:rPr lang="en-US" sz="1050" dirty="0">
                          <a:solidFill>
                            <a:srgbClr val="16202E"/>
                          </a:solidFill>
                          <a:latin typeface="Calibri" pitchFamily="34" charset="0"/>
                          <a:ea typeface="Calibri" pitchFamily="34" charset="-122"/>
                          <a:cs typeface="Calibri" pitchFamily="34" charset="-120"/>
                        </a:rPr>
                        <a:t>11 · 1.4 GW</a:t>
                      </a:r>
                      <a:endParaRPr lang="en-US" sz="1050" dirty="0">
                        <a:latin typeface="Calibri" charset="0"/>
                        <a:ea typeface="Calibri" charset="0"/>
                        <a:cs typeface="Calibri" charset="0"/>
                      </a:endParaRPr>
                    </a:p>
                  </a:txBody>
                  <a:tcPr marL="73152" marR="73152" marT="36576" marB="36576"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0">
                <a:tc>
                  <a:txBody>
                    <a:bodyPr/>
                    <a:lstStyle/>
                    <a:p>
                      <a:pPr algn="l" indent="0" marL="0">
                        <a:buNone/>
                      </a:pPr>
                      <a:r>
                        <a:rPr lang="en-US" sz="1050" dirty="0">
                          <a:solidFill>
                            <a:srgbClr val="16202E"/>
                          </a:solidFill>
                          <a:latin typeface="Calibri" pitchFamily="34" charset="0"/>
                          <a:ea typeface="Calibri" pitchFamily="34" charset="-122"/>
                          <a:cs typeface="Calibri" pitchFamily="34" charset="-120"/>
                        </a:rPr>
                        <a:t>Gas</a:t>
                      </a:r>
                      <a:endParaRPr lang="en-US" sz="1050" dirty="0">
                        <a:latin typeface="Calibri" charset="0"/>
                        <a:ea typeface="Calibri" charset="0"/>
                        <a:cs typeface="Calibri" charset="0"/>
                      </a:endParaRPr>
                    </a:p>
                  </a:txBody>
                  <a:tcPr marL="73152" marR="73152" marT="36576" marB="36576"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algn="r" indent="0" marL="0">
                        <a:buNone/>
                      </a:pPr>
                      <a:r>
                        <a:rPr lang="en-US" sz="1050" dirty="0">
                          <a:solidFill>
                            <a:srgbClr val="16202E"/>
                          </a:solidFill>
                          <a:latin typeface="Calibri" pitchFamily="34" charset="0"/>
                          <a:ea typeface="Calibri" pitchFamily="34" charset="-122"/>
                          <a:cs typeface="Calibri" pitchFamily="34" charset="-120"/>
                        </a:rPr>
                        <a:t>1 · 1 MW</a:t>
                      </a:r>
                      <a:endParaRPr lang="en-US" sz="1050" dirty="0">
                        <a:latin typeface="Calibri" charset="0"/>
                        <a:ea typeface="Calibri" charset="0"/>
                        <a:cs typeface="Calibri" charset="0"/>
                      </a:endParaRPr>
                    </a:p>
                  </a:txBody>
                  <a:tcPr marL="73152" marR="73152" marT="36576" marB="36576"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algn="r" indent="0" marL="0">
                        <a:buNone/>
                      </a:pPr>
                      <a:r>
                        <a:rPr lang="en-US" sz="1050" dirty="0">
                          <a:solidFill>
                            <a:srgbClr val="16202E"/>
                          </a:solidFill>
                          <a:latin typeface="Calibri" pitchFamily="34" charset="0"/>
                          <a:ea typeface="Calibri" pitchFamily="34" charset="-122"/>
                          <a:cs typeface="Calibri" pitchFamily="34" charset="-120"/>
                        </a:rPr>
                        <a:t>2 · 1.4 GW</a:t>
                      </a:r>
                      <a:endParaRPr lang="en-US" sz="1050" dirty="0">
                        <a:latin typeface="Calibri" charset="0"/>
                        <a:ea typeface="Calibri" charset="0"/>
                        <a:cs typeface="Calibri" charset="0"/>
                      </a:endParaRPr>
                    </a:p>
                  </a:txBody>
                  <a:tcPr marL="73152" marR="73152" marT="36576" marB="36576"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0">
                <a:tc>
                  <a:txBody>
                    <a:bodyPr/>
                    <a:lstStyle/>
                    <a:p>
                      <a:pPr algn="l" indent="0" marL="0">
                        <a:buNone/>
                      </a:pPr>
                      <a:r>
                        <a:rPr lang="en-US" sz="1050" b="1" dirty="0">
                          <a:solidFill>
                            <a:srgbClr val="16202E"/>
                          </a:solidFill>
                          <a:latin typeface="Calibri" pitchFamily="34" charset="0"/>
                          <a:ea typeface="Calibri" pitchFamily="34" charset="-122"/>
                          <a:cs typeface="Calibri" pitchFamily="34" charset="-120"/>
                        </a:rPr>
                        <a:t>Total</a:t>
                      </a:r>
                      <a:endParaRPr lang="en-US" sz="1050" dirty="0">
                        <a:latin typeface="Calibri" charset="0"/>
                        <a:ea typeface="Calibri" charset="0"/>
                        <a:cs typeface="Calibri" charset="0"/>
                      </a:endParaRPr>
                    </a:p>
                  </a:txBody>
                  <a:tcPr marL="73152" marR="73152" marT="36576" marB="36576"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EF2F2"/>
                    </a:solidFill>
                  </a:tcPr>
                </a:tc>
                <a:tc>
                  <a:txBody>
                    <a:bodyPr/>
                    <a:lstStyle/>
                    <a:p>
                      <a:pPr algn="r" indent="0" marL="0">
                        <a:buNone/>
                      </a:pPr>
                      <a:r>
                        <a:rPr lang="en-US" sz="1050" b="1" dirty="0">
                          <a:solidFill>
                            <a:srgbClr val="16202E"/>
                          </a:solidFill>
                          <a:latin typeface="Calibri" pitchFamily="34" charset="0"/>
                          <a:ea typeface="Calibri" pitchFamily="34" charset="-122"/>
                          <a:cs typeface="Calibri" pitchFamily="34" charset="-120"/>
                        </a:rPr>
                        <a:t>3.2 GW</a:t>
                      </a:r>
                      <a:endParaRPr lang="en-US" sz="1050" dirty="0">
                        <a:latin typeface="Calibri" charset="0"/>
                        <a:ea typeface="Calibri" charset="0"/>
                        <a:cs typeface="Calibri" charset="0"/>
                      </a:endParaRPr>
                    </a:p>
                  </a:txBody>
                  <a:tcPr marL="73152" marR="73152" marT="36576" marB="36576"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EF2F2"/>
                    </a:solidFill>
                  </a:tcPr>
                </a:tc>
                <a:tc>
                  <a:txBody>
                    <a:bodyPr/>
                    <a:lstStyle/>
                    <a:p>
                      <a:pPr algn="r" indent="0" marL="0">
                        <a:buNone/>
                      </a:pPr>
                      <a:r>
                        <a:rPr lang="en-US" sz="1050" b="1" dirty="0">
                          <a:solidFill>
                            <a:srgbClr val="16202E"/>
                          </a:solidFill>
                          <a:latin typeface="Calibri" pitchFamily="34" charset="0"/>
                          <a:ea typeface="Calibri" pitchFamily="34" charset="-122"/>
                          <a:cs typeface="Calibri" pitchFamily="34" charset="-120"/>
                        </a:rPr>
                        <a:t>12.0 GW</a:t>
                      </a:r>
                      <a:endParaRPr lang="en-US" sz="1050" dirty="0">
                        <a:latin typeface="Calibri" charset="0"/>
                        <a:ea typeface="Calibri" charset="0"/>
                        <a:cs typeface="Calibri" charset="0"/>
                      </a:endParaRPr>
                    </a:p>
                  </a:txBody>
                  <a:tcPr marL="73152" marR="73152" marT="36576" marB="36576"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EF2F2"/>
                    </a:solidFill>
                  </a:tcPr>
                </a:tc>
              </a:tr>
            </a:tbl>
          </a:graphicData>
        </a:graphic>
      </p:graphicFrame>
      <p:pic>
        <p:nvPicPr>
          <p:cNvPr id="7" name="Image 1" descr="/home/claude/repo/outputs/reports/om_exhibits/exhibit_4_1_generation-cluster.jpg">    </p:cNvPr>
          <p:cNvPicPr>
            <a:picLocks noChangeAspect="1"/>
          </p:cNvPicPr>
          <p:nvPr/>
        </p:nvPicPr>
        <p:blipFill>
          <a:blip r:embed="rId2"/>
          <a:stretch>
            <a:fillRect/>
          </a:stretch>
        </p:blipFill>
        <p:spPr>
          <a:xfrm>
            <a:off x="6263640" y="1783080"/>
            <a:ext cx="5394960" cy="3088615"/>
          </a:xfrm>
          <a:prstGeom prst="rect">
            <a:avLst/>
          </a:prstGeom>
          <a:effectLst>
            <a:outerShdw sx="100000" sy="100000" kx="0" ky="0" algn="bl" rotWithShape="0" blurRad="88900" dist="25400" dir="5400000">
              <a:srgbClr val="0F1B2D">
                <a:alpha val="16000"/>
              </a:srgbClr>
            </a:outerShdw>
          </a:effectLst>
        </p:spPr>
      </p:pic>
      <p:sp>
        <p:nvSpPr>
          <p:cNvPr id="8" name="Shape 3"/>
          <p:cNvSpPr/>
          <p:nvPr/>
        </p:nvSpPr>
        <p:spPr>
          <a:xfrm>
            <a:off x="6263640" y="1783080"/>
            <a:ext cx="5394960" cy="3088615"/>
          </a:xfrm>
          <a:prstGeom prst="rect">
            <a:avLst/>
          </a:prstGeom>
          <a:ln w="12700">
            <a:solidFill>
              <a:srgbClr val="E2E8F0"/>
            </a:solidFill>
            <a:prstDash val="solid"/>
          </a:ln>
        </p:spPr>
      </p:sp>
      <p:sp>
        <p:nvSpPr>
          <p:cNvPr id="9" name="Text 4"/>
          <p:cNvSpPr/>
          <p:nvPr/>
        </p:nvSpPr>
        <p:spPr>
          <a:xfrm>
            <a:off x="6263640" y="4963135"/>
            <a:ext cx="5394960" cy="457200"/>
          </a:xfrm>
          <a:prstGeom prst="rect">
            <a:avLst/>
          </a:prstGeom>
          <a:noFill/>
          <a:ln/>
        </p:spPr>
        <p:txBody>
          <a:bodyPr wrap="square" rtlCol="0" anchor="ctr"/>
          <a:lstStyle/>
          <a:p>
            <a:pPr indent="0" marL="0">
              <a:buNone/>
            </a:pPr>
            <a:r>
              <a:rPr lang="en-US" sz="950" i="1" dirty="0">
                <a:solidFill>
                  <a:srgbClr val="64748B"/>
                </a:solidFill>
                <a:latin typeface="Calibri" pitchFamily="34" charset="0"/>
                <a:ea typeface="Calibri" pitchFamily="34" charset="-122"/>
                <a:cs typeface="Calibri" pitchFamily="34" charset="-120"/>
              </a:rPr>
              <a:t>Exhibit 4.1 — Operating fleet and ERCOT interconnection queue over one footprint.</a:t>
            </a:r>
            <a:endParaRPr lang="en-US" sz="950" dirty="0"/>
          </a:p>
        </p:txBody>
      </p:sp>
      <p:sp>
        <p:nvSpPr>
          <p:cNvPr id="10" name="Text 5"/>
          <p:cNvSpPr/>
          <p:nvPr/>
        </p:nvSpPr>
        <p:spPr>
          <a:xfrm>
            <a:off x="548640" y="5989320"/>
            <a:ext cx="11064240" cy="457200"/>
          </a:xfrm>
          <a:prstGeom prst="rect">
            <a:avLst/>
          </a:prstGeom>
          <a:noFill/>
          <a:ln/>
        </p:spPr>
        <p:txBody>
          <a:bodyPr wrap="square" rtlCol="0" anchor="ctr"/>
          <a:lstStyle/>
          <a:p>
            <a:pPr indent="0" marL="0">
              <a:buNone/>
            </a:pPr>
            <a:r>
              <a:rPr lang="en-US" sz="950" i="1" dirty="0">
                <a:solidFill>
                  <a:srgbClr val="64748B"/>
                </a:solidFill>
                <a:latin typeface="Calibri" pitchFamily="34" charset="0"/>
                <a:ea typeface="Calibri" pitchFamily="34" charset="-122"/>
                <a:cs typeface="Calibri" pitchFamily="34" charset="-120"/>
              </a:rPr>
              <a:t>Adjacent counties (Reeves, Crane, Ward, Upton, Ector, Crockett): 7.0 GW operating, 24.6 GW queued. Named-project detail in the full document.</a:t>
            </a:r>
            <a:endParaRPr lang="en-US" sz="950" dirty="0"/>
          </a:p>
        </p:txBody>
      </p:sp>
      <p:sp>
        <p:nvSpPr>
          <p:cNvPr id="11" name="Text 6"/>
          <p:cNvSpPr/>
          <p:nvPr/>
        </p:nvSpPr>
        <p:spPr>
          <a:xfrm>
            <a:off x="457200" y="6510528"/>
            <a:ext cx="7315200" cy="274320"/>
          </a:xfrm>
          <a:prstGeom prst="rect">
            <a:avLst/>
          </a:prstGeom>
          <a:noFill/>
          <a:ln/>
        </p:spPr>
        <p:txBody>
          <a:bodyPr wrap="square" rtlCol="0" anchor="ctr"/>
          <a:lstStyle/>
          <a:p>
            <a:pPr indent="0" marL="0">
              <a:buNone/>
            </a:pPr>
            <a:r>
              <a:rPr lang="en-US" sz="800" dirty="0">
                <a:solidFill>
                  <a:srgbClr val="64748B"/>
                </a:solidFill>
                <a:latin typeface="Calibri" pitchFamily="34" charset="0"/>
                <a:ea typeface="Calibri" pitchFamily="34" charset="-122"/>
                <a:cs typeface="Calibri" pitchFamily="34" charset="-120"/>
              </a:rPr>
              <a:t>CARAMBA NORTH — STRICTLY CONFIDENTIAL, POST-NDA</a:t>
            </a:r>
            <a:endParaRPr lang="en-US" sz="800" dirty="0"/>
          </a:p>
        </p:txBody>
      </p:sp>
      <p:sp>
        <p:nvSpPr>
          <p:cNvPr id="12" name="Text 7"/>
          <p:cNvSpPr/>
          <p:nvPr/>
        </p:nvSpPr>
        <p:spPr>
          <a:xfrm>
            <a:off x="11368735" y="6510528"/>
            <a:ext cx="365760" cy="274320"/>
          </a:xfrm>
          <a:prstGeom prst="rect">
            <a:avLst/>
          </a:prstGeom>
          <a:noFill/>
          <a:ln/>
        </p:spPr>
        <p:txBody>
          <a:bodyPr wrap="square" rtlCol="0" anchor="ctr"/>
          <a:lstStyle/>
          <a:p>
            <a:pPr algn="r" indent="0" marL="0">
              <a:buNone/>
            </a:pPr>
            <a:r>
              <a:rPr lang="en-US" sz="800" dirty="0">
                <a:solidFill>
                  <a:srgbClr val="64748B"/>
                </a:solidFill>
                <a:latin typeface="Calibri" pitchFamily="34" charset="0"/>
                <a:ea typeface="Calibri" pitchFamily="34" charset="-122"/>
                <a:cs typeface="Calibri"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10896"/>
            <a:ext cx="402336" cy="402336"/>
          </a:xfrm>
          <a:prstGeom prst="ellipse">
            <a:avLst/>
          </a:prstGeom>
          <a:solidFill>
            <a:srgbClr val="B91C1C"/>
          </a:solidFill>
          <a:ln/>
          <a:effectLst>
            <a:outerShdw sx="100000" sy="100000" kx="0" ky="0" algn="bl" rotWithShape="0" blurRad="88900" dist="25400" dir="5400000">
              <a:srgbClr val="0F1B2D">
                <a:alpha val="16000"/>
              </a:srgbClr>
            </a:outerShdw>
          </a:effectLst>
        </p:spPr>
      </p:sp>
      <p:pic>
        <p:nvPicPr>
          <p:cNvPr id="3" name="Image 0" descr="preencoded.png">    </p:cNvPr>
          <p:cNvPicPr>
            <a:picLocks noChangeAspect="1"/>
          </p:cNvPicPr>
          <p:nvPr/>
        </p:nvPicPr>
        <p:blipFill>
          <a:blip r:embed="rId1"/>
          <a:stretch>
            <a:fillRect/>
          </a:stretch>
        </p:blipFill>
        <p:spPr>
          <a:xfrm>
            <a:off x="653247" y="415503"/>
            <a:ext cx="193121" cy="193121"/>
          </a:xfrm>
          <a:prstGeom prst="rect">
            <a:avLst/>
          </a:prstGeom>
        </p:spPr>
      </p:pic>
      <p:sp>
        <p:nvSpPr>
          <p:cNvPr id="4" name="Text 1"/>
          <p:cNvSpPr/>
          <p:nvPr/>
        </p:nvSpPr>
        <p:spPr>
          <a:xfrm>
            <a:off x="1097280" y="365760"/>
            <a:ext cx="9144000" cy="365760"/>
          </a:xfrm>
          <a:prstGeom prst="rect">
            <a:avLst/>
          </a:prstGeom>
          <a:noFill/>
          <a:ln/>
        </p:spPr>
        <p:txBody>
          <a:bodyPr wrap="square" rtlCol="0" anchor="ctr"/>
          <a:lstStyle/>
          <a:p>
            <a:pPr indent="0" marL="0">
              <a:buNone/>
            </a:pPr>
            <a:r>
              <a:rPr lang="en-US" sz="1200" b="1" spc="200" kern="0" dirty="0">
                <a:solidFill>
                  <a:srgbClr val="B91C1C"/>
                </a:solidFill>
                <a:latin typeface="Calibri" pitchFamily="34" charset="0"/>
                <a:ea typeface="Calibri" pitchFamily="34" charset="-122"/>
                <a:cs typeface="Calibri" pitchFamily="34" charset="-120"/>
              </a:rPr>
              <a:t>05 / 06 · WATER &amp; NATURAL GAS</a:t>
            </a:r>
            <a:endParaRPr lang="en-US" sz="1200" dirty="0"/>
          </a:p>
        </p:txBody>
      </p:sp>
      <p:sp>
        <p:nvSpPr>
          <p:cNvPr id="5" name="Text 2"/>
          <p:cNvSpPr/>
          <p:nvPr/>
        </p:nvSpPr>
        <p:spPr>
          <a:xfrm>
            <a:off x="548640" y="841248"/>
            <a:ext cx="11064240" cy="822960"/>
          </a:xfrm>
          <a:prstGeom prst="rect">
            <a:avLst/>
          </a:prstGeom>
          <a:noFill/>
          <a:ln/>
        </p:spPr>
        <p:txBody>
          <a:bodyPr wrap="square" rtlCol="0" anchor="t"/>
          <a:lstStyle/>
          <a:p>
            <a:pPr indent="0" marL="0">
              <a:buNone/>
            </a:pPr>
            <a:r>
              <a:rPr lang="en-US" sz="2500" b="1" dirty="0">
                <a:solidFill>
                  <a:srgbClr val="0F1B2D"/>
                </a:solidFill>
                <a:latin typeface="Cambria" pitchFamily="34" charset="0"/>
                <a:ea typeface="Cambria" pitchFamily="34" charset="-122"/>
                <a:cs typeface="Cambria" pitchFamily="34" charset="-120"/>
              </a:rPr>
              <a:t>Permitted water at scale, and a Waha-basis gas quote in hand</a:t>
            </a:r>
            <a:endParaRPr lang="en-US" sz="2500" dirty="0"/>
          </a:p>
        </p:txBody>
      </p:sp>
      <p:sp>
        <p:nvSpPr>
          <p:cNvPr id="6" name="Shape 3"/>
          <p:cNvSpPr/>
          <p:nvPr/>
        </p:nvSpPr>
        <p:spPr>
          <a:xfrm>
            <a:off x="548640" y="1783080"/>
            <a:ext cx="5394960" cy="4206240"/>
          </a:xfrm>
          <a:prstGeom prst="roundRect">
            <a:avLst>
              <a:gd name="adj" fmla="val 1087"/>
            </a:avLst>
          </a:prstGeom>
          <a:solidFill>
            <a:srgbClr val="F1F5F9"/>
          </a:solidFill>
          <a:ln w="9525">
            <a:solidFill>
              <a:srgbClr val="E2E8F0"/>
            </a:solidFill>
            <a:prstDash val="solid"/>
          </a:ln>
          <a:effectLst>
            <a:outerShdw sx="100000" sy="100000" kx="0" ky="0" algn="bl" rotWithShape="0" blurRad="88900" dist="25400" dir="5400000">
              <a:srgbClr val="0F1B2D">
                <a:alpha val="16000"/>
              </a:srgbClr>
            </a:outerShdw>
          </a:effectLst>
        </p:spPr>
      </p:sp>
      <p:sp>
        <p:nvSpPr>
          <p:cNvPr id="7" name="Shape 4"/>
          <p:cNvSpPr/>
          <p:nvPr/>
        </p:nvSpPr>
        <p:spPr>
          <a:xfrm>
            <a:off x="777240" y="1938528"/>
            <a:ext cx="457200" cy="457200"/>
          </a:xfrm>
          <a:prstGeom prst="ellipse">
            <a:avLst/>
          </a:prstGeom>
          <a:solidFill>
            <a:srgbClr val="B91C1C"/>
          </a:solidFill>
          <a:ln/>
          <a:effectLst>
            <a:outerShdw sx="100000" sy="100000" kx="0" ky="0" algn="bl" rotWithShape="0" blurRad="88900" dist="25400" dir="5400000">
              <a:srgbClr val="0F1B2D">
                <a:alpha val="16000"/>
              </a:srgbClr>
            </a:outerShdw>
          </a:effectLst>
        </p:spPr>
      </p:sp>
      <p:pic>
        <p:nvPicPr>
          <p:cNvPr id="8" name="Image 1" descr="preencoded.png">    </p:cNvPr>
          <p:cNvPicPr>
            <a:picLocks noChangeAspect="1"/>
          </p:cNvPicPr>
          <p:nvPr/>
        </p:nvPicPr>
        <p:blipFill>
          <a:blip r:embed="rId2"/>
          <a:stretch>
            <a:fillRect/>
          </a:stretch>
        </p:blipFill>
        <p:spPr>
          <a:xfrm>
            <a:off x="896112" y="2057400"/>
            <a:ext cx="219456" cy="219456"/>
          </a:xfrm>
          <a:prstGeom prst="rect">
            <a:avLst/>
          </a:prstGeom>
        </p:spPr>
      </p:pic>
      <p:sp>
        <p:nvSpPr>
          <p:cNvPr id="9" name="Text 5"/>
          <p:cNvSpPr/>
          <p:nvPr/>
        </p:nvSpPr>
        <p:spPr>
          <a:xfrm>
            <a:off x="1353312" y="1965960"/>
            <a:ext cx="4389120" cy="411480"/>
          </a:xfrm>
          <a:prstGeom prst="rect">
            <a:avLst/>
          </a:prstGeom>
          <a:noFill/>
          <a:ln/>
        </p:spPr>
        <p:txBody>
          <a:bodyPr wrap="square" rtlCol="0" anchor="ctr"/>
          <a:lstStyle/>
          <a:p>
            <a:pPr indent="0" marL="0">
              <a:buNone/>
            </a:pPr>
            <a:r>
              <a:rPr lang="en-US" sz="1300" b="1" spc="150" kern="0" dirty="0">
                <a:solidFill>
                  <a:srgbClr val="B91C1C"/>
                </a:solidFill>
                <a:latin typeface="Calibri" pitchFamily="34" charset="0"/>
                <a:ea typeface="Calibri" pitchFamily="34" charset="-122"/>
                <a:cs typeface="Calibri" pitchFamily="34" charset="-120"/>
              </a:rPr>
              <a:t>WATER</a:t>
            </a:r>
            <a:endParaRPr lang="en-US" sz="1300" dirty="0"/>
          </a:p>
        </p:txBody>
      </p:sp>
      <p:sp>
        <p:nvSpPr>
          <p:cNvPr id="10" name="Text 6"/>
          <p:cNvSpPr/>
          <p:nvPr/>
        </p:nvSpPr>
        <p:spPr>
          <a:xfrm>
            <a:off x="777240" y="2514600"/>
            <a:ext cx="4937760" cy="548640"/>
          </a:xfrm>
          <a:prstGeom prst="rect">
            <a:avLst/>
          </a:prstGeom>
          <a:noFill/>
          <a:ln/>
        </p:spPr>
        <p:txBody>
          <a:bodyPr wrap="square" rtlCol="0" anchor="ctr"/>
          <a:lstStyle/>
          <a:p>
            <a:pPr indent="0" marL="0">
              <a:buNone/>
            </a:pPr>
            <a:r>
              <a:rPr lang="en-US" sz="3000" b="1" dirty="0">
                <a:solidFill>
                  <a:srgbClr val="0F1B2D"/>
                </a:solidFill>
                <a:latin typeface="Calibri" pitchFamily="34" charset="0"/>
                <a:ea typeface="Calibri" pitchFamily="34" charset="-122"/>
                <a:cs typeface="Calibri" pitchFamily="34" charset="-120"/>
              </a:rPr>
              <a:t>47,418 AF/yr</a:t>
            </a:r>
            <a:endParaRPr lang="en-US" sz="3000" dirty="0"/>
          </a:p>
        </p:txBody>
      </p:sp>
      <p:sp>
        <p:nvSpPr>
          <p:cNvPr id="11" name="Text 7"/>
          <p:cNvSpPr/>
          <p:nvPr/>
        </p:nvSpPr>
        <p:spPr>
          <a:xfrm>
            <a:off x="777240" y="3108960"/>
            <a:ext cx="4937760" cy="1737360"/>
          </a:xfrm>
          <a:prstGeom prst="rect">
            <a:avLst/>
          </a:prstGeom>
          <a:noFill/>
          <a:ln/>
        </p:spPr>
        <p:txBody>
          <a:bodyPr wrap="square" rtlCol="0" anchor="ctr"/>
          <a:lstStyle/>
          <a:p>
            <a:pPr indent="0" marL="0">
              <a:buNone/>
            </a:pPr>
            <a:r>
              <a:rPr lang="en-US" sz="1150" dirty="0">
                <a:solidFill>
                  <a:srgbClr val="475569"/>
                </a:solidFill>
                <a:latin typeface="Calibri" pitchFamily="34" charset="0"/>
                <a:ea typeface="Calibri" pitchFamily="34" charset="-122"/>
                <a:cs typeface="Calibri" pitchFamily="34" charset="-120"/>
              </a:rPr>
              <a:t>(~42.3 MGD) permitted on adjacent affiliated lands — ≈ two-thirds of total Middle Pecos GCD rights. Source: Edwards-Trinity (Plateau) aquifer; recharge held through the 1950s drought of record.</a:t>
            </a:r>
            <a:endParaRPr lang="en-US" sz="1150" dirty="0"/>
          </a:p>
        </p:txBody>
      </p:sp>
      <p:sp>
        <p:nvSpPr>
          <p:cNvPr id="12" name="Text 8"/>
          <p:cNvSpPr/>
          <p:nvPr/>
        </p:nvSpPr>
        <p:spPr>
          <a:xfrm>
            <a:off x="777240" y="5394960"/>
            <a:ext cx="4937760" cy="457200"/>
          </a:xfrm>
          <a:prstGeom prst="rect">
            <a:avLst/>
          </a:prstGeom>
          <a:noFill/>
          <a:ln/>
        </p:spPr>
        <p:txBody>
          <a:bodyPr wrap="square" rtlCol="0" anchor="ctr"/>
          <a:lstStyle/>
          <a:p>
            <a:pPr indent="0" marL="0">
              <a:buNone/>
            </a:pPr>
            <a:r>
              <a:rPr lang="en-US" sz="1000" i="1" dirty="0">
                <a:solidFill>
                  <a:srgbClr val="64748B"/>
                </a:solidFill>
                <a:latin typeface="Calibri" pitchFamily="34" charset="0"/>
                <a:ea typeface="Calibri" pitchFamily="34" charset="-122"/>
                <a:cs typeface="Calibri" pitchFamily="34" charset="-120"/>
              </a:rPr>
              <a:t>Groundwater district: Middle Pecos GCD  ·  Permitted use: industrial (cooling, hyperscale loads)</a:t>
            </a:r>
            <a:endParaRPr lang="en-US" sz="1000" dirty="0"/>
          </a:p>
        </p:txBody>
      </p:sp>
      <p:sp>
        <p:nvSpPr>
          <p:cNvPr id="13" name="Shape 9"/>
          <p:cNvSpPr/>
          <p:nvPr/>
        </p:nvSpPr>
        <p:spPr>
          <a:xfrm>
            <a:off x="6263640" y="1783080"/>
            <a:ext cx="5394960" cy="4206240"/>
          </a:xfrm>
          <a:prstGeom prst="roundRect">
            <a:avLst>
              <a:gd name="adj" fmla="val 1087"/>
            </a:avLst>
          </a:prstGeom>
          <a:solidFill>
            <a:srgbClr val="F1F5F9"/>
          </a:solidFill>
          <a:ln w="9525">
            <a:solidFill>
              <a:srgbClr val="E2E8F0"/>
            </a:solidFill>
            <a:prstDash val="solid"/>
          </a:ln>
          <a:effectLst>
            <a:outerShdw sx="100000" sy="100000" kx="0" ky="0" algn="bl" rotWithShape="0" blurRad="88900" dist="25400" dir="5400000">
              <a:srgbClr val="0F1B2D">
                <a:alpha val="16000"/>
              </a:srgbClr>
            </a:outerShdw>
          </a:effectLst>
        </p:spPr>
      </p:sp>
      <p:sp>
        <p:nvSpPr>
          <p:cNvPr id="14" name="Shape 10"/>
          <p:cNvSpPr/>
          <p:nvPr/>
        </p:nvSpPr>
        <p:spPr>
          <a:xfrm>
            <a:off x="6492240" y="1938528"/>
            <a:ext cx="457200" cy="457200"/>
          </a:xfrm>
          <a:prstGeom prst="ellipse">
            <a:avLst/>
          </a:prstGeom>
          <a:solidFill>
            <a:srgbClr val="B91C1C"/>
          </a:solidFill>
          <a:ln/>
          <a:effectLst>
            <a:outerShdw sx="100000" sy="100000" kx="0" ky="0" algn="bl" rotWithShape="0" blurRad="88900" dist="25400" dir="5400000">
              <a:srgbClr val="0F1B2D">
                <a:alpha val="16000"/>
              </a:srgbClr>
            </a:outerShdw>
          </a:effectLst>
        </p:spPr>
      </p:sp>
      <p:pic>
        <p:nvPicPr>
          <p:cNvPr id="15" name="Image 2" descr="preencoded.png">    </p:cNvPr>
          <p:cNvPicPr>
            <a:picLocks noChangeAspect="1"/>
          </p:cNvPicPr>
          <p:nvPr/>
        </p:nvPicPr>
        <p:blipFill>
          <a:blip r:embed="rId3"/>
          <a:stretch>
            <a:fillRect/>
          </a:stretch>
        </p:blipFill>
        <p:spPr>
          <a:xfrm>
            <a:off x="6611112" y="2057400"/>
            <a:ext cx="219456" cy="219456"/>
          </a:xfrm>
          <a:prstGeom prst="rect">
            <a:avLst/>
          </a:prstGeom>
        </p:spPr>
      </p:pic>
      <p:sp>
        <p:nvSpPr>
          <p:cNvPr id="16" name="Text 11"/>
          <p:cNvSpPr/>
          <p:nvPr/>
        </p:nvSpPr>
        <p:spPr>
          <a:xfrm>
            <a:off x="7068312" y="1965960"/>
            <a:ext cx="4389120" cy="411480"/>
          </a:xfrm>
          <a:prstGeom prst="rect">
            <a:avLst/>
          </a:prstGeom>
          <a:noFill/>
          <a:ln/>
        </p:spPr>
        <p:txBody>
          <a:bodyPr wrap="square" rtlCol="0" anchor="ctr"/>
          <a:lstStyle/>
          <a:p>
            <a:pPr indent="0" marL="0">
              <a:buNone/>
            </a:pPr>
            <a:r>
              <a:rPr lang="en-US" sz="1300" b="1" spc="150" kern="0" dirty="0">
                <a:solidFill>
                  <a:srgbClr val="B91C1C"/>
                </a:solidFill>
                <a:latin typeface="Calibri" pitchFamily="34" charset="0"/>
                <a:ea typeface="Calibri" pitchFamily="34" charset="-122"/>
                <a:cs typeface="Calibri" pitchFamily="34" charset="-120"/>
              </a:rPr>
              <a:t>NATURAL GAS</a:t>
            </a:r>
            <a:endParaRPr lang="en-US" sz="1300" dirty="0"/>
          </a:p>
        </p:txBody>
      </p:sp>
      <p:sp>
        <p:nvSpPr>
          <p:cNvPr id="17" name="Text 12"/>
          <p:cNvSpPr/>
          <p:nvPr/>
        </p:nvSpPr>
        <p:spPr>
          <a:xfrm>
            <a:off x="6492240" y="2514600"/>
            <a:ext cx="4937760" cy="548640"/>
          </a:xfrm>
          <a:prstGeom prst="rect">
            <a:avLst/>
          </a:prstGeom>
          <a:noFill/>
          <a:ln/>
        </p:spPr>
        <p:txBody>
          <a:bodyPr wrap="square" rtlCol="0" anchor="ctr"/>
          <a:lstStyle/>
          <a:p>
            <a:pPr indent="0" marL="0">
              <a:buNone/>
            </a:pPr>
            <a:r>
              <a:rPr lang="en-US" sz="3000" b="1" dirty="0">
                <a:solidFill>
                  <a:srgbClr val="0F1B2D"/>
                </a:solidFill>
                <a:latin typeface="Calibri" pitchFamily="34" charset="0"/>
                <a:ea typeface="Calibri" pitchFamily="34" charset="-122"/>
                <a:cs typeface="Calibri" pitchFamily="34" charset="-120"/>
              </a:rPr>
              <a:t>20 mi to Waha</a:t>
            </a:r>
            <a:endParaRPr lang="en-US" sz="3000" dirty="0"/>
          </a:p>
        </p:txBody>
      </p:sp>
      <p:sp>
        <p:nvSpPr>
          <p:cNvPr id="18" name="Text 13"/>
          <p:cNvSpPr/>
          <p:nvPr/>
        </p:nvSpPr>
        <p:spPr>
          <a:xfrm>
            <a:off x="6492240" y="3108960"/>
            <a:ext cx="4937760" cy="1737360"/>
          </a:xfrm>
          <a:prstGeom prst="rect">
            <a:avLst/>
          </a:prstGeom>
          <a:noFill/>
          <a:ln/>
        </p:spPr>
        <p:txBody>
          <a:bodyPr wrap="square" rtlCol="0" anchor="ctr"/>
          <a:lstStyle/>
          <a:p>
            <a:pPr indent="0" marL="0">
              <a:buNone/>
            </a:pPr>
            <a:r>
              <a:rPr lang="en-US" sz="1150" dirty="0">
                <a:solidFill>
                  <a:srgbClr val="475569"/>
                </a:solidFill>
                <a:latin typeface="Calibri" pitchFamily="34" charset="0"/>
                <a:ea typeface="Calibri" pitchFamily="34" charset="-122"/>
                <a:cs typeface="Calibri" pitchFamily="34" charset="-120"/>
              </a:rPr>
              <a:t>Indicative supply quote: 200,000 MMBtu/day, 15-year term, Waha-index pricing. CIAC $15–25M; lead time 9–15 months (counterparty-supplied terms).</a:t>
            </a:r>
            <a:endParaRPr lang="en-US" sz="1150" dirty="0"/>
          </a:p>
        </p:txBody>
      </p:sp>
      <p:sp>
        <p:nvSpPr>
          <p:cNvPr id="19" name="Text 14"/>
          <p:cNvSpPr/>
          <p:nvPr/>
        </p:nvSpPr>
        <p:spPr>
          <a:xfrm>
            <a:off x="6492240" y="5394960"/>
            <a:ext cx="4937760" cy="457200"/>
          </a:xfrm>
          <a:prstGeom prst="rect">
            <a:avLst/>
          </a:prstGeom>
          <a:noFill/>
          <a:ln/>
        </p:spPr>
        <p:txBody>
          <a:bodyPr wrap="square" rtlCol="0" anchor="ctr"/>
          <a:lstStyle/>
          <a:p>
            <a:pPr indent="0" marL="0">
              <a:buNone/>
            </a:pPr>
            <a:r>
              <a:rPr lang="en-US" sz="1000" i="1" dirty="0">
                <a:solidFill>
                  <a:srgbClr val="64748B"/>
                </a:solidFill>
                <a:latin typeface="Calibri" pitchFamily="34" charset="0"/>
                <a:ea typeface="Calibri" pitchFamily="34" charset="-122"/>
                <a:cs typeface="Calibri" pitchFamily="34" charset="-120"/>
              </a:rPr>
              <a:t>Basis: structural discount to Henry Hub; negative prints 2024–2025 as Matterhorn, Blackcomb, Hugh Brinson, GCX rebalance egress.</a:t>
            </a:r>
            <a:endParaRPr lang="en-US" sz="1000" dirty="0"/>
          </a:p>
        </p:txBody>
      </p:sp>
      <p:sp>
        <p:nvSpPr>
          <p:cNvPr id="20" name="Text 15"/>
          <p:cNvSpPr/>
          <p:nvPr/>
        </p:nvSpPr>
        <p:spPr>
          <a:xfrm>
            <a:off x="457200" y="6510528"/>
            <a:ext cx="7315200" cy="274320"/>
          </a:xfrm>
          <a:prstGeom prst="rect">
            <a:avLst/>
          </a:prstGeom>
          <a:noFill/>
          <a:ln/>
        </p:spPr>
        <p:txBody>
          <a:bodyPr wrap="square" rtlCol="0" anchor="ctr"/>
          <a:lstStyle/>
          <a:p>
            <a:pPr indent="0" marL="0">
              <a:buNone/>
            </a:pPr>
            <a:r>
              <a:rPr lang="en-US" sz="800" dirty="0">
                <a:solidFill>
                  <a:srgbClr val="64748B"/>
                </a:solidFill>
                <a:latin typeface="Calibri" pitchFamily="34" charset="0"/>
                <a:ea typeface="Calibri" pitchFamily="34" charset="-122"/>
                <a:cs typeface="Calibri" pitchFamily="34" charset="-120"/>
              </a:rPr>
              <a:t>CARAMBA NORTH — STRICTLY CONFIDENTIAL, POST-NDA</a:t>
            </a:r>
            <a:endParaRPr lang="en-US" sz="800" dirty="0"/>
          </a:p>
        </p:txBody>
      </p:sp>
      <p:sp>
        <p:nvSpPr>
          <p:cNvPr id="21" name="Text 16"/>
          <p:cNvSpPr/>
          <p:nvPr/>
        </p:nvSpPr>
        <p:spPr>
          <a:xfrm>
            <a:off x="11368735" y="6510528"/>
            <a:ext cx="365760" cy="274320"/>
          </a:xfrm>
          <a:prstGeom prst="rect">
            <a:avLst/>
          </a:prstGeom>
          <a:noFill/>
          <a:ln/>
        </p:spPr>
        <p:txBody>
          <a:bodyPr wrap="square" rtlCol="0" anchor="ctr"/>
          <a:lstStyle/>
          <a:p>
            <a:pPr algn="r" indent="0" marL="0">
              <a:buNone/>
            </a:pPr>
            <a:r>
              <a:rPr lang="en-US" sz="800" dirty="0">
                <a:solidFill>
                  <a:srgbClr val="64748B"/>
                </a:solidFill>
                <a:latin typeface="Calibri" pitchFamily="34" charset="0"/>
                <a:ea typeface="Calibri" pitchFamily="34" charset="-122"/>
                <a:cs typeface="Calibri"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10896"/>
            <a:ext cx="402336" cy="402336"/>
          </a:xfrm>
          <a:prstGeom prst="ellipse">
            <a:avLst/>
          </a:prstGeom>
          <a:solidFill>
            <a:srgbClr val="B91C1C"/>
          </a:solidFill>
          <a:ln/>
          <a:effectLst>
            <a:outerShdw sx="100000" sy="100000" kx="0" ky="0" algn="bl" rotWithShape="0" blurRad="88900" dist="25400" dir="5400000">
              <a:srgbClr val="0F1B2D">
                <a:alpha val="16000"/>
              </a:srgbClr>
            </a:outerShdw>
          </a:effectLst>
        </p:spPr>
      </p:sp>
      <p:pic>
        <p:nvPicPr>
          <p:cNvPr id="3" name="Image 0" descr="preencoded.png">    </p:cNvPr>
          <p:cNvPicPr>
            <a:picLocks noChangeAspect="1"/>
          </p:cNvPicPr>
          <p:nvPr/>
        </p:nvPicPr>
        <p:blipFill>
          <a:blip r:embed="rId1"/>
          <a:stretch>
            <a:fillRect/>
          </a:stretch>
        </p:blipFill>
        <p:spPr>
          <a:xfrm>
            <a:off x="653247" y="415503"/>
            <a:ext cx="193121" cy="193121"/>
          </a:xfrm>
          <a:prstGeom prst="rect">
            <a:avLst/>
          </a:prstGeom>
        </p:spPr>
      </p:pic>
      <p:sp>
        <p:nvSpPr>
          <p:cNvPr id="4" name="Text 1"/>
          <p:cNvSpPr/>
          <p:nvPr/>
        </p:nvSpPr>
        <p:spPr>
          <a:xfrm>
            <a:off x="1097280" y="365760"/>
            <a:ext cx="9144000" cy="365760"/>
          </a:xfrm>
          <a:prstGeom prst="rect">
            <a:avLst/>
          </a:prstGeom>
          <a:noFill/>
          <a:ln/>
        </p:spPr>
        <p:txBody>
          <a:bodyPr wrap="square" rtlCol="0" anchor="ctr"/>
          <a:lstStyle/>
          <a:p>
            <a:pPr indent="0" marL="0">
              <a:buNone/>
            </a:pPr>
            <a:r>
              <a:rPr lang="en-US" sz="1200" b="1" spc="200" kern="0" dirty="0">
                <a:solidFill>
                  <a:srgbClr val="B91C1C"/>
                </a:solidFill>
                <a:latin typeface="Calibri" pitchFamily="34" charset="0"/>
                <a:ea typeface="Calibri" pitchFamily="34" charset="-122"/>
                <a:cs typeface="Calibri" pitchFamily="34" charset="-120"/>
              </a:rPr>
              <a:t>07 · REGIONAL DATA CENTER PIPELINE</a:t>
            </a:r>
            <a:endParaRPr lang="en-US" sz="1200" dirty="0"/>
          </a:p>
        </p:txBody>
      </p:sp>
      <p:sp>
        <p:nvSpPr>
          <p:cNvPr id="5" name="Text 2"/>
          <p:cNvSpPr/>
          <p:nvPr/>
        </p:nvSpPr>
        <p:spPr>
          <a:xfrm>
            <a:off x="548640" y="841248"/>
            <a:ext cx="11064240" cy="822960"/>
          </a:xfrm>
          <a:prstGeom prst="rect">
            <a:avLst/>
          </a:prstGeom>
          <a:noFill/>
          <a:ln/>
        </p:spPr>
        <p:txBody>
          <a:bodyPr wrap="square" rtlCol="0" anchor="t"/>
          <a:lstStyle/>
          <a:p>
            <a:pPr indent="0" marL="0">
              <a:buNone/>
            </a:pPr>
            <a:r>
              <a:rPr lang="en-US" sz="2500" b="1" dirty="0">
                <a:solidFill>
                  <a:srgbClr val="0F1B2D"/>
                </a:solidFill>
                <a:latin typeface="Cambria" pitchFamily="34" charset="0"/>
                <a:ea typeface="Cambria" pitchFamily="34" charset="-122"/>
                <a:cs typeface="Cambria" pitchFamily="34" charset="-120"/>
              </a:rPr>
              <a:t>9.7 GW of announced hyperscale capacity within 60 miles</a:t>
            </a:r>
            <a:endParaRPr lang="en-US" sz="25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5394960" cy="914400"/>
        </p:xfrm>
        <a:graphic>
          <a:graphicData uri="http://schemas.openxmlformats.org/drawingml/2006/table">
            <a:tbl>
              <a:tblPr/>
              <a:tblGrid>
                <a:gridCol w="1828800"/>
                <a:gridCol w="1920240"/>
                <a:gridCol w="822960"/>
                <a:gridCol w="822960"/>
              </a:tblGrid>
              <a:tr h="0">
                <a:tc>
                  <a:txBody>
                    <a:bodyPr/>
                    <a:lstStyle/>
                    <a:p>
                      <a:pPr algn="l" indent="0" marL="0">
                        <a:buNone/>
                      </a:pPr>
                      <a:r>
                        <a:rPr lang="en-US" sz="1000" b="1" dirty="0">
                          <a:solidFill>
                            <a:srgbClr val="475569"/>
                          </a:solidFill>
                          <a:latin typeface="Calibri" pitchFamily="34" charset="0"/>
                          <a:ea typeface="Calibri" pitchFamily="34" charset="-122"/>
                          <a:cs typeface="Calibri" pitchFamily="34" charset="-120"/>
                        </a:rPr>
                        <a:t>PROJECT</a:t>
                      </a:r>
                      <a:endParaRPr lang="en-US" sz="1000" dirty="0">
                        <a:latin typeface="Calibri" charset="0"/>
                        <a:ea typeface="Calibri" charset="0"/>
                        <a:cs typeface="Calibri" charset="0"/>
                      </a:endParaRPr>
                    </a:p>
                  </a:txBody>
                  <a:tcPr marL="73152" marR="73152" marT="36576" marB="36576"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algn="l" indent="0" marL="0">
                        <a:buNone/>
                      </a:pPr>
                      <a:r>
                        <a:rPr lang="en-US" sz="1000" b="1" dirty="0">
                          <a:solidFill>
                            <a:srgbClr val="475569"/>
                          </a:solidFill>
                          <a:latin typeface="Calibri" pitchFamily="34" charset="0"/>
                          <a:ea typeface="Calibri" pitchFamily="34" charset="-122"/>
                          <a:cs typeface="Calibri" pitchFamily="34" charset="-120"/>
                        </a:rPr>
                        <a:t>SPONSOR</a:t>
                      </a:r>
                      <a:endParaRPr lang="en-US" sz="1000" dirty="0">
                        <a:latin typeface="Calibri" charset="0"/>
                        <a:ea typeface="Calibri" charset="0"/>
                        <a:cs typeface="Calibri" charset="0"/>
                      </a:endParaRPr>
                    </a:p>
                  </a:txBody>
                  <a:tcPr marL="73152" marR="73152" marT="36576" marB="36576"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algn="r" indent="0" marL="0">
                        <a:buNone/>
                      </a:pPr>
                      <a:r>
                        <a:rPr lang="en-US" sz="1000" b="1" dirty="0">
                          <a:solidFill>
                            <a:srgbClr val="475569"/>
                          </a:solidFill>
                          <a:latin typeface="Calibri" pitchFamily="34" charset="0"/>
                          <a:ea typeface="Calibri" pitchFamily="34" charset="-122"/>
                          <a:cs typeface="Calibri" pitchFamily="34" charset="-120"/>
                        </a:rPr>
                        <a:t>CAPACITY</a:t>
                      </a:r>
                      <a:endParaRPr lang="en-US" sz="1000" dirty="0">
                        <a:latin typeface="Calibri" charset="0"/>
                        <a:ea typeface="Calibri" charset="0"/>
                        <a:cs typeface="Calibri" charset="0"/>
                      </a:endParaRPr>
                    </a:p>
                  </a:txBody>
                  <a:tcPr marL="73152" marR="73152" marT="36576" marB="36576"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algn="r" indent="0" marL="0">
                        <a:buNone/>
                      </a:pPr>
                      <a:r>
                        <a:rPr lang="en-US" sz="1000" b="1" dirty="0">
                          <a:solidFill>
                            <a:srgbClr val="475569"/>
                          </a:solidFill>
                          <a:latin typeface="Calibri" pitchFamily="34" charset="0"/>
                          <a:ea typeface="Calibri" pitchFamily="34" charset="-122"/>
                          <a:cs typeface="Calibri" pitchFamily="34" charset="-120"/>
                        </a:rPr>
                        <a:t>DISTANCE</a:t>
                      </a:r>
                      <a:endParaRPr lang="en-US" sz="1000" dirty="0">
                        <a:latin typeface="Calibri" charset="0"/>
                        <a:ea typeface="Calibri" charset="0"/>
                        <a:cs typeface="Calibri" charset="0"/>
                      </a:endParaRPr>
                    </a:p>
                  </a:txBody>
                  <a:tcPr marL="73152" marR="73152" marT="36576" marB="36576"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r>
              <a:tr h="0">
                <a:tc>
                  <a:txBody>
                    <a:bodyPr/>
                    <a:lstStyle/>
                    <a:p>
                      <a:pPr algn="l" indent="0" marL="0">
                        <a:buNone/>
                      </a:pPr>
                      <a:r>
                        <a:rPr lang="en-US" sz="1000" dirty="0">
                          <a:solidFill>
                            <a:srgbClr val="16202E"/>
                          </a:solidFill>
                          <a:latin typeface="Calibri" pitchFamily="34" charset="0"/>
                          <a:ea typeface="Calibri" pitchFamily="34" charset="-122"/>
                          <a:cs typeface="Calibri" pitchFamily="34" charset="-120"/>
                        </a:rPr>
                        <a:t>GW Ranch</a:t>
                      </a:r>
                      <a:endParaRPr lang="en-US" sz="1000" dirty="0">
                        <a:latin typeface="Calibri" charset="0"/>
                        <a:ea typeface="Calibri" charset="0"/>
                        <a:cs typeface="Calibri" charset="0"/>
                      </a:endParaRPr>
                    </a:p>
                  </a:txBody>
                  <a:tcPr marL="73152" marR="73152" marT="36576" marB="36576"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algn="l" indent="0" marL="0">
                        <a:buNone/>
                      </a:pPr>
                      <a:r>
                        <a:rPr lang="en-US" sz="1000" dirty="0">
                          <a:solidFill>
                            <a:srgbClr val="16202E"/>
                          </a:solidFill>
                          <a:latin typeface="Calibri" pitchFamily="34" charset="0"/>
                          <a:ea typeface="Calibri" pitchFamily="34" charset="-122"/>
                          <a:cs typeface="Calibri" pitchFamily="34" charset="-120"/>
                        </a:rPr>
                        <a:t>Amazon</a:t>
                      </a:r>
                      <a:endParaRPr lang="en-US" sz="1000" dirty="0">
                        <a:latin typeface="Calibri" charset="0"/>
                        <a:ea typeface="Calibri" charset="0"/>
                        <a:cs typeface="Calibri" charset="0"/>
                      </a:endParaRPr>
                    </a:p>
                  </a:txBody>
                  <a:tcPr marL="73152" marR="73152" marT="36576" marB="36576"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algn="r" indent="0" marL="0">
                        <a:buNone/>
                      </a:pPr>
                      <a:r>
                        <a:rPr lang="en-US" sz="1000" dirty="0">
                          <a:solidFill>
                            <a:srgbClr val="16202E"/>
                          </a:solidFill>
                          <a:latin typeface="Calibri" pitchFamily="34" charset="0"/>
                          <a:ea typeface="Calibri" pitchFamily="34" charset="-122"/>
                          <a:cs typeface="Calibri" pitchFamily="34" charset="-120"/>
                        </a:rPr>
                        <a:t>7.7 GW</a:t>
                      </a:r>
                      <a:endParaRPr lang="en-US" sz="1000" dirty="0">
                        <a:latin typeface="Calibri" charset="0"/>
                        <a:ea typeface="Calibri" charset="0"/>
                        <a:cs typeface="Calibri" charset="0"/>
                      </a:endParaRPr>
                    </a:p>
                  </a:txBody>
                  <a:tcPr marL="73152" marR="73152" marT="36576" marB="36576"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algn="r" indent="0" marL="0">
                        <a:buNone/>
                      </a:pPr>
                      <a:r>
                        <a:rPr lang="en-US" sz="1000" dirty="0">
                          <a:solidFill>
                            <a:srgbClr val="16202E"/>
                          </a:solidFill>
                          <a:latin typeface="Calibri" pitchFamily="34" charset="0"/>
                          <a:ea typeface="Calibri" pitchFamily="34" charset="-122"/>
                          <a:cs typeface="Calibri" pitchFamily="34" charset="-120"/>
                        </a:rPr>
                        <a:t>~17.3 mi</a:t>
                      </a:r>
                      <a:endParaRPr lang="en-US" sz="1000" dirty="0">
                        <a:latin typeface="Calibri" charset="0"/>
                        <a:ea typeface="Calibri" charset="0"/>
                        <a:cs typeface="Calibri" charset="0"/>
                      </a:endParaRPr>
                    </a:p>
                  </a:txBody>
                  <a:tcPr marL="73152" marR="73152" marT="36576" marB="36576"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0">
                <a:tc>
                  <a:txBody>
                    <a:bodyPr/>
                    <a:lstStyle/>
                    <a:p>
                      <a:pPr algn="l" indent="0" marL="0">
                        <a:buNone/>
                      </a:pPr>
                      <a:r>
                        <a:rPr lang="en-US" sz="1000" dirty="0">
                          <a:solidFill>
                            <a:srgbClr val="16202E"/>
                          </a:solidFill>
                          <a:latin typeface="Calibri" pitchFamily="34" charset="0"/>
                          <a:ea typeface="Calibri" pitchFamily="34" charset="-122"/>
                          <a:cs typeface="Calibri" pitchFamily="34" charset="-120"/>
                        </a:rPr>
                        <a:t>Project Horizon</a:t>
                      </a:r>
                      <a:endParaRPr lang="en-US" sz="1000" dirty="0">
                        <a:latin typeface="Calibri" charset="0"/>
                        <a:ea typeface="Calibri" charset="0"/>
                        <a:cs typeface="Calibri" charset="0"/>
                      </a:endParaRPr>
                    </a:p>
                  </a:txBody>
                  <a:tcPr marL="73152" marR="73152" marT="36576" marB="36576"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algn="l" indent="0" marL="0">
                        <a:buNone/>
                      </a:pPr>
                      <a:r>
                        <a:rPr lang="en-US" sz="1000" dirty="0">
                          <a:solidFill>
                            <a:srgbClr val="16202E"/>
                          </a:solidFill>
                          <a:latin typeface="Calibri" pitchFamily="34" charset="0"/>
                          <a:ea typeface="Calibri" pitchFamily="34" charset="-122"/>
                          <a:cs typeface="Calibri" pitchFamily="34" charset="-120"/>
                        </a:rPr>
                        <a:t>Poolside Infrastructure Company</a:t>
                      </a:r>
                      <a:endParaRPr lang="en-US" sz="1000" dirty="0">
                        <a:latin typeface="Calibri" charset="0"/>
                        <a:ea typeface="Calibri" charset="0"/>
                        <a:cs typeface="Calibri" charset="0"/>
                      </a:endParaRPr>
                    </a:p>
                  </a:txBody>
                  <a:tcPr marL="73152" marR="73152" marT="36576" marB="36576"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algn="r" indent="0" marL="0">
                        <a:buNone/>
                      </a:pPr>
                      <a:r>
                        <a:rPr lang="en-US" sz="1000" dirty="0">
                          <a:solidFill>
                            <a:srgbClr val="16202E"/>
                          </a:solidFill>
                          <a:latin typeface="Calibri" pitchFamily="34" charset="0"/>
                          <a:ea typeface="Calibri" pitchFamily="34" charset="-122"/>
                          <a:cs typeface="Calibri" pitchFamily="34" charset="-120"/>
                        </a:rPr>
                        <a:t>2.0 GW</a:t>
                      </a:r>
                      <a:endParaRPr lang="en-US" sz="1000" dirty="0">
                        <a:latin typeface="Calibri" charset="0"/>
                        <a:ea typeface="Calibri" charset="0"/>
                        <a:cs typeface="Calibri" charset="0"/>
                      </a:endParaRPr>
                    </a:p>
                  </a:txBody>
                  <a:tcPr marL="73152" marR="73152" marT="36576" marB="36576"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algn="r" indent="0" marL="0">
                        <a:buNone/>
                      </a:pPr>
                      <a:r>
                        <a:rPr lang="en-US" sz="1000" dirty="0">
                          <a:solidFill>
                            <a:srgbClr val="16202E"/>
                          </a:solidFill>
                          <a:latin typeface="Calibri" pitchFamily="34" charset="0"/>
                          <a:ea typeface="Calibri" pitchFamily="34" charset="-122"/>
                          <a:cs typeface="Calibri" pitchFamily="34" charset="-120"/>
                        </a:rPr>
                        <a:t>~19.7 mi</a:t>
                      </a:r>
                      <a:endParaRPr lang="en-US" sz="1000" dirty="0">
                        <a:latin typeface="Calibri" charset="0"/>
                        <a:ea typeface="Calibri" charset="0"/>
                        <a:cs typeface="Calibri" charset="0"/>
                      </a:endParaRPr>
                    </a:p>
                  </a:txBody>
                  <a:tcPr marL="73152" marR="73152" marT="36576" marB="36576"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bl>
          </a:graphicData>
        </a:graphic>
      </p:graphicFrame>
      <p:sp>
        <p:nvSpPr>
          <p:cNvPr id="7" name="Text 3"/>
          <p:cNvSpPr/>
          <p:nvPr/>
        </p:nvSpPr>
        <p:spPr>
          <a:xfrm>
            <a:off x="548640" y="3657600"/>
            <a:ext cx="5394960" cy="548640"/>
          </a:xfrm>
          <a:prstGeom prst="rect">
            <a:avLst/>
          </a:prstGeom>
          <a:noFill/>
          <a:ln/>
        </p:spPr>
        <p:txBody>
          <a:bodyPr wrap="square" rtlCol="0" anchor="ctr"/>
          <a:lstStyle/>
          <a:p>
            <a:pPr indent="0" marL="0">
              <a:buNone/>
            </a:pPr>
            <a:r>
              <a:rPr lang="en-US" sz="1000" i="1" dirty="0">
                <a:solidFill>
                  <a:srgbClr val="64748B"/>
                </a:solidFill>
                <a:latin typeface="Calibri" pitchFamily="34" charset="0"/>
                <a:ea typeface="Calibri" pitchFamily="34" charset="-122"/>
                <a:cs typeface="Calibri" pitchFamily="34" charset="-120"/>
              </a:rPr>
              <a:t>Elsewhere in Texas (context, not catchment): 6 campuses, 15.9 GW — not included above.</a:t>
            </a:r>
            <a:endParaRPr lang="en-US" sz="1000" dirty="0"/>
          </a:p>
        </p:txBody>
      </p:sp>
      <p:sp>
        <p:nvSpPr>
          <p:cNvPr id="8" name="Text 4"/>
          <p:cNvSpPr/>
          <p:nvPr/>
        </p:nvSpPr>
        <p:spPr>
          <a:xfrm>
            <a:off x="548640" y="4251960"/>
            <a:ext cx="5394960" cy="822960"/>
          </a:xfrm>
          <a:prstGeom prst="rect">
            <a:avLst/>
          </a:prstGeom>
          <a:noFill/>
          <a:ln/>
        </p:spPr>
        <p:txBody>
          <a:bodyPr wrap="square" rtlCol="0" anchor="ctr"/>
          <a:lstStyle/>
          <a:p>
            <a:pPr indent="0" marL="0">
              <a:buNone/>
            </a:pPr>
            <a:r>
              <a:rPr lang="en-US" sz="1000" b="1" dirty="0">
                <a:solidFill>
                  <a:srgbClr val="B91C1C"/>
                </a:solidFill>
                <a:latin typeface="Calibri" pitchFamily="34" charset="0"/>
                <a:ea typeface="Calibri" pitchFamily="34" charset="-122"/>
                <a:cs typeface="Calibri" pitchFamily="34" charset="-120"/>
              </a:rPr>
              <a:t>GW Ranch's ownership changed in Aug 2026, and Longfellow's anchor tenant exited in Apr 2026 — see the following feature slides.</a:t>
            </a:r>
            <a:endParaRPr lang="en-US" sz="1000" dirty="0"/>
          </a:p>
        </p:txBody>
      </p:sp>
      <p:pic>
        <p:nvPicPr>
          <p:cNvPr id="9" name="Image 1" descr="/home/claude/repo/outputs/reports/om_exhibits/exhibit_7_1_datacenter-pipeline.jpg">    </p:cNvPr>
          <p:cNvPicPr>
            <a:picLocks noChangeAspect="1"/>
          </p:cNvPicPr>
          <p:nvPr/>
        </p:nvPicPr>
        <p:blipFill>
          <a:blip r:embed="rId2"/>
          <a:stretch>
            <a:fillRect/>
          </a:stretch>
        </p:blipFill>
        <p:spPr>
          <a:xfrm>
            <a:off x="6263640" y="1783080"/>
            <a:ext cx="5394960" cy="3088615"/>
          </a:xfrm>
          <a:prstGeom prst="rect">
            <a:avLst/>
          </a:prstGeom>
          <a:effectLst>
            <a:outerShdw sx="100000" sy="100000" kx="0" ky="0" algn="bl" rotWithShape="0" blurRad="88900" dist="25400" dir="5400000">
              <a:srgbClr val="0F1B2D">
                <a:alpha val="16000"/>
              </a:srgbClr>
            </a:outerShdw>
          </a:effectLst>
        </p:spPr>
      </p:pic>
      <p:sp>
        <p:nvSpPr>
          <p:cNvPr id="10" name="Shape 5"/>
          <p:cNvSpPr/>
          <p:nvPr/>
        </p:nvSpPr>
        <p:spPr>
          <a:xfrm>
            <a:off x="6263640" y="1783080"/>
            <a:ext cx="5394960" cy="3088615"/>
          </a:xfrm>
          <a:prstGeom prst="rect">
            <a:avLst/>
          </a:prstGeom>
          <a:ln w="12700">
            <a:solidFill>
              <a:srgbClr val="E2E8F0"/>
            </a:solidFill>
            <a:prstDash val="solid"/>
          </a:ln>
        </p:spPr>
      </p:sp>
      <p:sp>
        <p:nvSpPr>
          <p:cNvPr id="11" name="Text 6"/>
          <p:cNvSpPr/>
          <p:nvPr/>
        </p:nvSpPr>
        <p:spPr>
          <a:xfrm>
            <a:off x="6263640" y="4963135"/>
            <a:ext cx="5394960" cy="457200"/>
          </a:xfrm>
          <a:prstGeom prst="rect">
            <a:avLst/>
          </a:prstGeom>
          <a:noFill/>
          <a:ln/>
        </p:spPr>
        <p:txBody>
          <a:bodyPr wrap="square" rtlCol="0" anchor="ctr"/>
          <a:lstStyle/>
          <a:p>
            <a:pPr indent="0" marL="0">
              <a:buNone/>
            </a:pPr>
            <a:r>
              <a:rPr lang="en-US" sz="950" i="1" dirty="0">
                <a:solidFill>
                  <a:srgbClr val="64748B"/>
                </a:solidFill>
                <a:latin typeface="Calibri" pitchFamily="34" charset="0"/>
                <a:ea typeface="Calibri" pitchFamily="34" charset="-122"/>
                <a:cs typeface="Calibri" pitchFamily="34" charset="-120"/>
              </a:rPr>
              <a:t>Exhibit 7.1 — Announced data-center and large-load projects surrounding the site.</a:t>
            </a:r>
            <a:endParaRPr lang="en-US" sz="950" dirty="0"/>
          </a:p>
        </p:txBody>
      </p:sp>
      <p:sp>
        <p:nvSpPr>
          <p:cNvPr id="12" name="Text 7"/>
          <p:cNvSpPr/>
          <p:nvPr/>
        </p:nvSpPr>
        <p:spPr>
          <a:xfrm>
            <a:off x="457200" y="6510528"/>
            <a:ext cx="7315200" cy="274320"/>
          </a:xfrm>
          <a:prstGeom prst="rect">
            <a:avLst/>
          </a:prstGeom>
          <a:noFill/>
          <a:ln/>
        </p:spPr>
        <p:txBody>
          <a:bodyPr wrap="square" rtlCol="0" anchor="ctr"/>
          <a:lstStyle/>
          <a:p>
            <a:pPr indent="0" marL="0">
              <a:buNone/>
            </a:pPr>
            <a:r>
              <a:rPr lang="en-US" sz="800" dirty="0">
                <a:solidFill>
                  <a:srgbClr val="64748B"/>
                </a:solidFill>
                <a:latin typeface="Calibri" pitchFamily="34" charset="0"/>
                <a:ea typeface="Calibri" pitchFamily="34" charset="-122"/>
                <a:cs typeface="Calibri" pitchFamily="34" charset="-120"/>
              </a:rPr>
              <a:t>CARAMBA NORTH — STRICTLY CONFIDENTIAL, POST-NDA</a:t>
            </a:r>
            <a:endParaRPr lang="en-US" sz="800" dirty="0"/>
          </a:p>
        </p:txBody>
      </p:sp>
      <p:sp>
        <p:nvSpPr>
          <p:cNvPr id="13" name="Text 8"/>
          <p:cNvSpPr/>
          <p:nvPr/>
        </p:nvSpPr>
        <p:spPr>
          <a:xfrm>
            <a:off x="11368735" y="6510528"/>
            <a:ext cx="365760" cy="274320"/>
          </a:xfrm>
          <a:prstGeom prst="rect">
            <a:avLst/>
          </a:prstGeom>
          <a:noFill/>
          <a:ln/>
        </p:spPr>
        <p:txBody>
          <a:bodyPr wrap="square" rtlCol="0" anchor="ctr"/>
          <a:lstStyle/>
          <a:p>
            <a:pPr algn="r" indent="0" marL="0">
              <a:buNone/>
            </a:pPr>
            <a:r>
              <a:rPr lang="en-US" sz="800" dirty="0">
                <a:solidFill>
                  <a:srgbClr val="64748B"/>
                </a:solidFill>
                <a:latin typeface="Calibri" pitchFamily="34" charset="0"/>
                <a:ea typeface="Calibri" pitchFamily="34" charset="-122"/>
                <a:cs typeface="Calibri"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10896"/>
            <a:ext cx="402336" cy="402336"/>
          </a:xfrm>
          <a:prstGeom prst="ellipse">
            <a:avLst/>
          </a:prstGeom>
          <a:solidFill>
            <a:srgbClr val="0F1B2D"/>
          </a:solidFill>
          <a:ln/>
          <a:effectLst>
            <a:outerShdw sx="100000" sy="100000" kx="0" ky="0" algn="bl" rotWithShape="0" blurRad="88900" dist="25400" dir="5400000">
              <a:srgbClr val="0F1B2D">
                <a:alpha val="16000"/>
              </a:srgbClr>
            </a:outerShdw>
          </a:effectLst>
        </p:spPr>
      </p:sp>
      <p:pic>
        <p:nvPicPr>
          <p:cNvPr id="3" name="Image 0" descr="preencoded.png">    </p:cNvPr>
          <p:cNvPicPr>
            <a:picLocks noChangeAspect="1"/>
          </p:cNvPicPr>
          <p:nvPr/>
        </p:nvPicPr>
        <p:blipFill>
          <a:blip r:embed="rId1"/>
          <a:stretch>
            <a:fillRect/>
          </a:stretch>
        </p:blipFill>
        <p:spPr>
          <a:xfrm>
            <a:off x="653247" y="415503"/>
            <a:ext cx="193121" cy="193121"/>
          </a:xfrm>
          <a:prstGeom prst="rect">
            <a:avLst/>
          </a:prstGeom>
        </p:spPr>
      </p:pic>
      <p:sp>
        <p:nvSpPr>
          <p:cNvPr id="4" name="Text 1"/>
          <p:cNvSpPr/>
          <p:nvPr/>
        </p:nvSpPr>
        <p:spPr>
          <a:xfrm>
            <a:off x="1097280" y="365760"/>
            <a:ext cx="9144000" cy="365760"/>
          </a:xfrm>
          <a:prstGeom prst="rect">
            <a:avLst/>
          </a:prstGeom>
          <a:noFill/>
          <a:ln/>
        </p:spPr>
        <p:txBody>
          <a:bodyPr wrap="square" rtlCol="0" anchor="ctr"/>
          <a:lstStyle/>
          <a:p>
            <a:pPr indent="0" marL="0">
              <a:buNone/>
            </a:pPr>
            <a:r>
              <a:rPr lang="en-US" sz="1200" b="1" spc="200" kern="0" dirty="0">
                <a:solidFill>
                  <a:srgbClr val="0F1B2D"/>
                </a:solidFill>
                <a:latin typeface="Calibri" pitchFamily="34" charset="0"/>
                <a:ea typeface="Calibri" pitchFamily="34" charset="-122"/>
                <a:cs typeface="Calibri" pitchFamily="34" charset="-120"/>
              </a:rPr>
              <a:t>FEATURE · AMAZON / GW RANCH</a:t>
            </a:r>
            <a:endParaRPr lang="en-US" sz="1200" dirty="0"/>
          </a:p>
        </p:txBody>
      </p:sp>
      <p:sp>
        <p:nvSpPr>
          <p:cNvPr id="5" name="Text 2"/>
          <p:cNvSpPr/>
          <p:nvPr/>
        </p:nvSpPr>
        <p:spPr>
          <a:xfrm>
            <a:off x="548640" y="841248"/>
            <a:ext cx="11064240" cy="822960"/>
          </a:xfrm>
          <a:prstGeom prst="rect">
            <a:avLst/>
          </a:prstGeom>
          <a:noFill/>
          <a:ln/>
        </p:spPr>
        <p:txBody>
          <a:bodyPr wrap="square" rtlCol="0" anchor="t"/>
          <a:lstStyle/>
          <a:p>
            <a:pPr indent="0" marL="0">
              <a:buNone/>
            </a:pPr>
            <a:r>
              <a:rPr lang="en-US" sz="2500" b="1" dirty="0">
                <a:solidFill>
                  <a:srgbClr val="0F1B2D"/>
                </a:solidFill>
                <a:latin typeface="Cambria" pitchFamily="34" charset="0"/>
                <a:ea typeface="Cambria" pitchFamily="34" charset="-122"/>
                <a:cs typeface="Cambria" pitchFamily="34" charset="-120"/>
              </a:rPr>
              <a:t>Amazon acquires GW Ranch — ≈ 17.3 miles from Caramba North</a:t>
            </a:r>
            <a:endParaRPr lang="en-US" sz="2500" dirty="0"/>
          </a:p>
        </p:txBody>
      </p:sp>
      <p:pic>
        <p:nvPicPr>
          <p:cNvPr id="6" name="Image 1" descr="/home/claude/repo/outputs/reports/om_exhibits/exhibit_amz_gwranch.jpg">    </p:cNvPr>
          <p:cNvPicPr>
            <a:picLocks noChangeAspect="1"/>
          </p:cNvPicPr>
          <p:nvPr/>
        </p:nvPicPr>
        <p:blipFill>
          <a:blip r:embed="rId2"/>
          <a:stretch>
            <a:fillRect/>
          </a:stretch>
        </p:blipFill>
        <p:spPr>
          <a:xfrm>
            <a:off x="548640" y="1737360"/>
            <a:ext cx="5806440" cy="2223743"/>
          </a:xfrm>
          <a:prstGeom prst="rect">
            <a:avLst/>
          </a:prstGeom>
          <a:effectLst>
            <a:outerShdw sx="100000" sy="100000" kx="0" ky="0" algn="bl" rotWithShape="0" blurRad="88900" dist="25400" dir="5400000">
              <a:srgbClr val="0F1B2D">
                <a:alpha val="16000"/>
              </a:srgbClr>
            </a:outerShdw>
          </a:effectLst>
        </p:spPr>
      </p:pic>
      <p:sp>
        <p:nvSpPr>
          <p:cNvPr id="7" name="Shape 3"/>
          <p:cNvSpPr/>
          <p:nvPr/>
        </p:nvSpPr>
        <p:spPr>
          <a:xfrm>
            <a:off x="548640" y="1737360"/>
            <a:ext cx="5806440" cy="2223743"/>
          </a:xfrm>
          <a:prstGeom prst="rect">
            <a:avLst/>
          </a:prstGeom>
          <a:ln w="12700">
            <a:solidFill>
              <a:srgbClr val="E2E8F0"/>
            </a:solidFill>
            <a:prstDash val="solid"/>
          </a:ln>
        </p:spPr>
      </p:sp>
      <p:sp>
        <p:nvSpPr>
          <p:cNvPr id="8" name="Text 4"/>
          <p:cNvSpPr/>
          <p:nvPr/>
        </p:nvSpPr>
        <p:spPr>
          <a:xfrm>
            <a:off x="548640" y="4052543"/>
            <a:ext cx="5806440" cy="640080"/>
          </a:xfrm>
          <a:prstGeom prst="rect">
            <a:avLst/>
          </a:prstGeom>
          <a:noFill/>
          <a:ln/>
        </p:spPr>
        <p:txBody>
          <a:bodyPr wrap="square" rtlCol="0" anchor="ctr"/>
          <a:lstStyle/>
          <a:p>
            <a:pPr indent="0" marL="0">
              <a:buNone/>
            </a:pPr>
            <a:r>
              <a:rPr lang="en-US" sz="950" i="1" dirty="0">
                <a:solidFill>
                  <a:srgbClr val="64748B"/>
                </a:solidFill>
                <a:latin typeface="Calibri" pitchFamily="34" charset="0"/>
                <a:ea typeface="Calibri" pitchFamily="34" charset="-122"/>
                <a:cs typeface="Calibri" pitchFamily="34" charset="-120"/>
              </a:rPr>
              <a:t>Exhibit — GW Ranch site (highlighted) and its straight-line distance to the Caramba North tract centroid, ≈ 17.3 miles. Base map: Exhibit 7.1.</a:t>
            </a:r>
            <a:endParaRPr lang="en-US" sz="950" dirty="0"/>
          </a:p>
        </p:txBody>
      </p:sp>
      <p:sp>
        <p:nvSpPr>
          <p:cNvPr id="9" name="Shape 5"/>
          <p:cNvSpPr/>
          <p:nvPr/>
        </p:nvSpPr>
        <p:spPr>
          <a:xfrm>
            <a:off x="6629400" y="1792224"/>
            <a:ext cx="457200" cy="457200"/>
          </a:xfrm>
          <a:prstGeom prst="ellipse">
            <a:avLst/>
          </a:prstGeom>
          <a:solidFill>
            <a:srgbClr val="B91C1C"/>
          </a:solidFill>
          <a:ln/>
          <a:effectLst>
            <a:outerShdw sx="100000" sy="100000" kx="0" ky="0" algn="bl" rotWithShape="0" blurRad="88900" dist="25400" dir="5400000">
              <a:srgbClr val="0F1B2D">
                <a:alpha val="16000"/>
              </a:srgbClr>
            </a:outerShdw>
          </a:effectLst>
        </p:spPr>
      </p:sp>
      <p:pic>
        <p:nvPicPr>
          <p:cNvPr id="10" name="Image 2" descr="preencoded.png">    </p:cNvPr>
          <p:cNvPicPr>
            <a:picLocks noChangeAspect="1"/>
          </p:cNvPicPr>
          <p:nvPr/>
        </p:nvPicPr>
        <p:blipFill>
          <a:blip r:embed="rId3"/>
          <a:stretch>
            <a:fillRect/>
          </a:stretch>
        </p:blipFill>
        <p:spPr>
          <a:xfrm>
            <a:off x="6748272" y="1911096"/>
            <a:ext cx="219456" cy="219456"/>
          </a:xfrm>
          <a:prstGeom prst="rect">
            <a:avLst/>
          </a:prstGeom>
        </p:spPr>
      </p:pic>
      <p:sp>
        <p:nvSpPr>
          <p:cNvPr id="11" name="Text 6"/>
          <p:cNvSpPr/>
          <p:nvPr/>
        </p:nvSpPr>
        <p:spPr>
          <a:xfrm>
            <a:off x="7251192" y="1691640"/>
            <a:ext cx="4407408" cy="289682"/>
          </a:xfrm>
          <a:prstGeom prst="rect">
            <a:avLst/>
          </a:prstGeom>
          <a:noFill/>
          <a:ln/>
        </p:spPr>
        <p:txBody>
          <a:bodyPr wrap="square" rtlCol="0" anchor="b"/>
          <a:lstStyle/>
          <a:p>
            <a:pPr indent="0" marL="0">
              <a:buNone/>
            </a:pPr>
            <a:r>
              <a:rPr lang="en-US" sz="1300" b="1" dirty="0">
                <a:solidFill>
                  <a:srgbClr val="0F1B2D"/>
                </a:solidFill>
                <a:latin typeface="Calibri" pitchFamily="34" charset="0"/>
                <a:ea typeface="Calibri" pitchFamily="34" charset="-122"/>
                <a:cs typeface="Calibri" pitchFamily="34" charset="-120"/>
              </a:rPr>
              <a:t>8,000-acre site, Pecos County</a:t>
            </a:r>
            <a:endParaRPr lang="en-US" sz="1300" dirty="0"/>
          </a:p>
        </p:txBody>
      </p:sp>
      <p:sp>
        <p:nvSpPr>
          <p:cNvPr id="12" name="Text 7"/>
          <p:cNvSpPr/>
          <p:nvPr/>
        </p:nvSpPr>
        <p:spPr>
          <a:xfrm>
            <a:off x="7251192" y="1968155"/>
            <a:ext cx="4407408" cy="381853"/>
          </a:xfrm>
          <a:prstGeom prst="rect">
            <a:avLst/>
          </a:prstGeom>
          <a:noFill/>
          <a:ln/>
        </p:spPr>
        <p:txBody>
          <a:bodyPr wrap="square" rtlCol="0" anchor="t"/>
          <a:lstStyle/>
          <a:p>
            <a:pPr indent="0" marL="0">
              <a:buNone/>
            </a:pPr>
            <a:r>
              <a:rPr lang="en-US" sz="1050" dirty="0">
                <a:solidFill>
                  <a:srgbClr val="475569"/>
                </a:solidFill>
                <a:latin typeface="Calibri" pitchFamily="34" charset="0"/>
                <a:ea typeface="Calibri" pitchFamily="34" charset="-122"/>
                <a:cs typeface="Calibri" pitchFamily="34" charset="-120"/>
              </a:rPr>
              <a:t>≈ 17 miles north of Fort Stockton — the same siting logic as Caramba North.</a:t>
            </a:r>
            <a:endParaRPr lang="en-US" sz="1050" dirty="0"/>
          </a:p>
        </p:txBody>
      </p:sp>
      <p:sp>
        <p:nvSpPr>
          <p:cNvPr id="13" name="Shape 8"/>
          <p:cNvSpPr/>
          <p:nvPr/>
        </p:nvSpPr>
        <p:spPr>
          <a:xfrm>
            <a:off x="6629400" y="2450592"/>
            <a:ext cx="457200" cy="457200"/>
          </a:xfrm>
          <a:prstGeom prst="ellipse">
            <a:avLst/>
          </a:prstGeom>
          <a:solidFill>
            <a:srgbClr val="B91C1C"/>
          </a:solidFill>
          <a:ln/>
          <a:effectLst>
            <a:outerShdw sx="100000" sy="100000" kx="0" ky="0" algn="bl" rotWithShape="0" blurRad="88900" dist="25400" dir="5400000">
              <a:srgbClr val="0F1B2D">
                <a:alpha val="16000"/>
              </a:srgbClr>
            </a:outerShdw>
          </a:effectLst>
        </p:spPr>
      </p:sp>
      <p:pic>
        <p:nvPicPr>
          <p:cNvPr id="14" name="Image 3" descr="preencoded.png">    </p:cNvPr>
          <p:cNvPicPr>
            <a:picLocks noChangeAspect="1"/>
          </p:cNvPicPr>
          <p:nvPr/>
        </p:nvPicPr>
        <p:blipFill>
          <a:blip r:embed="rId4"/>
          <a:stretch>
            <a:fillRect/>
          </a:stretch>
        </p:blipFill>
        <p:spPr>
          <a:xfrm>
            <a:off x="6748272" y="2569464"/>
            <a:ext cx="219456" cy="219456"/>
          </a:xfrm>
          <a:prstGeom prst="rect">
            <a:avLst/>
          </a:prstGeom>
        </p:spPr>
      </p:pic>
      <p:sp>
        <p:nvSpPr>
          <p:cNvPr id="15" name="Text 9"/>
          <p:cNvSpPr/>
          <p:nvPr/>
        </p:nvSpPr>
        <p:spPr>
          <a:xfrm>
            <a:off x="7251192" y="2350008"/>
            <a:ext cx="4407408" cy="289682"/>
          </a:xfrm>
          <a:prstGeom prst="rect">
            <a:avLst/>
          </a:prstGeom>
          <a:noFill/>
          <a:ln/>
        </p:spPr>
        <p:txBody>
          <a:bodyPr wrap="square" rtlCol="0" anchor="b"/>
          <a:lstStyle/>
          <a:p>
            <a:pPr indent="0" marL="0">
              <a:buNone/>
            </a:pPr>
            <a:r>
              <a:rPr lang="en-US" sz="1300" b="1" dirty="0">
                <a:solidFill>
                  <a:srgbClr val="0F1B2D"/>
                </a:solidFill>
                <a:latin typeface="Calibri" pitchFamily="34" charset="0"/>
                <a:ea typeface="Calibri" pitchFamily="34" charset="-122"/>
                <a:cs typeface="Calibri" pitchFamily="34" charset="-120"/>
              </a:rPr>
              <a:t>35 gas turbines · 7.65 GW TCEQ air permit</a:t>
            </a:r>
            <a:endParaRPr lang="en-US" sz="1300" dirty="0"/>
          </a:p>
        </p:txBody>
      </p:sp>
      <p:sp>
        <p:nvSpPr>
          <p:cNvPr id="16" name="Text 10"/>
          <p:cNvSpPr/>
          <p:nvPr/>
        </p:nvSpPr>
        <p:spPr>
          <a:xfrm>
            <a:off x="7251192" y="2626523"/>
            <a:ext cx="4407408" cy="381853"/>
          </a:xfrm>
          <a:prstGeom prst="rect">
            <a:avLst/>
          </a:prstGeom>
          <a:noFill/>
          <a:ln/>
        </p:spPr>
        <p:txBody>
          <a:bodyPr wrap="square" rtlCol="0" anchor="t"/>
          <a:lstStyle/>
          <a:p>
            <a:pPr indent="0" marL="0">
              <a:buNone/>
            </a:pPr>
            <a:r>
              <a:rPr lang="en-US" sz="1050" dirty="0">
                <a:solidFill>
                  <a:srgbClr val="475569"/>
                </a:solidFill>
                <a:latin typeface="Calibri" pitchFamily="34" charset="0"/>
                <a:ea typeface="Calibri" pitchFamily="34" charset="-122"/>
                <a:cs typeface="Calibri" pitchFamily="34" charset="-120"/>
              </a:rPr>
              <a:t>Largest air permit issued in the US (Jan/Feb 2026) — plus 1.8 GW battery storage and up to 750 MW solar.</a:t>
            </a:r>
            <a:endParaRPr lang="en-US" sz="1050" dirty="0"/>
          </a:p>
        </p:txBody>
      </p:sp>
      <p:sp>
        <p:nvSpPr>
          <p:cNvPr id="17" name="Shape 11"/>
          <p:cNvSpPr/>
          <p:nvPr/>
        </p:nvSpPr>
        <p:spPr>
          <a:xfrm>
            <a:off x="6629400" y="3108960"/>
            <a:ext cx="457200" cy="457200"/>
          </a:xfrm>
          <a:prstGeom prst="ellipse">
            <a:avLst/>
          </a:prstGeom>
          <a:solidFill>
            <a:srgbClr val="B91C1C"/>
          </a:solidFill>
          <a:ln/>
          <a:effectLst>
            <a:outerShdw sx="100000" sy="100000" kx="0" ky="0" algn="bl" rotWithShape="0" blurRad="88900" dist="25400" dir="5400000">
              <a:srgbClr val="0F1B2D">
                <a:alpha val="16000"/>
              </a:srgbClr>
            </a:outerShdw>
          </a:effectLst>
        </p:spPr>
      </p:sp>
      <p:pic>
        <p:nvPicPr>
          <p:cNvPr id="18" name="Image 4" descr="preencoded.png">    </p:cNvPr>
          <p:cNvPicPr>
            <a:picLocks noChangeAspect="1"/>
          </p:cNvPicPr>
          <p:nvPr/>
        </p:nvPicPr>
        <p:blipFill>
          <a:blip r:embed="rId5"/>
          <a:stretch>
            <a:fillRect/>
          </a:stretch>
        </p:blipFill>
        <p:spPr>
          <a:xfrm>
            <a:off x="6748272" y="3227832"/>
            <a:ext cx="219456" cy="219456"/>
          </a:xfrm>
          <a:prstGeom prst="rect">
            <a:avLst/>
          </a:prstGeom>
        </p:spPr>
      </p:pic>
      <p:sp>
        <p:nvSpPr>
          <p:cNvPr id="19" name="Text 12"/>
          <p:cNvSpPr/>
          <p:nvPr/>
        </p:nvSpPr>
        <p:spPr>
          <a:xfrm>
            <a:off x="7251192" y="3008376"/>
            <a:ext cx="4407408" cy="289682"/>
          </a:xfrm>
          <a:prstGeom prst="rect">
            <a:avLst/>
          </a:prstGeom>
          <a:noFill/>
          <a:ln/>
        </p:spPr>
        <p:txBody>
          <a:bodyPr wrap="square" rtlCol="0" anchor="b"/>
          <a:lstStyle/>
          <a:p>
            <a:pPr indent="0" marL="0">
              <a:buNone/>
            </a:pPr>
            <a:r>
              <a:rPr lang="en-US" sz="1300" b="1" dirty="0">
                <a:solidFill>
                  <a:srgbClr val="0F1B2D"/>
                </a:solidFill>
                <a:latin typeface="Calibri" pitchFamily="34" charset="0"/>
                <a:ea typeface="Calibri" pitchFamily="34" charset="-122"/>
                <a:cs typeface="Calibri" pitchFamily="34" charset="-120"/>
              </a:rPr>
              <a:t>Three data-center buildings</a:t>
            </a:r>
            <a:endParaRPr lang="en-US" sz="1300" dirty="0"/>
          </a:p>
        </p:txBody>
      </p:sp>
      <p:sp>
        <p:nvSpPr>
          <p:cNvPr id="20" name="Text 13"/>
          <p:cNvSpPr/>
          <p:nvPr/>
        </p:nvSpPr>
        <p:spPr>
          <a:xfrm>
            <a:off x="7251192" y="3284891"/>
            <a:ext cx="4407408" cy="381853"/>
          </a:xfrm>
          <a:prstGeom prst="rect">
            <a:avLst/>
          </a:prstGeom>
          <a:noFill/>
          <a:ln/>
        </p:spPr>
        <p:txBody>
          <a:bodyPr wrap="square" rtlCol="0" anchor="t"/>
          <a:lstStyle/>
          <a:p>
            <a:pPr indent="0" marL="0">
              <a:buNone/>
            </a:pPr>
            <a:r>
              <a:rPr lang="en-US" sz="1050" dirty="0">
                <a:solidFill>
                  <a:srgbClr val="475569"/>
                </a:solidFill>
                <a:latin typeface="Calibri" pitchFamily="34" charset="0"/>
                <a:ea typeface="Calibri" pitchFamily="34" charset="-122"/>
                <a:cs typeface="Calibri" pitchFamily="34" charset="-120"/>
              </a:rPr>
              <a:t>189,000 sq ft each, Gensler design, ≈ $300M per building — targeted completion Dec 2026.</a:t>
            </a:r>
            <a:endParaRPr lang="en-US" sz="1050" dirty="0"/>
          </a:p>
        </p:txBody>
      </p:sp>
      <p:sp>
        <p:nvSpPr>
          <p:cNvPr id="21" name="Shape 14"/>
          <p:cNvSpPr/>
          <p:nvPr/>
        </p:nvSpPr>
        <p:spPr>
          <a:xfrm>
            <a:off x="6629400" y="3767328"/>
            <a:ext cx="457200" cy="457200"/>
          </a:xfrm>
          <a:prstGeom prst="ellipse">
            <a:avLst/>
          </a:prstGeom>
          <a:solidFill>
            <a:srgbClr val="B91C1C"/>
          </a:solidFill>
          <a:ln/>
          <a:effectLst>
            <a:outerShdw sx="100000" sy="100000" kx="0" ky="0" algn="bl" rotWithShape="0" blurRad="88900" dist="25400" dir="5400000">
              <a:srgbClr val="0F1B2D">
                <a:alpha val="16000"/>
              </a:srgbClr>
            </a:outerShdw>
          </a:effectLst>
        </p:spPr>
      </p:sp>
      <p:pic>
        <p:nvPicPr>
          <p:cNvPr id="22" name="Image 5" descr="preencoded.png">    </p:cNvPr>
          <p:cNvPicPr>
            <a:picLocks noChangeAspect="1"/>
          </p:cNvPicPr>
          <p:nvPr/>
        </p:nvPicPr>
        <p:blipFill>
          <a:blip r:embed="rId6"/>
          <a:stretch>
            <a:fillRect/>
          </a:stretch>
        </p:blipFill>
        <p:spPr>
          <a:xfrm>
            <a:off x="6748272" y="3886200"/>
            <a:ext cx="219456" cy="219456"/>
          </a:xfrm>
          <a:prstGeom prst="rect">
            <a:avLst/>
          </a:prstGeom>
        </p:spPr>
      </p:pic>
      <p:sp>
        <p:nvSpPr>
          <p:cNvPr id="23" name="Text 15"/>
          <p:cNvSpPr/>
          <p:nvPr/>
        </p:nvSpPr>
        <p:spPr>
          <a:xfrm>
            <a:off x="7251192" y="3666744"/>
            <a:ext cx="4407408" cy="289682"/>
          </a:xfrm>
          <a:prstGeom prst="rect">
            <a:avLst/>
          </a:prstGeom>
          <a:noFill/>
          <a:ln/>
        </p:spPr>
        <p:txBody>
          <a:bodyPr wrap="square" rtlCol="0" anchor="b"/>
          <a:lstStyle/>
          <a:p>
            <a:pPr indent="0" marL="0">
              <a:buNone/>
            </a:pPr>
            <a:r>
              <a:rPr lang="en-US" sz="1300" b="1" dirty="0">
                <a:solidFill>
                  <a:srgbClr val="0F1B2D"/>
                </a:solidFill>
                <a:latin typeface="Calibri" pitchFamily="34" charset="0"/>
                <a:ea typeface="Calibri" pitchFamily="34" charset="-122"/>
                <a:cs typeface="Calibri" pitchFamily="34" charset="-120"/>
              </a:rPr>
              <a:t>≈ $12B estimated total project investment</a:t>
            </a:r>
            <a:endParaRPr lang="en-US" sz="1300" dirty="0"/>
          </a:p>
        </p:txBody>
      </p:sp>
      <p:sp>
        <p:nvSpPr>
          <p:cNvPr id="24" name="Text 16"/>
          <p:cNvSpPr/>
          <p:nvPr/>
        </p:nvSpPr>
        <p:spPr>
          <a:xfrm>
            <a:off x="7251192" y="3943259"/>
            <a:ext cx="4407408" cy="381853"/>
          </a:xfrm>
          <a:prstGeom prst="rect">
            <a:avLst/>
          </a:prstGeom>
          <a:noFill/>
          <a:ln/>
        </p:spPr>
        <p:txBody>
          <a:bodyPr wrap="square" rtlCol="0" anchor="t"/>
          <a:lstStyle/>
          <a:p>
            <a:pPr indent="0" marL="0">
              <a:buNone/>
            </a:pPr>
            <a:r>
              <a:rPr lang="en-US" sz="1050" dirty="0">
                <a:solidFill>
                  <a:srgbClr val="475569"/>
                </a:solidFill>
                <a:latin typeface="Calibri" pitchFamily="34" charset="0"/>
                <a:ea typeface="Calibri" pitchFamily="34" charset="-122"/>
                <a:cs typeface="Calibri" pitchFamily="34" charset="-120"/>
              </a:rPr>
              <a:t>Amazon has not disclosed its specific investment amount or ultimate buildout plans.</a:t>
            </a:r>
            <a:endParaRPr lang="en-US" sz="1050" dirty="0"/>
          </a:p>
        </p:txBody>
      </p:sp>
      <p:sp>
        <p:nvSpPr>
          <p:cNvPr id="25" name="Shape 17"/>
          <p:cNvSpPr/>
          <p:nvPr/>
        </p:nvSpPr>
        <p:spPr>
          <a:xfrm>
            <a:off x="6629400" y="4425696"/>
            <a:ext cx="457200" cy="457200"/>
          </a:xfrm>
          <a:prstGeom prst="ellipse">
            <a:avLst/>
          </a:prstGeom>
          <a:solidFill>
            <a:srgbClr val="B91C1C"/>
          </a:solidFill>
          <a:ln/>
          <a:effectLst>
            <a:outerShdw sx="100000" sy="100000" kx="0" ky="0" algn="bl" rotWithShape="0" blurRad="88900" dist="25400" dir="5400000">
              <a:srgbClr val="0F1B2D">
                <a:alpha val="16000"/>
              </a:srgbClr>
            </a:outerShdw>
          </a:effectLst>
        </p:spPr>
      </p:sp>
      <p:pic>
        <p:nvPicPr>
          <p:cNvPr id="26" name="Image 6" descr="preencoded.png">    </p:cNvPr>
          <p:cNvPicPr>
            <a:picLocks noChangeAspect="1"/>
          </p:cNvPicPr>
          <p:nvPr/>
        </p:nvPicPr>
        <p:blipFill>
          <a:blip r:embed="rId7"/>
          <a:stretch>
            <a:fillRect/>
          </a:stretch>
        </p:blipFill>
        <p:spPr>
          <a:xfrm>
            <a:off x="6748272" y="4544568"/>
            <a:ext cx="219456" cy="219456"/>
          </a:xfrm>
          <a:prstGeom prst="rect">
            <a:avLst/>
          </a:prstGeom>
        </p:spPr>
      </p:pic>
      <p:sp>
        <p:nvSpPr>
          <p:cNvPr id="27" name="Text 18"/>
          <p:cNvSpPr/>
          <p:nvPr/>
        </p:nvSpPr>
        <p:spPr>
          <a:xfrm>
            <a:off x="7251192" y="4325112"/>
            <a:ext cx="4407408" cy="289682"/>
          </a:xfrm>
          <a:prstGeom prst="rect">
            <a:avLst/>
          </a:prstGeom>
          <a:noFill/>
          <a:ln/>
        </p:spPr>
        <p:txBody>
          <a:bodyPr wrap="square" rtlCol="0" anchor="b"/>
          <a:lstStyle/>
          <a:p>
            <a:pPr indent="0" marL="0">
              <a:buNone/>
            </a:pPr>
            <a:r>
              <a:rPr lang="en-US" sz="1300" b="1" dirty="0">
                <a:solidFill>
                  <a:srgbClr val="0F1B2D"/>
                </a:solidFill>
                <a:latin typeface="Calibri" pitchFamily="34" charset="0"/>
                <a:ea typeface="Calibri" pitchFamily="34" charset="-122"/>
                <a:cs typeface="Calibri" pitchFamily="34" charset="-120"/>
              </a:rPr>
              <a:t>Off-grid initially</a:t>
            </a:r>
            <a:endParaRPr lang="en-US" sz="1300" dirty="0"/>
          </a:p>
        </p:txBody>
      </p:sp>
      <p:sp>
        <p:nvSpPr>
          <p:cNvPr id="28" name="Text 19"/>
          <p:cNvSpPr/>
          <p:nvPr/>
        </p:nvSpPr>
        <p:spPr>
          <a:xfrm>
            <a:off x="7251192" y="4601627"/>
            <a:ext cx="4407408" cy="381853"/>
          </a:xfrm>
          <a:prstGeom prst="rect">
            <a:avLst/>
          </a:prstGeom>
          <a:noFill/>
          <a:ln/>
        </p:spPr>
        <p:txBody>
          <a:bodyPr wrap="square" rtlCol="0" anchor="t"/>
          <a:lstStyle/>
          <a:p>
            <a:pPr indent="0" marL="0">
              <a:buNone/>
            </a:pPr>
            <a:r>
              <a:rPr lang="en-US" sz="1050" dirty="0">
                <a:solidFill>
                  <a:srgbClr val="475569"/>
                </a:solidFill>
                <a:latin typeface="Calibri" pitchFamily="34" charset="0"/>
                <a:ea typeface="Calibri" pitchFamily="34" charset="-122"/>
                <a:cs typeface="Calibri" pitchFamily="34" charset="-120"/>
              </a:rPr>
              <a:t>Amazon has not disclosed an ERCOT large-load interconnection filing or queue position — exploring a transition to grid-connected service.</a:t>
            </a:r>
            <a:endParaRPr lang="en-US" sz="1050" dirty="0"/>
          </a:p>
        </p:txBody>
      </p:sp>
      <p:sp>
        <p:nvSpPr>
          <p:cNvPr id="29" name="Shape 20"/>
          <p:cNvSpPr/>
          <p:nvPr/>
        </p:nvSpPr>
        <p:spPr>
          <a:xfrm>
            <a:off x="6629400" y="5038344"/>
            <a:ext cx="5029200" cy="566928"/>
          </a:xfrm>
          <a:prstGeom prst="roundRect">
            <a:avLst>
              <a:gd name="adj" fmla="val 6452"/>
            </a:avLst>
          </a:prstGeom>
          <a:solidFill>
            <a:srgbClr val="FFFBEB"/>
          </a:solidFill>
          <a:ln w="12700">
            <a:solidFill>
              <a:srgbClr val="FCD34D"/>
            </a:solidFill>
            <a:prstDash val="solid"/>
          </a:ln>
        </p:spPr>
      </p:sp>
      <p:sp>
        <p:nvSpPr>
          <p:cNvPr id="30" name="Text 21"/>
          <p:cNvSpPr/>
          <p:nvPr/>
        </p:nvSpPr>
        <p:spPr>
          <a:xfrm>
            <a:off x="6757416" y="5084064"/>
            <a:ext cx="4773168" cy="475488"/>
          </a:xfrm>
          <a:prstGeom prst="rect">
            <a:avLst/>
          </a:prstGeom>
          <a:noFill/>
          <a:ln/>
        </p:spPr>
        <p:txBody>
          <a:bodyPr wrap="square" rtlCol="0" anchor="ctr"/>
          <a:lstStyle/>
          <a:p>
            <a:pPr indent="0" marL="0">
              <a:buNone/>
            </a:pPr>
            <a:r>
              <a:rPr lang="en-US" sz="900" b="1" dirty="0">
                <a:solidFill>
                  <a:srgbClr val="78350F"/>
                </a:solidFill>
                <a:latin typeface="Calibri" pitchFamily="34" charset="0"/>
                <a:ea typeface="Calibri" pitchFamily="34" charset="-122"/>
                <a:cs typeface="Calibri" pitchFamily="34" charset="-120"/>
              </a:rPr>
              <a:t>Clarification — </a:t>
            </a:r>
            <a:pPr indent="0" marL="0">
              <a:buNone/>
            </a:pPr>
            <a:r>
              <a:rPr lang="en-US" sz="900" dirty="0">
                <a:solidFill>
                  <a:srgbClr val="78350F"/>
                </a:solidFill>
                <a:latin typeface="Calibri" pitchFamily="34" charset="0"/>
                <a:ea typeface="Calibri" pitchFamily="34" charset="-122"/>
                <a:cs typeface="Calibri" pitchFamily="34" charset="-120"/>
              </a:rPr>
              <a:t>the 7.65 GW figure is a TCEQ generation air permit, not an ERCOT interconnection queue position; subject to Texas Gov. Abbott's Aug 3, 2026 data-center permitting pause pending state audits.</a:t>
            </a:r>
            <a:endParaRPr lang="en-US" sz="900" dirty="0"/>
          </a:p>
        </p:txBody>
      </p:sp>
      <p:sp>
        <p:nvSpPr>
          <p:cNvPr id="31" name="Text 22"/>
          <p:cNvSpPr/>
          <p:nvPr/>
        </p:nvSpPr>
        <p:spPr>
          <a:xfrm>
            <a:off x="457200" y="6510528"/>
            <a:ext cx="7315200" cy="274320"/>
          </a:xfrm>
          <a:prstGeom prst="rect">
            <a:avLst/>
          </a:prstGeom>
          <a:noFill/>
          <a:ln/>
        </p:spPr>
        <p:txBody>
          <a:bodyPr wrap="square" rtlCol="0" anchor="ctr"/>
          <a:lstStyle/>
          <a:p>
            <a:pPr indent="0" marL="0">
              <a:buNone/>
            </a:pPr>
            <a:r>
              <a:rPr lang="en-US" sz="800" dirty="0">
                <a:solidFill>
                  <a:srgbClr val="64748B"/>
                </a:solidFill>
                <a:latin typeface="Calibri" pitchFamily="34" charset="0"/>
                <a:ea typeface="Calibri" pitchFamily="34" charset="-122"/>
                <a:cs typeface="Calibri" pitchFamily="34" charset="-120"/>
              </a:rPr>
              <a:t>CARAMBA NORTH — STRICTLY CONFIDENTIAL, POST-NDA</a:t>
            </a:r>
            <a:endParaRPr lang="en-US" sz="800" dirty="0"/>
          </a:p>
        </p:txBody>
      </p:sp>
      <p:sp>
        <p:nvSpPr>
          <p:cNvPr id="32" name="Text 23"/>
          <p:cNvSpPr/>
          <p:nvPr/>
        </p:nvSpPr>
        <p:spPr>
          <a:xfrm>
            <a:off x="11368735" y="6510528"/>
            <a:ext cx="365760" cy="274320"/>
          </a:xfrm>
          <a:prstGeom prst="rect">
            <a:avLst/>
          </a:prstGeom>
          <a:noFill/>
          <a:ln/>
        </p:spPr>
        <p:txBody>
          <a:bodyPr wrap="square" rtlCol="0" anchor="ctr"/>
          <a:lstStyle/>
          <a:p>
            <a:pPr algn="r" indent="0" marL="0">
              <a:buNone/>
            </a:pPr>
            <a:r>
              <a:rPr lang="en-US" sz="800" dirty="0">
                <a:solidFill>
                  <a:srgbClr val="64748B"/>
                </a:solidFill>
                <a:latin typeface="Calibri" pitchFamily="34" charset="0"/>
                <a:ea typeface="Calibri" pitchFamily="34" charset="-122"/>
                <a:cs typeface="Calibri"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10896"/>
            <a:ext cx="402336" cy="402336"/>
          </a:xfrm>
          <a:prstGeom prst="ellipse">
            <a:avLst/>
          </a:prstGeom>
          <a:solidFill>
            <a:srgbClr val="0F1B2D"/>
          </a:solidFill>
          <a:ln/>
          <a:effectLst>
            <a:outerShdw sx="100000" sy="100000" kx="0" ky="0" algn="bl" rotWithShape="0" blurRad="88900" dist="25400" dir="5400000">
              <a:srgbClr val="0F1B2D">
                <a:alpha val="16000"/>
              </a:srgbClr>
            </a:outerShdw>
          </a:effectLst>
        </p:spPr>
      </p:sp>
      <p:pic>
        <p:nvPicPr>
          <p:cNvPr id="3" name="Image 0" descr="preencoded.png">    </p:cNvPr>
          <p:cNvPicPr>
            <a:picLocks noChangeAspect="1"/>
          </p:cNvPicPr>
          <p:nvPr/>
        </p:nvPicPr>
        <p:blipFill>
          <a:blip r:embed="rId1"/>
          <a:stretch>
            <a:fillRect/>
          </a:stretch>
        </p:blipFill>
        <p:spPr>
          <a:xfrm>
            <a:off x="653247" y="415503"/>
            <a:ext cx="193121" cy="193121"/>
          </a:xfrm>
          <a:prstGeom prst="rect">
            <a:avLst/>
          </a:prstGeom>
        </p:spPr>
      </p:pic>
      <p:sp>
        <p:nvSpPr>
          <p:cNvPr id="4" name="Text 1"/>
          <p:cNvSpPr/>
          <p:nvPr/>
        </p:nvSpPr>
        <p:spPr>
          <a:xfrm>
            <a:off x="1097280" y="365760"/>
            <a:ext cx="9144000" cy="365760"/>
          </a:xfrm>
          <a:prstGeom prst="rect">
            <a:avLst/>
          </a:prstGeom>
          <a:noFill/>
          <a:ln/>
        </p:spPr>
        <p:txBody>
          <a:bodyPr wrap="square" rtlCol="0" anchor="ctr"/>
          <a:lstStyle/>
          <a:p>
            <a:pPr indent="0" marL="0">
              <a:buNone/>
            </a:pPr>
            <a:r>
              <a:rPr lang="en-US" sz="1200" b="1" spc="200" kern="0" dirty="0">
                <a:solidFill>
                  <a:srgbClr val="0F1B2D"/>
                </a:solidFill>
                <a:latin typeface="Calibri" pitchFamily="34" charset="0"/>
                <a:ea typeface="Calibri" pitchFamily="34" charset="-122"/>
                <a:cs typeface="Calibri" pitchFamily="34" charset="-120"/>
              </a:rPr>
              <a:t>FEATURE · LONGFELLOW / PROJECT HORIZON</a:t>
            </a:r>
            <a:endParaRPr lang="en-US" sz="1200" dirty="0"/>
          </a:p>
        </p:txBody>
      </p:sp>
      <p:sp>
        <p:nvSpPr>
          <p:cNvPr id="5" name="Text 2"/>
          <p:cNvSpPr/>
          <p:nvPr/>
        </p:nvSpPr>
        <p:spPr>
          <a:xfrm>
            <a:off x="548640" y="841248"/>
            <a:ext cx="11064240" cy="822960"/>
          </a:xfrm>
          <a:prstGeom prst="rect">
            <a:avLst/>
          </a:prstGeom>
          <a:noFill/>
          <a:ln/>
        </p:spPr>
        <p:txBody>
          <a:bodyPr wrap="square" rtlCol="0" anchor="t"/>
          <a:lstStyle/>
          <a:p>
            <a:pPr indent="0" marL="0">
              <a:buNone/>
            </a:pPr>
            <a:r>
              <a:rPr lang="en-US" sz="2500" b="1" dirty="0">
                <a:solidFill>
                  <a:srgbClr val="0F1B2D"/>
                </a:solidFill>
                <a:latin typeface="Cambria" pitchFamily="34" charset="0"/>
                <a:ea typeface="Cambria" pitchFamily="34" charset="-122"/>
                <a:cs typeface="Cambria" pitchFamily="34" charset="-120"/>
              </a:rPr>
              <a:t>CoreWeave exits Project Horizon — ≈ 19.7 miles from Caramba North</a:t>
            </a:r>
            <a:endParaRPr lang="en-US" sz="2500" dirty="0"/>
          </a:p>
        </p:txBody>
      </p:sp>
      <p:pic>
        <p:nvPicPr>
          <p:cNvPr id="6" name="Image 1" descr="/home/claude/repo/outputs/reports/om_exhibits/exhibit_longfellow.jpg">    </p:cNvPr>
          <p:cNvPicPr>
            <a:picLocks noChangeAspect="1"/>
          </p:cNvPicPr>
          <p:nvPr/>
        </p:nvPicPr>
        <p:blipFill>
          <a:blip r:embed="rId2"/>
          <a:stretch>
            <a:fillRect/>
          </a:stretch>
        </p:blipFill>
        <p:spPr>
          <a:xfrm>
            <a:off x="548640" y="1737360"/>
            <a:ext cx="5806440" cy="2078442"/>
          </a:xfrm>
          <a:prstGeom prst="rect">
            <a:avLst/>
          </a:prstGeom>
          <a:effectLst>
            <a:outerShdw sx="100000" sy="100000" kx="0" ky="0" algn="bl" rotWithShape="0" blurRad="88900" dist="25400" dir="5400000">
              <a:srgbClr val="0F1B2D">
                <a:alpha val="16000"/>
              </a:srgbClr>
            </a:outerShdw>
          </a:effectLst>
        </p:spPr>
      </p:pic>
      <p:sp>
        <p:nvSpPr>
          <p:cNvPr id="7" name="Shape 3"/>
          <p:cNvSpPr/>
          <p:nvPr/>
        </p:nvSpPr>
        <p:spPr>
          <a:xfrm>
            <a:off x="548640" y="1737360"/>
            <a:ext cx="5806440" cy="2078442"/>
          </a:xfrm>
          <a:prstGeom prst="rect">
            <a:avLst/>
          </a:prstGeom>
          <a:ln w="12700">
            <a:solidFill>
              <a:srgbClr val="E2E8F0"/>
            </a:solidFill>
            <a:prstDash val="solid"/>
          </a:ln>
        </p:spPr>
      </p:sp>
      <p:sp>
        <p:nvSpPr>
          <p:cNvPr id="8" name="Text 4"/>
          <p:cNvSpPr/>
          <p:nvPr/>
        </p:nvSpPr>
        <p:spPr>
          <a:xfrm>
            <a:off x="548640" y="3907242"/>
            <a:ext cx="5806440" cy="640080"/>
          </a:xfrm>
          <a:prstGeom prst="rect">
            <a:avLst/>
          </a:prstGeom>
          <a:noFill/>
          <a:ln/>
        </p:spPr>
        <p:txBody>
          <a:bodyPr wrap="square" rtlCol="0" anchor="ctr"/>
          <a:lstStyle/>
          <a:p>
            <a:pPr indent="0" marL="0">
              <a:buNone/>
            </a:pPr>
            <a:r>
              <a:rPr lang="en-US" sz="950" i="1" dirty="0">
                <a:solidFill>
                  <a:srgbClr val="64748B"/>
                </a:solidFill>
                <a:latin typeface="Calibri" pitchFamily="34" charset="0"/>
                <a:ea typeface="Calibri" pitchFamily="34" charset="-122"/>
                <a:cs typeface="Calibri" pitchFamily="34" charset="-120"/>
              </a:rPr>
              <a:t>Exhibit — Longfellow / Project Horizon site (highlighted) and its straight-line distance to the Caramba North tract centroid, ≈ 19.7 miles. Base map: Exhibit 7.1.</a:t>
            </a:r>
            <a:endParaRPr lang="en-US" sz="950" dirty="0"/>
          </a:p>
        </p:txBody>
      </p:sp>
      <p:sp>
        <p:nvSpPr>
          <p:cNvPr id="9" name="Shape 5"/>
          <p:cNvSpPr/>
          <p:nvPr/>
        </p:nvSpPr>
        <p:spPr>
          <a:xfrm>
            <a:off x="6629400" y="1792224"/>
            <a:ext cx="457200" cy="457200"/>
          </a:xfrm>
          <a:prstGeom prst="ellipse">
            <a:avLst/>
          </a:prstGeom>
          <a:solidFill>
            <a:srgbClr val="B91C1C"/>
          </a:solidFill>
          <a:ln/>
          <a:effectLst>
            <a:outerShdw sx="100000" sy="100000" kx="0" ky="0" algn="bl" rotWithShape="0" blurRad="88900" dist="25400" dir="5400000">
              <a:srgbClr val="0F1B2D">
                <a:alpha val="16000"/>
              </a:srgbClr>
            </a:outerShdw>
          </a:effectLst>
        </p:spPr>
      </p:sp>
      <p:pic>
        <p:nvPicPr>
          <p:cNvPr id="10" name="Image 2" descr="preencoded.png">    </p:cNvPr>
          <p:cNvPicPr>
            <a:picLocks noChangeAspect="1"/>
          </p:cNvPicPr>
          <p:nvPr/>
        </p:nvPicPr>
        <p:blipFill>
          <a:blip r:embed="rId3"/>
          <a:stretch>
            <a:fillRect/>
          </a:stretch>
        </p:blipFill>
        <p:spPr>
          <a:xfrm>
            <a:off x="6748272" y="1911096"/>
            <a:ext cx="219456" cy="219456"/>
          </a:xfrm>
          <a:prstGeom prst="rect">
            <a:avLst/>
          </a:prstGeom>
        </p:spPr>
      </p:pic>
      <p:sp>
        <p:nvSpPr>
          <p:cNvPr id="11" name="Text 6"/>
          <p:cNvSpPr/>
          <p:nvPr/>
        </p:nvSpPr>
        <p:spPr>
          <a:xfrm>
            <a:off x="7251192" y="1691640"/>
            <a:ext cx="4407408" cy="289682"/>
          </a:xfrm>
          <a:prstGeom prst="rect">
            <a:avLst/>
          </a:prstGeom>
          <a:noFill/>
          <a:ln/>
        </p:spPr>
        <p:txBody>
          <a:bodyPr wrap="square" rtlCol="0" anchor="b"/>
          <a:lstStyle/>
          <a:p>
            <a:pPr indent="0" marL="0">
              <a:buNone/>
            </a:pPr>
            <a:r>
              <a:rPr lang="en-US" sz="1300" b="1" dirty="0">
                <a:solidFill>
                  <a:srgbClr val="0F1B2D"/>
                </a:solidFill>
                <a:latin typeface="Calibri" pitchFamily="34" charset="0"/>
                <a:ea typeface="Calibri" pitchFamily="34" charset="-122"/>
                <a:cs typeface="Calibri" pitchFamily="34" charset="-120"/>
              </a:rPr>
              <a:t>568-acre site, Pecos County</a:t>
            </a:r>
            <a:endParaRPr lang="en-US" sz="1300" dirty="0"/>
          </a:p>
        </p:txBody>
      </p:sp>
      <p:sp>
        <p:nvSpPr>
          <p:cNvPr id="12" name="Text 7"/>
          <p:cNvSpPr/>
          <p:nvPr/>
        </p:nvSpPr>
        <p:spPr>
          <a:xfrm>
            <a:off x="7251192" y="1968155"/>
            <a:ext cx="4407408" cy="381853"/>
          </a:xfrm>
          <a:prstGeom prst="rect">
            <a:avLst/>
          </a:prstGeom>
          <a:noFill/>
          <a:ln/>
        </p:spPr>
        <p:txBody>
          <a:bodyPr wrap="square" rtlCol="0" anchor="t"/>
          <a:lstStyle/>
          <a:p>
            <a:pPr indent="0" marL="0">
              <a:buNone/>
            </a:pPr>
            <a:r>
              <a:rPr lang="en-US" sz="1050" dirty="0">
                <a:solidFill>
                  <a:srgbClr val="475569"/>
                </a:solidFill>
                <a:latin typeface="Calibri" pitchFamily="34" charset="0"/>
                <a:ea typeface="Calibri" pitchFamily="34" charset="-122"/>
                <a:cs typeface="Calibri" pitchFamily="34" charset="-120"/>
              </a:rPr>
              <a:t>Longfellow Ranch (Mitchell family), ≈ 25 miles from Fort Stockton — announced Oct 2025 as a 2 GW, 8-phase campus.</a:t>
            </a:r>
            <a:endParaRPr lang="en-US" sz="1050" dirty="0"/>
          </a:p>
        </p:txBody>
      </p:sp>
      <p:sp>
        <p:nvSpPr>
          <p:cNvPr id="13" name="Shape 8"/>
          <p:cNvSpPr/>
          <p:nvPr/>
        </p:nvSpPr>
        <p:spPr>
          <a:xfrm>
            <a:off x="6629400" y="2450592"/>
            <a:ext cx="457200" cy="457200"/>
          </a:xfrm>
          <a:prstGeom prst="ellipse">
            <a:avLst/>
          </a:prstGeom>
          <a:solidFill>
            <a:srgbClr val="B91C1C"/>
          </a:solidFill>
          <a:ln/>
          <a:effectLst>
            <a:outerShdw sx="100000" sy="100000" kx="0" ky="0" algn="bl" rotWithShape="0" blurRad="88900" dist="25400" dir="5400000">
              <a:srgbClr val="0F1B2D">
                <a:alpha val="16000"/>
              </a:srgbClr>
            </a:outerShdw>
          </a:effectLst>
        </p:spPr>
      </p:sp>
      <p:pic>
        <p:nvPicPr>
          <p:cNvPr id="14" name="Image 3" descr="preencoded.png">    </p:cNvPr>
          <p:cNvPicPr>
            <a:picLocks noChangeAspect="1"/>
          </p:cNvPicPr>
          <p:nvPr/>
        </p:nvPicPr>
        <p:blipFill>
          <a:blip r:embed="rId4"/>
          <a:stretch>
            <a:fillRect/>
          </a:stretch>
        </p:blipFill>
        <p:spPr>
          <a:xfrm>
            <a:off x="6748272" y="2569464"/>
            <a:ext cx="219456" cy="219456"/>
          </a:xfrm>
          <a:prstGeom prst="rect">
            <a:avLst/>
          </a:prstGeom>
        </p:spPr>
      </p:pic>
      <p:sp>
        <p:nvSpPr>
          <p:cNvPr id="15" name="Text 9"/>
          <p:cNvSpPr/>
          <p:nvPr/>
        </p:nvSpPr>
        <p:spPr>
          <a:xfrm>
            <a:off x="7251192" y="2350008"/>
            <a:ext cx="4407408" cy="289682"/>
          </a:xfrm>
          <a:prstGeom prst="rect">
            <a:avLst/>
          </a:prstGeom>
          <a:noFill/>
          <a:ln/>
        </p:spPr>
        <p:txBody>
          <a:bodyPr wrap="square" rtlCol="0" anchor="b"/>
          <a:lstStyle/>
          <a:p>
            <a:pPr indent="0" marL="0">
              <a:buNone/>
            </a:pPr>
            <a:r>
              <a:rPr lang="en-US" sz="1300" b="1" dirty="0">
                <a:solidFill>
                  <a:srgbClr val="0F1B2D"/>
                </a:solidFill>
                <a:latin typeface="Calibri" pitchFamily="34" charset="0"/>
                <a:ea typeface="Calibri" pitchFamily="34" charset="-122"/>
                <a:cs typeface="Calibri" pitchFamily="34" charset="-120"/>
              </a:rPr>
              <a:t>CoreWeave exited the anchor lease, Apr 2026</a:t>
            </a:r>
            <a:endParaRPr lang="en-US" sz="1300" dirty="0"/>
          </a:p>
        </p:txBody>
      </p:sp>
      <p:sp>
        <p:nvSpPr>
          <p:cNvPr id="16" name="Text 10"/>
          <p:cNvSpPr/>
          <p:nvPr/>
        </p:nvSpPr>
        <p:spPr>
          <a:xfrm>
            <a:off x="7251192" y="2626523"/>
            <a:ext cx="4407408" cy="381853"/>
          </a:xfrm>
          <a:prstGeom prst="rect">
            <a:avLst/>
          </a:prstGeom>
          <a:noFill/>
          <a:ln/>
        </p:spPr>
        <p:txBody>
          <a:bodyPr wrap="square" rtlCol="0" anchor="t"/>
          <a:lstStyle/>
          <a:p>
            <a:pPr indent="0" marL="0">
              <a:buNone/>
            </a:pPr>
            <a:r>
              <a:rPr lang="en-US" sz="1050" dirty="0">
                <a:solidFill>
                  <a:srgbClr val="475569"/>
                </a:solidFill>
                <a:latin typeface="Calibri" pitchFamily="34" charset="0"/>
                <a:ea typeface="Calibri" pitchFamily="34" charset="-122"/>
                <a:cs typeface="Calibri" pitchFamily="34" charset="-120"/>
              </a:rPr>
              <a:t>250 MW / 15-yr lease (to 500 MW) plus 40,000+ GPUs — exited after Poolside missed its GPU timeline and its funding round fell through.</a:t>
            </a:r>
            <a:endParaRPr lang="en-US" sz="1050" dirty="0"/>
          </a:p>
        </p:txBody>
      </p:sp>
      <p:sp>
        <p:nvSpPr>
          <p:cNvPr id="17" name="Shape 11"/>
          <p:cNvSpPr/>
          <p:nvPr/>
        </p:nvSpPr>
        <p:spPr>
          <a:xfrm>
            <a:off x="6629400" y="3108960"/>
            <a:ext cx="457200" cy="457200"/>
          </a:xfrm>
          <a:prstGeom prst="ellipse">
            <a:avLst/>
          </a:prstGeom>
          <a:solidFill>
            <a:srgbClr val="B91C1C"/>
          </a:solidFill>
          <a:ln/>
          <a:effectLst>
            <a:outerShdw sx="100000" sy="100000" kx="0" ky="0" algn="bl" rotWithShape="0" blurRad="88900" dist="25400" dir="5400000">
              <a:srgbClr val="0F1B2D">
                <a:alpha val="16000"/>
              </a:srgbClr>
            </a:outerShdw>
          </a:effectLst>
        </p:spPr>
      </p:sp>
      <p:pic>
        <p:nvPicPr>
          <p:cNvPr id="18" name="Image 4" descr="preencoded.png">    </p:cNvPr>
          <p:cNvPicPr>
            <a:picLocks noChangeAspect="1"/>
          </p:cNvPicPr>
          <p:nvPr/>
        </p:nvPicPr>
        <p:blipFill>
          <a:blip r:embed="rId5"/>
          <a:stretch>
            <a:fillRect/>
          </a:stretch>
        </p:blipFill>
        <p:spPr>
          <a:xfrm>
            <a:off x="6748272" y="3227832"/>
            <a:ext cx="219456" cy="219456"/>
          </a:xfrm>
          <a:prstGeom prst="rect">
            <a:avLst/>
          </a:prstGeom>
        </p:spPr>
      </p:pic>
      <p:sp>
        <p:nvSpPr>
          <p:cNvPr id="19" name="Text 12"/>
          <p:cNvSpPr/>
          <p:nvPr/>
        </p:nvSpPr>
        <p:spPr>
          <a:xfrm>
            <a:off x="7251192" y="3008376"/>
            <a:ext cx="4407408" cy="289682"/>
          </a:xfrm>
          <a:prstGeom prst="rect">
            <a:avLst/>
          </a:prstGeom>
          <a:noFill/>
          <a:ln/>
        </p:spPr>
        <p:txBody>
          <a:bodyPr wrap="square" rtlCol="0" anchor="b"/>
          <a:lstStyle/>
          <a:p>
            <a:pPr indent="0" marL="0">
              <a:buNone/>
            </a:pPr>
            <a:r>
              <a:rPr lang="en-US" sz="1300" b="1" dirty="0">
                <a:solidFill>
                  <a:srgbClr val="0F1B2D"/>
                </a:solidFill>
                <a:latin typeface="Calibri" pitchFamily="34" charset="0"/>
                <a:ea typeface="Calibri" pitchFamily="34" charset="-122"/>
                <a:cs typeface="Calibri" pitchFamily="34" charset="-120"/>
              </a:rPr>
              <a:t>Behind-the-meter gas, no confirmed permit on file</a:t>
            </a:r>
            <a:endParaRPr lang="en-US" sz="1300" dirty="0"/>
          </a:p>
        </p:txBody>
      </p:sp>
      <p:sp>
        <p:nvSpPr>
          <p:cNvPr id="20" name="Text 13"/>
          <p:cNvSpPr/>
          <p:nvPr/>
        </p:nvSpPr>
        <p:spPr>
          <a:xfrm>
            <a:off x="7251192" y="3284891"/>
            <a:ext cx="4407408" cy="381853"/>
          </a:xfrm>
          <a:prstGeom prst="rect">
            <a:avLst/>
          </a:prstGeom>
          <a:noFill/>
          <a:ln/>
        </p:spPr>
        <p:txBody>
          <a:bodyPr wrap="square" rtlCol="0" anchor="t"/>
          <a:lstStyle/>
          <a:p>
            <a:pPr indent="0" marL="0">
              <a:buNone/>
            </a:pPr>
            <a:r>
              <a:rPr lang="en-US" sz="1050" dirty="0">
                <a:solidFill>
                  <a:srgbClr val="475569"/>
                </a:solidFill>
                <a:latin typeface="Calibri" pitchFamily="34" charset="0"/>
                <a:ea typeface="Calibri" pitchFamily="34" charset="-122"/>
                <a:cs typeface="Calibri" pitchFamily="34" charset="-120"/>
              </a:rPr>
              <a:t>SCR-equipped aero-derivative turbines planned; no TCEQ air-permit or ERCOT queue record found for this site as of Aug 2026.</a:t>
            </a:r>
            <a:endParaRPr lang="en-US" sz="1050" dirty="0"/>
          </a:p>
        </p:txBody>
      </p:sp>
      <p:sp>
        <p:nvSpPr>
          <p:cNvPr id="21" name="Shape 14"/>
          <p:cNvSpPr/>
          <p:nvPr/>
        </p:nvSpPr>
        <p:spPr>
          <a:xfrm>
            <a:off x="6629400" y="3767328"/>
            <a:ext cx="457200" cy="457200"/>
          </a:xfrm>
          <a:prstGeom prst="ellipse">
            <a:avLst/>
          </a:prstGeom>
          <a:solidFill>
            <a:srgbClr val="B91C1C"/>
          </a:solidFill>
          <a:ln/>
          <a:effectLst>
            <a:outerShdw sx="100000" sy="100000" kx="0" ky="0" algn="bl" rotWithShape="0" blurRad="88900" dist="25400" dir="5400000">
              <a:srgbClr val="0F1B2D">
                <a:alpha val="16000"/>
              </a:srgbClr>
            </a:outerShdw>
          </a:effectLst>
        </p:spPr>
      </p:sp>
      <p:pic>
        <p:nvPicPr>
          <p:cNvPr id="22" name="Image 5" descr="preencoded.png">    </p:cNvPr>
          <p:cNvPicPr>
            <a:picLocks noChangeAspect="1"/>
          </p:cNvPicPr>
          <p:nvPr/>
        </p:nvPicPr>
        <p:blipFill>
          <a:blip r:embed="rId6"/>
          <a:stretch>
            <a:fillRect/>
          </a:stretch>
        </p:blipFill>
        <p:spPr>
          <a:xfrm>
            <a:off x="6748272" y="3886200"/>
            <a:ext cx="219456" cy="219456"/>
          </a:xfrm>
          <a:prstGeom prst="rect">
            <a:avLst/>
          </a:prstGeom>
        </p:spPr>
      </p:pic>
      <p:sp>
        <p:nvSpPr>
          <p:cNvPr id="23" name="Text 15"/>
          <p:cNvSpPr/>
          <p:nvPr/>
        </p:nvSpPr>
        <p:spPr>
          <a:xfrm>
            <a:off x="7251192" y="3666744"/>
            <a:ext cx="4407408" cy="289682"/>
          </a:xfrm>
          <a:prstGeom prst="rect">
            <a:avLst/>
          </a:prstGeom>
          <a:noFill/>
          <a:ln/>
        </p:spPr>
        <p:txBody>
          <a:bodyPr wrap="square" rtlCol="0" anchor="b"/>
          <a:lstStyle/>
          <a:p>
            <a:pPr indent="0" marL="0">
              <a:buNone/>
            </a:pPr>
            <a:r>
              <a:rPr lang="en-US" sz="1300" b="1" dirty="0">
                <a:solidFill>
                  <a:srgbClr val="0F1B2D"/>
                </a:solidFill>
                <a:latin typeface="Calibri" pitchFamily="34" charset="0"/>
                <a:ea typeface="Calibri" pitchFamily="34" charset="-122"/>
                <a:cs typeface="Calibri" pitchFamily="34" charset="-120"/>
              </a:rPr>
              <a:t>Revised to ~1.2 GW initial, scaling toward ~7 GW</a:t>
            </a:r>
            <a:endParaRPr lang="en-US" sz="1300" dirty="0"/>
          </a:p>
        </p:txBody>
      </p:sp>
      <p:sp>
        <p:nvSpPr>
          <p:cNvPr id="24" name="Text 16"/>
          <p:cNvSpPr/>
          <p:nvPr/>
        </p:nvSpPr>
        <p:spPr>
          <a:xfrm>
            <a:off x="7251192" y="3943259"/>
            <a:ext cx="4407408" cy="381853"/>
          </a:xfrm>
          <a:prstGeom prst="rect">
            <a:avLst/>
          </a:prstGeom>
          <a:noFill/>
          <a:ln/>
        </p:spPr>
        <p:txBody>
          <a:bodyPr wrap="square" rtlCol="0" anchor="t"/>
          <a:lstStyle/>
          <a:p>
            <a:pPr indent="0" marL="0">
              <a:buNone/>
            </a:pPr>
            <a:r>
              <a:rPr lang="en-US" sz="1050" dirty="0">
                <a:solidFill>
                  <a:srgbClr val="475569"/>
                </a:solidFill>
                <a:latin typeface="Calibri" pitchFamily="34" charset="0"/>
                <a:ea typeface="Calibri" pitchFamily="34" charset="-122"/>
                <a:cs typeface="Calibri" pitchFamily="34" charset="-120"/>
              </a:rPr>
              <a:t>Per Jun 2026 reporting — down from the original 2 GW first-phase framing, pending a new anchor tenant.</a:t>
            </a:r>
            <a:endParaRPr lang="en-US" sz="1050" dirty="0"/>
          </a:p>
        </p:txBody>
      </p:sp>
      <p:sp>
        <p:nvSpPr>
          <p:cNvPr id="25" name="Shape 17"/>
          <p:cNvSpPr/>
          <p:nvPr/>
        </p:nvSpPr>
        <p:spPr>
          <a:xfrm>
            <a:off x="6629400" y="4425696"/>
            <a:ext cx="457200" cy="457200"/>
          </a:xfrm>
          <a:prstGeom prst="ellipse">
            <a:avLst/>
          </a:prstGeom>
          <a:solidFill>
            <a:srgbClr val="B91C1C"/>
          </a:solidFill>
          <a:ln/>
          <a:effectLst>
            <a:outerShdw sx="100000" sy="100000" kx="0" ky="0" algn="bl" rotWithShape="0" blurRad="88900" dist="25400" dir="5400000">
              <a:srgbClr val="0F1B2D">
                <a:alpha val="16000"/>
              </a:srgbClr>
            </a:outerShdw>
          </a:effectLst>
        </p:spPr>
      </p:sp>
      <p:pic>
        <p:nvPicPr>
          <p:cNvPr id="26" name="Image 6" descr="preencoded.png">    </p:cNvPr>
          <p:cNvPicPr>
            <a:picLocks noChangeAspect="1"/>
          </p:cNvPicPr>
          <p:nvPr/>
        </p:nvPicPr>
        <p:blipFill>
          <a:blip r:embed="rId7"/>
          <a:stretch>
            <a:fillRect/>
          </a:stretch>
        </p:blipFill>
        <p:spPr>
          <a:xfrm>
            <a:off x="6748272" y="4544568"/>
            <a:ext cx="219456" cy="219456"/>
          </a:xfrm>
          <a:prstGeom prst="rect">
            <a:avLst/>
          </a:prstGeom>
        </p:spPr>
      </p:pic>
      <p:sp>
        <p:nvSpPr>
          <p:cNvPr id="27" name="Text 18"/>
          <p:cNvSpPr/>
          <p:nvPr/>
        </p:nvSpPr>
        <p:spPr>
          <a:xfrm>
            <a:off x="7251192" y="4325112"/>
            <a:ext cx="4407408" cy="289682"/>
          </a:xfrm>
          <a:prstGeom prst="rect">
            <a:avLst/>
          </a:prstGeom>
          <a:noFill/>
          <a:ln/>
        </p:spPr>
        <p:txBody>
          <a:bodyPr wrap="square" rtlCol="0" anchor="b"/>
          <a:lstStyle/>
          <a:p>
            <a:pPr indent="0" marL="0">
              <a:buNone/>
            </a:pPr>
            <a:r>
              <a:rPr lang="en-US" sz="1300" b="1" dirty="0">
                <a:solidFill>
                  <a:srgbClr val="0F1B2D"/>
                </a:solidFill>
                <a:latin typeface="Calibri" pitchFamily="34" charset="0"/>
                <a:ea typeface="Calibri" pitchFamily="34" charset="-122"/>
                <a:cs typeface="Calibri" pitchFamily="34" charset="-120"/>
              </a:rPr>
              <a:t>Now under Poolside Infrastructure Company</a:t>
            </a:r>
            <a:endParaRPr lang="en-US" sz="1300" dirty="0"/>
          </a:p>
        </p:txBody>
      </p:sp>
      <p:sp>
        <p:nvSpPr>
          <p:cNvPr id="28" name="Text 19"/>
          <p:cNvSpPr/>
          <p:nvPr/>
        </p:nvSpPr>
        <p:spPr>
          <a:xfrm>
            <a:off x="7251192" y="4601627"/>
            <a:ext cx="4407408" cy="381853"/>
          </a:xfrm>
          <a:prstGeom prst="rect">
            <a:avLst/>
          </a:prstGeom>
          <a:noFill/>
          <a:ln/>
        </p:spPr>
        <p:txBody>
          <a:bodyPr wrap="square" rtlCol="0" anchor="t"/>
          <a:lstStyle/>
          <a:p>
            <a:pPr indent="0" marL="0">
              <a:buNone/>
            </a:pPr>
            <a:r>
              <a:rPr lang="en-US" sz="1050" dirty="0">
                <a:solidFill>
                  <a:srgbClr val="475569"/>
                </a:solidFill>
                <a:latin typeface="Calibri" pitchFamily="34" charset="0"/>
                <a:ea typeface="Calibri" pitchFamily="34" charset="-122"/>
                <a:cs typeface="Calibri" pitchFamily="34" charset="-120"/>
              </a:rPr>
              <a:t>Spun-off infra arm continuing the site without the AI lab; named a new CFO Jul 2026 and is courting a replacement anchor tenant.</a:t>
            </a:r>
            <a:endParaRPr lang="en-US" sz="1050" dirty="0"/>
          </a:p>
        </p:txBody>
      </p:sp>
      <p:sp>
        <p:nvSpPr>
          <p:cNvPr id="29" name="Shape 20"/>
          <p:cNvSpPr/>
          <p:nvPr/>
        </p:nvSpPr>
        <p:spPr>
          <a:xfrm>
            <a:off x="6629400" y="5038344"/>
            <a:ext cx="5029200" cy="566928"/>
          </a:xfrm>
          <a:prstGeom prst="roundRect">
            <a:avLst>
              <a:gd name="adj" fmla="val 6452"/>
            </a:avLst>
          </a:prstGeom>
          <a:solidFill>
            <a:srgbClr val="FFFBEB"/>
          </a:solidFill>
          <a:ln w="12700">
            <a:solidFill>
              <a:srgbClr val="FCD34D"/>
            </a:solidFill>
            <a:prstDash val="solid"/>
          </a:ln>
        </p:spPr>
      </p:sp>
      <p:sp>
        <p:nvSpPr>
          <p:cNvPr id="30" name="Text 21"/>
          <p:cNvSpPr/>
          <p:nvPr/>
        </p:nvSpPr>
        <p:spPr>
          <a:xfrm>
            <a:off x="6757416" y="5084064"/>
            <a:ext cx="4773168" cy="475488"/>
          </a:xfrm>
          <a:prstGeom prst="rect">
            <a:avLst/>
          </a:prstGeom>
          <a:noFill/>
          <a:ln/>
        </p:spPr>
        <p:txBody>
          <a:bodyPr wrap="square" rtlCol="0" anchor="ctr"/>
          <a:lstStyle/>
          <a:p>
            <a:pPr indent="0" marL="0">
              <a:buNone/>
            </a:pPr>
            <a:r>
              <a:rPr lang="en-US" sz="900" b="1" dirty="0">
                <a:solidFill>
                  <a:srgbClr val="78350F"/>
                </a:solidFill>
                <a:latin typeface="Calibri" pitchFamily="34" charset="0"/>
                <a:ea typeface="Calibri" pitchFamily="34" charset="-122"/>
                <a:cs typeface="Calibri" pitchFamily="34" charset="-120"/>
              </a:rPr>
              <a:t>Clarification — </a:t>
            </a:r>
            <a:pPr indent="0" marL="0">
              <a:buNone/>
            </a:pPr>
            <a:r>
              <a:rPr lang="en-US" sz="900" dirty="0">
                <a:solidFill>
                  <a:srgbClr val="78350F"/>
                </a:solidFill>
                <a:latin typeface="Calibri" pitchFamily="34" charset="0"/>
                <a:ea typeface="Calibri" pitchFamily="34" charset="-122"/>
                <a:cs typeface="Calibri" pitchFamily="34" charset="-120"/>
              </a:rPr>
              <a:t>the original 2 GW / CoreWeave framing on Exhibit 7.1 predates the Apr 2026 lease termination; treat capacity and timeline figures for this site as unresolved pending a new anchor tenant.</a:t>
            </a:r>
            <a:endParaRPr lang="en-US" sz="900" dirty="0"/>
          </a:p>
        </p:txBody>
      </p:sp>
      <p:sp>
        <p:nvSpPr>
          <p:cNvPr id="31" name="Text 22"/>
          <p:cNvSpPr/>
          <p:nvPr/>
        </p:nvSpPr>
        <p:spPr>
          <a:xfrm>
            <a:off x="457200" y="6510528"/>
            <a:ext cx="7315200" cy="274320"/>
          </a:xfrm>
          <a:prstGeom prst="rect">
            <a:avLst/>
          </a:prstGeom>
          <a:noFill/>
          <a:ln/>
        </p:spPr>
        <p:txBody>
          <a:bodyPr wrap="square" rtlCol="0" anchor="ctr"/>
          <a:lstStyle/>
          <a:p>
            <a:pPr indent="0" marL="0">
              <a:buNone/>
            </a:pPr>
            <a:r>
              <a:rPr lang="en-US" sz="800" dirty="0">
                <a:solidFill>
                  <a:srgbClr val="64748B"/>
                </a:solidFill>
                <a:latin typeface="Calibri" pitchFamily="34" charset="0"/>
                <a:ea typeface="Calibri" pitchFamily="34" charset="-122"/>
                <a:cs typeface="Calibri" pitchFamily="34" charset="-120"/>
              </a:rPr>
              <a:t>CARAMBA NORTH — STRICTLY CONFIDENTIAL, POST-NDA</a:t>
            </a:r>
            <a:endParaRPr lang="en-US" sz="800" dirty="0"/>
          </a:p>
        </p:txBody>
      </p:sp>
      <p:sp>
        <p:nvSpPr>
          <p:cNvPr id="32" name="Text 23"/>
          <p:cNvSpPr/>
          <p:nvPr/>
        </p:nvSpPr>
        <p:spPr>
          <a:xfrm>
            <a:off x="11368735" y="6510528"/>
            <a:ext cx="365760" cy="274320"/>
          </a:xfrm>
          <a:prstGeom prst="rect">
            <a:avLst/>
          </a:prstGeom>
          <a:noFill/>
          <a:ln/>
        </p:spPr>
        <p:txBody>
          <a:bodyPr wrap="square" rtlCol="0" anchor="ctr"/>
          <a:lstStyle/>
          <a:p>
            <a:pPr algn="r" indent="0" marL="0">
              <a:buNone/>
            </a:pPr>
            <a:r>
              <a:rPr lang="en-US" sz="800" dirty="0">
                <a:solidFill>
                  <a:srgbClr val="64748B"/>
                </a:solidFill>
                <a:latin typeface="Calibri" pitchFamily="34" charset="0"/>
                <a:ea typeface="Calibri" pitchFamily="34" charset="-122"/>
                <a:cs typeface="Calibri" pitchFamily="34" charset="-120"/>
              </a:rPr>
              <a:t>10</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10896"/>
            <a:ext cx="402336" cy="402336"/>
          </a:xfrm>
          <a:prstGeom prst="ellipse">
            <a:avLst/>
          </a:prstGeom>
          <a:solidFill>
            <a:srgbClr val="B91C1C"/>
          </a:solidFill>
          <a:ln/>
          <a:effectLst>
            <a:outerShdw sx="100000" sy="100000" kx="0" ky="0" algn="bl" rotWithShape="0" blurRad="88900" dist="25400" dir="5400000">
              <a:srgbClr val="0F1B2D">
                <a:alpha val="16000"/>
              </a:srgbClr>
            </a:outerShdw>
          </a:effectLst>
        </p:spPr>
      </p:sp>
      <p:pic>
        <p:nvPicPr>
          <p:cNvPr id="3" name="Image 0" descr="preencoded.png">    </p:cNvPr>
          <p:cNvPicPr>
            <a:picLocks noChangeAspect="1"/>
          </p:cNvPicPr>
          <p:nvPr/>
        </p:nvPicPr>
        <p:blipFill>
          <a:blip r:embed="rId1"/>
          <a:stretch>
            <a:fillRect/>
          </a:stretch>
        </p:blipFill>
        <p:spPr>
          <a:xfrm>
            <a:off x="653247" y="415503"/>
            <a:ext cx="193121" cy="193121"/>
          </a:xfrm>
          <a:prstGeom prst="rect">
            <a:avLst/>
          </a:prstGeom>
        </p:spPr>
      </p:pic>
      <p:sp>
        <p:nvSpPr>
          <p:cNvPr id="4" name="Text 1"/>
          <p:cNvSpPr/>
          <p:nvPr/>
        </p:nvSpPr>
        <p:spPr>
          <a:xfrm>
            <a:off x="1097280" y="365760"/>
            <a:ext cx="9144000" cy="365760"/>
          </a:xfrm>
          <a:prstGeom prst="rect">
            <a:avLst/>
          </a:prstGeom>
          <a:noFill/>
          <a:ln/>
        </p:spPr>
        <p:txBody>
          <a:bodyPr wrap="square" rtlCol="0" anchor="ctr"/>
          <a:lstStyle/>
          <a:p>
            <a:pPr indent="0" marL="0">
              <a:buNone/>
            </a:pPr>
            <a:r>
              <a:rPr lang="en-US" sz="1200" b="1" spc="200" kern="0" dirty="0">
                <a:solidFill>
                  <a:srgbClr val="B91C1C"/>
                </a:solidFill>
                <a:latin typeface="Calibri" pitchFamily="34" charset="0"/>
                <a:ea typeface="Calibri" pitchFamily="34" charset="-122"/>
                <a:cs typeface="Calibri" pitchFamily="34" charset="-120"/>
              </a:rPr>
              <a:t>08 · THE DILIGENCE PLATFORM</a:t>
            </a:r>
            <a:endParaRPr lang="en-US" sz="1200" dirty="0"/>
          </a:p>
        </p:txBody>
      </p:sp>
      <p:sp>
        <p:nvSpPr>
          <p:cNvPr id="5" name="Text 2"/>
          <p:cNvSpPr/>
          <p:nvPr/>
        </p:nvSpPr>
        <p:spPr>
          <a:xfrm>
            <a:off x="548640" y="841248"/>
            <a:ext cx="11064240" cy="822960"/>
          </a:xfrm>
          <a:prstGeom prst="rect">
            <a:avLst/>
          </a:prstGeom>
          <a:noFill/>
          <a:ln/>
        </p:spPr>
        <p:txBody>
          <a:bodyPr wrap="square" rtlCol="0" anchor="t"/>
          <a:lstStyle/>
          <a:p>
            <a:pPr indent="0" marL="0">
              <a:buNone/>
            </a:pPr>
            <a:r>
              <a:rPr lang="en-US" sz="2500" b="1" dirty="0">
                <a:solidFill>
                  <a:srgbClr val="0F1B2D"/>
                </a:solidFill>
                <a:latin typeface="Cambria" pitchFamily="34" charset="0"/>
                <a:ea typeface="Cambria" pitchFamily="34" charset="-122"/>
                <a:cs typeface="Cambria" pitchFamily="34" charset="-120"/>
              </a:rPr>
              <a:t>Every figure is independently verifiable, feature by feature</a:t>
            </a:r>
            <a:endParaRPr lang="en-US" sz="25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64240" cy="914400"/>
        </p:xfrm>
        <a:graphic>
          <a:graphicData uri="http://schemas.openxmlformats.org/drawingml/2006/table">
            <a:tbl>
              <a:tblPr/>
              <a:tblGrid>
                <a:gridCol w="3108960"/>
                <a:gridCol w="7955280"/>
              </a:tblGrid>
              <a:tr h="0">
                <a:tc>
                  <a:txBody>
                    <a:bodyPr/>
                    <a:lstStyle/>
                    <a:p>
                      <a:pPr algn="l" indent="0" marL="0">
                        <a:buNone/>
                      </a:pPr>
                      <a:r>
                        <a:rPr lang="en-US" sz="1200" b="1" dirty="0">
                          <a:solidFill>
                            <a:srgbClr val="475569"/>
                          </a:solidFill>
                          <a:latin typeface="Calibri" pitchFamily="34" charset="0"/>
                          <a:ea typeface="Calibri" pitchFamily="34" charset="-122"/>
                          <a:cs typeface="Calibri" pitchFamily="34" charset="-120"/>
                        </a:rPr>
                        <a:t>PLATFORM PROPERTY</a:t>
                      </a:r>
                      <a:endParaRPr lang="en-US" sz="1200" dirty="0">
                        <a:latin typeface="Calibri" charset="0"/>
                        <a:ea typeface="Calibri" charset="0"/>
                        <a:cs typeface="Calibri" charset="0"/>
                      </a:endParaRPr>
                    </a:p>
                  </a:txBody>
                  <a:tcPr marL="73152" marR="73152" marT="36576" marB="36576"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algn="l" indent="0" marL="0">
                        <a:buNone/>
                      </a:pPr>
                      <a:r>
                        <a:rPr lang="en-US" sz="1200" b="1" dirty="0">
                          <a:solidFill>
                            <a:srgbClr val="475569"/>
                          </a:solidFill>
                          <a:latin typeface="Calibri" pitchFamily="34" charset="0"/>
                          <a:ea typeface="Calibri" pitchFamily="34" charset="-122"/>
                          <a:cs typeface="Calibri" pitchFamily="34" charset="-120"/>
                        </a:rPr>
                        <a:t>WHY IT MATTERS FOR DILIGENCE</a:t>
                      </a:r>
                      <a:endParaRPr lang="en-US" sz="1200" dirty="0">
                        <a:latin typeface="Calibri" charset="0"/>
                        <a:ea typeface="Calibri" charset="0"/>
                        <a:cs typeface="Calibri" charset="0"/>
                      </a:endParaRPr>
                    </a:p>
                  </a:txBody>
                  <a:tcPr marL="73152" marR="73152" marT="36576" marB="36576"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r>
              <a:tr h="0">
                <a:tc>
                  <a:txBody>
                    <a:bodyPr/>
                    <a:lstStyle/>
                    <a:p>
                      <a:pPr algn="l" indent="0" marL="0">
                        <a:buNone/>
                      </a:pPr>
                      <a:r>
                        <a:rPr lang="en-US" sz="1200" dirty="0">
                          <a:solidFill>
                            <a:srgbClr val="16202E"/>
                          </a:solidFill>
                          <a:latin typeface="Calibri" pitchFamily="34" charset="0"/>
                          <a:ea typeface="Calibri" pitchFamily="34" charset="-122"/>
                          <a:cs typeface="Calibri" pitchFamily="34" charset="-120"/>
                        </a:rPr>
                        <a:t>Source-cited features</a:t>
                      </a:r>
                      <a:endParaRPr lang="en-US" sz="1200" dirty="0">
                        <a:latin typeface="Calibri" charset="0"/>
                        <a:ea typeface="Calibri" charset="0"/>
                        <a:cs typeface="Calibri" charset="0"/>
                      </a:endParaRPr>
                    </a:p>
                  </a:txBody>
                  <a:tcPr marL="73152" marR="73152" marT="36576" marB="36576"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algn="l" indent="0" marL="0">
                        <a:buNone/>
                      </a:pPr>
                      <a:r>
                        <a:rPr lang="en-US" sz="1200" dirty="0">
                          <a:solidFill>
                            <a:srgbClr val="16202E"/>
                          </a:solidFill>
                          <a:latin typeface="Calibri" pitchFamily="34" charset="0"/>
                          <a:ea typeface="Calibri" pitchFamily="34" charset="-122"/>
                          <a:cs typeface="Calibri" pitchFamily="34" charset="-120"/>
                        </a:rPr>
                        <a:t>Every point/line/boundary traces to a cited public dataset; per-feature popups</a:t>
                      </a:r>
                      <a:endParaRPr lang="en-US" sz="1200" dirty="0">
                        <a:latin typeface="Calibri" charset="0"/>
                        <a:ea typeface="Calibri" charset="0"/>
                        <a:cs typeface="Calibri" charset="0"/>
                      </a:endParaRPr>
                    </a:p>
                  </a:txBody>
                  <a:tcPr marL="73152" marR="73152" marT="36576" marB="36576"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0">
                <a:tc>
                  <a:txBody>
                    <a:bodyPr/>
                    <a:lstStyle/>
                    <a:p>
                      <a:pPr algn="l" indent="0" marL="0">
                        <a:buNone/>
                      </a:pPr>
                      <a:r>
                        <a:rPr lang="en-US" sz="1200" dirty="0">
                          <a:solidFill>
                            <a:srgbClr val="16202E"/>
                          </a:solidFill>
                          <a:latin typeface="Calibri" pitchFamily="34" charset="0"/>
                          <a:ea typeface="Calibri" pitchFamily="34" charset="-122"/>
                          <a:cs typeface="Calibri" pitchFamily="34" charset="-120"/>
                        </a:rPr>
                        <a:t>Refresh discipline</a:t>
                      </a:r>
                      <a:endParaRPr lang="en-US" sz="1200" dirty="0">
                        <a:latin typeface="Calibri" charset="0"/>
                        <a:ea typeface="Calibri" charset="0"/>
                        <a:cs typeface="Calibri" charset="0"/>
                      </a:endParaRPr>
                    </a:p>
                  </a:txBody>
                  <a:tcPr marL="73152" marR="73152" marT="36576" marB="36576"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algn="l" indent="0" marL="0">
                        <a:buNone/>
                      </a:pPr>
                      <a:r>
                        <a:rPr lang="en-US" sz="1200" dirty="0">
                          <a:solidFill>
                            <a:srgbClr val="16202E"/>
                          </a:solidFill>
                          <a:latin typeface="Calibri" pitchFamily="34" charset="0"/>
                          <a:ea typeface="Calibri" pitchFamily="34" charset="-122"/>
                          <a:cs typeface="Calibri" pitchFamily="34" charset="-120"/>
                        </a:rPr>
                        <a:t>RRC weekly; ERCOT queue/TPIT monthly; EIA/USGS/OSM annually</a:t>
                      </a:r>
                      <a:endParaRPr lang="en-US" sz="1200" dirty="0">
                        <a:latin typeface="Calibri" charset="0"/>
                        <a:ea typeface="Calibri" charset="0"/>
                        <a:cs typeface="Calibri" charset="0"/>
                      </a:endParaRPr>
                    </a:p>
                  </a:txBody>
                  <a:tcPr marL="73152" marR="73152" marT="36576" marB="36576"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0">
                <a:tc>
                  <a:txBody>
                    <a:bodyPr/>
                    <a:lstStyle/>
                    <a:p>
                      <a:pPr algn="l" indent="0" marL="0">
                        <a:buNone/>
                      </a:pPr>
                      <a:r>
                        <a:rPr lang="en-US" sz="1200" dirty="0">
                          <a:solidFill>
                            <a:srgbClr val="16202E"/>
                          </a:solidFill>
                          <a:latin typeface="Calibri" pitchFamily="34" charset="0"/>
                          <a:ea typeface="Calibri" pitchFamily="34" charset="-122"/>
                          <a:cs typeface="Calibri" pitchFamily="34" charset="-120"/>
                        </a:rPr>
                        <a:t>Analytical tooling</a:t>
                      </a:r>
                      <a:endParaRPr lang="en-US" sz="1200" dirty="0">
                        <a:latin typeface="Calibri" charset="0"/>
                        <a:ea typeface="Calibri" charset="0"/>
                        <a:cs typeface="Calibri" charset="0"/>
                      </a:endParaRPr>
                    </a:p>
                  </a:txBody>
                  <a:tcPr marL="73152" marR="73152" marT="36576" marB="36576"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algn="l" indent="0" marL="0">
                        <a:buNone/>
                      </a:pPr>
                      <a:r>
                        <a:rPr lang="en-US" sz="1200" dirty="0">
                          <a:solidFill>
                            <a:srgbClr val="16202E"/>
                          </a:solidFill>
                          <a:latin typeface="Calibri" pitchFamily="34" charset="0"/>
                          <a:ea typeface="Calibri" pitchFamily="34" charset="-122"/>
                          <a:cs typeface="Calibri" pitchFamily="34" charset="-120"/>
                        </a:rPr>
                        <a:t>Filters by county/depth/spud year/fuel/status; time scrubber; measure/share/print</a:t>
                      </a:r>
                      <a:endParaRPr lang="en-US" sz="1200" dirty="0">
                        <a:latin typeface="Calibri" charset="0"/>
                        <a:ea typeface="Calibri" charset="0"/>
                        <a:cs typeface="Calibri" charset="0"/>
                      </a:endParaRPr>
                    </a:p>
                  </a:txBody>
                  <a:tcPr marL="73152" marR="73152" marT="36576" marB="36576"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0">
                <a:tc>
                  <a:txBody>
                    <a:bodyPr/>
                    <a:lstStyle/>
                    <a:p>
                      <a:pPr algn="l" indent="0" marL="0">
                        <a:buNone/>
                      </a:pPr>
                      <a:r>
                        <a:rPr lang="en-US" sz="1200" dirty="0">
                          <a:solidFill>
                            <a:srgbClr val="16202E"/>
                          </a:solidFill>
                          <a:latin typeface="Calibri" pitchFamily="34" charset="0"/>
                          <a:ea typeface="Calibri" pitchFamily="34" charset="-122"/>
                          <a:cs typeface="Calibri" pitchFamily="34" charset="-120"/>
                        </a:rPr>
                        <a:t>Reproducibility</a:t>
                      </a:r>
                      <a:endParaRPr lang="en-US" sz="1200" dirty="0">
                        <a:latin typeface="Calibri" charset="0"/>
                        <a:ea typeface="Calibri" charset="0"/>
                        <a:cs typeface="Calibri" charset="0"/>
                      </a:endParaRPr>
                    </a:p>
                  </a:txBody>
                  <a:tcPr marL="73152" marR="73152" marT="36576" marB="36576"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algn="l" indent="0" marL="0">
                        <a:buNone/>
                      </a:pPr>
                      <a:r>
                        <a:rPr lang="en-US" sz="1200" dirty="0">
                          <a:solidFill>
                            <a:srgbClr val="16202E"/>
                          </a:solidFill>
                          <a:latin typeface="Calibri" pitchFamily="34" charset="0"/>
                          <a:ea typeface="Calibri" pitchFamily="34" charset="-122"/>
                          <a:cs typeface="Calibri" pitchFamily="34" charset="-120"/>
                        </a:rPr>
                        <a:t>Static, versioned build; deployed bundle byte-verified on release; access logged</a:t>
                      </a:r>
                      <a:endParaRPr lang="en-US" sz="1200" dirty="0">
                        <a:latin typeface="Calibri" charset="0"/>
                        <a:ea typeface="Calibri" charset="0"/>
                        <a:cs typeface="Calibri" charset="0"/>
                      </a:endParaRPr>
                    </a:p>
                  </a:txBody>
                  <a:tcPr marL="73152" marR="73152" marT="36576" marB="36576"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bl>
          </a:graphicData>
        </a:graphic>
      </p:graphicFrame>
      <p:sp>
        <p:nvSpPr>
          <p:cNvPr id="7" name="Text 3"/>
          <p:cNvSpPr/>
          <p:nvPr/>
        </p:nvSpPr>
        <p:spPr>
          <a:xfrm>
            <a:off x="548640" y="4937760"/>
            <a:ext cx="11064240" cy="457200"/>
          </a:xfrm>
          <a:prstGeom prst="rect">
            <a:avLst/>
          </a:prstGeom>
          <a:noFill/>
          <a:ln/>
        </p:spPr>
        <p:txBody>
          <a:bodyPr wrap="square" rtlCol="0" anchor="ctr"/>
          <a:lstStyle/>
          <a:p>
            <a:pPr indent="0" marL="0">
              <a:buNone/>
            </a:pPr>
            <a:r>
              <a:rPr lang="en-US" sz="1100" i="1" dirty="0">
                <a:solidFill>
                  <a:srgbClr val="64748B"/>
                </a:solidFill>
                <a:latin typeface="Calibri" pitchFamily="34" charset="0"/>
                <a:ea typeface="Calibri" pitchFamily="34" charset="-122"/>
                <a:cs typeface="Calibri" pitchFamily="34" charset="-120"/>
              </a:rPr>
              <a:t>lrp-tx-gis.netlify.app  ·  access credentials issued to the deal team separately (see Appendix)</a:t>
            </a:r>
            <a:endParaRPr lang="en-US" sz="1100" dirty="0"/>
          </a:p>
        </p:txBody>
      </p:sp>
      <p:sp>
        <p:nvSpPr>
          <p:cNvPr id="8" name="Text 4"/>
          <p:cNvSpPr/>
          <p:nvPr/>
        </p:nvSpPr>
        <p:spPr>
          <a:xfrm>
            <a:off x="457200" y="6510528"/>
            <a:ext cx="7315200" cy="274320"/>
          </a:xfrm>
          <a:prstGeom prst="rect">
            <a:avLst/>
          </a:prstGeom>
          <a:noFill/>
          <a:ln/>
        </p:spPr>
        <p:txBody>
          <a:bodyPr wrap="square" rtlCol="0" anchor="ctr"/>
          <a:lstStyle/>
          <a:p>
            <a:pPr indent="0" marL="0">
              <a:buNone/>
            </a:pPr>
            <a:r>
              <a:rPr lang="en-US" sz="800" dirty="0">
                <a:solidFill>
                  <a:srgbClr val="64748B"/>
                </a:solidFill>
                <a:latin typeface="Calibri" pitchFamily="34" charset="0"/>
                <a:ea typeface="Calibri" pitchFamily="34" charset="-122"/>
                <a:cs typeface="Calibri" pitchFamily="34" charset="-120"/>
              </a:rPr>
              <a:t>CARAMBA NORTH — STRICTLY CONFIDENTIAL, POST-NDA</a:t>
            </a:r>
            <a:endParaRPr lang="en-US" sz="800" dirty="0"/>
          </a:p>
        </p:txBody>
      </p:sp>
      <p:sp>
        <p:nvSpPr>
          <p:cNvPr id="9" name="Text 5"/>
          <p:cNvSpPr/>
          <p:nvPr/>
        </p:nvSpPr>
        <p:spPr>
          <a:xfrm>
            <a:off x="11368735" y="6510528"/>
            <a:ext cx="365760" cy="274320"/>
          </a:xfrm>
          <a:prstGeom prst="rect">
            <a:avLst/>
          </a:prstGeom>
          <a:noFill/>
          <a:ln/>
        </p:spPr>
        <p:txBody>
          <a:bodyPr wrap="square" rtlCol="0" anchor="ctr"/>
          <a:lstStyle/>
          <a:p>
            <a:pPr algn="r" indent="0" marL="0">
              <a:buNone/>
            </a:pPr>
            <a:r>
              <a:rPr lang="en-US" sz="800" dirty="0">
                <a:solidFill>
                  <a:srgbClr val="64748B"/>
                </a:solidFill>
                <a:latin typeface="Calibri" pitchFamily="34" charset="0"/>
                <a:ea typeface="Calibri" pitchFamily="34" charset="-122"/>
                <a:cs typeface="Calibri" pitchFamily="34" charset="-120"/>
              </a:rPr>
              <a:t>11</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10896"/>
            <a:ext cx="402336" cy="402336"/>
          </a:xfrm>
          <a:prstGeom prst="ellipse">
            <a:avLst/>
          </a:prstGeom>
          <a:solidFill>
            <a:srgbClr val="B91C1C"/>
          </a:solidFill>
          <a:ln/>
          <a:effectLst>
            <a:outerShdw sx="100000" sy="100000" kx="0" ky="0" algn="bl" rotWithShape="0" blurRad="88900" dist="25400" dir="5400000">
              <a:srgbClr val="0F1B2D">
                <a:alpha val="16000"/>
              </a:srgbClr>
            </a:outerShdw>
          </a:effectLst>
        </p:spPr>
      </p:sp>
      <p:pic>
        <p:nvPicPr>
          <p:cNvPr id="3" name="Image 0" descr="preencoded.png">    </p:cNvPr>
          <p:cNvPicPr>
            <a:picLocks noChangeAspect="1"/>
          </p:cNvPicPr>
          <p:nvPr/>
        </p:nvPicPr>
        <p:blipFill>
          <a:blip r:embed="rId1"/>
          <a:stretch>
            <a:fillRect/>
          </a:stretch>
        </p:blipFill>
        <p:spPr>
          <a:xfrm>
            <a:off x="653247" y="415503"/>
            <a:ext cx="193121" cy="193121"/>
          </a:xfrm>
          <a:prstGeom prst="rect">
            <a:avLst/>
          </a:prstGeom>
        </p:spPr>
      </p:pic>
      <p:sp>
        <p:nvSpPr>
          <p:cNvPr id="4" name="Text 1"/>
          <p:cNvSpPr/>
          <p:nvPr/>
        </p:nvSpPr>
        <p:spPr>
          <a:xfrm>
            <a:off x="1097280" y="365760"/>
            <a:ext cx="9144000" cy="365760"/>
          </a:xfrm>
          <a:prstGeom prst="rect">
            <a:avLst/>
          </a:prstGeom>
          <a:noFill/>
          <a:ln/>
        </p:spPr>
        <p:txBody>
          <a:bodyPr wrap="square" rtlCol="0" anchor="ctr"/>
          <a:lstStyle/>
          <a:p>
            <a:pPr indent="0" marL="0">
              <a:buNone/>
            </a:pPr>
            <a:r>
              <a:rPr lang="en-US" sz="1200" b="1" spc="200" kern="0" dirty="0">
                <a:solidFill>
                  <a:srgbClr val="B91C1C"/>
                </a:solidFill>
                <a:latin typeface="Calibri" pitchFamily="34" charset="0"/>
                <a:ea typeface="Calibri" pitchFamily="34" charset="-122"/>
                <a:cs typeface="Calibri" pitchFamily="34" charset="-120"/>
              </a:rPr>
              <a:t>09 · SUBSURFACE &amp; DRILLING ACTIVITY</a:t>
            </a:r>
            <a:endParaRPr lang="en-US" sz="1200" dirty="0"/>
          </a:p>
        </p:txBody>
      </p:sp>
      <p:sp>
        <p:nvSpPr>
          <p:cNvPr id="5" name="Text 2"/>
          <p:cNvSpPr/>
          <p:nvPr/>
        </p:nvSpPr>
        <p:spPr>
          <a:xfrm>
            <a:off x="548640" y="841248"/>
            <a:ext cx="11064240" cy="822960"/>
          </a:xfrm>
          <a:prstGeom prst="rect">
            <a:avLst/>
          </a:prstGeom>
          <a:noFill/>
          <a:ln/>
        </p:spPr>
        <p:txBody>
          <a:bodyPr wrap="square" rtlCol="0" anchor="t"/>
          <a:lstStyle/>
          <a:p>
            <a:pPr indent="0" marL="0">
              <a:buNone/>
            </a:pPr>
            <a:r>
              <a:rPr lang="en-US" sz="2500" b="1" dirty="0">
                <a:solidFill>
                  <a:srgbClr val="0F1B2D"/>
                </a:solidFill>
                <a:latin typeface="Cambria" pitchFamily="34" charset="0"/>
                <a:ea typeface="Cambria" pitchFamily="34" charset="-122"/>
                <a:cs typeface="Cambria" pitchFamily="34" charset="-120"/>
              </a:rPr>
              <a:t>No new drilling is occurring at or near the site</a:t>
            </a:r>
            <a:endParaRPr lang="en-US" sz="2500" dirty="0"/>
          </a:p>
        </p:txBody>
      </p:sp>
      <p:sp>
        <p:nvSpPr>
          <p:cNvPr id="6" name="Shape 3"/>
          <p:cNvSpPr/>
          <p:nvPr/>
        </p:nvSpPr>
        <p:spPr>
          <a:xfrm>
            <a:off x="548640" y="1783080"/>
            <a:ext cx="2583180" cy="1051560"/>
          </a:xfrm>
          <a:prstGeom prst="roundRect">
            <a:avLst>
              <a:gd name="adj" fmla="val 5217"/>
            </a:avLst>
          </a:prstGeom>
          <a:solidFill>
            <a:srgbClr val="F1F5F9"/>
          </a:solidFill>
          <a:ln w="9525">
            <a:solidFill>
              <a:srgbClr val="E2E8F0"/>
            </a:solidFill>
            <a:prstDash val="solid"/>
          </a:ln>
          <a:effectLst>
            <a:outerShdw sx="100000" sy="100000" kx="0" ky="0" algn="bl" rotWithShape="0" blurRad="88900" dist="25400" dir="5400000">
              <a:srgbClr val="0F1B2D">
                <a:alpha val="16000"/>
              </a:srgbClr>
            </a:outerShdw>
          </a:effectLst>
        </p:spPr>
      </p:sp>
      <p:sp>
        <p:nvSpPr>
          <p:cNvPr id="7" name="Text 4"/>
          <p:cNvSpPr/>
          <p:nvPr/>
        </p:nvSpPr>
        <p:spPr>
          <a:xfrm>
            <a:off x="676656" y="1874520"/>
            <a:ext cx="2327148" cy="521208"/>
          </a:xfrm>
          <a:prstGeom prst="rect">
            <a:avLst/>
          </a:prstGeom>
          <a:noFill/>
          <a:ln/>
        </p:spPr>
        <p:txBody>
          <a:bodyPr wrap="square" rtlCol="0" anchor="b"/>
          <a:lstStyle/>
          <a:p>
            <a:pPr indent="0" marL="0">
              <a:buNone/>
            </a:pPr>
            <a:r>
              <a:rPr lang="en-US" sz="2200" b="1" dirty="0">
                <a:solidFill>
                  <a:srgbClr val="0F1B2D"/>
                </a:solidFill>
                <a:latin typeface="Calibri" pitchFamily="34" charset="0"/>
                <a:ea typeface="Calibri" pitchFamily="34" charset="-122"/>
                <a:cs typeface="Calibri" pitchFamily="34" charset="-120"/>
              </a:rPr>
              <a:t>0</a:t>
            </a:r>
            <a:endParaRPr lang="en-US" sz="2200" dirty="0"/>
          </a:p>
        </p:txBody>
      </p:sp>
      <p:sp>
        <p:nvSpPr>
          <p:cNvPr id="8" name="Text 5"/>
          <p:cNvSpPr/>
          <p:nvPr/>
        </p:nvSpPr>
        <p:spPr>
          <a:xfrm>
            <a:off x="676656" y="2450592"/>
            <a:ext cx="2327148" cy="329184"/>
          </a:xfrm>
          <a:prstGeom prst="rect">
            <a:avLst/>
          </a:prstGeom>
          <a:noFill/>
          <a:ln/>
        </p:spPr>
        <p:txBody>
          <a:bodyPr wrap="square" rtlCol="0" anchor="t"/>
          <a:lstStyle/>
          <a:p>
            <a:pPr indent="0" marL="0">
              <a:buNone/>
            </a:pPr>
            <a:r>
              <a:rPr lang="en-US" sz="850" spc="100" kern="0" dirty="0">
                <a:solidFill>
                  <a:srgbClr val="64748B"/>
                </a:solidFill>
                <a:latin typeface="Calibri" pitchFamily="34" charset="0"/>
                <a:ea typeface="Calibri" pitchFamily="34" charset="-122"/>
                <a:cs typeface="Calibri" pitchFamily="34" charset="-120"/>
              </a:rPr>
              <a:t>NEW-DRILL WELLS ≤ 2 MI SINCE 2020</a:t>
            </a:r>
            <a:endParaRPr lang="en-US" sz="850" dirty="0"/>
          </a:p>
        </p:txBody>
      </p:sp>
      <p:sp>
        <p:nvSpPr>
          <p:cNvPr id="9" name="Shape 6"/>
          <p:cNvSpPr/>
          <p:nvPr/>
        </p:nvSpPr>
        <p:spPr>
          <a:xfrm>
            <a:off x="3268980" y="1783080"/>
            <a:ext cx="2583180" cy="1051560"/>
          </a:xfrm>
          <a:prstGeom prst="roundRect">
            <a:avLst>
              <a:gd name="adj" fmla="val 5217"/>
            </a:avLst>
          </a:prstGeom>
          <a:solidFill>
            <a:srgbClr val="F1F5F9"/>
          </a:solidFill>
          <a:ln w="9525">
            <a:solidFill>
              <a:srgbClr val="E2E8F0"/>
            </a:solidFill>
            <a:prstDash val="solid"/>
          </a:ln>
          <a:effectLst>
            <a:outerShdw sx="100000" sy="100000" kx="0" ky="0" algn="bl" rotWithShape="0" blurRad="88900" dist="25400" dir="5400000">
              <a:srgbClr val="0F1B2D">
                <a:alpha val="16000"/>
              </a:srgbClr>
            </a:outerShdw>
          </a:effectLst>
        </p:spPr>
      </p:sp>
      <p:sp>
        <p:nvSpPr>
          <p:cNvPr id="10" name="Text 7"/>
          <p:cNvSpPr/>
          <p:nvPr/>
        </p:nvSpPr>
        <p:spPr>
          <a:xfrm>
            <a:off x="3396996" y="1874520"/>
            <a:ext cx="2327148" cy="521208"/>
          </a:xfrm>
          <a:prstGeom prst="rect">
            <a:avLst/>
          </a:prstGeom>
          <a:noFill/>
          <a:ln/>
        </p:spPr>
        <p:txBody>
          <a:bodyPr wrap="square" rtlCol="0" anchor="b"/>
          <a:lstStyle/>
          <a:p>
            <a:pPr indent="0" marL="0">
              <a:buNone/>
            </a:pPr>
            <a:r>
              <a:rPr lang="en-US" sz="2200" b="1" dirty="0">
                <a:solidFill>
                  <a:srgbClr val="0F1B2D"/>
                </a:solidFill>
                <a:latin typeface="Calibri" pitchFamily="34" charset="0"/>
                <a:ea typeface="Calibri" pitchFamily="34" charset="-122"/>
                <a:cs typeface="Calibri" pitchFamily="34" charset="-120"/>
              </a:rPr>
              <a:t>0</a:t>
            </a:r>
            <a:endParaRPr lang="en-US" sz="2200" dirty="0"/>
          </a:p>
        </p:txBody>
      </p:sp>
      <p:sp>
        <p:nvSpPr>
          <p:cNvPr id="11" name="Text 8"/>
          <p:cNvSpPr/>
          <p:nvPr/>
        </p:nvSpPr>
        <p:spPr>
          <a:xfrm>
            <a:off x="3396996" y="2450592"/>
            <a:ext cx="2327148" cy="329184"/>
          </a:xfrm>
          <a:prstGeom prst="rect">
            <a:avLst/>
          </a:prstGeom>
          <a:noFill/>
          <a:ln/>
        </p:spPr>
        <p:txBody>
          <a:bodyPr wrap="square" rtlCol="0" anchor="t"/>
          <a:lstStyle/>
          <a:p>
            <a:pPr indent="0" marL="0">
              <a:buNone/>
            </a:pPr>
            <a:r>
              <a:rPr lang="en-US" sz="850" spc="100" kern="0" dirty="0">
                <a:solidFill>
                  <a:srgbClr val="64748B"/>
                </a:solidFill>
                <a:latin typeface="Calibri" pitchFamily="34" charset="0"/>
                <a:ea typeface="Calibri" pitchFamily="34" charset="-122"/>
                <a:cs typeface="Calibri" pitchFamily="34" charset="-120"/>
              </a:rPr>
              <a:t>NEW-DRILL WELLS ≤ 5 MI SINCE 2020</a:t>
            </a:r>
            <a:endParaRPr lang="en-US" sz="850" dirty="0"/>
          </a:p>
        </p:txBody>
      </p:sp>
      <p:sp>
        <p:nvSpPr>
          <p:cNvPr id="12" name="Shape 9"/>
          <p:cNvSpPr/>
          <p:nvPr/>
        </p:nvSpPr>
        <p:spPr>
          <a:xfrm>
            <a:off x="5989320" y="1783080"/>
            <a:ext cx="2583180" cy="1051560"/>
          </a:xfrm>
          <a:prstGeom prst="roundRect">
            <a:avLst>
              <a:gd name="adj" fmla="val 5217"/>
            </a:avLst>
          </a:prstGeom>
          <a:solidFill>
            <a:srgbClr val="F1F5F9"/>
          </a:solidFill>
          <a:ln w="9525">
            <a:solidFill>
              <a:srgbClr val="E2E8F0"/>
            </a:solidFill>
            <a:prstDash val="solid"/>
          </a:ln>
          <a:effectLst>
            <a:outerShdw sx="100000" sy="100000" kx="0" ky="0" algn="bl" rotWithShape="0" blurRad="88900" dist="25400" dir="5400000">
              <a:srgbClr val="0F1B2D">
                <a:alpha val="16000"/>
              </a:srgbClr>
            </a:outerShdw>
          </a:effectLst>
        </p:spPr>
      </p:sp>
      <p:sp>
        <p:nvSpPr>
          <p:cNvPr id="13" name="Text 10"/>
          <p:cNvSpPr/>
          <p:nvPr/>
        </p:nvSpPr>
        <p:spPr>
          <a:xfrm>
            <a:off x="6117336" y="1874520"/>
            <a:ext cx="2327148" cy="521208"/>
          </a:xfrm>
          <a:prstGeom prst="rect">
            <a:avLst/>
          </a:prstGeom>
          <a:noFill/>
          <a:ln/>
        </p:spPr>
        <p:txBody>
          <a:bodyPr wrap="square" rtlCol="0" anchor="b"/>
          <a:lstStyle/>
          <a:p>
            <a:pPr indent="0" marL="0">
              <a:buNone/>
            </a:pPr>
            <a:r>
              <a:rPr lang="en-US" sz="2200" b="1" dirty="0">
                <a:solidFill>
                  <a:srgbClr val="0F1B2D"/>
                </a:solidFill>
                <a:latin typeface="Calibri" pitchFamily="34" charset="0"/>
                <a:ea typeface="Calibri" pitchFamily="34" charset="-122"/>
                <a:cs typeface="Calibri" pitchFamily="34" charset="-120"/>
              </a:rPr>
              <a:t>1</a:t>
            </a:r>
            <a:endParaRPr lang="en-US" sz="2200" dirty="0"/>
          </a:p>
        </p:txBody>
      </p:sp>
      <p:sp>
        <p:nvSpPr>
          <p:cNvPr id="14" name="Text 11"/>
          <p:cNvSpPr/>
          <p:nvPr/>
        </p:nvSpPr>
        <p:spPr>
          <a:xfrm>
            <a:off x="6117336" y="2450592"/>
            <a:ext cx="2327148" cy="329184"/>
          </a:xfrm>
          <a:prstGeom prst="rect">
            <a:avLst/>
          </a:prstGeom>
          <a:noFill/>
          <a:ln/>
        </p:spPr>
        <p:txBody>
          <a:bodyPr wrap="square" rtlCol="0" anchor="t"/>
          <a:lstStyle/>
          <a:p>
            <a:pPr indent="0" marL="0">
              <a:buNone/>
            </a:pPr>
            <a:r>
              <a:rPr lang="en-US" sz="850" spc="100" kern="0" dirty="0">
                <a:solidFill>
                  <a:srgbClr val="64748B"/>
                </a:solidFill>
                <a:latin typeface="Calibri" pitchFamily="34" charset="0"/>
                <a:ea typeface="Calibri" pitchFamily="34" charset="-122"/>
                <a:cs typeface="Calibri" pitchFamily="34" charset="-120"/>
              </a:rPr>
              <a:t>NEW-DRILL WELLS ≤ 10 MI SINCE 2020</a:t>
            </a:r>
            <a:endParaRPr lang="en-US" sz="850" dirty="0"/>
          </a:p>
        </p:txBody>
      </p:sp>
      <p:sp>
        <p:nvSpPr>
          <p:cNvPr id="15" name="Shape 12"/>
          <p:cNvSpPr/>
          <p:nvPr/>
        </p:nvSpPr>
        <p:spPr>
          <a:xfrm>
            <a:off x="8709660" y="1783080"/>
            <a:ext cx="2583180" cy="1051560"/>
          </a:xfrm>
          <a:prstGeom prst="roundRect">
            <a:avLst>
              <a:gd name="adj" fmla="val 5217"/>
            </a:avLst>
          </a:prstGeom>
          <a:solidFill>
            <a:srgbClr val="F1F5F9"/>
          </a:solidFill>
          <a:ln w="9525">
            <a:solidFill>
              <a:srgbClr val="E2E8F0"/>
            </a:solidFill>
            <a:prstDash val="solid"/>
          </a:ln>
          <a:effectLst>
            <a:outerShdw sx="100000" sy="100000" kx="0" ky="0" algn="bl" rotWithShape="0" blurRad="88900" dist="25400" dir="5400000">
              <a:srgbClr val="0F1B2D">
                <a:alpha val="16000"/>
              </a:srgbClr>
            </a:outerShdw>
          </a:effectLst>
        </p:spPr>
      </p:sp>
      <p:sp>
        <p:nvSpPr>
          <p:cNvPr id="16" name="Text 13"/>
          <p:cNvSpPr/>
          <p:nvPr/>
        </p:nvSpPr>
        <p:spPr>
          <a:xfrm>
            <a:off x="8837676" y="1874520"/>
            <a:ext cx="2327148" cy="521208"/>
          </a:xfrm>
          <a:prstGeom prst="rect">
            <a:avLst/>
          </a:prstGeom>
          <a:noFill/>
          <a:ln/>
        </p:spPr>
        <p:txBody>
          <a:bodyPr wrap="square" rtlCol="0" anchor="b"/>
          <a:lstStyle/>
          <a:p>
            <a:pPr indent="0" marL="0">
              <a:buNone/>
            </a:pPr>
            <a:r>
              <a:rPr lang="en-US" sz="2200" b="1" dirty="0">
                <a:solidFill>
                  <a:srgbClr val="0F1B2D"/>
                </a:solidFill>
                <a:latin typeface="Calibri" pitchFamily="34" charset="0"/>
                <a:ea typeface="Calibri" pitchFamily="34" charset="-122"/>
                <a:cs typeface="Calibri" pitchFamily="34" charset="-120"/>
              </a:rPr>
              <a:t>0</a:t>
            </a:r>
            <a:endParaRPr lang="en-US" sz="2200" dirty="0"/>
          </a:p>
        </p:txBody>
      </p:sp>
      <p:sp>
        <p:nvSpPr>
          <p:cNvPr id="17" name="Text 14"/>
          <p:cNvSpPr/>
          <p:nvPr/>
        </p:nvSpPr>
        <p:spPr>
          <a:xfrm>
            <a:off x="8837676" y="2450592"/>
            <a:ext cx="2327148" cy="329184"/>
          </a:xfrm>
          <a:prstGeom prst="rect">
            <a:avLst/>
          </a:prstGeom>
          <a:noFill/>
          <a:ln/>
        </p:spPr>
        <p:txBody>
          <a:bodyPr wrap="square" rtlCol="0" anchor="t"/>
          <a:lstStyle/>
          <a:p>
            <a:pPr indent="0" marL="0">
              <a:buNone/>
            </a:pPr>
            <a:r>
              <a:rPr lang="en-US" sz="850" spc="100" kern="0" dirty="0">
                <a:solidFill>
                  <a:srgbClr val="64748B"/>
                </a:solidFill>
                <a:latin typeface="Calibri" pitchFamily="34" charset="0"/>
                <a:ea typeface="Calibri" pitchFamily="34" charset="-122"/>
                <a:cs typeface="Calibri" pitchFamily="34" charset="-120"/>
              </a:rPr>
              <a:t>NEW-DRILL FRACKS ≤ 2 MI, EVER</a:t>
            </a:r>
            <a:endParaRPr lang="en-US" sz="850" dirty="0"/>
          </a:p>
        </p:txBody>
      </p:sp>
      <p:graphicFrame>
        <p:nvGraphicFramePr>
          <p:cNvPr id="18" name="Chart 0" descr=""/>
          <p:cNvGraphicFramePr/>
          <p:nvPr/>
        </p:nvGraphicFramePr>
        <p:xfrm>
          <a:off x="548640" y="3063240"/>
          <a:ext cx="6675120" cy="3200400"/>
        </p:xfrm>
        <a:graphic xmlns:a="http://schemas.openxmlformats.org/drawingml/2006/main">
          <a:graphicData uri="http://schemas.openxmlformats.org/drawingml/2006/chart">
            <c:chart xmlns:c="http://schemas.openxmlformats.org/drawingml/2006/chart" r:id="rId2"/>
          </a:graphicData>
        </a:graphic>
      </p:graphicFrame>
      <p:sp>
        <p:nvSpPr>
          <p:cNvPr id="19" name="Shape 15"/>
          <p:cNvSpPr/>
          <p:nvPr/>
        </p:nvSpPr>
        <p:spPr>
          <a:xfrm>
            <a:off x="7452360" y="3063240"/>
            <a:ext cx="4206240" cy="3200400"/>
          </a:xfrm>
          <a:prstGeom prst="roundRect">
            <a:avLst>
              <a:gd name="adj" fmla="val 1429"/>
            </a:avLst>
          </a:prstGeom>
          <a:solidFill>
            <a:srgbClr val="FEF7F7"/>
          </a:solidFill>
          <a:ln w="15875">
            <a:solidFill>
              <a:srgbClr val="B91C1C"/>
            </a:solidFill>
            <a:prstDash val="solid"/>
          </a:ln>
          <a:effectLst>
            <a:outerShdw sx="100000" sy="100000" kx="0" ky="0" algn="bl" rotWithShape="0" blurRad="88900" dist="25400" dir="5400000">
              <a:srgbClr val="0F1B2D">
                <a:alpha val="16000"/>
              </a:srgbClr>
            </a:outerShdw>
          </a:effectLst>
        </p:spPr>
      </p:sp>
      <p:sp>
        <p:nvSpPr>
          <p:cNvPr id="20" name="Text 16"/>
          <p:cNvSpPr/>
          <p:nvPr/>
        </p:nvSpPr>
        <p:spPr>
          <a:xfrm>
            <a:off x="7680960" y="3246120"/>
            <a:ext cx="3749040" cy="274320"/>
          </a:xfrm>
          <a:prstGeom prst="rect">
            <a:avLst/>
          </a:prstGeom>
          <a:noFill/>
          <a:ln/>
        </p:spPr>
        <p:txBody>
          <a:bodyPr wrap="square" rtlCol="0" anchor="ctr"/>
          <a:lstStyle/>
          <a:p>
            <a:pPr indent="0" marL="0">
              <a:buNone/>
            </a:pPr>
            <a:r>
              <a:rPr lang="en-US" sz="1000" b="1" spc="150" kern="0" dirty="0">
                <a:solidFill>
                  <a:srgbClr val="B91C1C"/>
                </a:solidFill>
                <a:latin typeface="Calibri" pitchFamily="34" charset="0"/>
                <a:ea typeface="Calibri" pitchFamily="34" charset="-122"/>
                <a:cs typeface="Calibri" pitchFamily="34" charset="-120"/>
              </a:rPr>
              <a:t>BOTTOM LINE</a:t>
            </a:r>
            <a:endParaRPr lang="en-US" sz="1000" dirty="0"/>
          </a:p>
        </p:txBody>
      </p:sp>
      <p:sp>
        <p:nvSpPr>
          <p:cNvPr id="21" name="Text 17"/>
          <p:cNvSpPr/>
          <p:nvPr/>
        </p:nvSpPr>
        <p:spPr>
          <a:xfrm>
            <a:off x="7680960" y="3566160"/>
            <a:ext cx="3749040" cy="1554480"/>
          </a:xfrm>
          <a:prstGeom prst="rect">
            <a:avLst/>
          </a:prstGeom>
          <a:noFill/>
          <a:ln/>
        </p:spPr>
        <p:txBody>
          <a:bodyPr wrap="square" rtlCol="0" anchor="ctr"/>
          <a:lstStyle/>
          <a:p>
            <a:pPr indent="0" marL="0">
              <a:buNone/>
            </a:pPr>
            <a:r>
              <a:rPr lang="en-US" sz="1300" b="1" dirty="0">
                <a:solidFill>
                  <a:srgbClr val="0F1B2D"/>
                </a:solidFill>
                <a:latin typeface="Calibri" pitchFamily="34" charset="0"/>
                <a:ea typeface="Calibri" pitchFamily="34" charset="-122"/>
                <a:cs typeface="Calibri" pitchFamily="34" charset="-120"/>
              </a:rPr>
              <a:t>Shallow drilling, hydraulic fracturing, or new drilling of any kind — three independent public records point the same way: it is not happening at or near this site.</a:t>
            </a:r>
            <a:endParaRPr lang="en-US" sz="1300" dirty="0"/>
          </a:p>
        </p:txBody>
      </p:sp>
      <p:sp>
        <p:nvSpPr>
          <p:cNvPr id="22" name="Text 18"/>
          <p:cNvSpPr/>
          <p:nvPr/>
        </p:nvSpPr>
        <p:spPr>
          <a:xfrm>
            <a:off x="7680960" y="5120640"/>
            <a:ext cx="3749040" cy="1005840"/>
          </a:xfrm>
          <a:prstGeom prst="rect">
            <a:avLst/>
          </a:prstGeom>
          <a:noFill/>
          <a:ln/>
        </p:spPr>
        <p:txBody>
          <a:bodyPr wrap="square" rtlCol="0" anchor="ctr"/>
          <a:lstStyle/>
          <a:p>
            <a:pPr indent="0" marL="0">
              <a:buNone/>
            </a:pPr>
            <a:r>
              <a:rPr lang="en-US" sz="1000" dirty="0">
                <a:solidFill>
                  <a:srgbClr val="475569"/>
                </a:solidFill>
                <a:latin typeface="Calibri" pitchFamily="34" charset="0"/>
                <a:ea typeface="Calibri" pitchFamily="34" charset="-122"/>
                <a:cs typeface="Calibri" pitchFamily="34" charset="-120"/>
              </a:rPr>
              <a:t>Pecos: 115 new wells since 2020 vs. peer average 1,181. 83% of non-plugged wellbores ≤10 mi are marginal/end-of-life.</a:t>
            </a:r>
            <a:endParaRPr lang="en-US" sz="1000" dirty="0"/>
          </a:p>
        </p:txBody>
      </p:sp>
      <p:sp>
        <p:nvSpPr>
          <p:cNvPr id="23" name="Text 19"/>
          <p:cNvSpPr/>
          <p:nvPr/>
        </p:nvSpPr>
        <p:spPr>
          <a:xfrm>
            <a:off x="457200" y="6510528"/>
            <a:ext cx="7315200" cy="274320"/>
          </a:xfrm>
          <a:prstGeom prst="rect">
            <a:avLst/>
          </a:prstGeom>
          <a:noFill/>
          <a:ln/>
        </p:spPr>
        <p:txBody>
          <a:bodyPr wrap="square" rtlCol="0" anchor="ctr"/>
          <a:lstStyle/>
          <a:p>
            <a:pPr indent="0" marL="0">
              <a:buNone/>
            </a:pPr>
            <a:r>
              <a:rPr lang="en-US" sz="800" dirty="0">
                <a:solidFill>
                  <a:srgbClr val="64748B"/>
                </a:solidFill>
                <a:latin typeface="Calibri" pitchFamily="34" charset="0"/>
                <a:ea typeface="Calibri" pitchFamily="34" charset="-122"/>
                <a:cs typeface="Calibri" pitchFamily="34" charset="-120"/>
              </a:rPr>
              <a:t>CARAMBA NORTH — STRICTLY CONFIDENTIAL, POST-NDA</a:t>
            </a:r>
            <a:endParaRPr lang="en-US" sz="800" dirty="0"/>
          </a:p>
        </p:txBody>
      </p:sp>
      <p:sp>
        <p:nvSpPr>
          <p:cNvPr id="24" name="Text 20"/>
          <p:cNvSpPr/>
          <p:nvPr/>
        </p:nvSpPr>
        <p:spPr>
          <a:xfrm>
            <a:off x="11368735" y="6510528"/>
            <a:ext cx="365760" cy="274320"/>
          </a:xfrm>
          <a:prstGeom prst="rect">
            <a:avLst/>
          </a:prstGeom>
          <a:noFill/>
          <a:ln/>
        </p:spPr>
        <p:txBody>
          <a:bodyPr wrap="square" rtlCol="0" anchor="ctr"/>
          <a:lstStyle/>
          <a:p>
            <a:pPr algn="r" indent="0" marL="0">
              <a:buNone/>
            </a:pPr>
            <a:r>
              <a:rPr lang="en-US" sz="800" dirty="0">
                <a:solidFill>
                  <a:srgbClr val="64748B"/>
                </a:solidFill>
                <a:latin typeface="Calibri" pitchFamily="34" charset="0"/>
                <a:ea typeface="Calibri" pitchFamily="34" charset="-122"/>
                <a:cs typeface="Calibri" pitchFamily="34" charset="-120"/>
              </a:rPr>
              <a:t>12</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10896"/>
            <a:ext cx="402336" cy="402336"/>
          </a:xfrm>
          <a:prstGeom prst="ellipse">
            <a:avLst/>
          </a:prstGeom>
          <a:solidFill>
            <a:srgbClr val="B91C1C"/>
          </a:solidFill>
          <a:ln/>
          <a:effectLst>
            <a:outerShdw sx="100000" sy="100000" kx="0" ky="0" algn="bl" rotWithShape="0" blurRad="88900" dist="25400" dir="5400000">
              <a:srgbClr val="0F1B2D">
                <a:alpha val="16000"/>
              </a:srgbClr>
            </a:outerShdw>
          </a:effectLst>
        </p:spPr>
      </p:sp>
      <p:pic>
        <p:nvPicPr>
          <p:cNvPr id="3" name="Image 0" descr="preencoded.png">    </p:cNvPr>
          <p:cNvPicPr>
            <a:picLocks noChangeAspect="1"/>
          </p:cNvPicPr>
          <p:nvPr/>
        </p:nvPicPr>
        <p:blipFill>
          <a:blip r:embed="rId1"/>
          <a:stretch>
            <a:fillRect/>
          </a:stretch>
        </p:blipFill>
        <p:spPr>
          <a:xfrm>
            <a:off x="653247" y="415503"/>
            <a:ext cx="193121" cy="193121"/>
          </a:xfrm>
          <a:prstGeom prst="rect">
            <a:avLst/>
          </a:prstGeom>
        </p:spPr>
      </p:pic>
      <p:sp>
        <p:nvSpPr>
          <p:cNvPr id="4" name="Text 1"/>
          <p:cNvSpPr/>
          <p:nvPr/>
        </p:nvSpPr>
        <p:spPr>
          <a:xfrm>
            <a:off x="1097280" y="365760"/>
            <a:ext cx="9144000" cy="365760"/>
          </a:xfrm>
          <a:prstGeom prst="rect">
            <a:avLst/>
          </a:prstGeom>
          <a:noFill/>
          <a:ln/>
        </p:spPr>
        <p:txBody>
          <a:bodyPr wrap="square" rtlCol="0" anchor="ctr"/>
          <a:lstStyle/>
          <a:p>
            <a:pPr indent="0" marL="0">
              <a:buNone/>
            </a:pPr>
            <a:r>
              <a:rPr lang="en-US" sz="1200" b="1" spc="200" kern="0" dirty="0">
                <a:solidFill>
                  <a:srgbClr val="B91C1C"/>
                </a:solidFill>
                <a:latin typeface="Calibri" pitchFamily="34" charset="0"/>
                <a:ea typeface="Calibri" pitchFamily="34" charset="-122"/>
                <a:cs typeface="Calibri" pitchFamily="34" charset="-120"/>
              </a:rPr>
              <a:t>APPENDIX</a:t>
            </a:r>
            <a:endParaRPr lang="en-US" sz="1200" dirty="0"/>
          </a:p>
        </p:txBody>
      </p:sp>
      <p:sp>
        <p:nvSpPr>
          <p:cNvPr id="5" name="Text 2"/>
          <p:cNvSpPr/>
          <p:nvPr/>
        </p:nvSpPr>
        <p:spPr>
          <a:xfrm>
            <a:off x="548640" y="841248"/>
            <a:ext cx="11064240" cy="822960"/>
          </a:xfrm>
          <a:prstGeom prst="rect">
            <a:avLst/>
          </a:prstGeom>
          <a:noFill/>
          <a:ln/>
        </p:spPr>
        <p:txBody>
          <a:bodyPr wrap="square" rtlCol="0" anchor="t"/>
          <a:lstStyle/>
          <a:p>
            <a:pPr indent="0" marL="0">
              <a:buNone/>
            </a:pPr>
            <a:r>
              <a:rPr lang="en-US" sz="2500" b="1" dirty="0">
                <a:solidFill>
                  <a:srgbClr val="0F1B2D"/>
                </a:solidFill>
                <a:latin typeface="Cambria" pitchFamily="34" charset="0"/>
                <a:ea typeface="Cambria" pitchFamily="34" charset="-122"/>
                <a:cs typeface="Cambria" pitchFamily="34" charset="-120"/>
              </a:rPr>
              <a:t>GIS platform access &amp; source register</a:t>
            </a:r>
            <a:endParaRPr lang="en-US" sz="25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64240" cy="914400"/>
        </p:xfrm>
        <a:graphic>
          <a:graphicData uri="http://schemas.openxmlformats.org/drawingml/2006/table">
            <a:tbl>
              <a:tblPr/>
              <a:tblGrid>
                <a:gridCol w="2194560"/>
                <a:gridCol w="8869680"/>
              </a:tblGrid>
              <a:tr h="0">
                <a:tc>
                  <a:txBody>
                    <a:bodyPr/>
                    <a:lstStyle/>
                    <a:p>
                      <a:pPr algn="l" indent="0" marL="0">
                        <a:buNone/>
                      </a:pPr>
                      <a:r>
                        <a:rPr lang="en-US" sz="1150" b="1" dirty="0">
                          <a:solidFill>
                            <a:srgbClr val="475569"/>
                          </a:solidFill>
                          <a:latin typeface="Calibri" pitchFamily="34" charset="0"/>
                          <a:ea typeface="Calibri" pitchFamily="34" charset="-122"/>
                          <a:cs typeface="Calibri" pitchFamily="34" charset="-120"/>
                        </a:rPr>
                        <a:t>ELEMENT</a:t>
                      </a:r>
                      <a:endParaRPr lang="en-US" sz="1150" dirty="0">
                        <a:latin typeface="Calibri" charset="0"/>
                        <a:ea typeface="Calibri" charset="0"/>
                        <a:cs typeface="Calibri" charset="0"/>
                      </a:endParaRPr>
                    </a:p>
                  </a:txBody>
                  <a:tcPr marL="73152" marR="73152" marT="36576" marB="36576"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c>
                  <a:txBody>
                    <a:bodyPr/>
                    <a:lstStyle/>
                    <a:p>
                      <a:pPr algn="l" indent="0" marL="0">
                        <a:buNone/>
                      </a:pPr>
                      <a:r>
                        <a:rPr lang="en-US" sz="1150" b="1" dirty="0">
                          <a:solidFill>
                            <a:srgbClr val="475569"/>
                          </a:solidFill>
                          <a:latin typeface="Calibri" pitchFamily="34" charset="0"/>
                          <a:ea typeface="Calibri" pitchFamily="34" charset="-122"/>
                          <a:cs typeface="Calibri" pitchFamily="34" charset="-120"/>
                        </a:rPr>
                        <a:t>DETAIL</a:t>
                      </a:r>
                      <a:endParaRPr lang="en-US" sz="1150" dirty="0">
                        <a:latin typeface="Calibri" charset="0"/>
                        <a:ea typeface="Calibri" charset="0"/>
                        <a:cs typeface="Calibri" charset="0"/>
                      </a:endParaRPr>
                    </a:p>
                  </a:txBody>
                  <a:tcPr marL="73152" marR="73152" marT="36576" marB="36576"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solidFill>
                      <a:srgbClr val="F1F5F9"/>
                    </a:solidFill>
                  </a:tcPr>
                </a:tc>
              </a:tr>
              <a:tr h="0">
                <a:tc>
                  <a:txBody>
                    <a:bodyPr/>
                    <a:lstStyle/>
                    <a:p>
                      <a:pPr algn="l" indent="0" marL="0">
                        <a:buNone/>
                      </a:pPr>
                      <a:r>
                        <a:rPr lang="en-US" sz="1150" dirty="0">
                          <a:solidFill>
                            <a:srgbClr val="16202E"/>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73152" marR="73152" marT="36576" marB="36576"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algn="l" indent="0" marL="0">
                        <a:buNone/>
                      </a:pPr>
                      <a:r>
                        <a:rPr lang="en-US" sz="1150" dirty="0">
                          <a:solidFill>
                            <a:srgbClr val="16202E"/>
                          </a:solidFill>
                          <a:latin typeface="Calibri" pitchFamily="34" charset="0"/>
                          <a:ea typeface="Calibri" pitchFamily="34" charset="-122"/>
                          <a:cs typeface="Calibri" pitchFamily="34" charset="-120"/>
                        </a:rPr>
                        <a:t>https://lrp-tx-gis.netlify.app</a:t>
                      </a:r>
                      <a:endParaRPr lang="en-US" sz="1150" dirty="0">
                        <a:latin typeface="Calibri" charset="0"/>
                        <a:ea typeface="Calibri" charset="0"/>
                        <a:cs typeface="Calibri" charset="0"/>
                      </a:endParaRPr>
                    </a:p>
                  </a:txBody>
                  <a:tcPr marL="73152" marR="73152" marT="36576" marB="36576"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0">
                <a:tc>
                  <a:txBody>
                    <a:bodyPr/>
                    <a:lstStyle/>
                    <a:p>
                      <a:pPr algn="l" indent="0" marL="0">
                        <a:buNone/>
                      </a:pPr>
                      <a:r>
                        <a:rPr lang="en-US" sz="1150" dirty="0">
                          <a:solidFill>
                            <a:srgbClr val="16202E"/>
                          </a:solidFill>
                          <a:latin typeface="Calibri" pitchFamily="34" charset="0"/>
                          <a:ea typeface="Calibri" pitchFamily="34" charset="-122"/>
                          <a:cs typeface="Calibri" pitchFamily="34" charset="-120"/>
                        </a:rPr>
                        <a:t>Login</a:t>
                      </a:r>
                      <a:endParaRPr lang="en-US" sz="1150" dirty="0">
                        <a:latin typeface="Calibri" charset="0"/>
                        <a:ea typeface="Calibri" charset="0"/>
                        <a:cs typeface="Calibri" charset="0"/>
                      </a:endParaRPr>
                    </a:p>
                  </a:txBody>
                  <a:tcPr marL="73152" marR="73152" marT="36576" marB="36576"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algn="l" indent="0" marL="0">
                        <a:buNone/>
                      </a:pPr>
                      <a:r>
                        <a:rPr lang="en-US" sz="1150" dirty="0">
                          <a:solidFill>
                            <a:srgbClr val="16202E"/>
                          </a:solidFill>
                          <a:latin typeface="Calibri" pitchFamily="34" charset="0"/>
                          <a:ea typeface="Calibri" pitchFamily="34" charset="-122"/>
                          <a:cs typeface="Calibri" pitchFamily="34" charset="-120"/>
                        </a:rPr>
                        <a:t>Business email + access password (issued to deal team separately)</a:t>
                      </a:r>
                      <a:endParaRPr lang="en-US" sz="1150" dirty="0">
                        <a:latin typeface="Calibri" charset="0"/>
                        <a:ea typeface="Calibri" charset="0"/>
                        <a:cs typeface="Calibri" charset="0"/>
                      </a:endParaRPr>
                    </a:p>
                  </a:txBody>
                  <a:tcPr marL="73152" marR="73152" marT="36576" marB="36576"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0">
                <a:tc>
                  <a:txBody>
                    <a:bodyPr/>
                    <a:lstStyle/>
                    <a:p>
                      <a:pPr algn="l" indent="0" marL="0">
                        <a:buNone/>
                      </a:pPr>
                      <a:r>
                        <a:rPr lang="en-US" sz="1150" dirty="0">
                          <a:solidFill>
                            <a:srgbClr val="16202E"/>
                          </a:solidFill>
                          <a:latin typeface="Calibri" pitchFamily="34" charset="0"/>
                          <a:ea typeface="Calibri" pitchFamily="34" charset="-122"/>
                          <a:cs typeface="Calibri" pitchFamily="34" charset="-120"/>
                        </a:rPr>
                        <a:t>Primary sources</a:t>
                      </a:r>
                      <a:endParaRPr lang="en-US" sz="1150" dirty="0">
                        <a:latin typeface="Calibri" charset="0"/>
                        <a:ea typeface="Calibri" charset="0"/>
                        <a:cs typeface="Calibri" charset="0"/>
                      </a:endParaRPr>
                    </a:p>
                  </a:txBody>
                  <a:tcPr marL="73152" marR="73152" marT="36576" marB="36576"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algn="l" indent="0" marL="0">
                        <a:buNone/>
                      </a:pPr>
                      <a:r>
                        <a:rPr lang="en-US" sz="1150" dirty="0">
                          <a:solidFill>
                            <a:srgbClr val="16202E"/>
                          </a:solidFill>
                          <a:latin typeface="Calibri" pitchFamily="34" charset="0"/>
                          <a:ea typeface="Calibri" pitchFamily="34" charset="-122"/>
                          <a:cs typeface="Calibri" pitchFamily="34" charset="-120"/>
                        </a:rPr>
                        <a:t>ERCOT (GIS Report, TPIT), PUCT, EIA-860, TCEQ, RRC (dbf900, production, W-1), FracFocus, Middle Pecos GCD, HIFLD, USGS, BTS, U.S. Census TIGER</a:t>
                      </a:r>
                      <a:endParaRPr lang="en-US" sz="1150" dirty="0">
                        <a:latin typeface="Calibri" charset="0"/>
                        <a:ea typeface="Calibri" charset="0"/>
                        <a:cs typeface="Calibri" charset="0"/>
                      </a:endParaRPr>
                    </a:p>
                  </a:txBody>
                  <a:tcPr marL="73152" marR="73152" marT="36576" marB="36576"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r h="0">
                <a:tc>
                  <a:txBody>
                    <a:bodyPr/>
                    <a:lstStyle/>
                    <a:p>
                      <a:pPr algn="l" indent="0" marL="0">
                        <a:buNone/>
                      </a:pPr>
                      <a:r>
                        <a:rPr lang="en-US" sz="1150" dirty="0">
                          <a:solidFill>
                            <a:srgbClr val="16202E"/>
                          </a:solidFill>
                          <a:latin typeface="Calibri" pitchFamily="34" charset="0"/>
                          <a:ea typeface="Calibri" pitchFamily="34" charset="-122"/>
                          <a:cs typeface="Calibri" pitchFamily="34" charset="-120"/>
                        </a:rPr>
                        <a:t>Refresh cadence</a:t>
                      </a:r>
                      <a:endParaRPr lang="en-US" sz="1150" dirty="0">
                        <a:latin typeface="Calibri" charset="0"/>
                        <a:ea typeface="Calibri" charset="0"/>
                        <a:cs typeface="Calibri" charset="0"/>
                      </a:endParaRPr>
                    </a:p>
                  </a:txBody>
                  <a:tcPr marL="73152" marR="73152" marT="36576" marB="36576"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c>
                  <a:txBody>
                    <a:bodyPr/>
                    <a:lstStyle/>
                    <a:p>
                      <a:pPr algn="l" indent="0" marL="0">
                        <a:buNone/>
                      </a:pPr>
                      <a:r>
                        <a:rPr lang="en-US" sz="1150" dirty="0">
                          <a:solidFill>
                            <a:srgbClr val="16202E"/>
                          </a:solidFill>
                          <a:latin typeface="Calibri" pitchFamily="34" charset="0"/>
                          <a:ea typeface="Calibri" pitchFamily="34" charset="-122"/>
                          <a:cs typeface="Calibri" pitchFamily="34" charset="-120"/>
                        </a:rPr>
                        <a:t>RRC weekly; ERCOT queue/TPIT monthly; EIA/USGS/OSM annually</a:t>
                      </a:r>
                      <a:endParaRPr lang="en-US" sz="1150" dirty="0">
                        <a:latin typeface="Calibri" charset="0"/>
                        <a:ea typeface="Calibri" charset="0"/>
                        <a:cs typeface="Calibri" charset="0"/>
                      </a:endParaRPr>
                    </a:p>
                  </a:txBody>
                  <a:tcPr marL="73152" marR="73152" marT="36576" marB="36576" anchor="ctr">
                    <a:lnL w="6350" cap="flat" cmpd="sng" algn="ctr">
                      <a:solidFill>
                        <a:srgbClr val="E2E8F0"/>
                      </a:solidFill>
                      <a:prstDash val="solid"/>
                      <a:round/>
                      <a:headEnd type="none" w="med" len="med"/>
                      <a:tailEnd type="none" w="med" len="med"/>
                    </a:lnL>
                    <a:lnR w="6350" cap="flat" cmpd="sng" algn="ctr">
                      <a:solidFill>
                        <a:srgbClr val="E2E8F0"/>
                      </a:solidFill>
                      <a:prstDash val="solid"/>
                      <a:round/>
                      <a:headEnd type="none" w="med" len="med"/>
                      <a:tailEnd type="none" w="med" len="med"/>
                    </a:lnR>
                    <a:lnT w="6350" cap="flat" cmpd="sng" algn="ctr">
                      <a:solidFill>
                        <a:srgbClr val="E2E8F0"/>
                      </a:solidFill>
                      <a:prstDash val="solid"/>
                      <a:round/>
                      <a:headEnd type="none" w="med" len="med"/>
                      <a:tailEnd type="none" w="med" len="med"/>
                    </a:lnT>
                    <a:lnB w="6350" cap="flat" cmpd="sng" algn="ctr">
                      <a:solidFill>
                        <a:srgbClr val="E2E8F0"/>
                      </a:solidFill>
                      <a:prstDash val="solid"/>
                      <a:round/>
                      <a:headEnd type="none" w="med" len="med"/>
                      <a:tailEnd type="none" w="med" len="med"/>
                    </a:lnB>
                  </a:tcPr>
                </a:tc>
              </a:tr>
            </a:tbl>
          </a:graphicData>
        </a:graphic>
      </p:graphicFrame>
      <p:sp>
        <p:nvSpPr>
          <p:cNvPr id="7" name="Text 3"/>
          <p:cNvSpPr/>
          <p:nvPr/>
        </p:nvSpPr>
        <p:spPr>
          <a:xfrm>
            <a:off x="548640" y="5120640"/>
            <a:ext cx="11064240" cy="457200"/>
          </a:xfrm>
          <a:prstGeom prst="rect">
            <a:avLst/>
          </a:prstGeom>
          <a:noFill/>
          <a:ln/>
        </p:spPr>
        <p:txBody>
          <a:bodyPr wrap="square" rtlCol="0" anchor="ctr"/>
          <a:lstStyle/>
          <a:p>
            <a:pPr indent="0" marL="0">
              <a:buNone/>
            </a:pPr>
            <a:r>
              <a:rPr lang="en-US" sz="1050" i="1" dirty="0">
                <a:solidFill>
                  <a:srgbClr val="64748B"/>
                </a:solidFill>
                <a:latin typeface="Calibri" pitchFamily="34" charset="0"/>
                <a:ea typeface="Calibri" pitchFamily="34" charset="-122"/>
                <a:cs typeface="Calibri" pitchFamily="34" charset="-120"/>
              </a:rPr>
              <a:t>Full footnotes (13), source register, and exhibit-provenance table are in Appendix A.1–A.2 of the companion PDF and Word document.</a:t>
            </a:r>
            <a:endParaRPr lang="en-US" sz="1050" dirty="0"/>
          </a:p>
        </p:txBody>
      </p:sp>
      <p:sp>
        <p:nvSpPr>
          <p:cNvPr id="8" name="Text 4"/>
          <p:cNvSpPr/>
          <p:nvPr/>
        </p:nvSpPr>
        <p:spPr>
          <a:xfrm>
            <a:off x="457200" y="6510528"/>
            <a:ext cx="7315200" cy="274320"/>
          </a:xfrm>
          <a:prstGeom prst="rect">
            <a:avLst/>
          </a:prstGeom>
          <a:noFill/>
          <a:ln/>
        </p:spPr>
        <p:txBody>
          <a:bodyPr wrap="square" rtlCol="0" anchor="ctr"/>
          <a:lstStyle/>
          <a:p>
            <a:pPr indent="0" marL="0">
              <a:buNone/>
            </a:pPr>
            <a:r>
              <a:rPr lang="en-US" sz="800" dirty="0">
                <a:solidFill>
                  <a:srgbClr val="64748B"/>
                </a:solidFill>
                <a:latin typeface="Calibri" pitchFamily="34" charset="0"/>
                <a:ea typeface="Calibri" pitchFamily="34" charset="-122"/>
                <a:cs typeface="Calibri" pitchFamily="34" charset="-120"/>
              </a:rPr>
              <a:t>CARAMBA NORTH — STRICTLY CONFIDENTIAL, POST-NDA</a:t>
            </a:r>
            <a:endParaRPr lang="en-US" sz="800" dirty="0"/>
          </a:p>
        </p:txBody>
      </p:sp>
      <p:sp>
        <p:nvSpPr>
          <p:cNvPr id="9" name="Text 5"/>
          <p:cNvSpPr/>
          <p:nvPr/>
        </p:nvSpPr>
        <p:spPr>
          <a:xfrm>
            <a:off x="11368735" y="6510528"/>
            <a:ext cx="365760" cy="274320"/>
          </a:xfrm>
          <a:prstGeom prst="rect">
            <a:avLst/>
          </a:prstGeom>
          <a:noFill/>
          <a:ln/>
        </p:spPr>
        <p:txBody>
          <a:bodyPr wrap="square" rtlCol="0" anchor="ctr"/>
          <a:lstStyle/>
          <a:p>
            <a:pPr algn="r" indent="0" marL="0">
              <a:buNone/>
            </a:pPr>
            <a:r>
              <a:rPr lang="en-US" sz="800" dirty="0">
                <a:solidFill>
                  <a:srgbClr val="64748B"/>
                </a:solidFill>
                <a:latin typeface="Calibri" pitchFamily="34" charset="0"/>
                <a:ea typeface="Calibri" pitchFamily="34" charset="-122"/>
                <a:cs typeface="Calibri" pitchFamily="34" charset="-120"/>
              </a:rPr>
              <a:t>13</a:t>
            </a:r>
            <a:endParaRPr lang="en-US" sz="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F1B2D"/>
        </a:solidFill>
      </p:bgPr>
    </p:bg>
    <p:spTree>
      <p:nvGrpSpPr>
        <p:cNvPr id="1" name=""/>
        <p:cNvGrpSpPr/>
        <p:nvPr/>
      </p:nvGrpSpPr>
      <p:grpSpPr>
        <a:xfrm>
          <a:off x="0" y="0"/>
          <a:ext cx="0" cy="0"/>
          <a:chOff x="0" y="0"/>
          <a:chExt cx="0" cy="0"/>
        </a:xfrm>
      </p:grpSpPr>
      <p:sp>
        <p:nvSpPr>
          <p:cNvPr id="2" name="Text 0"/>
          <p:cNvSpPr/>
          <p:nvPr/>
        </p:nvSpPr>
        <p:spPr>
          <a:xfrm>
            <a:off x="548640" y="685800"/>
            <a:ext cx="10058400" cy="457200"/>
          </a:xfrm>
          <a:prstGeom prst="rect">
            <a:avLst/>
          </a:prstGeom>
          <a:noFill/>
          <a:ln/>
        </p:spPr>
        <p:txBody>
          <a:bodyPr wrap="square" rtlCol="0" anchor="ctr"/>
          <a:lstStyle/>
          <a:p>
            <a:pPr indent="0" marL="0">
              <a:buNone/>
            </a:pPr>
            <a:r>
              <a:rPr lang="en-US" sz="1500" b="1" spc="200" kern="0" dirty="0">
                <a:solidFill>
                  <a:srgbClr val="F87171"/>
                </a:solidFill>
                <a:latin typeface="Calibri" pitchFamily="34" charset="0"/>
                <a:ea typeface="Calibri" pitchFamily="34" charset="-122"/>
                <a:cs typeface="Calibri" pitchFamily="34" charset="-120"/>
              </a:rPr>
              <a:t>IMPORTANT NOTICES</a:t>
            </a:r>
            <a:endParaRPr lang="en-US" sz="1500" dirty="0"/>
          </a:p>
        </p:txBody>
      </p:sp>
      <p:sp>
        <p:nvSpPr>
          <p:cNvPr id="3" name="Text 1"/>
          <p:cNvSpPr/>
          <p:nvPr/>
        </p:nvSpPr>
        <p:spPr>
          <a:xfrm>
            <a:off x="548640" y="1371600"/>
            <a:ext cx="11064240" cy="4754880"/>
          </a:xfrm>
          <a:prstGeom prst="rect">
            <a:avLst/>
          </a:prstGeom>
          <a:noFill/>
          <a:ln/>
        </p:spPr>
        <p:txBody>
          <a:bodyPr wrap="square" rtlCol="0" anchor="t"/>
          <a:lstStyle/>
          <a:p>
            <a:pPr indent="0" marL="0">
              <a:spcAft>
                <a:spcPts val="1000"/>
              </a:spcAft>
              <a:buNone/>
            </a:pPr>
            <a:r>
              <a:rPr lang="en-US" sz="1200" dirty="0">
                <a:solidFill>
                  <a:srgbClr val="CADCFC"/>
                </a:solidFill>
                <a:latin typeface="Calibri" pitchFamily="34" charset="0"/>
                <a:ea typeface="Calibri" pitchFamily="34" charset="-122"/>
                <a:cs typeface="Calibri" pitchFamily="34" charset="-120"/>
              </a:rPr>
              <a:t>This Confidential Offering Memorandum has been prepared solely for the use of a limited number of prospective counterparties, under executed non-disclosure agreement, in connection with the potential acquisition of, or investment in, the Caramba North property. It contains proprietary data of Harvest Energy, LLC and is delivered on a strictly confidential basis; it may not be reproduced or distributed without consent.</a:t>
            </a:r>
            <a:endParaRPr lang="en-US" sz="1200" dirty="0"/>
          </a:p>
          <a:p>
            <a:pPr indent="0" marL="0">
              <a:spcAft>
                <a:spcPts val="1000"/>
              </a:spcAft>
              <a:buNone/>
            </a:pPr>
            <a:endParaRPr lang="en-US" sz="1200" dirty="0"/>
          </a:p>
          <a:p>
            <a:pPr indent="0" marL="0">
              <a:spcAft>
                <a:spcPts val="1000"/>
              </a:spcAft>
              <a:buNone/>
            </a:pPr>
            <a:r>
              <a:rPr lang="en-US" sz="1200" dirty="0">
                <a:solidFill>
                  <a:srgbClr val="CADCFC"/>
                </a:solidFill>
                <a:latin typeface="Calibri" pitchFamily="34" charset="0"/>
                <a:ea typeface="Calibri" pitchFamily="34" charset="-122"/>
                <a:cs typeface="Calibri" pitchFamily="34" charset="-120"/>
              </a:rPr>
              <a:t>This document does not constitute an offer to sell or a solicitation of an offer to buy any security or interest. Information is preliminary and indicative, compiled from sources believed reliable, and subject to revision without notice. No representation or warranty, express or implied, is made as to accuracy or completeness.</a:t>
            </a:r>
            <a:endParaRPr lang="en-US" sz="1200" dirty="0"/>
          </a:p>
          <a:p>
            <a:pPr indent="0" marL="0">
              <a:spcAft>
                <a:spcPts val="1000"/>
              </a:spcAft>
              <a:buNone/>
            </a:pPr>
            <a:endParaRPr lang="en-US" sz="1200" dirty="0"/>
          </a:p>
          <a:p>
            <a:pPr indent="0" marL="0">
              <a:spcAft>
                <a:spcPts val="1000"/>
              </a:spcAft>
              <a:buNone/>
            </a:pPr>
            <a:r>
              <a:rPr lang="en-US" sz="1200" dirty="0">
                <a:solidFill>
                  <a:srgbClr val="CADCFC"/>
                </a:solidFill>
                <a:latin typeface="Calibri" pitchFamily="34" charset="0"/>
                <a:ea typeface="Calibri" pitchFamily="34" charset="-122"/>
                <a:cs typeface="Calibri" pitchFamily="34" charset="-120"/>
              </a:rPr>
              <a:t>Public data is drawn from ERCOT, PUCT, EIA, TCEQ, RRC, FracFocus, Middle Pecos GCD, HIFLD, USGS, BTS, and U.S. Census TIGER, supplemented by project-level GIS analysis and counterparty-supplied indicative terms. News on third-party transactions (e.g. Section "Feature") is drawn from public reporting cited in the companion Word/PDF data model. Recipients should conduct their own independent investigation, including consultation with their own legal, tax, accounting, and engineering advisors.</a:t>
            </a:r>
            <a:endParaRPr lang="en-US" sz="1200" dirty="0"/>
          </a:p>
        </p:txBody>
      </p:sp>
      <p:sp>
        <p:nvSpPr>
          <p:cNvPr id="4" name="Text 2"/>
          <p:cNvSpPr/>
          <p:nvPr/>
        </p:nvSpPr>
        <p:spPr>
          <a:xfrm>
            <a:off x="457200" y="6510528"/>
            <a:ext cx="7315200" cy="274320"/>
          </a:xfrm>
          <a:prstGeom prst="rect">
            <a:avLst/>
          </a:prstGeom>
          <a:noFill/>
          <a:ln/>
        </p:spPr>
        <p:txBody>
          <a:bodyPr wrap="square" rtlCol="0" anchor="ctr"/>
          <a:lstStyle/>
          <a:p>
            <a:pPr indent="0" marL="0">
              <a:buNone/>
            </a:pPr>
            <a:r>
              <a:rPr lang="en-US" sz="800" dirty="0">
                <a:solidFill>
                  <a:srgbClr val="94A3B8"/>
                </a:solidFill>
                <a:latin typeface="Calibri" pitchFamily="34" charset="0"/>
                <a:ea typeface="Calibri" pitchFamily="34" charset="-122"/>
                <a:cs typeface="Calibri" pitchFamily="34" charset="-120"/>
              </a:rPr>
              <a:t>CARAMBA NORTH — STRICTLY CONFIDENTIAL, POST-NDA</a:t>
            </a:r>
            <a:endParaRPr lang="en-US" sz="800" dirty="0"/>
          </a:p>
        </p:txBody>
      </p:sp>
      <p:sp>
        <p:nvSpPr>
          <p:cNvPr id="5" name="Text 3"/>
          <p:cNvSpPr/>
          <p:nvPr/>
        </p:nvSpPr>
        <p:spPr>
          <a:xfrm>
            <a:off x="11368735" y="6510528"/>
            <a:ext cx="365760" cy="274320"/>
          </a:xfrm>
          <a:prstGeom prst="rect">
            <a:avLst/>
          </a:prstGeom>
          <a:noFill/>
          <a:ln/>
        </p:spPr>
        <p:txBody>
          <a:bodyPr wrap="square" rtlCol="0" anchor="ctr"/>
          <a:lstStyle/>
          <a:p>
            <a:pPr algn="r" indent="0" marL="0">
              <a:buNone/>
            </a:pPr>
            <a:r>
              <a:rPr lang="en-US" sz="800" dirty="0">
                <a:solidFill>
                  <a:srgbClr val="94A3B8"/>
                </a:solidFill>
                <a:latin typeface="Calibri" pitchFamily="34" charset="0"/>
                <a:ea typeface="Calibri" pitchFamily="34" charset="-122"/>
                <a:cs typeface="Calibri" pitchFamily="34" charset="-120"/>
              </a:rPr>
              <a:t>14</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Caramba North — Confidential Offering Memorandum (Post-NDA)</dc:title>
  <dc:subject>PptxGenJS Presentation</dc:subject>
  <dc:creator>Land Resource Partners</dc:creator>
  <cp:lastModifiedBy>Land Resource Partners</cp:lastModifiedBy>
  <cp:revision>1</cp:revision>
  <dcterms:created xsi:type="dcterms:W3CDTF">2026-08-23T21:03:39Z</dcterms:created>
  <dcterms:modified xsi:type="dcterms:W3CDTF">2026-08-23T21:03:39Z</dcterms:modified>
</cp:coreProperties>
</file>
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1B2D"/>
                </a:solidFill>
                <a:latin typeface="Arial"/>
              </a:defRPr>
            </a:pPr>
            <a:r>
              <a:rPr sz="1200" b="0" i="0" u="none" strike="noStrike">
                <a:solidFill>
                  <a:srgbClr val="0F1B2D"/>
                </a:solidFill>
                <a:latin typeface="Arial"/>
              </a:rPr>
              <a:t>New-drill wells since 2020, by county</a:t>
            </a:r>
          </a:p>
        </c:rich>
      </c:tx>
      <c:layout/>
      <c:overlay val="0"/>
    </c:title>
    <c:autoTitleDeleted val="0"/>
    <c:plotArea>
      <c:layout/>
      <c:barChart>
        <c:barDir val="bar"/>
        <c:grouping val="clustered"/>
        <c:varyColors val="0"/>
        <c:ser>
          <c:idx val="0"/>
          <c:order val="0"/>
          <c:tx>
            <c:strRef>
              <c:f>Sheet1!$B$1</c:f>
              <c:strCache>
                <c:ptCount val="1"/>
                <c:pt idx="0">
                  <c:v>New-drill wells since 2020</c:v>
                </c:pt>
              </c:strCache>
            </c:strRef>
          </c:tx>
          <c:spPr>
            <a:solidFill>
              <a:srgbClr val="B91C1C"/>
            </a:solidFill>
            <a:effectLst/>
          </c:spPr>
          <c:invertIfNegative val="0"/>
          <c:dLbls>
            <c:numFmt formatCode="#,##0" sourceLinked="0"/>
            <c:txPr>
              <a:bodyPr/>
              <a:lstStyle/>
              <a:p>
                <a:pPr>
                  <a:defRPr b="0" i="0" strike="noStrike" sz="900" u="none">
                    <a:solidFill>
                      <a:srgbClr val="16202E"/>
                    </a:solidFill>
                    <a:latin typeface="Arial"/>
                  </a:defRPr>
                </a:pPr>
              </a:p>
            </c:txPr>
            <c:showLegendKey val="0"/>
            <c:showVal val="1"/>
            <c:showCatName val="0"/>
            <c:showSerName val="0"/>
            <c:showPercent val="0"/>
            <c:showBubbleSize val="0"/>
            <c:showLeaderLines val="0"/>
          </c:dLbls>
          <c:dPt>
            <c:idx val="0"/>
            <c:invertIfNegative val="0"/>
            <c:bubble3D val="0"/>
            <c:spPr>
              <a:solidFill>
                <a:srgbClr val="B91C1C"/>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dPt>
            <c:idx val="6"/>
            <c:invertIfNegative val="0"/>
            <c:bubble3D val="0"/>
            <c:spPr>
              <a:solidFill>
                <a:srgbClr val="94A3B8"/>
              </a:solidFill>
              <a:effectLst/>
            </c:spPr>
          </c:dPt>
          <c:cat>
            <c:multiLvlStrRef>
              <c:f>Sheet1!$A$2:$A$8</c:f>
              <c:multiLvlStrCache>
                <c:ptCount val="7"/>
                <c:lvl>
                  <c:pt idx="0">
                    <c:v>Pecos</c:v>
                  </c:pt>
                  <c:pt idx="1">
                    <c:v>Reagan</c:v>
                  </c:pt>
                  <c:pt idx="2">
                    <c:v>Howard</c:v>
                  </c:pt>
                  <c:pt idx="3">
                    <c:v>Reeves</c:v>
                  </c:pt>
                  <c:pt idx="4">
                    <c:v>Loving</c:v>
                  </c:pt>
                  <c:pt idx="5">
                    <c:v>Midland</c:v>
                  </c:pt>
                  <c:pt idx="6">
                    <c:v>Martin</c:v>
                  </c:pt>
                </c:lvl>
              </c:multiLvlStrCache>
            </c:multiLvlStrRef>
          </c:cat>
          <c:val>
            <c:numRef>
              <c:f>Sheet1!$B$2:$B$8</c:f>
              <c:numCache>
                <c:formatCode>General</c:formatCode>
                <c:ptCount val="7"/>
                <c:pt idx="0">
                  <c:v>115</c:v>
                </c:pt>
                <c:pt idx="1">
                  <c:v>668</c:v>
                </c:pt>
                <c:pt idx="2">
                  <c:v>990</c:v>
                </c:pt>
                <c:pt idx="3">
                  <c:v>1053</c:v>
                </c:pt>
                <c:pt idx="4">
                  <c:v>1121</c:v>
                </c:pt>
                <c:pt idx="5">
                  <c:v>1569</c:v>
                </c:pt>
                <c:pt idx="6">
                  <c:v>1685</c:v>
                </c:pt>
              </c:numCache>
            </c:numRef>
          </c:val>
        </c:ser>
        <c:dLbls>
          <c:numFmt formatCode="#,##0" sourceLinked="0"/>
          <c:txPr>
            <a:bodyPr/>
            <a:lstStyle/>
            <a:p>
              <a:pPr>
                <a:defRPr b="0" i="0" strike="noStrike" sz="900" u="none">
                  <a:solidFill>
                    <a:srgbClr val="1620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in val="0"/>
        </c:scaling>
        <c:delete val="0"/>
        <c:axPos val="b"/>
        <c:majorGridlines>
          <c:spPr>
            <a:ln w="9525"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640080" y="1371600"/>
            <a:ext cx="9144000" cy="365760"/>
          </a:xfrm>
          <a:prstGeom prst="rect">
            <a:avLst/>
          </a:prstGeom>
          <a:noFill/>
          <a:ln/>
        </p:spPr>
        <p:txBody>
          <a:bodyPr wrap="square" rtlCol="0" anchor="ctr"/>
          <a:lstStyle/>
          <a:p>
            <a:pPr indent="0" marL="0">
              <a:buNone/>
            </a:pPr>
            <a:r>
              <a:rPr lang="en-US" sz="1300" b="1" spc="200" kern="0" dirty="0">
                <a:solidFill>
                  <a:srgbClr val="F87171"/>
                </a:solidFill>
                <a:latin typeface="Calibri" pitchFamily="34" charset="0"/>
                <a:ea typeface="Calibri" pitchFamily="34" charset="-122"/>
                <a:cs typeface="Calibri" pitchFamily="34" charset="-120"/>
              </a:rPr>
              <a:t>STRICTLY CONFIDENTIAL · OFFERING MEMORANDUM · POST-NDA</a:t>
            </a:r>
            <a:endParaRPr lang="en-US" sz="1300" dirty="0"/>
          </a:p>
        </p:txBody>
      </p:sp>
      <p:sp>
        <p:nvSpPr>
          <p:cNvPr id="3" name="Text 1"/>
          <p:cNvSpPr/>
          <p:nvPr/>
        </p:nvSpPr>
        <p:spPr>
          <a:xfrm>
            <a:off x="594360" y="1737360"/>
            <a:ext cx="10972800" cy="137160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CARAMBA NORTH</a:t>
            </a:r>
            <a:endParaRPr lang="en-US" sz="6000" dirty="0"/>
          </a:p>
        </p:txBody>
      </p:sp>
      <p:sp>
        <p:nvSpPr>
          <p:cNvPr id="4" name="Text 2"/>
          <p:cNvSpPr/>
          <p:nvPr/>
        </p:nvSpPr>
        <p:spPr>
          <a:xfrm>
            <a:off x="640080" y="3063240"/>
            <a:ext cx="10058400" cy="54864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Up to 1,300 contiguous acres of powered land on the ERCOT 765 kV backbone</a:t>
            </a:r>
            <a:endParaRPr lang="en-US" sz="1800" dirty="0"/>
          </a:p>
        </p:txBody>
      </p:sp>
      <p:sp>
        <p:nvSpPr>
          <p:cNvPr id="5" name="Text 3"/>
          <p:cNvSpPr/>
          <p:nvPr/>
        </p:nvSpPr>
        <p:spPr>
          <a:xfrm>
            <a:off x="640080" y="3611880"/>
            <a:ext cx="10058400" cy="365760"/>
          </a:xfrm>
          <a:prstGeom prst="rect">
            <a:avLst/>
          </a:prstGeom>
          <a:noFill/>
          <a:ln/>
        </p:spPr>
        <p:txBody>
          <a:bodyPr wrap="square" rtlCol="0" anchor="ctr"/>
          <a:lstStyle/>
          <a:p>
            <a:pPr indent="0" marL="0">
              <a:buNone/>
            </a:pPr>
            <a:r>
              <a:rPr lang="en-US" sz="1100" spc="150" kern="0" dirty="0">
                <a:solidFill>
                  <a:srgbClr val="94A3B8"/>
                </a:solidFill>
                <a:latin typeface="Calibri" pitchFamily="34" charset="0"/>
                <a:ea typeface="Calibri" pitchFamily="34" charset="-122"/>
                <a:cs typeface="Calibri" pitchFamily="34" charset="-120"/>
              </a:rPr>
              <a:t>PECOS COUNTY, TEXAS  ·  FAR WEST ERCOT  ·  PERMIAN BASIN  ·  I-10 CORRIDOR</a:t>
            </a:r>
            <a:endParaRPr lang="en-US" sz="1100" dirty="0"/>
          </a:p>
        </p:txBody>
      </p:sp>
      <p:sp>
        <p:nvSpPr>
          <p:cNvPr id="6" name="Text 4"/>
          <p:cNvSpPr/>
          <p:nvPr/>
        </p:nvSpPr>
        <p:spPr>
          <a:xfrm>
            <a:off x="640080" y="4343400"/>
            <a:ext cx="2039112"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1,300</a:t>
            </a:r>
            <a:endParaRPr lang="en-US" sz="2000" dirty="0"/>
          </a:p>
        </p:txBody>
      </p:sp>
      <p:sp>
        <p:nvSpPr>
          <p:cNvPr id="7" name="Text 5"/>
          <p:cNvSpPr/>
          <p:nvPr/>
        </p:nvSpPr>
        <p:spPr>
          <a:xfrm>
            <a:off x="640080" y="4828032"/>
            <a:ext cx="2039112" cy="457200"/>
          </a:xfrm>
          <a:prstGeom prst="rect">
            <a:avLst/>
          </a:prstGeom>
          <a:noFill/>
          <a:ln/>
        </p:spPr>
        <p:txBody>
          <a:bodyPr wrap="square" rtlCol="0" anchor="ctr"/>
          <a:lstStyle/>
          <a:p>
            <a:pPr indent="0" marL="0">
              <a:buNone/>
            </a:pPr>
            <a:r>
              <a:rPr lang="en-US" sz="850" spc="50" kern="0" dirty="0">
                <a:solidFill>
                  <a:srgbClr val="94A3B8"/>
                </a:solidFill>
                <a:latin typeface="Calibri" pitchFamily="34" charset="0"/>
                <a:ea typeface="Calibri" pitchFamily="34" charset="-122"/>
                <a:cs typeface="Calibri" pitchFamily="34" charset="-120"/>
              </a:rPr>
              <a:t>CONTIGUOUS ACRES</a:t>
            </a:r>
            <a:endParaRPr lang="en-US" sz="850" dirty="0"/>
          </a:p>
        </p:txBody>
      </p:sp>
      <p:sp>
        <p:nvSpPr>
          <p:cNvPr id="8" name="Text 6"/>
          <p:cNvSpPr/>
          <p:nvPr/>
        </p:nvSpPr>
        <p:spPr>
          <a:xfrm>
            <a:off x="2816352" y="4343400"/>
            <a:ext cx="2039112"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47,418</a:t>
            </a:r>
            <a:endParaRPr lang="en-US" sz="2000" dirty="0"/>
          </a:p>
        </p:txBody>
      </p:sp>
      <p:sp>
        <p:nvSpPr>
          <p:cNvPr id="9" name="Text 7"/>
          <p:cNvSpPr/>
          <p:nvPr/>
        </p:nvSpPr>
        <p:spPr>
          <a:xfrm>
            <a:off x="2816352" y="4828032"/>
            <a:ext cx="2039112" cy="457200"/>
          </a:xfrm>
          <a:prstGeom prst="rect">
            <a:avLst/>
          </a:prstGeom>
          <a:noFill/>
          <a:ln/>
        </p:spPr>
        <p:txBody>
          <a:bodyPr wrap="square" rtlCol="0" anchor="ctr"/>
          <a:lstStyle/>
          <a:p>
            <a:pPr indent="0" marL="0">
              <a:buNone/>
            </a:pPr>
            <a:r>
              <a:rPr lang="en-US" sz="850" spc="50" kern="0" dirty="0">
                <a:solidFill>
                  <a:srgbClr val="94A3B8"/>
                </a:solidFill>
                <a:latin typeface="Calibri" pitchFamily="34" charset="0"/>
                <a:ea typeface="Calibri" pitchFamily="34" charset="-122"/>
                <a:cs typeface="Calibri" pitchFamily="34" charset="-120"/>
              </a:rPr>
              <a:t>AF/YR WATER RIGHTS</a:t>
            </a:r>
            <a:endParaRPr lang="en-US" sz="850" dirty="0"/>
          </a:p>
        </p:txBody>
      </p:sp>
      <p:sp>
        <p:nvSpPr>
          <p:cNvPr id="10" name="Text 8"/>
          <p:cNvSpPr/>
          <p:nvPr/>
        </p:nvSpPr>
        <p:spPr>
          <a:xfrm>
            <a:off x="4992624" y="4343400"/>
            <a:ext cx="2039112"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15 mi</a:t>
            </a:r>
            <a:endParaRPr lang="en-US" sz="2000" dirty="0"/>
          </a:p>
        </p:txBody>
      </p:sp>
      <p:sp>
        <p:nvSpPr>
          <p:cNvPr id="11" name="Text 9"/>
          <p:cNvSpPr/>
          <p:nvPr/>
        </p:nvSpPr>
        <p:spPr>
          <a:xfrm>
            <a:off x="4992624" y="4828032"/>
            <a:ext cx="2039112" cy="457200"/>
          </a:xfrm>
          <a:prstGeom prst="rect">
            <a:avLst/>
          </a:prstGeom>
          <a:noFill/>
          <a:ln/>
        </p:spPr>
        <p:txBody>
          <a:bodyPr wrap="square" rtlCol="0" anchor="ctr"/>
          <a:lstStyle/>
          <a:p>
            <a:pPr indent="0" marL="0">
              <a:buNone/>
            </a:pPr>
            <a:r>
              <a:rPr lang="en-US" sz="850" spc="50" kern="0" dirty="0">
                <a:solidFill>
                  <a:srgbClr val="94A3B8"/>
                </a:solidFill>
                <a:latin typeface="Calibri" pitchFamily="34" charset="0"/>
                <a:ea typeface="Calibri" pitchFamily="34" charset="-122"/>
                <a:cs typeface="Calibri" pitchFamily="34" charset="-120"/>
              </a:rPr>
              <a:t>TO 765 KV SOLSTICE SUB</a:t>
            </a:r>
            <a:endParaRPr lang="en-US" sz="850" dirty="0"/>
          </a:p>
        </p:txBody>
      </p:sp>
      <p:sp>
        <p:nvSpPr>
          <p:cNvPr id="12" name="Text 10"/>
          <p:cNvSpPr/>
          <p:nvPr/>
        </p:nvSpPr>
        <p:spPr>
          <a:xfrm>
            <a:off x="7168896" y="4343400"/>
            <a:ext cx="2039112"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20 mi</a:t>
            </a:r>
            <a:endParaRPr lang="en-US" sz="2000" dirty="0"/>
          </a:p>
        </p:txBody>
      </p:sp>
      <p:sp>
        <p:nvSpPr>
          <p:cNvPr id="13" name="Text 11"/>
          <p:cNvSpPr/>
          <p:nvPr/>
        </p:nvSpPr>
        <p:spPr>
          <a:xfrm>
            <a:off x="7168896" y="4828032"/>
            <a:ext cx="2039112" cy="457200"/>
          </a:xfrm>
          <a:prstGeom prst="rect">
            <a:avLst/>
          </a:prstGeom>
          <a:noFill/>
          <a:ln/>
        </p:spPr>
        <p:txBody>
          <a:bodyPr wrap="square" rtlCol="0" anchor="ctr"/>
          <a:lstStyle/>
          <a:p>
            <a:pPr indent="0" marL="0">
              <a:buNone/>
            </a:pPr>
            <a:r>
              <a:rPr lang="en-US" sz="850" spc="50" kern="0" dirty="0">
                <a:solidFill>
                  <a:srgbClr val="94A3B8"/>
                </a:solidFill>
                <a:latin typeface="Calibri" pitchFamily="34" charset="0"/>
                <a:ea typeface="Calibri" pitchFamily="34" charset="-122"/>
                <a:cs typeface="Calibri" pitchFamily="34" charset="-120"/>
              </a:rPr>
              <a:t>TO WAHA GAS HUB</a:t>
            </a:r>
            <a:endParaRPr lang="en-US" sz="850" dirty="0"/>
          </a:p>
        </p:txBody>
      </p:sp>
      <p:sp>
        <p:nvSpPr>
          <p:cNvPr id="14" name="Text 12"/>
          <p:cNvSpPr/>
          <p:nvPr/>
        </p:nvSpPr>
        <p:spPr>
          <a:xfrm>
            <a:off x="9345168" y="4343400"/>
            <a:ext cx="2039112"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12.0 GW</a:t>
            </a:r>
            <a:endParaRPr lang="en-US" sz="2000" dirty="0"/>
          </a:p>
        </p:txBody>
      </p:sp>
      <p:sp>
        <p:nvSpPr>
          <p:cNvPr id="15" name="Text 13"/>
          <p:cNvSpPr/>
          <p:nvPr/>
        </p:nvSpPr>
        <p:spPr>
          <a:xfrm>
            <a:off x="9345168" y="4828032"/>
            <a:ext cx="2039112" cy="457200"/>
          </a:xfrm>
          <a:prstGeom prst="rect">
            <a:avLst/>
          </a:prstGeom>
          <a:noFill/>
          <a:ln/>
        </p:spPr>
        <p:txBody>
          <a:bodyPr wrap="square" rtlCol="0" anchor="ctr"/>
          <a:lstStyle/>
          <a:p>
            <a:pPr indent="0" marL="0">
              <a:buNone/>
            </a:pPr>
            <a:r>
              <a:rPr lang="en-US" sz="850" spc="50" kern="0" dirty="0">
                <a:solidFill>
                  <a:srgbClr val="94A3B8"/>
                </a:solidFill>
                <a:latin typeface="Calibri" pitchFamily="34" charset="0"/>
                <a:ea typeface="Calibri" pitchFamily="34" charset="-122"/>
                <a:cs typeface="Calibri" pitchFamily="34" charset="-120"/>
              </a:rPr>
              <a:t>ERCOT QUEUE, PECOS CO.</a:t>
            </a:r>
            <a:endParaRPr lang="en-US" sz="850" dirty="0"/>
          </a:p>
        </p:txBody>
      </p:sp>
      <p:sp>
        <p:nvSpPr>
          <p:cNvPr id="16" name="Shape 14"/>
          <p:cNvSpPr/>
          <p:nvPr/>
        </p:nvSpPr>
        <p:spPr>
          <a:xfrm>
            <a:off x="640080" y="4279392"/>
            <a:ext cx="10881360" cy="0"/>
          </a:xfrm>
          <a:prstGeom prst="line">
            <a:avLst/>
          </a:prstGeom>
          <a:noFill/>
          <a:ln w="12700">
            <a:solidFill>
              <a:srgbClr val="334155"/>
            </a:solidFill>
            <a:prstDash val="solid"/>
          </a:ln>
        </p:spPr>
      </p:sp>
      <p:sp>
        <p:nvSpPr>
          <p:cNvPr id="17" name="Shape 15"/>
          <p:cNvSpPr/>
          <p:nvPr/>
        </p:nvSpPr>
        <p:spPr>
          <a:xfrm>
            <a:off x="640080" y="5989320"/>
            <a:ext cx="10881360" cy="0"/>
          </a:xfrm>
          <a:prstGeom prst="line">
            <a:avLst/>
          </a:prstGeom>
          <a:noFill/>
          <a:ln w="12700">
            <a:solidFill>
              <a:srgbClr val="334155"/>
            </a:solidFill>
            <a:prstDash val="solid"/>
          </a:ln>
        </p:spPr>
      </p:sp>
      <p:sp>
        <p:nvSpPr>
          <p:cNvPr id="18" name="Text 16"/>
          <p:cNvSpPr/>
          <p:nvPr/>
        </p:nvSpPr>
        <p:spPr>
          <a:xfrm>
            <a:off x="640080" y="6108192"/>
            <a:ext cx="7315200" cy="3657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Prepared by Land Resource Partners  ·  lrp-tx-gis.netlify.app</a:t>
            </a:r>
            <a:endParaRPr lang="en-US" sz="1000" dirty="0"/>
          </a:p>
        </p:txBody>
      </p:sp>
      <p:sp>
        <p:nvSpPr>
          <p:cNvPr id="19" name="Text 17"/>
          <p:cNvSpPr/>
          <p:nvPr/>
        </p:nvSpPr>
        <p:spPr>
          <a:xfrm>
            <a:off x="7863840" y="6108192"/>
            <a:ext cx="3657600" cy="36576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2026-08-20  ·  Executive summary deck — editable working draft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B91C1C"/>
                </a:solidFill>
                <a:latin typeface="Calibri" pitchFamily="34" charset="0"/>
                <a:ea typeface="Calibri" pitchFamily="34" charset="-122"/>
                <a:cs typeface="Calibri" pitchFamily="34" charset="-120"/>
              </a:rPr>
              <a:t>CONTENTS</a:t>
            </a:r>
            <a:endParaRPr lang="en-US" sz="1200" dirty="0"/>
          </a:p>
        </p:txBody>
      </p:sp>
      <p:sp>
        <p:nvSpPr>
          <p:cNvPr id="3" name="Text 1"/>
          <p:cNvSpPr/>
          <p:nvPr/>
        </p:nvSpPr>
        <p:spPr>
          <a:xfrm>
            <a:off x="548640" y="713232"/>
            <a:ext cx="11064240" cy="914400"/>
          </a:xfrm>
          <a:prstGeom prst="rect">
            <a:avLst/>
          </a:prstGeom>
          <a:noFill/>
          <a:ln/>
        </p:spPr>
        <p:txBody>
          <a:bodyPr wrap="square" rtlCol="0" anchor="t"/>
          <a:lstStyle/>
          <a:p>
            <a:pPr indent="0" marL="0">
              <a:buNone/>
            </a:pPr>
            <a:r>
              <a:rPr lang="en-US" sz="2600" b="1" dirty="0">
                <a:solidFill>
                  <a:srgbClr val="0F1B2D"/>
                </a:solidFill>
                <a:latin typeface="Cambria" pitchFamily="34" charset="0"/>
                <a:ea typeface="Cambria" pitchFamily="34" charset="-122"/>
                <a:cs typeface="Cambria" pitchFamily="34" charset="-120"/>
              </a:rPr>
              <a:t>What's in this deck</a:t>
            </a:r>
            <a:endParaRPr lang="en-US" sz="2600" dirty="0"/>
          </a:p>
        </p:txBody>
      </p:sp>
      <p:sp>
        <p:nvSpPr>
          <p:cNvPr id="4" name="Shape 2"/>
          <p:cNvSpPr/>
          <p:nvPr/>
        </p:nvSpPr>
        <p:spPr>
          <a:xfrm>
            <a:off x="548640" y="1929384"/>
            <a:ext cx="73152" cy="310896"/>
          </a:xfrm>
          <a:prstGeom prst="rect">
            <a:avLst/>
          </a:prstGeom>
          <a:solidFill>
            <a:srgbClr val="B91C1C"/>
          </a:solidFill>
          <a:ln/>
        </p:spPr>
      </p:sp>
      <p:sp>
        <p:nvSpPr>
          <p:cNvPr id="5" name="Text 3"/>
          <p:cNvSpPr/>
          <p:nvPr/>
        </p:nvSpPr>
        <p:spPr>
          <a:xfrm>
            <a:off x="777240" y="1874520"/>
            <a:ext cx="5166360" cy="457200"/>
          </a:xfrm>
          <a:prstGeom prst="rect">
            <a:avLst/>
          </a:prstGeom>
          <a:noFill/>
          <a:ln/>
        </p:spPr>
        <p:txBody>
          <a:bodyPr wrap="square"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01  Executive Summary</a:t>
            </a:r>
            <a:endParaRPr lang="en-US" sz="1600" dirty="0"/>
          </a:p>
        </p:txBody>
      </p:sp>
      <p:sp>
        <p:nvSpPr>
          <p:cNvPr id="6" name="Shape 4"/>
          <p:cNvSpPr/>
          <p:nvPr/>
        </p:nvSpPr>
        <p:spPr>
          <a:xfrm>
            <a:off x="548640" y="2496312"/>
            <a:ext cx="73152" cy="310896"/>
          </a:xfrm>
          <a:prstGeom prst="rect">
            <a:avLst/>
          </a:prstGeom>
          <a:solidFill>
            <a:srgbClr val="B91C1C"/>
          </a:solidFill>
          <a:ln/>
        </p:spPr>
      </p:sp>
      <p:sp>
        <p:nvSpPr>
          <p:cNvPr id="7" name="Text 5"/>
          <p:cNvSpPr/>
          <p:nvPr/>
        </p:nvSpPr>
        <p:spPr>
          <a:xfrm>
            <a:off x="777240" y="2441448"/>
            <a:ext cx="5166360" cy="457200"/>
          </a:xfrm>
          <a:prstGeom prst="rect">
            <a:avLst/>
          </a:prstGeom>
          <a:noFill/>
          <a:ln/>
        </p:spPr>
        <p:txBody>
          <a:bodyPr wrap="square"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02  The Property</a:t>
            </a:r>
            <a:endParaRPr lang="en-US" sz="1600" dirty="0"/>
          </a:p>
        </p:txBody>
      </p:sp>
      <p:sp>
        <p:nvSpPr>
          <p:cNvPr id="8" name="Shape 6"/>
          <p:cNvSpPr/>
          <p:nvPr/>
        </p:nvSpPr>
        <p:spPr>
          <a:xfrm>
            <a:off x="548640" y="3063240"/>
            <a:ext cx="73152" cy="310896"/>
          </a:xfrm>
          <a:prstGeom prst="rect">
            <a:avLst/>
          </a:prstGeom>
          <a:solidFill>
            <a:srgbClr val="B91C1C"/>
          </a:solidFill>
          <a:ln/>
        </p:spPr>
      </p:sp>
      <p:sp>
        <p:nvSpPr>
          <p:cNvPr id="9" name="Text 7"/>
          <p:cNvSpPr/>
          <p:nvPr/>
        </p:nvSpPr>
        <p:spPr>
          <a:xfrm>
            <a:off x="777240" y="3008376"/>
            <a:ext cx="5166360" cy="457200"/>
          </a:xfrm>
          <a:prstGeom prst="rect">
            <a:avLst/>
          </a:prstGeom>
          <a:noFill/>
          <a:ln/>
        </p:spPr>
        <p:txBody>
          <a:bodyPr wrap="square"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03  Transmission</a:t>
            </a:r>
            <a:endParaRPr lang="en-US" sz="1600" dirty="0"/>
          </a:p>
        </p:txBody>
      </p:sp>
      <p:sp>
        <p:nvSpPr>
          <p:cNvPr id="10" name="Shape 8"/>
          <p:cNvSpPr/>
          <p:nvPr/>
        </p:nvSpPr>
        <p:spPr>
          <a:xfrm>
            <a:off x="548640" y="3630168"/>
            <a:ext cx="73152" cy="310896"/>
          </a:xfrm>
          <a:prstGeom prst="rect">
            <a:avLst/>
          </a:prstGeom>
          <a:solidFill>
            <a:srgbClr val="B91C1C"/>
          </a:solidFill>
          <a:ln/>
        </p:spPr>
      </p:sp>
      <p:sp>
        <p:nvSpPr>
          <p:cNvPr id="11" name="Text 9"/>
          <p:cNvSpPr/>
          <p:nvPr/>
        </p:nvSpPr>
        <p:spPr>
          <a:xfrm>
            <a:off x="777240" y="3575304"/>
            <a:ext cx="5166360" cy="457200"/>
          </a:xfrm>
          <a:prstGeom prst="rect">
            <a:avLst/>
          </a:prstGeom>
          <a:noFill/>
          <a:ln/>
        </p:spPr>
        <p:txBody>
          <a:bodyPr wrap="square"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04  Regional Power Cluster</a:t>
            </a:r>
            <a:endParaRPr lang="en-US" sz="1600" dirty="0"/>
          </a:p>
        </p:txBody>
      </p:sp>
      <p:sp>
        <p:nvSpPr>
          <p:cNvPr id="12" name="Shape 10"/>
          <p:cNvSpPr/>
          <p:nvPr/>
        </p:nvSpPr>
        <p:spPr>
          <a:xfrm>
            <a:off x="548640" y="4197096"/>
            <a:ext cx="73152" cy="310896"/>
          </a:xfrm>
          <a:prstGeom prst="rect">
            <a:avLst/>
          </a:prstGeom>
          <a:solidFill>
            <a:srgbClr val="B91C1C"/>
          </a:solidFill>
          <a:ln/>
        </p:spPr>
      </p:sp>
      <p:sp>
        <p:nvSpPr>
          <p:cNvPr id="13" name="Text 11"/>
          <p:cNvSpPr/>
          <p:nvPr/>
        </p:nvSpPr>
        <p:spPr>
          <a:xfrm>
            <a:off x="777240" y="4142232"/>
            <a:ext cx="5166360" cy="457200"/>
          </a:xfrm>
          <a:prstGeom prst="rect">
            <a:avLst/>
          </a:prstGeom>
          <a:noFill/>
          <a:ln/>
        </p:spPr>
        <p:txBody>
          <a:bodyPr wrap="square"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05 / 06  Water &amp; Natural Gas</a:t>
            </a:r>
            <a:endParaRPr lang="en-US" sz="1600" dirty="0"/>
          </a:p>
        </p:txBody>
      </p:sp>
      <p:sp>
        <p:nvSpPr>
          <p:cNvPr id="14" name="Shape 12"/>
          <p:cNvSpPr/>
          <p:nvPr/>
        </p:nvSpPr>
        <p:spPr>
          <a:xfrm>
            <a:off x="6400800" y="1929384"/>
            <a:ext cx="73152" cy="310896"/>
          </a:xfrm>
          <a:prstGeom prst="rect">
            <a:avLst/>
          </a:prstGeom>
          <a:solidFill>
            <a:srgbClr val="B91C1C"/>
          </a:solidFill>
          <a:ln/>
        </p:spPr>
      </p:sp>
      <p:sp>
        <p:nvSpPr>
          <p:cNvPr id="15" name="Text 13"/>
          <p:cNvSpPr/>
          <p:nvPr/>
        </p:nvSpPr>
        <p:spPr>
          <a:xfrm>
            <a:off x="6629400" y="1874520"/>
            <a:ext cx="5166360" cy="457200"/>
          </a:xfrm>
          <a:prstGeom prst="rect">
            <a:avLst/>
          </a:prstGeom>
          <a:noFill/>
          <a:ln/>
        </p:spPr>
        <p:txBody>
          <a:bodyPr wrap="square"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07  Regional Data Center Pipeline</a:t>
            </a:r>
            <a:endParaRPr lang="en-US" sz="1600" dirty="0"/>
          </a:p>
        </p:txBody>
      </p:sp>
      <p:sp>
        <p:nvSpPr>
          <p:cNvPr id="16" name="Shape 14"/>
          <p:cNvSpPr/>
          <p:nvPr/>
        </p:nvSpPr>
        <p:spPr>
          <a:xfrm>
            <a:off x="6400800" y="2496312"/>
            <a:ext cx="73152" cy="310896"/>
          </a:xfrm>
          <a:prstGeom prst="rect">
            <a:avLst/>
          </a:prstGeom>
          <a:solidFill>
            <a:srgbClr val="B91C1C"/>
          </a:solidFill>
          <a:ln/>
        </p:spPr>
      </p:sp>
      <p:sp>
        <p:nvSpPr>
          <p:cNvPr id="17" name="Text 15"/>
          <p:cNvSpPr/>
          <p:nvPr/>
        </p:nvSpPr>
        <p:spPr>
          <a:xfrm>
            <a:off x="6629400" y="2441448"/>
            <a:ext cx="5166360" cy="457200"/>
          </a:xfrm>
          <a:prstGeom prst="rect">
            <a:avLst/>
          </a:prstGeom>
          <a:noFill/>
          <a:ln/>
        </p:spPr>
        <p:txBody>
          <a:bodyPr wrap="square"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08  The Diligence Platform</a:t>
            </a:r>
            <a:endParaRPr lang="en-US" sz="1600" dirty="0"/>
          </a:p>
        </p:txBody>
      </p:sp>
      <p:sp>
        <p:nvSpPr>
          <p:cNvPr id="18" name="Shape 16"/>
          <p:cNvSpPr/>
          <p:nvPr/>
        </p:nvSpPr>
        <p:spPr>
          <a:xfrm>
            <a:off x="6400800" y="3063240"/>
            <a:ext cx="73152" cy="310896"/>
          </a:xfrm>
          <a:prstGeom prst="rect">
            <a:avLst/>
          </a:prstGeom>
          <a:solidFill>
            <a:srgbClr val="B91C1C"/>
          </a:solidFill>
          <a:ln/>
        </p:spPr>
      </p:sp>
      <p:sp>
        <p:nvSpPr>
          <p:cNvPr id="19" name="Text 17"/>
          <p:cNvSpPr/>
          <p:nvPr/>
        </p:nvSpPr>
        <p:spPr>
          <a:xfrm>
            <a:off x="6629400" y="3008376"/>
            <a:ext cx="5166360" cy="457200"/>
          </a:xfrm>
          <a:prstGeom prst="rect">
            <a:avLst/>
          </a:prstGeom>
          <a:noFill/>
          <a:ln/>
        </p:spPr>
        <p:txBody>
          <a:bodyPr wrap="square"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09  Subsurface &amp; Drilling Activity</a:t>
            </a:r>
            <a:endParaRPr lang="en-US" sz="1600" dirty="0"/>
          </a:p>
        </p:txBody>
      </p:sp>
      <p:sp>
        <p:nvSpPr>
          <p:cNvPr id="20" name="Shape 18"/>
          <p:cNvSpPr/>
          <p:nvPr/>
        </p:nvSpPr>
        <p:spPr>
          <a:xfrm>
            <a:off x="6400800" y="3630168"/>
            <a:ext cx="73152" cy="310896"/>
          </a:xfrm>
          <a:prstGeom prst="rect">
            <a:avLst/>
          </a:prstGeom>
          <a:solidFill>
            <a:srgbClr val="B91C1C"/>
          </a:solidFill>
          <a:ln/>
        </p:spPr>
      </p:sp>
      <p:sp>
        <p:nvSpPr>
          <p:cNvPr id="21" name="Text 19"/>
          <p:cNvSpPr/>
          <p:nvPr/>
        </p:nvSpPr>
        <p:spPr>
          <a:xfrm>
            <a:off x="6629400" y="3575304"/>
            <a:ext cx="5166360" cy="457200"/>
          </a:xfrm>
          <a:prstGeom prst="rect">
            <a:avLst/>
          </a:prstGeom>
          <a:noFill/>
          <a:ln/>
        </p:spPr>
        <p:txBody>
          <a:bodyPr wrap="square"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Appendix  Access, Sources &amp; Notices</a:t>
            </a:r>
            <a:endParaRPr lang="en-US" sz="1600" dirty="0"/>
          </a:p>
        </p:txBody>
      </p:sp>
      <p:sp>
        <p:nvSpPr>
          <p:cNvPr id="22" name="Text 20"/>
          <p:cNvSpPr/>
          <p:nvPr/>
        </p:nvSpPr>
        <p:spPr>
          <a:xfrm>
            <a:off x="548640" y="6035040"/>
            <a:ext cx="10881360" cy="45720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Full data compendium — every table, footnote, and source citation — is in the companion PDF and Word document.</a:t>
            </a:r>
            <a:endParaRPr lang="en-US" sz="1100" dirty="0"/>
          </a:p>
        </p:txBody>
      </p:sp>
      <p:sp>
        <p:nvSpPr>
          <p:cNvPr id="23" name="Text 21"/>
          <p:cNvSpPr/>
          <p:nvPr/>
        </p:nvSpPr>
        <p:spPr>
          <a:xfrm>
            <a:off x="457200" y="6510528"/>
            <a:ext cx="7315200" cy="27432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CARAMBA NORTH — STRICTLY CONFIDENTIAL, POST-NDA</a:t>
            </a:r>
            <a:endParaRPr lang="en-US" sz="800" dirty="0"/>
          </a:p>
        </p:txBody>
      </p:sp>
      <p:sp>
        <p:nvSpPr>
          <p:cNvPr id="24" name="Text 22"/>
          <p:cNvSpPr/>
          <p:nvPr/>
        </p:nvSpPr>
        <p:spPr>
          <a:xfrm>
            <a:off x="11368735" y="6510528"/>
            <a:ext cx="36576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B91C1C"/>
                </a:solidFill>
                <a:latin typeface="Calibri" pitchFamily="34" charset="0"/>
                <a:ea typeface="Calibri" pitchFamily="34" charset="-122"/>
                <a:cs typeface="Calibri" pitchFamily="34" charset="-120"/>
              </a:rPr>
              <a:t>01 · EXECUTIVE SUMMARY</a:t>
            </a:r>
            <a:endParaRPr lang="en-US" sz="1200" dirty="0"/>
          </a:p>
        </p:txBody>
      </p:sp>
      <p:sp>
        <p:nvSpPr>
          <p:cNvPr id="3" name="Text 1"/>
          <p:cNvSpPr/>
          <p:nvPr/>
        </p:nvSpPr>
        <p:spPr>
          <a:xfrm>
            <a:off x="548640" y="713232"/>
            <a:ext cx="11064240" cy="914400"/>
          </a:xfrm>
          <a:prstGeom prst="rect">
            <a:avLst/>
          </a:prstGeom>
          <a:noFill/>
          <a:ln/>
        </p:spPr>
        <p:txBody>
          <a:bodyPr wrap="square" rtlCol="0" anchor="t"/>
          <a:lstStyle/>
          <a:p>
            <a:pPr indent="0" marL="0">
              <a:buNone/>
            </a:pPr>
            <a:r>
              <a:rPr lang="en-US" sz="2600" b="1" dirty="0">
                <a:solidFill>
                  <a:srgbClr val="0F1B2D"/>
                </a:solidFill>
                <a:latin typeface="Cambria" pitchFamily="34" charset="0"/>
                <a:ea typeface="Cambria" pitchFamily="34" charset="-122"/>
                <a:cs typeface="Cambria" pitchFamily="34" charset="-120"/>
              </a:rPr>
              <a:t>Transmission, water, gas, and proven hyperscale demand</a:t>
            </a:r>
            <a:endParaRPr lang="en-US" sz="2600" dirty="0"/>
          </a:p>
        </p:txBody>
      </p:sp>
      <p:sp>
        <p:nvSpPr>
          <p:cNvPr id="4" name="Shape 2"/>
          <p:cNvSpPr/>
          <p:nvPr/>
        </p:nvSpPr>
        <p:spPr>
          <a:xfrm>
            <a:off x="548640" y="1856232"/>
            <a:ext cx="384048" cy="384048"/>
          </a:xfrm>
          <a:prstGeom prst="ellipse">
            <a:avLst/>
          </a:prstGeom>
          <a:solidFill>
            <a:srgbClr val="B91C1C"/>
          </a:solidFill>
          <a:ln/>
        </p:spPr>
      </p:sp>
      <p:sp>
        <p:nvSpPr>
          <p:cNvPr id="5" name="Text 3"/>
          <p:cNvSpPr/>
          <p:nvPr/>
        </p:nvSpPr>
        <p:spPr>
          <a:xfrm>
            <a:off x="548640" y="1856232"/>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097280" y="1783080"/>
            <a:ext cx="3200400" cy="749808"/>
          </a:xfrm>
          <a:prstGeom prst="rect">
            <a:avLst/>
          </a:prstGeom>
          <a:noFill/>
          <a:ln/>
        </p:spPr>
        <p:txBody>
          <a:bodyPr wrap="square"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Structural power cost</a:t>
            </a:r>
            <a:endParaRPr lang="en-US" sz="1300" dirty="0"/>
          </a:p>
        </p:txBody>
      </p:sp>
      <p:sp>
        <p:nvSpPr>
          <p:cNvPr id="7" name="Text 5"/>
          <p:cNvSpPr/>
          <p:nvPr/>
        </p:nvSpPr>
        <p:spPr>
          <a:xfrm>
            <a:off x="4434840" y="1783080"/>
            <a:ext cx="7178040" cy="749808"/>
          </a:xfrm>
          <a:prstGeom prst="rect">
            <a:avLst/>
          </a:prstGeom>
          <a:noFill/>
          <a:ln/>
        </p:spPr>
        <p:txBody>
          <a:bodyPr wrap="square" rtlCol="0" anchor="ctr"/>
          <a:lstStyle/>
          <a:p>
            <a:pPr indent="0" marL="0">
              <a:buNone/>
            </a:pPr>
            <a:r>
              <a:rPr lang="en-US" sz="1150" dirty="0">
                <a:solidFill>
                  <a:srgbClr val="475569"/>
                </a:solidFill>
                <a:latin typeface="Calibri" pitchFamily="34" charset="0"/>
                <a:ea typeface="Calibri" pitchFamily="34" charset="-122"/>
                <a:cs typeface="Calibri" pitchFamily="34" charset="-120"/>
              </a:rPr>
              <a:t>Waha-basis gas at a structural discount to Henry Hub, with recurring negative prints 2024–2025.</a:t>
            </a:r>
            <a:endParaRPr lang="en-US" sz="1150" dirty="0"/>
          </a:p>
        </p:txBody>
      </p:sp>
      <p:sp>
        <p:nvSpPr>
          <p:cNvPr id="8" name="Shape 6"/>
          <p:cNvSpPr/>
          <p:nvPr/>
        </p:nvSpPr>
        <p:spPr>
          <a:xfrm>
            <a:off x="548640" y="2697480"/>
            <a:ext cx="384048" cy="384048"/>
          </a:xfrm>
          <a:prstGeom prst="ellipse">
            <a:avLst/>
          </a:prstGeom>
          <a:solidFill>
            <a:srgbClr val="B91C1C"/>
          </a:solidFill>
          <a:ln/>
        </p:spPr>
      </p:sp>
      <p:sp>
        <p:nvSpPr>
          <p:cNvPr id="9" name="Text 7"/>
          <p:cNvSpPr/>
          <p:nvPr/>
        </p:nvSpPr>
        <p:spPr>
          <a:xfrm>
            <a:off x="548640" y="2697480"/>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097280" y="2624328"/>
            <a:ext cx="3200400" cy="749808"/>
          </a:xfrm>
          <a:prstGeom prst="rect">
            <a:avLst/>
          </a:prstGeom>
          <a:noFill/>
          <a:ln/>
        </p:spPr>
        <p:txBody>
          <a:bodyPr wrap="square"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765 kV transmission anchor</a:t>
            </a:r>
            <a:endParaRPr lang="en-US" sz="1300" dirty="0"/>
          </a:p>
        </p:txBody>
      </p:sp>
      <p:sp>
        <p:nvSpPr>
          <p:cNvPr id="11" name="Text 9"/>
          <p:cNvSpPr/>
          <p:nvPr/>
        </p:nvSpPr>
        <p:spPr>
          <a:xfrm>
            <a:off x="4434840" y="2624328"/>
            <a:ext cx="7178040" cy="749808"/>
          </a:xfrm>
          <a:prstGeom prst="rect">
            <a:avLst/>
          </a:prstGeom>
          <a:noFill/>
          <a:ln/>
        </p:spPr>
        <p:txBody>
          <a:bodyPr wrap="square" rtlCol="0" anchor="ctr"/>
          <a:lstStyle/>
          <a:p>
            <a:pPr indent="0" marL="0">
              <a:buNone/>
            </a:pPr>
            <a:r>
              <a:rPr lang="en-US" sz="1150" dirty="0">
                <a:solidFill>
                  <a:srgbClr val="475569"/>
                </a:solidFill>
                <a:latin typeface="Calibri" pitchFamily="34" charset="0"/>
                <a:ea typeface="Calibri" pitchFamily="34" charset="-122"/>
                <a:cs typeface="Calibri" pitchFamily="34" charset="-120"/>
              </a:rPr>
              <a:t>AEP Solstice Substation 15 mi north — western terminus of the three PUCT-approved 765 kV Permian import paths.</a:t>
            </a:r>
            <a:endParaRPr lang="en-US" sz="1150" dirty="0"/>
          </a:p>
        </p:txBody>
      </p:sp>
      <p:sp>
        <p:nvSpPr>
          <p:cNvPr id="12" name="Shape 10"/>
          <p:cNvSpPr/>
          <p:nvPr/>
        </p:nvSpPr>
        <p:spPr>
          <a:xfrm>
            <a:off x="548640" y="3538728"/>
            <a:ext cx="384048" cy="384048"/>
          </a:xfrm>
          <a:prstGeom prst="ellipse">
            <a:avLst/>
          </a:prstGeom>
          <a:solidFill>
            <a:srgbClr val="B91C1C"/>
          </a:solidFill>
          <a:ln/>
        </p:spPr>
      </p:sp>
      <p:sp>
        <p:nvSpPr>
          <p:cNvPr id="13" name="Text 11"/>
          <p:cNvSpPr/>
          <p:nvPr/>
        </p:nvSpPr>
        <p:spPr>
          <a:xfrm>
            <a:off x="548640" y="3538728"/>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097280" y="3465576"/>
            <a:ext cx="3200400" cy="749808"/>
          </a:xfrm>
          <a:prstGeom prst="rect">
            <a:avLst/>
          </a:prstGeom>
          <a:noFill/>
          <a:ln/>
        </p:spPr>
        <p:txBody>
          <a:bodyPr wrap="square"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Water at institutional scale</a:t>
            </a:r>
            <a:endParaRPr lang="en-US" sz="1300" dirty="0"/>
          </a:p>
        </p:txBody>
      </p:sp>
      <p:sp>
        <p:nvSpPr>
          <p:cNvPr id="15" name="Text 13"/>
          <p:cNvSpPr/>
          <p:nvPr/>
        </p:nvSpPr>
        <p:spPr>
          <a:xfrm>
            <a:off x="4434840" y="3465576"/>
            <a:ext cx="7178040" cy="749808"/>
          </a:xfrm>
          <a:prstGeom prst="rect">
            <a:avLst/>
          </a:prstGeom>
          <a:noFill/>
          <a:ln/>
        </p:spPr>
        <p:txBody>
          <a:bodyPr wrap="square" rtlCol="0" anchor="ctr"/>
          <a:lstStyle/>
          <a:p>
            <a:pPr indent="0" marL="0">
              <a:buNone/>
            </a:pPr>
            <a:r>
              <a:rPr lang="en-US" sz="1150" dirty="0">
                <a:solidFill>
                  <a:srgbClr val="475569"/>
                </a:solidFill>
                <a:latin typeface="Calibri" pitchFamily="34" charset="0"/>
                <a:ea typeface="Calibri" pitchFamily="34" charset="-122"/>
                <a:cs typeface="Calibri" pitchFamily="34" charset="-120"/>
              </a:rPr>
              <a:t>47,418 AF/yr permitted on adjacent affiliated lands — ≈ two-thirds of Middle Pecos GCD rights.</a:t>
            </a:r>
            <a:endParaRPr lang="en-US" sz="1150" dirty="0"/>
          </a:p>
        </p:txBody>
      </p:sp>
      <p:sp>
        <p:nvSpPr>
          <p:cNvPr id="16" name="Shape 14"/>
          <p:cNvSpPr/>
          <p:nvPr/>
        </p:nvSpPr>
        <p:spPr>
          <a:xfrm>
            <a:off x="548640" y="4379976"/>
            <a:ext cx="384048" cy="384048"/>
          </a:xfrm>
          <a:prstGeom prst="ellipse">
            <a:avLst/>
          </a:prstGeom>
          <a:solidFill>
            <a:srgbClr val="B91C1C"/>
          </a:solidFill>
          <a:ln/>
        </p:spPr>
      </p:sp>
      <p:sp>
        <p:nvSpPr>
          <p:cNvPr id="17" name="Text 15"/>
          <p:cNvSpPr/>
          <p:nvPr/>
        </p:nvSpPr>
        <p:spPr>
          <a:xfrm>
            <a:off x="548640" y="4379976"/>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1097280" y="4306824"/>
            <a:ext cx="3200400" cy="749808"/>
          </a:xfrm>
          <a:prstGeom prst="rect">
            <a:avLst/>
          </a:prstGeom>
          <a:noFill/>
          <a:ln/>
        </p:spPr>
        <p:txBody>
          <a:bodyPr wrap="square"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Demand already on the ground</a:t>
            </a:r>
            <a:endParaRPr lang="en-US" sz="1300" dirty="0"/>
          </a:p>
        </p:txBody>
      </p:sp>
      <p:sp>
        <p:nvSpPr>
          <p:cNvPr id="19" name="Text 17"/>
          <p:cNvSpPr/>
          <p:nvPr/>
        </p:nvSpPr>
        <p:spPr>
          <a:xfrm>
            <a:off x="4434840" y="4306824"/>
            <a:ext cx="7178040" cy="749808"/>
          </a:xfrm>
          <a:prstGeom prst="rect">
            <a:avLst/>
          </a:prstGeom>
          <a:noFill/>
          <a:ln/>
        </p:spPr>
        <p:txBody>
          <a:bodyPr wrap="square" rtlCol="0" anchor="ctr"/>
          <a:lstStyle/>
          <a:p>
            <a:pPr indent="0" marL="0">
              <a:buNone/>
            </a:pPr>
            <a:r>
              <a:rPr lang="en-US" sz="1150" dirty="0">
                <a:solidFill>
                  <a:srgbClr val="475569"/>
                </a:solidFill>
                <a:latin typeface="Calibri" pitchFamily="34" charset="0"/>
                <a:ea typeface="Calibri" pitchFamily="34" charset="-122"/>
                <a:cs typeface="Calibri" pitchFamily="34" charset="-120"/>
              </a:rPr>
              <a:t>12,039 MW ERCOT queue in Pecos Co.; 9.7 GW of announced hyperscale capacity within 60 mi.</a:t>
            </a:r>
            <a:endParaRPr lang="en-US" sz="1150" dirty="0"/>
          </a:p>
        </p:txBody>
      </p:sp>
      <p:sp>
        <p:nvSpPr>
          <p:cNvPr id="20" name="Shape 18"/>
          <p:cNvSpPr/>
          <p:nvPr/>
        </p:nvSpPr>
        <p:spPr>
          <a:xfrm>
            <a:off x="548640" y="5221224"/>
            <a:ext cx="384048" cy="384048"/>
          </a:xfrm>
          <a:prstGeom prst="ellipse">
            <a:avLst/>
          </a:prstGeom>
          <a:solidFill>
            <a:srgbClr val="B91C1C"/>
          </a:solidFill>
          <a:ln/>
        </p:spPr>
      </p:sp>
      <p:sp>
        <p:nvSpPr>
          <p:cNvPr id="21" name="Text 19"/>
          <p:cNvSpPr/>
          <p:nvPr/>
        </p:nvSpPr>
        <p:spPr>
          <a:xfrm>
            <a:off x="548640" y="5221224"/>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p:nvPr/>
        </p:nvSpPr>
        <p:spPr>
          <a:xfrm>
            <a:off x="1097280" y="5148072"/>
            <a:ext cx="3200400" cy="749808"/>
          </a:xfrm>
          <a:prstGeom prst="rect">
            <a:avLst/>
          </a:prstGeom>
          <a:noFill/>
          <a:ln/>
        </p:spPr>
        <p:txBody>
          <a:bodyPr wrap="square"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As-of-right development</a:t>
            </a:r>
            <a:endParaRPr lang="en-US" sz="1300" dirty="0"/>
          </a:p>
        </p:txBody>
      </p:sp>
      <p:sp>
        <p:nvSpPr>
          <p:cNvPr id="23" name="Text 21"/>
          <p:cNvSpPr/>
          <p:nvPr/>
        </p:nvSpPr>
        <p:spPr>
          <a:xfrm>
            <a:off x="4434840" y="5148072"/>
            <a:ext cx="7178040" cy="749808"/>
          </a:xfrm>
          <a:prstGeom prst="rect">
            <a:avLst/>
          </a:prstGeom>
          <a:noFill/>
          <a:ln/>
        </p:spPr>
        <p:txBody>
          <a:bodyPr wrap="square" rtlCol="0" anchor="ctr"/>
          <a:lstStyle/>
          <a:p>
            <a:pPr indent="0" marL="0">
              <a:buNone/>
            </a:pPr>
            <a:r>
              <a:rPr lang="en-US" sz="1150" dirty="0">
                <a:solidFill>
                  <a:srgbClr val="475569"/>
                </a:solidFill>
                <a:latin typeface="Calibri" pitchFamily="34" charset="0"/>
                <a:ea typeface="Calibri" pitchFamily="34" charset="-122"/>
                <a:cs typeface="Calibri" pitchFamily="34" charset="-120"/>
              </a:rPr>
              <a:t>Unincorporated Pecos County — no zoning ordinance; industrial and energy uses permitted as of right.</a:t>
            </a:r>
            <a:endParaRPr lang="en-US" sz="1150" dirty="0"/>
          </a:p>
        </p:txBody>
      </p:sp>
      <p:sp>
        <p:nvSpPr>
          <p:cNvPr id="24" name="Text 22"/>
          <p:cNvSpPr/>
          <p:nvPr/>
        </p:nvSpPr>
        <p:spPr>
          <a:xfrm>
            <a:off x="457200" y="6510528"/>
            <a:ext cx="7315200" cy="27432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CARAMBA NORTH — STRICTLY CONFIDENTIAL, POST-NDA</a:t>
            </a:r>
            <a:endParaRPr lang="en-US" sz="800" dirty="0"/>
          </a:p>
        </p:txBody>
      </p:sp>
      <p:sp>
        <p:nvSpPr>
          <p:cNvPr id="25" name="Text 23"/>
          <p:cNvSpPr/>
          <p:nvPr/>
        </p:nvSpPr>
        <p:spPr>
          <a:xfrm>
            <a:off x="11368735" y="6510528"/>
            <a:ext cx="36576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B91C1C"/>
                </a:solidFill>
                <a:latin typeface="Calibri" pitchFamily="34" charset="0"/>
                <a:ea typeface="Calibri" pitchFamily="34" charset="-122"/>
                <a:cs typeface="Calibri" pitchFamily="34" charset="-120"/>
              </a:rPr>
              <a:t>02 · THE PROPERTY</a:t>
            </a:r>
            <a:endParaRPr lang="en-US" sz="1200" dirty="0"/>
          </a:p>
        </p:txBody>
      </p:sp>
      <p:sp>
        <p:nvSpPr>
          <p:cNvPr id="3" name="Text 1"/>
          <p:cNvSpPr/>
          <p:nvPr/>
        </p:nvSpPr>
        <p:spPr>
          <a:xfrm>
            <a:off x="548640" y="713232"/>
            <a:ext cx="11064240" cy="914400"/>
          </a:xfrm>
          <a:prstGeom prst="rect">
            <a:avLst/>
          </a:prstGeom>
          <a:noFill/>
          <a:ln/>
        </p:spPr>
        <p:txBody>
          <a:bodyPr wrap="square" rtlCol="0" anchor="t"/>
          <a:lstStyle/>
          <a:p>
            <a:pPr indent="0" marL="0">
              <a:buNone/>
            </a:pPr>
            <a:r>
              <a:rPr lang="en-US" sz="2600" b="1" dirty="0">
                <a:solidFill>
                  <a:srgbClr val="0F1B2D"/>
                </a:solidFill>
                <a:latin typeface="Cambria" pitchFamily="34" charset="0"/>
                <a:ea typeface="Cambria" pitchFamily="34" charset="-122"/>
                <a:cs typeface="Cambria" pitchFamily="34" charset="-120"/>
              </a:rPr>
              <a:t>Contiguous, interstate-front acreage, five miles from Fort Stockton</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394960" cy="914400"/>
        </p:xfrm>
        <a:graphic>
          <a:graphicData uri="http://schemas.openxmlformats.org/drawingml/2006/table">
            <a:tbl>
              <a:tblPr/>
              <a:tblGrid>
                <a:gridCol w="1737360"/>
                <a:gridCol w="3657600"/>
              </a:tblGrid>
              <a:tr h="0">
                <a:tc>
                  <a:txBody>
                    <a:bodyPr/>
                    <a:lstStyle/>
                    <a:p>
                      <a:pPr algn="l" indent="0" marL="0">
                        <a:buNone/>
                      </a:pPr>
                      <a:r>
                        <a:rPr lang="en-US" sz="1000" b="1" dirty="0">
                          <a:solidFill>
                            <a:srgbClr val="475569"/>
                          </a:solidFill>
                          <a:latin typeface="Calibri" pitchFamily="34" charset="0"/>
                          <a:ea typeface="Calibri" pitchFamily="34" charset="-122"/>
                          <a:cs typeface="Calibri" pitchFamily="34" charset="-120"/>
                        </a:rPr>
                        <a:t>ATTRIBUTE</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000" b="1" dirty="0">
                          <a:solidFill>
                            <a:srgbClr val="475569"/>
                          </a:solidFill>
                          <a:latin typeface="Calibri" pitchFamily="34" charset="0"/>
                          <a:ea typeface="Calibri" pitchFamily="34" charset="-122"/>
                          <a:cs typeface="Calibri" pitchFamily="34" charset="-120"/>
                        </a:rPr>
                        <a:t>DETAIL</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Size / configuration</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Up to 1,300 contiguous acres, north side of I-10</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Direct I-10 frontage; UP Sunset Route proximate; long-haul fiber</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Municipal services</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Fort Stockton (~5 mi): services, regional airport</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Land-use regime</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No zoning ordinance; industrial/energy uses as of right</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ERCOT position</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Far West weather zone — highest-growth large-load pocket</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pic>
        <p:nvPicPr>
          <p:cNvPr id="5" name="Image 0" descr="/home/claude/repo/outputs/reports/om_exhibits/exhibit_2_1_site-setting.jpg">    </p:cNvPr>
          <p:cNvPicPr>
            <a:picLocks noChangeAspect="1"/>
          </p:cNvPicPr>
          <p:nvPr/>
        </p:nvPicPr>
        <p:blipFill>
          <a:blip r:embed="rId1"/>
          <a:stretch>
            <a:fillRect/>
          </a:stretch>
        </p:blipFill>
        <p:spPr>
          <a:xfrm>
            <a:off x="6263640" y="1783080"/>
            <a:ext cx="5394960" cy="3371850"/>
          </a:xfrm>
          <a:prstGeom prst="rect">
            <a:avLst/>
          </a:prstGeom>
        </p:spPr>
      </p:pic>
      <p:sp>
        <p:nvSpPr>
          <p:cNvPr id="6" name="Shape 2"/>
          <p:cNvSpPr/>
          <p:nvPr/>
        </p:nvSpPr>
        <p:spPr>
          <a:xfrm>
            <a:off x="6263640" y="1783080"/>
            <a:ext cx="5394960" cy="3371850"/>
          </a:xfrm>
          <a:prstGeom prst="rect">
            <a:avLst/>
          </a:prstGeom>
          <a:ln w="12700">
            <a:solidFill>
              <a:srgbClr val="E2E8F0"/>
            </a:solidFill>
            <a:prstDash val="solid"/>
          </a:ln>
        </p:spPr>
      </p:sp>
      <p:sp>
        <p:nvSpPr>
          <p:cNvPr id="7" name="Text 3"/>
          <p:cNvSpPr/>
          <p:nvPr/>
        </p:nvSpPr>
        <p:spPr>
          <a:xfrm>
            <a:off x="6263640" y="5228082"/>
            <a:ext cx="5394960" cy="457200"/>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Exhibit 2.1 — The Caramba North tract on the north side of I-10, five miles from Fort Stockton.</a:t>
            </a:r>
            <a:endParaRPr lang="en-US" sz="950" dirty="0"/>
          </a:p>
        </p:txBody>
      </p:sp>
      <p:sp>
        <p:nvSpPr>
          <p:cNvPr id="8" name="Text 4"/>
          <p:cNvSpPr/>
          <p:nvPr/>
        </p:nvSpPr>
        <p:spPr>
          <a:xfrm>
            <a:off x="457200" y="6510528"/>
            <a:ext cx="7315200" cy="27432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CARAMBA NORTH — STRICTLY CONFIDENTIAL, POST-NDA</a:t>
            </a:r>
            <a:endParaRPr lang="en-US" sz="800" dirty="0"/>
          </a:p>
        </p:txBody>
      </p:sp>
      <p:sp>
        <p:nvSpPr>
          <p:cNvPr id="9" name="Text 5"/>
          <p:cNvSpPr/>
          <p:nvPr/>
        </p:nvSpPr>
        <p:spPr>
          <a:xfrm>
            <a:off x="11368735" y="6510528"/>
            <a:ext cx="36576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B91C1C"/>
                </a:solidFill>
                <a:latin typeface="Calibri" pitchFamily="34" charset="0"/>
                <a:ea typeface="Calibri" pitchFamily="34" charset="-122"/>
                <a:cs typeface="Calibri" pitchFamily="34" charset="-120"/>
              </a:rPr>
              <a:t>03 · TRANSMISSION</a:t>
            </a:r>
            <a:endParaRPr lang="en-US" sz="1200" dirty="0"/>
          </a:p>
        </p:txBody>
      </p:sp>
      <p:sp>
        <p:nvSpPr>
          <p:cNvPr id="3" name="Text 1"/>
          <p:cNvSpPr/>
          <p:nvPr/>
        </p:nvSpPr>
        <p:spPr>
          <a:xfrm>
            <a:off x="548640" y="713232"/>
            <a:ext cx="11064240" cy="914400"/>
          </a:xfrm>
          <a:prstGeom prst="rect">
            <a:avLst/>
          </a:prstGeom>
          <a:noFill/>
          <a:ln/>
        </p:spPr>
        <p:txBody>
          <a:bodyPr wrap="square" rtlCol="0" anchor="t"/>
          <a:lstStyle/>
          <a:p>
            <a:pPr indent="0" marL="0">
              <a:buNone/>
            </a:pPr>
            <a:r>
              <a:rPr lang="en-US" sz="2600" b="1" dirty="0">
                <a:solidFill>
                  <a:srgbClr val="0F1B2D"/>
                </a:solidFill>
                <a:latin typeface="Cambria" pitchFamily="34" charset="0"/>
                <a:ea typeface="Cambria" pitchFamily="34" charset="-122"/>
                <a:cs typeface="Cambria" pitchFamily="34" charset="-120"/>
              </a:rPr>
              <a:t>15 miles from the western terminus of ERCOT's 765 kV backbone</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394960" cy="914400"/>
        </p:xfrm>
        <a:graphic>
          <a:graphicData uri="http://schemas.openxmlformats.org/drawingml/2006/table">
            <a:tbl>
              <a:tblPr/>
              <a:tblGrid>
                <a:gridCol w="1737360"/>
                <a:gridCol w="3657600"/>
              </a:tblGrid>
              <a:tr h="0">
                <a:tc>
                  <a:txBody>
                    <a:bodyPr/>
                    <a:lstStyle/>
                    <a:p>
                      <a:pPr algn="l" indent="0" marL="0">
                        <a:buNone/>
                      </a:pPr>
                      <a:r>
                        <a:rPr lang="en-US" sz="1000" b="1" dirty="0">
                          <a:solidFill>
                            <a:srgbClr val="475569"/>
                          </a:solidFill>
                          <a:latin typeface="Calibri" pitchFamily="34" charset="0"/>
                          <a:ea typeface="Calibri" pitchFamily="34" charset="-122"/>
                          <a:cs typeface="Calibri" pitchFamily="34" charset="-120"/>
                        </a:rPr>
                        <a:t>ELEMENT</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000" b="1" dirty="0">
                          <a:solidFill>
                            <a:srgbClr val="475569"/>
                          </a:solidFill>
                          <a:latin typeface="Calibri" pitchFamily="34" charset="0"/>
                          <a:ea typeface="Calibri" pitchFamily="34" charset="-122"/>
                          <a:cs typeface="Calibri" pitchFamily="34" charset="-120"/>
                        </a:rPr>
                        <a:t>DETAIL</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765 kV PUCT approval</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Three import paths approved Apr 24, 2025 (PBRP, No. 55718)</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Solstice Substation</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AEP/CPS Energy; 15 mi north of the Property</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Local substations</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Fort Stockton Plant (2 mi), Airport (3.3 mi), Fort Stockton (5.4 mi), 16th Street (6 mi)</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Planned upgrades (TPIT)</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141 substation + 133 line upgrades tracked ERCOT-wide</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pic>
        <p:nvPicPr>
          <p:cNvPr id="5" name="Image 0" descr="/home/claude/repo/outputs/reports/om_exhibits/exhibit_3_1_planned-grid-upgrades.jpg">    </p:cNvPr>
          <p:cNvPicPr>
            <a:picLocks noChangeAspect="1"/>
          </p:cNvPicPr>
          <p:nvPr/>
        </p:nvPicPr>
        <p:blipFill>
          <a:blip r:embed="rId1"/>
          <a:stretch>
            <a:fillRect/>
          </a:stretch>
        </p:blipFill>
        <p:spPr>
          <a:xfrm>
            <a:off x="6263640" y="1783080"/>
            <a:ext cx="5394960" cy="3088615"/>
          </a:xfrm>
          <a:prstGeom prst="rect">
            <a:avLst/>
          </a:prstGeom>
        </p:spPr>
      </p:pic>
      <p:sp>
        <p:nvSpPr>
          <p:cNvPr id="6" name="Shape 2"/>
          <p:cNvSpPr/>
          <p:nvPr/>
        </p:nvSpPr>
        <p:spPr>
          <a:xfrm>
            <a:off x="6263640" y="1783080"/>
            <a:ext cx="5394960" cy="3088615"/>
          </a:xfrm>
          <a:prstGeom prst="rect">
            <a:avLst/>
          </a:prstGeom>
          <a:ln w="12700">
            <a:solidFill>
              <a:srgbClr val="E2E8F0"/>
            </a:solidFill>
            <a:prstDash val="solid"/>
          </a:ln>
        </p:spPr>
      </p:sp>
      <p:sp>
        <p:nvSpPr>
          <p:cNvPr id="7" name="Text 3"/>
          <p:cNvSpPr/>
          <p:nvPr/>
        </p:nvSpPr>
        <p:spPr>
          <a:xfrm>
            <a:off x="6263640" y="4944847"/>
            <a:ext cx="5394960" cy="457200"/>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Exhibit 3.1 — Planned grid upgrades only (ERCOT TPIT); Solstice terminus circled.</a:t>
            </a:r>
            <a:endParaRPr lang="en-US" sz="950" dirty="0"/>
          </a:p>
        </p:txBody>
      </p:sp>
      <p:sp>
        <p:nvSpPr>
          <p:cNvPr id="8" name="Text 4"/>
          <p:cNvSpPr/>
          <p:nvPr/>
        </p:nvSpPr>
        <p:spPr>
          <a:xfrm>
            <a:off x="457200" y="6510528"/>
            <a:ext cx="7315200" cy="27432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CARAMBA NORTH — STRICTLY CONFIDENTIAL, POST-NDA</a:t>
            </a:r>
            <a:endParaRPr lang="en-US" sz="800" dirty="0"/>
          </a:p>
        </p:txBody>
      </p:sp>
      <p:sp>
        <p:nvSpPr>
          <p:cNvPr id="9" name="Text 5"/>
          <p:cNvSpPr/>
          <p:nvPr/>
        </p:nvSpPr>
        <p:spPr>
          <a:xfrm>
            <a:off x="11368735" y="6510528"/>
            <a:ext cx="36576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B91C1C"/>
                </a:solidFill>
                <a:latin typeface="Calibri" pitchFamily="34" charset="0"/>
                <a:ea typeface="Calibri" pitchFamily="34" charset="-122"/>
                <a:cs typeface="Calibri" pitchFamily="34" charset="-120"/>
              </a:rPr>
              <a:t>04 · REGIONAL POWER CLUSTER</a:t>
            </a:r>
            <a:endParaRPr lang="en-US" sz="1200" dirty="0"/>
          </a:p>
        </p:txBody>
      </p:sp>
      <p:sp>
        <p:nvSpPr>
          <p:cNvPr id="3" name="Text 1"/>
          <p:cNvSpPr/>
          <p:nvPr/>
        </p:nvSpPr>
        <p:spPr>
          <a:xfrm>
            <a:off x="548640" y="713232"/>
            <a:ext cx="11064240" cy="914400"/>
          </a:xfrm>
          <a:prstGeom prst="rect">
            <a:avLst/>
          </a:prstGeom>
          <a:noFill/>
          <a:ln/>
        </p:spPr>
        <p:txBody>
          <a:bodyPr wrap="square" rtlCol="0" anchor="t"/>
          <a:lstStyle/>
          <a:p>
            <a:pPr indent="0" marL="0">
              <a:buNone/>
            </a:pPr>
            <a:r>
              <a:rPr lang="en-US" sz="2600" b="1" dirty="0">
                <a:solidFill>
                  <a:srgbClr val="0F1B2D"/>
                </a:solidFill>
                <a:latin typeface="Cambria" pitchFamily="34" charset="0"/>
                <a:ea typeface="Cambria" pitchFamily="34" charset="-122"/>
                <a:cs typeface="Cambria" pitchFamily="34" charset="-120"/>
              </a:rPr>
              <a:t>12.0 GW queued in Pecos County — densest renewable cluster in ERCOT</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394960" cy="914400"/>
        </p:xfrm>
        <a:graphic>
          <a:graphicData uri="http://schemas.openxmlformats.org/drawingml/2006/table">
            <a:tbl>
              <a:tblPr/>
              <a:tblGrid>
                <a:gridCol w="1554480"/>
                <a:gridCol w="1920240"/>
                <a:gridCol w="1920240"/>
              </a:tblGrid>
              <a:tr h="0">
                <a:tc>
                  <a:txBody>
                    <a:bodyPr/>
                    <a:lstStyle/>
                    <a:p>
                      <a:pPr algn="l" indent="0" marL="0">
                        <a:buNone/>
                      </a:pPr>
                      <a:r>
                        <a:rPr lang="en-US" sz="1050" b="1" dirty="0">
                          <a:solidFill>
                            <a:srgbClr val="475569"/>
                          </a:solidFill>
                          <a:latin typeface="Calibri" pitchFamily="34" charset="0"/>
                          <a:ea typeface="Calibri" pitchFamily="34" charset="-122"/>
                          <a:cs typeface="Calibri" pitchFamily="34" charset="-120"/>
                        </a:rPr>
                        <a:t>TECHNOLOGY</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r" indent="0" marL="0">
                        <a:buNone/>
                      </a:pPr>
                      <a:r>
                        <a:rPr lang="en-US" sz="1050" b="1" dirty="0">
                          <a:solidFill>
                            <a:srgbClr val="475569"/>
                          </a:solidFill>
                          <a:latin typeface="Calibri" pitchFamily="34" charset="0"/>
                          <a:ea typeface="Calibri" pitchFamily="34" charset="-122"/>
                          <a:cs typeface="Calibri" pitchFamily="34" charset="-120"/>
                        </a:rPr>
                        <a:t>PECOS — OPERATING</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r" indent="0" marL="0">
                        <a:buNone/>
                      </a:pPr>
                      <a:r>
                        <a:rPr lang="en-US" sz="1050" b="1" dirty="0">
                          <a:solidFill>
                            <a:srgbClr val="475569"/>
                          </a:solidFill>
                          <a:latin typeface="Calibri" pitchFamily="34" charset="0"/>
                          <a:ea typeface="Calibri" pitchFamily="34" charset="-122"/>
                          <a:cs typeface="Calibri" pitchFamily="34" charset="-120"/>
                        </a:rPr>
                        <a:t>PECOS — ERCOT QUEUE</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algn="l" indent="0" marL="0">
                        <a:buNone/>
                      </a:pPr>
                      <a:r>
                        <a:rPr lang="en-US" sz="1050" dirty="0">
                          <a:solidFill>
                            <a:srgbClr val="16202E"/>
                          </a:solidFill>
                          <a:latin typeface="Calibri" pitchFamily="34" charset="0"/>
                          <a:ea typeface="Calibri" pitchFamily="34" charset="-122"/>
                          <a:cs typeface="Calibri" pitchFamily="34" charset="-120"/>
                        </a:rPr>
                        <a:t>Solar</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50" dirty="0">
                          <a:solidFill>
                            <a:srgbClr val="16202E"/>
                          </a:solidFill>
                          <a:latin typeface="Calibri" pitchFamily="34" charset="0"/>
                          <a:ea typeface="Calibri" pitchFamily="34" charset="-122"/>
                          <a:cs typeface="Calibri" pitchFamily="34" charset="-120"/>
                        </a:rPr>
                        <a:t>13 · 2.2 GW</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50" dirty="0">
                          <a:solidFill>
                            <a:srgbClr val="16202E"/>
                          </a:solidFill>
                          <a:latin typeface="Calibri" pitchFamily="34" charset="0"/>
                          <a:ea typeface="Calibri" pitchFamily="34" charset="-122"/>
                          <a:cs typeface="Calibri" pitchFamily="34" charset="-120"/>
                        </a:rPr>
                        <a:t>16 · 6.3 GW</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050" dirty="0">
                          <a:solidFill>
                            <a:srgbClr val="16202E"/>
                          </a:solidFill>
                          <a:latin typeface="Calibri" pitchFamily="34" charset="0"/>
                          <a:ea typeface="Calibri" pitchFamily="34" charset="-122"/>
                          <a:cs typeface="Calibri" pitchFamily="34" charset="-120"/>
                        </a:rPr>
                        <a:t>Wind</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50" dirty="0">
                          <a:solidFill>
                            <a:srgbClr val="16202E"/>
                          </a:solidFill>
                          <a:latin typeface="Calibri" pitchFamily="34" charset="0"/>
                          <a:ea typeface="Calibri" pitchFamily="34" charset="-122"/>
                          <a:cs typeface="Calibri" pitchFamily="34" charset="-120"/>
                        </a:rPr>
                        <a:t>5 · 542 MW</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50" dirty="0">
                          <a:solidFill>
                            <a:srgbClr val="16202E"/>
                          </a:solidFill>
                          <a:latin typeface="Calibri" pitchFamily="34" charset="0"/>
                          <a:ea typeface="Calibri" pitchFamily="34" charset="-122"/>
                          <a:cs typeface="Calibri" pitchFamily="34" charset="-120"/>
                        </a:rPr>
                        <a:t>10 · 3.0 GW</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050" dirty="0">
                          <a:solidFill>
                            <a:srgbClr val="16202E"/>
                          </a:solidFill>
                          <a:latin typeface="Calibri" pitchFamily="34" charset="0"/>
                          <a:ea typeface="Calibri" pitchFamily="34" charset="-122"/>
                          <a:cs typeface="Calibri" pitchFamily="34" charset="-120"/>
                        </a:rPr>
                        <a:t>BESS</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50" dirty="0">
                          <a:solidFill>
                            <a:srgbClr val="16202E"/>
                          </a:solidFill>
                          <a:latin typeface="Calibri" pitchFamily="34" charset="0"/>
                          <a:ea typeface="Calibri" pitchFamily="34" charset="-122"/>
                          <a:cs typeface="Calibri" pitchFamily="34" charset="-120"/>
                        </a:rPr>
                        <a:t>6 · 505 MW</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50" dirty="0">
                          <a:solidFill>
                            <a:srgbClr val="16202E"/>
                          </a:solidFill>
                          <a:latin typeface="Calibri" pitchFamily="34" charset="0"/>
                          <a:ea typeface="Calibri" pitchFamily="34" charset="-122"/>
                          <a:cs typeface="Calibri" pitchFamily="34" charset="-120"/>
                        </a:rPr>
                        <a:t>11 · 1.4 GW</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050" dirty="0">
                          <a:solidFill>
                            <a:srgbClr val="16202E"/>
                          </a:solidFill>
                          <a:latin typeface="Calibri" pitchFamily="34" charset="0"/>
                          <a:ea typeface="Calibri" pitchFamily="34" charset="-122"/>
                          <a:cs typeface="Calibri" pitchFamily="34" charset="-120"/>
                        </a:rPr>
                        <a:t>Gas</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50" dirty="0">
                          <a:solidFill>
                            <a:srgbClr val="16202E"/>
                          </a:solidFill>
                          <a:latin typeface="Calibri" pitchFamily="34" charset="0"/>
                          <a:ea typeface="Calibri" pitchFamily="34" charset="-122"/>
                          <a:cs typeface="Calibri" pitchFamily="34" charset="-120"/>
                        </a:rPr>
                        <a:t>1 · 1 MW</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50" dirty="0">
                          <a:solidFill>
                            <a:srgbClr val="16202E"/>
                          </a:solidFill>
                          <a:latin typeface="Calibri" pitchFamily="34" charset="0"/>
                          <a:ea typeface="Calibri" pitchFamily="34" charset="-122"/>
                          <a:cs typeface="Calibri" pitchFamily="34" charset="-120"/>
                        </a:rPr>
                        <a:t>2 · 1.4 GW</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050" b="1" dirty="0">
                          <a:solidFill>
                            <a:srgbClr val="16202E"/>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algn="r" indent="0" marL="0">
                        <a:buNone/>
                      </a:pPr>
                      <a:r>
                        <a:rPr lang="en-US" sz="1050" b="1" dirty="0">
                          <a:solidFill>
                            <a:srgbClr val="16202E"/>
                          </a:solidFill>
                          <a:latin typeface="Calibri" pitchFamily="34" charset="0"/>
                          <a:ea typeface="Calibri" pitchFamily="34" charset="-122"/>
                          <a:cs typeface="Calibri" pitchFamily="34" charset="-120"/>
                        </a:rPr>
                        <a:t>3.2 GW</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algn="r" indent="0" marL="0">
                        <a:buNone/>
                      </a:pPr>
                      <a:r>
                        <a:rPr lang="en-US" sz="1050" b="1" dirty="0">
                          <a:solidFill>
                            <a:srgbClr val="16202E"/>
                          </a:solidFill>
                          <a:latin typeface="Calibri" pitchFamily="34" charset="0"/>
                          <a:ea typeface="Calibri" pitchFamily="34" charset="-122"/>
                          <a:cs typeface="Calibri" pitchFamily="34" charset="-120"/>
                        </a:rPr>
                        <a:t>12.0 GW</a:t>
                      </a:r>
                      <a:endParaRPr lang="en-US" sz="10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r>
            </a:tbl>
          </a:graphicData>
        </a:graphic>
      </p:graphicFrame>
      <p:pic>
        <p:nvPicPr>
          <p:cNvPr id="5" name="Image 0" descr="/home/claude/repo/outputs/reports/om_exhibits/exhibit_4_1_generation-cluster.jpg">    </p:cNvPr>
          <p:cNvPicPr>
            <a:picLocks noChangeAspect="1"/>
          </p:cNvPicPr>
          <p:nvPr/>
        </p:nvPicPr>
        <p:blipFill>
          <a:blip r:embed="rId1"/>
          <a:stretch>
            <a:fillRect/>
          </a:stretch>
        </p:blipFill>
        <p:spPr>
          <a:xfrm>
            <a:off x="6263640" y="1783080"/>
            <a:ext cx="5394960" cy="3088615"/>
          </a:xfrm>
          <a:prstGeom prst="rect">
            <a:avLst/>
          </a:prstGeom>
        </p:spPr>
      </p:pic>
      <p:sp>
        <p:nvSpPr>
          <p:cNvPr id="6" name="Shape 2"/>
          <p:cNvSpPr/>
          <p:nvPr/>
        </p:nvSpPr>
        <p:spPr>
          <a:xfrm>
            <a:off x="6263640" y="1783080"/>
            <a:ext cx="5394960" cy="3088615"/>
          </a:xfrm>
          <a:prstGeom prst="rect">
            <a:avLst/>
          </a:prstGeom>
          <a:ln w="12700">
            <a:solidFill>
              <a:srgbClr val="E2E8F0"/>
            </a:solidFill>
            <a:prstDash val="solid"/>
          </a:ln>
        </p:spPr>
      </p:sp>
      <p:sp>
        <p:nvSpPr>
          <p:cNvPr id="7" name="Text 3"/>
          <p:cNvSpPr/>
          <p:nvPr/>
        </p:nvSpPr>
        <p:spPr>
          <a:xfrm>
            <a:off x="6263640" y="4944847"/>
            <a:ext cx="5394960" cy="457200"/>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Exhibit 4.1 — Operating fleet and ERCOT interconnection queue over one footprint.</a:t>
            </a:r>
            <a:endParaRPr lang="en-US" sz="950" dirty="0"/>
          </a:p>
        </p:txBody>
      </p:sp>
      <p:sp>
        <p:nvSpPr>
          <p:cNvPr id="8" name="Text 4"/>
          <p:cNvSpPr/>
          <p:nvPr/>
        </p:nvSpPr>
        <p:spPr>
          <a:xfrm>
            <a:off x="548640" y="5989320"/>
            <a:ext cx="11064240" cy="457200"/>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Adjacent counties (Reeves, Crane, Ward, Upton, Ector, Crockett): 7.0 GW operating, 24.6 GW queued. Named-project detail in the full document.</a:t>
            </a:r>
            <a:endParaRPr lang="en-US" sz="950" dirty="0"/>
          </a:p>
        </p:txBody>
      </p:sp>
      <p:sp>
        <p:nvSpPr>
          <p:cNvPr id="9" name="Text 5"/>
          <p:cNvSpPr/>
          <p:nvPr/>
        </p:nvSpPr>
        <p:spPr>
          <a:xfrm>
            <a:off x="457200" y="6510528"/>
            <a:ext cx="7315200" cy="27432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CARAMBA NORTH — STRICTLY CONFIDENTIAL, POST-NDA</a:t>
            </a:r>
            <a:endParaRPr lang="en-US" sz="800" dirty="0"/>
          </a:p>
        </p:txBody>
      </p:sp>
      <p:sp>
        <p:nvSpPr>
          <p:cNvPr id="10" name="Text 6"/>
          <p:cNvSpPr/>
          <p:nvPr/>
        </p:nvSpPr>
        <p:spPr>
          <a:xfrm>
            <a:off x="11368735" y="6510528"/>
            <a:ext cx="36576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B91C1C"/>
                </a:solidFill>
                <a:latin typeface="Calibri" pitchFamily="34" charset="0"/>
                <a:ea typeface="Calibri" pitchFamily="34" charset="-122"/>
                <a:cs typeface="Calibri" pitchFamily="34" charset="-120"/>
              </a:rPr>
              <a:t>05 / 06 · WATER &amp; NATURAL GAS</a:t>
            </a:r>
            <a:endParaRPr lang="en-US" sz="1200" dirty="0"/>
          </a:p>
        </p:txBody>
      </p:sp>
      <p:sp>
        <p:nvSpPr>
          <p:cNvPr id="3" name="Text 1"/>
          <p:cNvSpPr/>
          <p:nvPr/>
        </p:nvSpPr>
        <p:spPr>
          <a:xfrm>
            <a:off x="548640" y="713232"/>
            <a:ext cx="11064240" cy="914400"/>
          </a:xfrm>
          <a:prstGeom prst="rect">
            <a:avLst/>
          </a:prstGeom>
          <a:noFill/>
          <a:ln/>
        </p:spPr>
        <p:txBody>
          <a:bodyPr wrap="square" rtlCol="0" anchor="t"/>
          <a:lstStyle/>
          <a:p>
            <a:pPr indent="0" marL="0">
              <a:buNone/>
            </a:pPr>
            <a:r>
              <a:rPr lang="en-US" sz="2600" b="1" dirty="0">
                <a:solidFill>
                  <a:srgbClr val="0F1B2D"/>
                </a:solidFill>
                <a:latin typeface="Cambria" pitchFamily="34" charset="0"/>
                <a:ea typeface="Cambria" pitchFamily="34" charset="-122"/>
                <a:cs typeface="Cambria" pitchFamily="34" charset="-120"/>
              </a:rPr>
              <a:t>Permitted water at scale, and a Waha-basis gas quote in hand</a:t>
            </a:r>
            <a:endParaRPr lang="en-US" sz="2600" dirty="0"/>
          </a:p>
        </p:txBody>
      </p:sp>
      <p:sp>
        <p:nvSpPr>
          <p:cNvPr id="4" name="Shape 2"/>
          <p:cNvSpPr/>
          <p:nvPr/>
        </p:nvSpPr>
        <p:spPr>
          <a:xfrm>
            <a:off x="548640" y="1783080"/>
            <a:ext cx="5394960" cy="4206240"/>
          </a:xfrm>
          <a:prstGeom prst="rect">
            <a:avLst/>
          </a:prstGeom>
          <a:solidFill>
            <a:srgbClr val="F1F5F9"/>
          </a:solidFill>
          <a:ln w="9525">
            <a:solidFill>
              <a:srgbClr val="E2E8F0"/>
            </a:solidFill>
            <a:prstDash val="solid"/>
          </a:ln>
        </p:spPr>
      </p:sp>
      <p:sp>
        <p:nvSpPr>
          <p:cNvPr id="5" name="Text 3"/>
          <p:cNvSpPr/>
          <p:nvPr/>
        </p:nvSpPr>
        <p:spPr>
          <a:xfrm>
            <a:off x="777240" y="1965960"/>
            <a:ext cx="4937760" cy="320040"/>
          </a:xfrm>
          <a:prstGeom prst="rect">
            <a:avLst/>
          </a:prstGeom>
          <a:noFill/>
          <a:ln/>
        </p:spPr>
        <p:txBody>
          <a:bodyPr wrap="square" rtlCol="0" anchor="ctr"/>
          <a:lstStyle/>
          <a:p>
            <a:pPr indent="0" marL="0">
              <a:buNone/>
            </a:pPr>
            <a:r>
              <a:rPr lang="en-US" sz="1200" b="1" spc="150" kern="0" dirty="0">
                <a:solidFill>
                  <a:srgbClr val="B91C1C"/>
                </a:solidFill>
                <a:latin typeface="Calibri" pitchFamily="34" charset="0"/>
                <a:ea typeface="Calibri" pitchFamily="34" charset="-122"/>
                <a:cs typeface="Calibri" pitchFamily="34" charset="-120"/>
              </a:rPr>
              <a:t>WATER</a:t>
            </a:r>
            <a:endParaRPr lang="en-US" sz="1200" dirty="0"/>
          </a:p>
        </p:txBody>
      </p:sp>
      <p:sp>
        <p:nvSpPr>
          <p:cNvPr id="6" name="Text 4"/>
          <p:cNvSpPr/>
          <p:nvPr/>
        </p:nvSpPr>
        <p:spPr>
          <a:xfrm>
            <a:off x="777240" y="2286000"/>
            <a:ext cx="4937760" cy="548640"/>
          </a:xfrm>
          <a:prstGeom prst="rect">
            <a:avLst/>
          </a:prstGeom>
          <a:noFill/>
          <a:ln/>
        </p:spPr>
        <p:txBody>
          <a:bodyPr wrap="square" rtlCol="0" anchor="ctr"/>
          <a:lstStyle/>
          <a:p>
            <a:pPr indent="0" marL="0">
              <a:buNone/>
            </a:pPr>
            <a:r>
              <a:rPr lang="en-US" sz="3000" b="1" dirty="0">
                <a:solidFill>
                  <a:srgbClr val="0F1B2D"/>
                </a:solidFill>
                <a:latin typeface="Calibri" pitchFamily="34" charset="0"/>
                <a:ea typeface="Calibri" pitchFamily="34" charset="-122"/>
                <a:cs typeface="Calibri" pitchFamily="34" charset="-120"/>
              </a:rPr>
              <a:t>47,418 AF/yr</a:t>
            </a:r>
            <a:endParaRPr lang="en-US" sz="3000" dirty="0"/>
          </a:p>
        </p:txBody>
      </p:sp>
      <p:sp>
        <p:nvSpPr>
          <p:cNvPr id="7" name="Text 5"/>
          <p:cNvSpPr/>
          <p:nvPr/>
        </p:nvSpPr>
        <p:spPr>
          <a:xfrm>
            <a:off x="777240" y="2880360"/>
            <a:ext cx="4937760" cy="1737360"/>
          </a:xfrm>
          <a:prstGeom prst="rect">
            <a:avLst/>
          </a:prstGeom>
          <a:noFill/>
          <a:ln/>
        </p:spPr>
        <p:txBody>
          <a:bodyPr wrap="square" rtlCol="0" anchor="ctr"/>
          <a:lstStyle/>
          <a:p>
            <a:pPr indent="0" marL="0">
              <a:buNone/>
            </a:pPr>
            <a:r>
              <a:rPr lang="en-US" sz="1150" dirty="0">
                <a:solidFill>
                  <a:srgbClr val="475569"/>
                </a:solidFill>
                <a:latin typeface="Calibri" pitchFamily="34" charset="0"/>
                <a:ea typeface="Calibri" pitchFamily="34" charset="-122"/>
                <a:cs typeface="Calibri" pitchFamily="34" charset="-120"/>
              </a:rPr>
              <a:t>(~42.3 MGD) permitted on adjacent affiliated lands — ≈ two-thirds of total Middle Pecos GCD rights. Source: Edwards-Trinity (Plateau) aquifer; recharge held through the 1950s drought of record.</a:t>
            </a:r>
            <a:endParaRPr lang="en-US" sz="1150" dirty="0"/>
          </a:p>
        </p:txBody>
      </p:sp>
      <p:sp>
        <p:nvSpPr>
          <p:cNvPr id="8" name="Text 6"/>
          <p:cNvSpPr/>
          <p:nvPr/>
        </p:nvSpPr>
        <p:spPr>
          <a:xfrm>
            <a:off x="777240" y="5394960"/>
            <a:ext cx="4937760" cy="45720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Groundwater district: Middle Pecos GCD  ·  Permitted use: industrial (cooling, hyperscale loads)</a:t>
            </a:r>
            <a:endParaRPr lang="en-US" sz="1000" dirty="0"/>
          </a:p>
        </p:txBody>
      </p:sp>
      <p:sp>
        <p:nvSpPr>
          <p:cNvPr id="9" name="Shape 7"/>
          <p:cNvSpPr/>
          <p:nvPr/>
        </p:nvSpPr>
        <p:spPr>
          <a:xfrm>
            <a:off x="6263640" y="1783080"/>
            <a:ext cx="5394960" cy="4206240"/>
          </a:xfrm>
          <a:prstGeom prst="rect">
            <a:avLst/>
          </a:prstGeom>
          <a:solidFill>
            <a:srgbClr val="F1F5F9"/>
          </a:solidFill>
          <a:ln w="9525">
            <a:solidFill>
              <a:srgbClr val="E2E8F0"/>
            </a:solidFill>
            <a:prstDash val="solid"/>
          </a:ln>
        </p:spPr>
      </p:sp>
      <p:sp>
        <p:nvSpPr>
          <p:cNvPr id="10" name="Text 8"/>
          <p:cNvSpPr/>
          <p:nvPr/>
        </p:nvSpPr>
        <p:spPr>
          <a:xfrm>
            <a:off x="6492240" y="1965960"/>
            <a:ext cx="4937760" cy="320040"/>
          </a:xfrm>
          <a:prstGeom prst="rect">
            <a:avLst/>
          </a:prstGeom>
          <a:noFill/>
          <a:ln/>
        </p:spPr>
        <p:txBody>
          <a:bodyPr wrap="square" rtlCol="0" anchor="ctr"/>
          <a:lstStyle/>
          <a:p>
            <a:pPr indent="0" marL="0">
              <a:buNone/>
            </a:pPr>
            <a:r>
              <a:rPr lang="en-US" sz="1200" b="1" spc="150" kern="0" dirty="0">
                <a:solidFill>
                  <a:srgbClr val="B91C1C"/>
                </a:solidFill>
                <a:latin typeface="Calibri" pitchFamily="34" charset="0"/>
                <a:ea typeface="Calibri" pitchFamily="34" charset="-122"/>
                <a:cs typeface="Calibri" pitchFamily="34" charset="-120"/>
              </a:rPr>
              <a:t>NATURAL GAS</a:t>
            </a:r>
            <a:endParaRPr lang="en-US" sz="1200" dirty="0"/>
          </a:p>
        </p:txBody>
      </p:sp>
      <p:sp>
        <p:nvSpPr>
          <p:cNvPr id="11" name="Text 9"/>
          <p:cNvSpPr/>
          <p:nvPr/>
        </p:nvSpPr>
        <p:spPr>
          <a:xfrm>
            <a:off x="6492240" y="2286000"/>
            <a:ext cx="4937760" cy="548640"/>
          </a:xfrm>
          <a:prstGeom prst="rect">
            <a:avLst/>
          </a:prstGeom>
          <a:noFill/>
          <a:ln/>
        </p:spPr>
        <p:txBody>
          <a:bodyPr wrap="square" rtlCol="0" anchor="ctr"/>
          <a:lstStyle/>
          <a:p>
            <a:pPr indent="0" marL="0">
              <a:buNone/>
            </a:pPr>
            <a:r>
              <a:rPr lang="en-US" sz="3000" b="1" dirty="0">
                <a:solidFill>
                  <a:srgbClr val="0F1B2D"/>
                </a:solidFill>
                <a:latin typeface="Calibri" pitchFamily="34" charset="0"/>
                <a:ea typeface="Calibri" pitchFamily="34" charset="-122"/>
                <a:cs typeface="Calibri" pitchFamily="34" charset="-120"/>
              </a:rPr>
              <a:t>20 mi to Waha</a:t>
            </a:r>
            <a:endParaRPr lang="en-US" sz="3000" dirty="0"/>
          </a:p>
        </p:txBody>
      </p:sp>
      <p:sp>
        <p:nvSpPr>
          <p:cNvPr id="12" name="Text 10"/>
          <p:cNvSpPr/>
          <p:nvPr/>
        </p:nvSpPr>
        <p:spPr>
          <a:xfrm>
            <a:off x="6492240" y="2880360"/>
            <a:ext cx="4937760" cy="1737360"/>
          </a:xfrm>
          <a:prstGeom prst="rect">
            <a:avLst/>
          </a:prstGeom>
          <a:noFill/>
          <a:ln/>
        </p:spPr>
        <p:txBody>
          <a:bodyPr wrap="square" rtlCol="0" anchor="ctr"/>
          <a:lstStyle/>
          <a:p>
            <a:pPr indent="0" marL="0">
              <a:buNone/>
            </a:pPr>
            <a:r>
              <a:rPr lang="en-US" sz="1150" dirty="0">
                <a:solidFill>
                  <a:srgbClr val="475569"/>
                </a:solidFill>
                <a:latin typeface="Calibri" pitchFamily="34" charset="0"/>
                <a:ea typeface="Calibri" pitchFamily="34" charset="-122"/>
                <a:cs typeface="Calibri" pitchFamily="34" charset="-120"/>
              </a:rPr>
              <a:t>Indicative supply quote: 200,000 MMBtu/day, 15-year term, Waha-index pricing. CIAC $15–25M; lead time 9–15 months (counterparty-supplied terms).</a:t>
            </a:r>
            <a:endParaRPr lang="en-US" sz="1150" dirty="0"/>
          </a:p>
        </p:txBody>
      </p:sp>
      <p:sp>
        <p:nvSpPr>
          <p:cNvPr id="13" name="Text 11"/>
          <p:cNvSpPr/>
          <p:nvPr/>
        </p:nvSpPr>
        <p:spPr>
          <a:xfrm>
            <a:off x="6492240" y="5394960"/>
            <a:ext cx="4937760" cy="45720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Basis: structural discount to Henry Hub; negative prints 2024–2025 as Matterhorn, Blackcomb, Hugh Brinson, GCX rebalance egress.</a:t>
            </a:r>
            <a:endParaRPr lang="en-US" sz="1000" dirty="0"/>
          </a:p>
        </p:txBody>
      </p:sp>
      <p:sp>
        <p:nvSpPr>
          <p:cNvPr id="14" name="Text 12"/>
          <p:cNvSpPr/>
          <p:nvPr/>
        </p:nvSpPr>
        <p:spPr>
          <a:xfrm>
            <a:off x="457200" y="6510528"/>
            <a:ext cx="7315200" cy="27432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CARAMBA NORTH — STRICTLY CONFIDENTIAL, POST-NDA</a:t>
            </a:r>
            <a:endParaRPr lang="en-US" sz="800" dirty="0"/>
          </a:p>
        </p:txBody>
      </p:sp>
      <p:sp>
        <p:nvSpPr>
          <p:cNvPr id="15" name="Text 13"/>
          <p:cNvSpPr/>
          <p:nvPr/>
        </p:nvSpPr>
        <p:spPr>
          <a:xfrm>
            <a:off x="11368735" y="6510528"/>
            <a:ext cx="36576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B91C1C"/>
                </a:solidFill>
                <a:latin typeface="Calibri" pitchFamily="34" charset="0"/>
                <a:ea typeface="Calibri" pitchFamily="34" charset="-122"/>
                <a:cs typeface="Calibri" pitchFamily="34" charset="-120"/>
              </a:rPr>
              <a:t>07 · REGIONAL DATA CENTER PIPELINE</a:t>
            </a:r>
            <a:endParaRPr lang="en-US" sz="1200" dirty="0"/>
          </a:p>
        </p:txBody>
      </p:sp>
      <p:sp>
        <p:nvSpPr>
          <p:cNvPr id="3" name="Text 1"/>
          <p:cNvSpPr/>
          <p:nvPr/>
        </p:nvSpPr>
        <p:spPr>
          <a:xfrm>
            <a:off x="548640" y="713232"/>
            <a:ext cx="11064240" cy="914400"/>
          </a:xfrm>
          <a:prstGeom prst="rect">
            <a:avLst/>
          </a:prstGeom>
          <a:noFill/>
          <a:ln/>
        </p:spPr>
        <p:txBody>
          <a:bodyPr wrap="square" rtlCol="0" anchor="t"/>
          <a:lstStyle/>
          <a:p>
            <a:pPr indent="0" marL="0">
              <a:buNone/>
            </a:pPr>
            <a:r>
              <a:rPr lang="en-US" sz="2600" b="1" dirty="0">
                <a:solidFill>
                  <a:srgbClr val="0F1B2D"/>
                </a:solidFill>
                <a:latin typeface="Cambria" pitchFamily="34" charset="0"/>
                <a:ea typeface="Cambria" pitchFamily="34" charset="-122"/>
                <a:cs typeface="Cambria" pitchFamily="34" charset="-120"/>
              </a:rPr>
              <a:t>9.7 GW of announced hyperscale capacity within 60 miles</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394960" cy="914400"/>
        </p:xfrm>
        <a:graphic>
          <a:graphicData uri="http://schemas.openxmlformats.org/drawingml/2006/table">
            <a:tbl>
              <a:tblPr/>
              <a:tblGrid>
                <a:gridCol w="1828800"/>
                <a:gridCol w="1920240"/>
                <a:gridCol w="822960"/>
                <a:gridCol w="822960"/>
              </a:tblGrid>
              <a:tr h="0">
                <a:tc>
                  <a:txBody>
                    <a:bodyPr/>
                    <a:lstStyle/>
                    <a:p>
                      <a:pPr algn="l" indent="0" marL="0">
                        <a:buNone/>
                      </a:pPr>
                      <a:r>
                        <a:rPr lang="en-US" sz="1000" b="1" dirty="0">
                          <a:solidFill>
                            <a:srgbClr val="475569"/>
                          </a:solidFill>
                          <a:latin typeface="Calibri" pitchFamily="34" charset="0"/>
                          <a:ea typeface="Calibri" pitchFamily="34" charset="-122"/>
                          <a:cs typeface="Calibri" pitchFamily="34" charset="-120"/>
                        </a:rPr>
                        <a:t>PROJECT</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000" b="1" dirty="0">
                          <a:solidFill>
                            <a:srgbClr val="475569"/>
                          </a:solidFill>
                          <a:latin typeface="Calibri" pitchFamily="34" charset="0"/>
                          <a:ea typeface="Calibri" pitchFamily="34" charset="-122"/>
                          <a:cs typeface="Calibri" pitchFamily="34" charset="-120"/>
                        </a:rPr>
                        <a:t>SPONSOR</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r" indent="0" marL="0">
                        <a:buNone/>
                      </a:pPr>
                      <a:r>
                        <a:rPr lang="en-US" sz="1000" b="1" dirty="0">
                          <a:solidFill>
                            <a:srgbClr val="475569"/>
                          </a:solidFill>
                          <a:latin typeface="Calibri" pitchFamily="34" charset="0"/>
                          <a:ea typeface="Calibri" pitchFamily="34" charset="-122"/>
                          <a:cs typeface="Calibri" pitchFamily="34" charset="-120"/>
                        </a:rPr>
                        <a:t>CAPACITY</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r" indent="0" marL="0">
                        <a:buNone/>
                      </a:pPr>
                      <a:r>
                        <a:rPr lang="en-US" sz="1000" b="1" dirty="0">
                          <a:solidFill>
                            <a:srgbClr val="475569"/>
                          </a:solidFill>
                          <a:latin typeface="Calibri" pitchFamily="34" charset="0"/>
                          <a:ea typeface="Calibri" pitchFamily="34" charset="-122"/>
                          <a:cs typeface="Calibri" pitchFamily="34" charset="-120"/>
                        </a:rPr>
                        <a:t>DISTANCE</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GW Ranch</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Pacifico Energy Group</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00" dirty="0">
                          <a:solidFill>
                            <a:srgbClr val="16202E"/>
                          </a:solidFill>
                          <a:latin typeface="Calibri" pitchFamily="34" charset="0"/>
                          <a:ea typeface="Calibri" pitchFamily="34" charset="-122"/>
                          <a:cs typeface="Calibri" pitchFamily="34" charset="-120"/>
                        </a:rPr>
                        <a:t>7.7 GW</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00" dirty="0">
                          <a:solidFill>
                            <a:srgbClr val="16202E"/>
                          </a:solidFill>
                          <a:latin typeface="Calibri" pitchFamily="34" charset="0"/>
                          <a:ea typeface="Calibri" pitchFamily="34" charset="-122"/>
                          <a:cs typeface="Calibri" pitchFamily="34" charset="-120"/>
                        </a:rPr>
                        <a:t>~17.3 mi</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Project Horizon</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00" dirty="0">
                          <a:solidFill>
                            <a:srgbClr val="16202E"/>
                          </a:solidFill>
                          <a:latin typeface="Calibri" pitchFamily="34" charset="0"/>
                          <a:ea typeface="Calibri" pitchFamily="34" charset="-122"/>
                          <a:cs typeface="Calibri" pitchFamily="34" charset="-120"/>
                        </a:rPr>
                        <a:t>Poolside</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00" dirty="0">
                          <a:solidFill>
                            <a:srgbClr val="16202E"/>
                          </a:solidFill>
                          <a:latin typeface="Calibri" pitchFamily="34" charset="0"/>
                          <a:ea typeface="Calibri" pitchFamily="34" charset="-122"/>
                          <a:cs typeface="Calibri" pitchFamily="34" charset="-120"/>
                        </a:rPr>
                        <a:t>2.0 GW</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00" dirty="0">
                          <a:solidFill>
                            <a:srgbClr val="16202E"/>
                          </a:solidFill>
                          <a:latin typeface="Calibri" pitchFamily="34" charset="0"/>
                          <a:ea typeface="Calibri" pitchFamily="34" charset="-122"/>
                          <a:cs typeface="Calibri" pitchFamily="34" charset="-120"/>
                        </a:rPr>
                        <a:t>~19.7 mi</a:t>
                      </a:r>
                      <a:endParaRPr lang="en-US" sz="10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a:off x="548640" y="3657600"/>
            <a:ext cx="5394960" cy="54864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Elsewhere in Texas (context, not catchment): 6 campuses, 15.9 GW — not included above.</a:t>
            </a:r>
            <a:endParaRPr lang="en-US" sz="1000" dirty="0"/>
          </a:p>
        </p:txBody>
      </p:sp>
      <p:pic>
        <p:nvPicPr>
          <p:cNvPr id="6" name="Image 0" descr="/home/claude/repo/outputs/reports/om_exhibits/exhibit_7_1_datacenter-pipeline.jpg">    </p:cNvPr>
          <p:cNvPicPr>
            <a:picLocks noChangeAspect="1"/>
          </p:cNvPicPr>
          <p:nvPr/>
        </p:nvPicPr>
        <p:blipFill>
          <a:blip r:embed="rId1"/>
          <a:stretch>
            <a:fillRect/>
          </a:stretch>
        </p:blipFill>
        <p:spPr>
          <a:xfrm>
            <a:off x="6263640" y="1783080"/>
            <a:ext cx="5394960" cy="3088615"/>
          </a:xfrm>
          <a:prstGeom prst="rect">
            <a:avLst/>
          </a:prstGeom>
        </p:spPr>
      </p:pic>
      <p:sp>
        <p:nvSpPr>
          <p:cNvPr id="7" name="Shape 3"/>
          <p:cNvSpPr/>
          <p:nvPr/>
        </p:nvSpPr>
        <p:spPr>
          <a:xfrm>
            <a:off x="6263640" y="1783080"/>
            <a:ext cx="5394960" cy="3088615"/>
          </a:xfrm>
          <a:prstGeom prst="rect">
            <a:avLst/>
          </a:prstGeom>
          <a:ln w="12700">
            <a:solidFill>
              <a:srgbClr val="E2E8F0"/>
            </a:solidFill>
            <a:prstDash val="solid"/>
          </a:ln>
        </p:spPr>
      </p:sp>
      <p:sp>
        <p:nvSpPr>
          <p:cNvPr id="8" name="Text 4"/>
          <p:cNvSpPr/>
          <p:nvPr/>
        </p:nvSpPr>
        <p:spPr>
          <a:xfrm>
            <a:off x="6263640" y="4944847"/>
            <a:ext cx="5394960" cy="457200"/>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Exhibit 7.1 — Announced data-center and large-load projects surrounding the site.</a:t>
            </a:r>
            <a:endParaRPr lang="en-US" sz="950" dirty="0"/>
          </a:p>
        </p:txBody>
      </p:sp>
      <p:sp>
        <p:nvSpPr>
          <p:cNvPr id="9" name="Text 5"/>
          <p:cNvSpPr/>
          <p:nvPr/>
        </p:nvSpPr>
        <p:spPr>
          <a:xfrm>
            <a:off x="457200" y="6510528"/>
            <a:ext cx="7315200" cy="27432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CARAMBA NORTH — STRICTLY CONFIDENTIAL, POST-NDA</a:t>
            </a:r>
            <a:endParaRPr lang="en-US" sz="800" dirty="0"/>
          </a:p>
        </p:txBody>
      </p:sp>
      <p:sp>
        <p:nvSpPr>
          <p:cNvPr id="10" name="Text 6"/>
          <p:cNvSpPr/>
          <p:nvPr/>
        </p:nvSpPr>
        <p:spPr>
          <a:xfrm>
            <a:off x="11368735" y="6510528"/>
            <a:ext cx="36576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B91C1C"/>
                </a:solidFill>
                <a:latin typeface="Calibri" pitchFamily="34" charset="0"/>
                <a:ea typeface="Calibri" pitchFamily="34" charset="-122"/>
                <a:cs typeface="Calibri" pitchFamily="34" charset="-120"/>
              </a:rPr>
              <a:t>08 · THE DILIGENCE PLATFORM</a:t>
            </a:r>
            <a:endParaRPr lang="en-US" sz="1200" dirty="0"/>
          </a:p>
        </p:txBody>
      </p:sp>
      <p:sp>
        <p:nvSpPr>
          <p:cNvPr id="3" name="Text 1"/>
          <p:cNvSpPr/>
          <p:nvPr/>
        </p:nvSpPr>
        <p:spPr>
          <a:xfrm>
            <a:off x="548640" y="713232"/>
            <a:ext cx="11064240" cy="914400"/>
          </a:xfrm>
          <a:prstGeom prst="rect">
            <a:avLst/>
          </a:prstGeom>
          <a:noFill/>
          <a:ln/>
        </p:spPr>
        <p:txBody>
          <a:bodyPr wrap="square" rtlCol="0" anchor="t"/>
          <a:lstStyle/>
          <a:p>
            <a:pPr indent="0" marL="0">
              <a:buNone/>
            </a:pPr>
            <a:r>
              <a:rPr lang="en-US" sz="2600" b="1" dirty="0">
                <a:solidFill>
                  <a:srgbClr val="0F1B2D"/>
                </a:solidFill>
                <a:latin typeface="Cambria" pitchFamily="34" charset="0"/>
                <a:ea typeface="Cambria" pitchFamily="34" charset="-122"/>
                <a:cs typeface="Cambria" pitchFamily="34" charset="-120"/>
              </a:rPr>
              <a:t>Every figure is independently verifiable, feature by feature</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3108960"/>
                <a:gridCol w="7955280"/>
              </a:tblGrid>
              <a:tr h="0">
                <a:tc>
                  <a:txBody>
                    <a:bodyPr/>
                    <a:lstStyle/>
                    <a:p>
                      <a:pPr algn="l" indent="0" marL="0">
                        <a:buNone/>
                      </a:pPr>
                      <a:r>
                        <a:rPr lang="en-US" sz="1200" b="1" dirty="0">
                          <a:solidFill>
                            <a:srgbClr val="475569"/>
                          </a:solidFill>
                          <a:latin typeface="Calibri" pitchFamily="34" charset="0"/>
                          <a:ea typeface="Calibri" pitchFamily="34" charset="-122"/>
                          <a:cs typeface="Calibri" pitchFamily="34" charset="-120"/>
                        </a:rPr>
                        <a:t>PLATFORM PROPERTY</a:t>
                      </a:r>
                      <a:endParaRPr lang="en-US" sz="12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00" b="1" dirty="0">
                          <a:solidFill>
                            <a:srgbClr val="475569"/>
                          </a:solidFill>
                          <a:latin typeface="Calibri" pitchFamily="34" charset="0"/>
                          <a:ea typeface="Calibri" pitchFamily="34" charset="-122"/>
                          <a:cs typeface="Calibri" pitchFamily="34" charset="-120"/>
                        </a:rPr>
                        <a:t>WHY IT MATTERS FOR DILIGENCE</a:t>
                      </a:r>
                      <a:endParaRPr lang="en-US" sz="12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algn="l" indent="0" marL="0">
                        <a:buNone/>
                      </a:pPr>
                      <a:r>
                        <a:rPr lang="en-US" sz="1200" dirty="0">
                          <a:solidFill>
                            <a:srgbClr val="16202E"/>
                          </a:solidFill>
                          <a:latin typeface="Calibri" pitchFamily="34" charset="0"/>
                          <a:ea typeface="Calibri" pitchFamily="34" charset="-122"/>
                          <a:cs typeface="Calibri" pitchFamily="34" charset="-120"/>
                        </a:rPr>
                        <a:t>Source-cited features</a:t>
                      </a:r>
                      <a:endParaRPr lang="en-US" sz="12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16202E"/>
                          </a:solidFill>
                          <a:latin typeface="Calibri" pitchFamily="34" charset="0"/>
                          <a:ea typeface="Calibri" pitchFamily="34" charset="-122"/>
                          <a:cs typeface="Calibri" pitchFamily="34" charset="-120"/>
                        </a:rPr>
                        <a:t>Every point/line/boundary traces to a cited public dataset; per-feature popups</a:t>
                      </a:r>
                      <a:endParaRPr lang="en-US" sz="12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200" dirty="0">
                          <a:solidFill>
                            <a:srgbClr val="16202E"/>
                          </a:solidFill>
                          <a:latin typeface="Calibri" pitchFamily="34" charset="0"/>
                          <a:ea typeface="Calibri" pitchFamily="34" charset="-122"/>
                          <a:cs typeface="Calibri" pitchFamily="34" charset="-120"/>
                        </a:rPr>
                        <a:t>Refresh discipline</a:t>
                      </a:r>
                      <a:endParaRPr lang="en-US" sz="12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16202E"/>
                          </a:solidFill>
                          <a:latin typeface="Calibri" pitchFamily="34" charset="0"/>
                          <a:ea typeface="Calibri" pitchFamily="34" charset="-122"/>
                          <a:cs typeface="Calibri" pitchFamily="34" charset="-120"/>
                        </a:rPr>
                        <a:t>RRC weekly; ERCOT queue/TPIT monthly; EIA/USGS/OSM annually</a:t>
                      </a:r>
                      <a:endParaRPr lang="en-US" sz="12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200" dirty="0">
                          <a:solidFill>
                            <a:srgbClr val="16202E"/>
                          </a:solidFill>
                          <a:latin typeface="Calibri" pitchFamily="34" charset="0"/>
                          <a:ea typeface="Calibri" pitchFamily="34" charset="-122"/>
                          <a:cs typeface="Calibri" pitchFamily="34" charset="-120"/>
                        </a:rPr>
                        <a:t>Analytical tooling</a:t>
                      </a:r>
                      <a:endParaRPr lang="en-US" sz="12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16202E"/>
                          </a:solidFill>
                          <a:latin typeface="Calibri" pitchFamily="34" charset="0"/>
                          <a:ea typeface="Calibri" pitchFamily="34" charset="-122"/>
                          <a:cs typeface="Calibri" pitchFamily="34" charset="-120"/>
                        </a:rPr>
                        <a:t>Filters by county/depth/spud year/fuel/status; time scrubber; measure/share/print</a:t>
                      </a:r>
                      <a:endParaRPr lang="en-US" sz="12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200" dirty="0">
                          <a:solidFill>
                            <a:srgbClr val="16202E"/>
                          </a:solidFill>
                          <a:latin typeface="Calibri" pitchFamily="34" charset="0"/>
                          <a:ea typeface="Calibri" pitchFamily="34" charset="-122"/>
                          <a:cs typeface="Calibri" pitchFamily="34" charset="-120"/>
                        </a:rPr>
                        <a:t>Reproducibility</a:t>
                      </a:r>
                      <a:endParaRPr lang="en-US" sz="12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16202E"/>
                          </a:solidFill>
                          <a:latin typeface="Calibri" pitchFamily="34" charset="0"/>
                          <a:ea typeface="Calibri" pitchFamily="34" charset="-122"/>
                          <a:cs typeface="Calibri" pitchFamily="34" charset="-120"/>
                        </a:rPr>
                        <a:t>Static, versioned build; deployed bundle byte-verified on release; access logged</a:t>
                      </a:r>
                      <a:endParaRPr lang="en-US" sz="120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a:off x="548640" y="4937760"/>
            <a:ext cx="11064240" cy="45720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lrp-tx-gis.netlify.app  ·  access credentials issued to the deal team separately (see Appendix)</a:t>
            </a:r>
            <a:endParaRPr lang="en-US" sz="1100" dirty="0"/>
          </a:p>
        </p:txBody>
      </p:sp>
      <p:sp>
        <p:nvSpPr>
          <p:cNvPr id="6" name="Text 3"/>
          <p:cNvSpPr/>
          <p:nvPr/>
        </p:nvSpPr>
        <p:spPr>
          <a:xfrm>
            <a:off x="457200" y="6510528"/>
            <a:ext cx="7315200" cy="27432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CARAMBA NORTH — STRICTLY CONFIDENTIAL, POST-NDA</a:t>
            </a:r>
            <a:endParaRPr lang="en-US" sz="800" dirty="0"/>
          </a:p>
        </p:txBody>
      </p:sp>
      <p:sp>
        <p:nvSpPr>
          <p:cNvPr id="7" name="Text 4"/>
          <p:cNvSpPr/>
          <p:nvPr/>
        </p:nvSpPr>
        <p:spPr>
          <a:xfrm>
            <a:off x="11368735" y="6510528"/>
            <a:ext cx="36576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B91C1C"/>
                </a:solidFill>
                <a:latin typeface="Calibri" pitchFamily="34" charset="0"/>
                <a:ea typeface="Calibri" pitchFamily="34" charset="-122"/>
                <a:cs typeface="Calibri" pitchFamily="34" charset="-120"/>
              </a:rPr>
              <a:t>09 · SUBSURFACE &amp; DRILLING ACTIVITY</a:t>
            </a:r>
            <a:endParaRPr lang="en-US" sz="1200" dirty="0"/>
          </a:p>
        </p:txBody>
      </p:sp>
      <p:sp>
        <p:nvSpPr>
          <p:cNvPr id="3" name="Text 1"/>
          <p:cNvSpPr/>
          <p:nvPr/>
        </p:nvSpPr>
        <p:spPr>
          <a:xfrm>
            <a:off x="548640" y="713232"/>
            <a:ext cx="11064240" cy="914400"/>
          </a:xfrm>
          <a:prstGeom prst="rect">
            <a:avLst/>
          </a:prstGeom>
          <a:noFill/>
          <a:ln/>
        </p:spPr>
        <p:txBody>
          <a:bodyPr wrap="square" rtlCol="0" anchor="t"/>
          <a:lstStyle/>
          <a:p>
            <a:pPr indent="0" marL="0">
              <a:buNone/>
            </a:pPr>
            <a:r>
              <a:rPr lang="en-US" sz="2600" b="1" dirty="0">
                <a:solidFill>
                  <a:srgbClr val="0F1B2D"/>
                </a:solidFill>
                <a:latin typeface="Cambria" pitchFamily="34" charset="0"/>
                <a:ea typeface="Cambria" pitchFamily="34" charset="-122"/>
                <a:cs typeface="Cambria" pitchFamily="34" charset="-120"/>
              </a:rPr>
              <a:t>No new drilling is occurring at or near the site</a:t>
            </a:r>
            <a:endParaRPr lang="en-US" sz="2600" dirty="0"/>
          </a:p>
        </p:txBody>
      </p:sp>
      <p:sp>
        <p:nvSpPr>
          <p:cNvPr id="4" name="Shape 2"/>
          <p:cNvSpPr/>
          <p:nvPr/>
        </p:nvSpPr>
        <p:spPr>
          <a:xfrm>
            <a:off x="548640" y="1783080"/>
            <a:ext cx="2583180" cy="1051560"/>
          </a:xfrm>
          <a:prstGeom prst="rect">
            <a:avLst/>
          </a:prstGeom>
          <a:solidFill>
            <a:srgbClr val="F1F5F9"/>
          </a:solidFill>
          <a:ln w="9525">
            <a:solidFill>
              <a:srgbClr val="E2E8F0"/>
            </a:solidFill>
            <a:prstDash val="solid"/>
          </a:ln>
        </p:spPr>
      </p:sp>
      <p:sp>
        <p:nvSpPr>
          <p:cNvPr id="5" name="Text 3"/>
          <p:cNvSpPr/>
          <p:nvPr/>
        </p:nvSpPr>
        <p:spPr>
          <a:xfrm>
            <a:off x="658368" y="1856232"/>
            <a:ext cx="2363724" cy="548640"/>
          </a:xfrm>
          <a:prstGeom prst="rect">
            <a:avLst/>
          </a:prstGeom>
          <a:noFill/>
          <a:ln/>
        </p:spPr>
        <p:txBody>
          <a:bodyPr wrap="square" rtlCol="0" anchor="b"/>
          <a:lstStyle/>
          <a:p>
            <a:pPr indent="0" marL="0">
              <a:buNone/>
            </a:pPr>
            <a:r>
              <a:rPr lang="en-US" sz="2200" b="1" dirty="0">
                <a:solidFill>
                  <a:srgbClr val="0F1B2D"/>
                </a:solidFill>
                <a:latin typeface="Calibri" pitchFamily="34" charset="0"/>
                <a:ea typeface="Calibri" pitchFamily="34" charset="-122"/>
                <a:cs typeface="Calibri" pitchFamily="34" charset="-120"/>
              </a:rPr>
              <a:t>0</a:t>
            </a:r>
            <a:endParaRPr lang="en-US" sz="2200" dirty="0"/>
          </a:p>
        </p:txBody>
      </p:sp>
      <p:sp>
        <p:nvSpPr>
          <p:cNvPr id="6" name="Text 4"/>
          <p:cNvSpPr/>
          <p:nvPr/>
        </p:nvSpPr>
        <p:spPr>
          <a:xfrm>
            <a:off x="658368" y="2450592"/>
            <a:ext cx="2363724" cy="329184"/>
          </a:xfrm>
          <a:prstGeom prst="rect">
            <a:avLst/>
          </a:prstGeom>
          <a:noFill/>
          <a:ln/>
        </p:spPr>
        <p:txBody>
          <a:bodyPr wrap="square" rtlCol="0" anchor="t"/>
          <a:lstStyle/>
          <a:p>
            <a:pPr indent="0" marL="0">
              <a:buNone/>
            </a:pPr>
            <a:r>
              <a:rPr lang="en-US" sz="850" spc="100" kern="0" dirty="0">
                <a:solidFill>
                  <a:srgbClr val="64748B"/>
                </a:solidFill>
                <a:latin typeface="Calibri" pitchFamily="34" charset="0"/>
                <a:ea typeface="Calibri" pitchFamily="34" charset="-122"/>
                <a:cs typeface="Calibri" pitchFamily="34" charset="-120"/>
              </a:rPr>
              <a:t>NEW-DRILL WELLS ≤ 2 MI SINCE 2020</a:t>
            </a:r>
            <a:endParaRPr lang="en-US" sz="850" dirty="0"/>
          </a:p>
        </p:txBody>
      </p:sp>
      <p:sp>
        <p:nvSpPr>
          <p:cNvPr id="7" name="Shape 5"/>
          <p:cNvSpPr/>
          <p:nvPr/>
        </p:nvSpPr>
        <p:spPr>
          <a:xfrm>
            <a:off x="3268980" y="1783080"/>
            <a:ext cx="2583180" cy="1051560"/>
          </a:xfrm>
          <a:prstGeom prst="rect">
            <a:avLst/>
          </a:prstGeom>
          <a:solidFill>
            <a:srgbClr val="F1F5F9"/>
          </a:solidFill>
          <a:ln w="9525">
            <a:solidFill>
              <a:srgbClr val="E2E8F0"/>
            </a:solidFill>
            <a:prstDash val="solid"/>
          </a:ln>
        </p:spPr>
      </p:sp>
      <p:sp>
        <p:nvSpPr>
          <p:cNvPr id="8" name="Text 6"/>
          <p:cNvSpPr/>
          <p:nvPr/>
        </p:nvSpPr>
        <p:spPr>
          <a:xfrm>
            <a:off x="3378708" y="1856232"/>
            <a:ext cx="2363724" cy="548640"/>
          </a:xfrm>
          <a:prstGeom prst="rect">
            <a:avLst/>
          </a:prstGeom>
          <a:noFill/>
          <a:ln/>
        </p:spPr>
        <p:txBody>
          <a:bodyPr wrap="square" rtlCol="0" anchor="b"/>
          <a:lstStyle/>
          <a:p>
            <a:pPr indent="0" marL="0">
              <a:buNone/>
            </a:pPr>
            <a:r>
              <a:rPr lang="en-US" sz="2200" b="1" dirty="0">
                <a:solidFill>
                  <a:srgbClr val="0F1B2D"/>
                </a:solidFill>
                <a:latin typeface="Calibri" pitchFamily="34" charset="0"/>
                <a:ea typeface="Calibri" pitchFamily="34" charset="-122"/>
                <a:cs typeface="Calibri" pitchFamily="34" charset="-120"/>
              </a:rPr>
              <a:t>0</a:t>
            </a:r>
            <a:endParaRPr lang="en-US" sz="2200" dirty="0"/>
          </a:p>
        </p:txBody>
      </p:sp>
      <p:sp>
        <p:nvSpPr>
          <p:cNvPr id="9" name="Text 7"/>
          <p:cNvSpPr/>
          <p:nvPr/>
        </p:nvSpPr>
        <p:spPr>
          <a:xfrm>
            <a:off x="3378708" y="2450592"/>
            <a:ext cx="2363724" cy="329184"/>
          </a:xfrm>
          <a:prstGeom prst="rect">
            <a:avLst/>
          </a:prstGeom>
          <a:noFill/>
          <a:ln/>
        </p:spPr>
        <p:txBody>
          <a:bodyPr wrap="square" rtlCol="0" anchor="t"/>
          <a:lstStyle/>
          <a:p>
            <a:pPr indent="0" marL="0">
              <a:buNone/>
            </a:pPr>
            <a:r>
              <a:rPr lang="en-US" sz="850" spc="100" kern="0" dirty="0">
                <a:solidFill>
                  <a:srgbClr val="64748B"/>
                </a:solidFill>
                <a:latin typeface="Calibri" pitchFamily="34" charset="0"/>
                <a:ea typeface="Calibri" pitchFamily="34" charset="-122"/>
                <a:cs typeface="Calibri" pitchFamily="34" charset="-120"/>
              </a:rPr>
              <a:t>NEW-DRILL WELLS ≤ 5 MI SINCE 2020</a:t>
            </a:r>
            <a:endParaRPr lang="en-US" sz="850" dirty="0"/>
          </a:p>
        </p:txBody>
      </p:sp>
      <p:sp>
        <p:nvSpPr>
          <p:cNvPr id="10" name="Shape 8"/>
          <p:cNvSpPr/>
          <p:nvPr/>
        </p:nvSpPr>
        <p:spPr>
          <a:xfrm>
            <a:off x="5989320" y="1783080"/>
            <a:ext cx="2583180" cy="1051560"/>
          </a:xfrm>
          <a:prstGeom prst="rect">
            <a:avLst/>
          </a:prstGeom>
          <a:solidFill>
            <a:srgbClr val="F1F5F9"/>
          </a:solidFill>
          <a:ln w="9525">
            <a:solidFill>
              <a:srgbClr val="E2E8F0"/>
            </a:solidFill>
            <a:prstDash val="solid"/>
          </a:ln>
        </p:spPr>
      </p:sp>
      <p:sp>
        <p:nvSpPr>
          <p:cNvPr id="11" name="Text 9"/>
          <p:cNvSpPr/>
          <p:nvPr/>
        </p:nvSpPr>
        <p:spPr>
          <a:xfrm>
            <a:off x="6099048" y="1856232"/>
            <a:ext cx="2363724" cy="548640"/>
          </a:xfrm>
          <a:prstGeom prst="rect">
            <a:avLst/>
          </a:prstGeom>
          <a:noFill/>
          <a:ln/>
        </p:spPr>
        <p:txBody>
          <a:bodyPr wrap="square" rtlCol="0" anchor="b"/>
          <a:lstStyle/>
          <a:p>
            <a:pPr indent="0" marL="0">
              <a:buNone/>
            </a:pPr>
            <a:r>
              <a:rPr lang="en-US" sz="2200" b="1" dirty="0">
                <a:solidFill>
                  <a:srgbClr val="0F1B2D"/>
                </a:solidFill>
                <a:latin typeface="Calibri" pitchFamily="34" charset="0"/>
                <a:ea typeface="Calibri" pitchFamily="34" charset="-122"/>
                <a:cs typeface="Calibri" pitchFamily="34" charset="-120"/>
              </a:rPr>
              <a:t>1</a:t>
            </a:r>
            <a:endParaRPr lang="en-US" sz="2200" dirty="0"/>
          </a:p>
        </p:txBody>
      </p:sp>
      <p:sp>
        <p:nvSpPr>
          <p:cNvPr id="12" name="Text 10"/>
          <p:cNvSpPr/>
          <p:nvPr/>
        </p:nvSpPr>
        <p:spPr>
          <a:xfrm>
            <a:off x="6099048" y="2450592"/>
            <a:ext cx="2363724" cy="329184"/>
          </a:xfrm>
          <a:prstGeom prst="rect">
            <a:avLst/>
          </a:prstGeom>
          <a:noFill/>
          <a:ln/>
        </p:spPr>
        <p:txBody>
          <a:bodyPr wrap="square" rtlCol="0" anchor="t"/>
          <a:lstStyle/>
          <a:p>
            <a:pPr indent="0" marL="0">
              <a:buNone/>
            </a:pPr>
            <a:r>
              <a:rPr lang="en-US" sz="850" spc="100" kern="0" dirty="0">
                <a:solidFill>
                  <a:srgbClr val="64748B"/>
                </a:solidFill>
                <a:latin typeface="Calibri" pitchFamily="34" charset="0"/>
                <a:ea typeface="Calibri" pitchFamily="34" charset="-122"/>
                <a:cs typeface="Calibri" pitchFamily="34" charset="-120"/>
              </a:rPr>
              <a:t>NEW-DRILL WELLS ≤ 10 MI SINCE 2020</a:t>
            </a:r>
            <a:endParaRPr lang="en-US" sz="850" dirty="0"/>
          </a:p>
        </p:txBody>
      </p:sp>
      <p:sp>
        <p:nvSpPr>
          <p:cNvPr id="13" name="Shape 11"/>
          <p:cNvSpPr/>
          <p:nvPr/>
        </p:nvSpPr>
        <p:spPr>
          <a:xfrm>
            <a:off x="8709660" y="1783080"/>
            <a:ext cx="2583180" cy="1051560"/>
          </a:xfrm>
          <a:prstGeom prst="rect">
            <a:avLst/>
          </a:prstGeom>
          <a:solidFill>
            <a:srgbClr val="F1F5F9"/>
          </a:solidFill>
          <a:ln w="9525">
            <a:solidFill>
              <a:srgbClr val="E2E8F0"/>
            </a:solidFill>
            <a:prstDash val="solid"/>
          </a:ln>
        </p:spPr>
      </p:sp>
      <p:sp>
        <p:nvSpPr>
          <p:cNvPr id="14" name="Text 12"/>
          <p:cNvSpPr/>
          <p:nvPr/>
        </p:nvSpPr>
        <p:spPr>
          <a:xfrm>
            <a:off x="8819388" y="1856232"/>
            <a:ext cx="2363724" cy="548640"/>
          </a:xfrm>
          <a:prstGeom prst="rect">
            <a:avLst/>
          </a:prstGeom>
          <a:noFill/>
          <a:ln/>
        </p:spPr>
        <p:txBody>
          <a:bodyPr wrap="square" rtlCol="0" anchor="b"/>
          <a:lstStyle/>
          <a:p>
            <a:pPr indent="0" marL="0">
              <a:buNone/>
            </a:pPr>
            <a:r>
              <a:rPr lang="en-US" sz="2200" b="1" dirty="0">
                <a:solidFill>
                  <a:srgbClr val="0F1B2D"/>
                </a:solidFill>
                <a:latin typeface="Calibri" pitchFamily="34" charset="0"/>
                <a:ea typeface="Calibri" pitchFamily="34" charset="-122"/>
                <a:cs typeface="Calibri" pitchFamily="34" charset="-120"/>
              </a:rPr>
              <a:t>0</a:t>
            </a:r>
            <a:endParaRPr lang="en-US" sz="2200" dirty="0"/>
          </a:p>
        </p:txBody>
      </p:sp>
      <p:sp>
        <p:nvSpPr>
          <p:cNvPr id="15" name="Text 13"/>
          <p:cNvSpPr/>
          <p:nvPr/>
        </p:nvSpPr>
        <p:spPr>
          <a:xfrm>
            <a:off x="8819388" y="2450592"/>
            <a:ext cx="2363724" cy="329184"/>
          </a:xfrm>
          <a:prstGeom prst="rect">
            <a:avLst/>
          </a:prstGeom>
          <a:noFill/>
          <a:ln/>
        </p:spPr>
        <p:txBody>
          <a:bodyPr wrap="square" rtlCol="0" anchor="t"/>
          <a:lstStyle/>
          <a:p>
            <a:pPr indent="0" marL="0">
              <a:buNone/>
            </a:pPr>
            <a:r>
              <a:rPr lang="en-US" sz="850" spc="100" kern="0" dirty="0">
                <a:solidFill>
                  <a:srgbClr val="64748B"/>
                </a:solidFill>
                <a:latin typeface="Calibri" pitchFamily="34" charset="0"/>
                <a:ea typeface="Calibri" pitchFamily="34" charset="-122"/>
                <a:cs typeface="Calibri" pitchFamily="34" charset="-120"/>
              </a:rPr>
              <a:t>NEW-DRILL FRACKS ≤ 2 MI, EVER</a:t>
            </a:r>
            <a:endParaRPr lang="en-US" sz="850" dirty="0"/>
          </a:p>
        </p:txBody>
      </p:sp>
      <p:graphicFrame>
        <p:nvGraphicFramePr>
          <p:cNvPr id="16" name="Chart 0" descr=""/>
          <p:cNvGraphicFramePr/>
          <p:nvPr/>
        </p:nvGraphicFramePr>
        <p:xfrm>
          <a:off x="548640" y="3063240"/>
          <a:ext cx="6675120" cy="320040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7452360" y="3063240"/>
            <a:ext cx="4206240" cy="3200400"/>
          </a:xfrm>
          <a:prstGeom prst="rect">
            <a:avLst/>
          </a:prstGeom>
          <a:solidFill>
            <a:srgbClr val="FEF7F7"/>
          </a:solidFill>
          <a:ln w="15875">
            <a:solidFill>
              <a:srgbClr val="B91C1C"/>
            </a:solidFill>
            <a:prstDash val="solid"/>
          </a:ln>
        </p:spPr>
      </p:sp>
      <p:sp>
        <p:nvSpPr>
          <p:cNvPr id="18" name="Text 15"/>
          <p:cNvSpPr/>
          <p:nvPr/>
        </p:nvSpPr>
        <p:spPr>
          <a:xfrm>
            <a:off x="7680960" y="3246120"/>
            <a:ext cx="3749040" cy="274320"/>
          </a:xfrm>
          <a:prstGeom prst="rect">
            <a:avLst/>
          </a:prstGeom>
          <a:noFill/>
          <a:ln/>
        </p:spPr>
        <p:txBody>
          <a:bodyPr wrap="square" rtlCol="0" anchor="ctr"/>
          <a:lstStyle/>
          <a:p>
            <a:pPr indent="0" marL="0">
              <a:buNone/>
            </a:pPr>
            <a:r>
              <a:rPr lang="en-US" sz="1000" b="1" spc="150" kern="0" dirty="0">
                <a:solidFill>
                  <a:srgbClr val="B91C1C"/>
                </a:solidFill>
                <a:latin typeface="Calibri" pitchFamily="34" charset="0"/>
                <a:ea typeface="Calibri" pitchFamily="34" charset="-122"/>
                <a:cs typeface="Calibri" pitchFamily="34" charset="-120"/>
              </a:rPr>
              <a:t>BOTTOM LINE</a:t>
            </a:r>
            <a:endParaRPr lang="en-US" sz="1000" dirty="0"/>
          </a:p>
        </p:txBody>
      </p:sp>
      <p:sp>
        <p:nvSpPr>
          <p:cNvPr id="19" name="Text 16"/>
          <p:cNvSpPr/>
          <p:nvPr/>
        </p:nvSpPr>
        <p:spPr>
          <a:xfrm>
            <a:off x="7680960" y="3566160"/>
            <a:ext cx="3749040" cy="1554480"/>
          </a:xfrm>
          <a:prstGeom prst="rect">
            <a:avLst/>
          </a:prstGeom>
          <a:noFill/>
          <a:ln/>
        </p:spPr>
        <p:txBody>
          <a:bodyPr wrap="square"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Shallow drilling, hydraulic fracturing, or new drilling of any kind — three independent public records point the same way: it is not happening at or near this site.</a:t>
            </a:r>
            <a:endParaRPr lang="en-US" sz="1300" dirty="0"/>
          </a:p>
        </p:txBody>
      </p:sp>
      <p:sp>
        <p:nvSpPr>
          <p:cNvPr id="20" name="Text 17"/>
          <p:cNvSpPr/>
          <p:nvPr/>
        </p:nvSpPr>
        <p:spPr>
          <a:xfrm>
            <a:off x="7680960" y="5120640"/>
            <a:ext cx="3749040" cy="100584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Pecos: 115 new wells since 2020 vs. peer average 1,181. 83% of non-plugged wellbores ≤10 mi are marginal/end-of-life.</a:t>
            </a:r>
            <a:endParaRPr lang="en-US" sz="1000" dirty="0"/>
          </a:p>
        </p:txBody>
      </p:sp>
      <p:sp>
        <p:nvSpPr>
          <p:cNvPr id="21" name="Text 18"/>
          <p:cNvSpPr/>
          <p:nvPr/>
        </p:nvSpPr>
        <p:spPr>
          <a:xfrm>
            <a:off x="457200" y="6510528"/>
            <a:ext cx="7315200" cy="27432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CARAMBA NORTH — STRICTLY CONFIDENTIAL, POST-NDA</a:t>
            </a:r>
            <a:endParaRPr lang="en-US" sz="800" dirty="0"/>
          </a:p>
        </p:txBody>
      </p:sp>
      <p:sp>
        <p:nvSpPr>
          <p:cNvPr id="22" name="Text 19"/>
          <p:cNvSpPr/>
          <p:nvPr/>
        </p:nvSpPr>
        <p:spPr>
          <a:xfrm>
            <a:off x="11368735" y="6510528"/>
            <a:ext cx="36576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B91C1C"/>
                </a:solidFill>
                <a:latin typeface="Calibri" pitchFamily="34" charset="0"/>
                <a:ea typeface="Calibri" pitchFamily="34" charset="-122"/>
                <a:cs typeface="Calibri" pitchFamily="34" charset="-120"/>
              </a:rPr>
              <a:t>APPENDIX</a:t>
            </a:r>
            <a:endParaRPr lang="en-US" sz="1200" dirty="0"/>
          </a:p>
        </p:txBody>
      </p:sp>
      <p:sp>
        <p:nvSpPr>
          <p:cNvPr id="3" name="Text 1"/>
          <p:cNvSpPr/>
          <p:nvPr/>
        </p:nvSpPr>
        <p:spPr>
          <a:xfrm>
            <a:off x="548640" y="713232"/>
            <a:ext cx="11064240" cy="914400"/>
          </a:xfrm>
          <a:prstGeom prst="rect">
            <a:avLst/>
          </a:prstGeom>
          <a:noFill/>
          <a:ln/>
        </p:spPr>
        <p:txBody>
          <a:bodyPr wrap="square" rtlCol="0" anchor="t"/>
          <a:lstStyle/>
          <a:p>
            <a:pPr indent="0" marL="0">
              <a:buNone/>
            </a:pPr>
            <a:r>
              <a:rPr lang="en-US" sz="2600" b="1" dirty="0">
                <a:solidFill>
                  <a:srgbClr val="0F1B2D"/>
                </a:solidFill>
                <a:latin typeface="Cambria" pitchFamily="34" charset="0"/>
                <a:ea typeface="Cambria" pitchFamily="34" charset="-122"/>
                <a:cs typeface="Cambria" pitchFamily="34" charset="-120"/>
              </a:rPr>
              <a:t>GIS platform access &amp; source register</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194560"/>
                <a:gridCol w="8869680"/>
              </a:tblGrid>
              <a:tr h="0">
                <a:tc>
                  <a:txBody>
                    <a:bodyPr/>
                    <a:lstStyle/>
                    <a:p>
                      <a:pPr algn="l" indent="0" marL="0">
                        <a:buNone/>
                      </a:pPr>
                      <a:r>
                        <a:rPr lang="en-US" sz="1150" b="1" dirty="0">
                          <a:solidFill>
                            <a:srgbClr val="475569"/>
                          </a:solidFill>
                          <a:latin typeface="Calibri" pitchFamily="34" charset="0"/>
                          <a:ea typeface="Calibri" pitchFamily="34" charset="-122"/>
                          <a:cs typeface="Calibri" pitchFamily="34" charset="-120"/>
                        </a:rPr>
                        <a:t>ELEMENT</a:t>
                      </a:r>
                      <a:endParaRPr lang="en-US" sz="11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150" b="1" dirty="0">
                          <a:solidFill>
                            <a:srgbClr val="475569"/>
                          </a:solidFill>
                          <a:latin typeface="Calibri" pitchFamily="34" charset="0"/>
                          <a:ea typeface="Calibri" pitchFamily="34" charset="-122"/>
                          <a:cs typeface="Calibri" pitchFamily="34" charset="-120"/>
                        </a:rPr>
                        <a:t>DETAIL</a:t>
                      </a:r>
                      <a:endParaRPr lang="en-US" sz="11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URL</a:t>
                      </a:r>
                      <a:endParaRPr lang="en-US" sz="11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https://lrp-tx-gis.netlify.app</a:t>
                      </a:r>
                      <a:endParaRPr lang="en-US" sz="11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Login</a:t>
                      </a:r>
                      <a:endParaRPr lang="en-US" sz="11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Business email + access password (issued to deal team separately)</a:t>
                      </a:r>
                      <a:endParaRPr lang="en-US" sz="11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Primary sources</a:t>
                      </a:r>
                      <a:endParaRPr lang="en-US" sz="11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ERCOT (GIS Report, TPIT), PUCT, EIA-860, TCEQ, RRC (dbf900, production, W-1), FracFocus, Middle Pecos GCD, HIFLD, USGS, BTS, U.S. Census TIGER</a:t>
                      </a:r>
                      <a:endParaRPr lang="en-US" sz="11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Refresh cadence</a:t>
                      </a:r>
                      <a:endParaRPr lang="en-US" sz="11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RRC weekly; ERCOT queue/TPIT monthly; EIA/USGS/OSM annually</a:t>
                      </a:r>
                      <a:endParaRPr lang="en-US" sz="1150" dirty="0">
                        <a:latin typeface="Calibri" charset="0"/>
                        <a:ea typeface="Calibri" charset="0"/>
                        <a:cs typeface="Calibri" charset="0"/>
                      </a:endParaRPr>
                    </a:p>
                  </a:txBody>
                  <a:tcPr marL="73152" marR="73152" marT="36576" marB="36576"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a:off x="548640" y="5120640"/>
            <a:ext cx="11064240" cy="457200"/>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Full footnotes (13), source register, and exhibit-provenance table are in Appendix A.1–A.2 of the companion PDF and Word document.</a:t>
            </a:r>
            <a:endParaRPr lang="en-US" sz="1050" dirty="0"/>
          </a:p>
        </p:txBody>
      </p:sp>
      <p:sp>
        <p:nvSpPr>
          <p:cNvPr id="6" name="Text 3"/>
          <p:cNvSpPr/>
          <p:nvPr/>
        </p:nvSpPr>
        <p:spPr>
          <a:xfrm>
            <a:off x="457200" y="6510528"/>
            <a:ext cx="7315200" cy="27432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CARAMBA NORTH — STRICTLY CONFIDENTIAL, POST-NDA</a:t>
            </a:r>
            <a:endParaRPr lang="en-US" sz="800" dirty="0"/>
          </a:p>
        </p:txBody>
      </p:sp>
      <p:sp>
        <p:nvSpPr>
          <p:cNvPr id="7" name="Text 4"/>
          <p:cNvSpPr/>
          <p:nvPr/>
        </p:nvSpPr>
        <p:spPr>
          <a:xfrm>
            <a:off x="11368735" y="6510528"/>
            <a:ext cx="36576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B91C1C"/>
                </a:solidFill>
                <a:latin typeface="Calibri" pitchFamily="34" charset="0"/>
                <a:ea typeface="Calibri" pitchFamily="34" charset="-122"/>
                <a:cs typeface="Calibri" pitchFamily="34" charset="-120"/>
              </a:rPr>
              <a:t>IMPORTANT NOTICES</a:t>
            </a:r>
            <a:endParaRPr lang="en-US" sz="1200" dirty="0"/>
          </a:p>
        </p:txBody>
      </p:sp>
      <p:sp>
        <p:nvSpPr>
          <p:cNvPr id="3" name="Text 1"/>
          <p:cNvSpPr/>
          <p:nvPr/>
        </p:nvSpPr>
        <p:spPr>
          <a:xfrm>
            <a:off x="548640" y="1005840"/>
            <a:ext cx="11064240" cy="5120640"/>
          </a:xfrm>
          <a:prstGeom prst="rect">
            <a:avLst/>
          </a:prstGeom>
          <a:noFill/>
          <a:ln/>
        </p:spPr>
        <p:txBody>
          <a:bodyPr wrap="square" rtlCol="0" anchor="t"/>
          <a:lstStyle/>
          <a:p>
            <a:pPr indent="0" marL="0">
              <a:spcAft>
                <a:spcPts val="1000"/>
              </a:spcAft>
              <a:buNone/>
            </a:pPr>
            <a:r>
              <a:rPr lang="en-US" sz="1200" dirty="0">
                <a:solidFill>
                  <a:srgbClr val="24354C"/>
                </a:solidFill>
                <a:latin typeface="Calibri" pitchFamily="34" charset="0"/>
                <a:ea typeface="Calibri" pitchFamily="34" charset="-122"/>
                <a:cs typeface="Calibri" pitchFamily="34" charset="-120"/>
              </a:rPr>
              <a:t>This Confidential Offering Memorandum has been prepared solely for the use of a limited number of prospective counterparties, under executed non-disclosure agreement, in connection with the potential acquisition of, or investment in, the Caramba North property. It contains proprietary data of Harvest Energy, LLC and is delivered on a strictly confidential basis; it may not be reproduced or distributed without consent.</a:t>
            </a:r>
            <a:endParaRPr lang="en-US" sz="1200" dirty="0"/>
          </a:p>
          <a:p>
            <a:pPr indent="0" marL="0">
              <a:spcAft>
                <a:spcPts val="1000"/>
              </a:spcAft>
              <a:buNone/>
            </a:pPr>
            <a:endParaRPr lang="en-US" sz="1200" dirty="0"/>
          </a:p>
          <a:p>
            <a:pPr indent="0" marL="0">
              <a:spcAft>
                <a:spcPts val="1000"/>
              </a:spcAft>
              <a:buNone/>
            </a:pPr>
            <a:r>
              <a:rPr lang="en-US" sz="1200" dirty="0">
                <a:solidFill>
                  <a:srgbClr val="24354C"/>
                </a:solidFill>
                <a:latin typeface="Calibri" pitchFamily="34" charset="0"/>
                <a:ea typeface="Calibri" pitchFamily="34" charset="-122"/>
                <a:cs typeface="Calibri" pitchFamily="34" charset="-120"/>
              </a:rPr>
              <a:t>This document does not constitute an offer to sell or a solicitation of an offer to buy any security or interest. Information is preliminary and indicative, compiled from sources believed reliable, and subject to revision without notice. No representation or warranty, express or implied, is made as to accuracy or completeness.</a:t>
            </a:r>
            <a:endParaRPr lang="en-US" sz="1200" dirty="0"/>
          </a:p>
          <a:p>
            <a:pPr indent="0" marL="0">
              <a:spcAft>
                <a:spcPts val="1000"/>
              </a:spcAft>
              <a:buNone/>
            </a:pPr>
            <a:endParaRPr lang="en-US" sz="1200" dirty="0"/>
          </a:p>
          <a:p>
            <a:pPr indent="0" marL="0">
              <a:spcAft>
                <a:spcPts val="1000"/>
              </a:spcAft>
              <a:buNone/>
            </a:pPr>
            <a:r>
              <a:rPr lang="en-US" sz="1200" dirty="0">
                <a:solidFill>
                  <a:srgbClr val="24354C"/>
                </a:solidFill>
                <a:latin typeface="Calibri" pitchFamily="34" charset="0"/>
                <a:ea typeface="Calibri" pitchFamily="34" charset="-122"/>
                <a:cs typeface="Calibri" pitchFamily="34" charset="-120"/>
              </a:rPr>
              <a:t>Public data is drawn from ERCOT, PUCT, EIA, TCEQ, RRC, FracFocus, Middle Pecos GCD, HIFLD, USGS, BTS, and U.S. Census TIGER, supplemented by project-level GIS analysis and counterparty-supplied indicative terms. Recipients should conduct their own independent investigation, including consultation with their own legal, tax, accounting, and engineering advisors.</a:t>
            </a:r>
            <a:endParaRPr lang="en-US" sz="1200" dirty="0"/>
          </a:p>
        </p:txBody>
      </p:sp>
      <p:sp>
        <p:nvSpPr>
          <p:cNvPr id="4" name="Text 2"/>
          <p:cNvSpPr/>
          <p:nvPr/>
        </p:nvSpPr>
        <p:spPr>
          <a:xfrm>
            <a:off x="457200" y="6510528"/>
            <a:ext cx="7315200" cy="27432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CARAMBA NORTH — STRICTLY CONFIDENTIAL, POST-NDA</a:t>
            </a:r>
            <a:endParaRPr lang="en-US" sz="800" dirty="0"/>
          </a:p>
        </p:txBody>
      </p:sp>
      <p:sp>
        <p:nvSpPr>
          <p:cNvPr id="5" name="Text 3"/>
          <p:cNvSpPr/>
          <p:nvPr/>
        </p:nvSpPr>
        <p:spPr>
          <a:xfrm>
            <a:off x="11368735" y="6510528"/>
            <a:ext cx="36576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Caramba North — Confidential Offering Memorandum (Post-NDA)</dc:title>
  <dc:subject>PptxGenJS Presentation</dc:subject>
  <dc:creator>Land Resource Partners</dc:creator>
  <cp:lastModifiedBy>Land Resource Partners</cp:lastModifiedBy>
  <cp:revision>1</cp:revision>
  <dcterms:created xsi:type="dcterms:W3CDTF">2026-08-20T12:51:07Z</dcterms:created>
  <dcterms:modified xsi:type="dcterms:W3CDTF">2026-08-20T12:51:07Z</dcterms:modified>
</cp:coreProperties>
</file>
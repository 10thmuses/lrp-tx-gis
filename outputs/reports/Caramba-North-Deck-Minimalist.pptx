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OFFERING MEMORANDUM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607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CARAMBA NORTH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2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1,300-acre parcel inside an already-forming power and data-center corridor — two hyperscale-scale projects sit on the same north-south line through the property, backed by transmission, water, and gas positions that are already permitted, not proposed.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5349240"/>
            <a:ext cx="10515600" cy="0"/>
          </a:xfrm>
          <a:prstGeom prst="line">
            <a:avLst/>
          </a:prstGeom>
          <a:noFill/>
          <a:ln w="12700">
            <a:solidFill>
              <a:srgbClr val="1F2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532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PECOS COUNTY, TEXAS  ·  FAR WEST ERCOT  ·  I-10 CORRIDOR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11135" y="5532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2026-08-24  ·  Executive read — five minutes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pPr indent="0" marL="0">
              <a:buNone/>
            </a:pPr>
            <a:r>
              <a:rPr lang="en-US" sz="1250" spc="2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THE REGIONAL SIGNAL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1078992"/>
            <a:ext cx="5120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32.7 GW sits within 60 miles.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Caramba North is inside that radius, not adjacent to it — and the two feature anchors on the following pages sit on the same north-south line through the property.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22960" y="5074920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Aug 2026 ERCOT's statewide interconnection backlog reached ≈474 GW (≈90% data-center-driven) — large enough to trigger a gubernatorial audit and a pause of large-load queue review (public reporting, Aug 2026).</a:t>
            </a:r>
            <a:endParaRPr lang="en-US" sz="1050" dirty="0"/>
          </a:p>
        </p:txBody>
      </p:sp>
      <p:pic>
        <p:nvPicPr>
          <p:cNvPr id="6" name="Image 0" descr="/home/claude/repo/outputs/reports/om_exhibits/exhibit_power_gravity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2375" y="960120"/>
            <a:ext cx="5166360" cy="5166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CARAMBA NORTH — CONFIDENTIAL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00297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A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pPr indent="0" marL="0">
              <a:buNone/>
            </a:pPr>
            <a:r>
              <a:rPr lang="en-US" sz="1250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THE PROPERTY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1078992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As-of-right industrial land, not a rezoning story.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1,300 contiguous acres on I-10, five miles from Fort Stockton, in ERCOT's fastest-growing large-load pocket — with no zoning ordinance standing between this site and use.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4434840"/>
            <a:ext cx="204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1,300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204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CONTIGUOUS ACRES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322320" y="4434840"/>
            <a:ext cx="204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322320" y="5212080"/>
            <a:ext cx="204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ZONING ORDINANCES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821680" y="4434840"/>
            <a:ext cx="204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 mi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821680" y="5212080"/>
            <a:ext cx="204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FORT STOCKTON</a:t>
            </a:r>
            <a:endParaRPr lang="en-US" sz="1000" dirty="0"/>
          </a:p>
        </p:txBody>
      </p:sp>
      <p:pic>
        <p:nvPicPr>
          <p:cNvPr id="11" name="Image 0" descr="/home/claude/repo/outputs/reports/om_exhibits/exhibit_2_1_site-sett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88720"/>
            <a:ext cx="2926080" cy="18288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B1220">
                <a:alpha val="14000"/>
              </a:srgbClr>
            </a:outerShdw>
          </a:effectLst>
        </p:spPr>
      </p:pic>
      <p:sp>
        <p:nvSpPr>
          <p:cNvPr id="12" name="Shape 9"/>
          <p:cNvSpPr/>
          <p:nvPr/>
        </p:nvSpPr>
        <p:spPr>
          <a:xfrm>
            <a:off x="8442655" y="1188720"/>
            <a:ext cx="2926080" cy="18288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42655" y="30906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setting, I-10 corridor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C7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CARAMBA NORTH — CONFIDENTIAL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00297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7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pPr indent="0" marL="0">
              <a:buNone/>
            </a:pPr>
            <a:r>
              <a:rPr lang="en-US" sz="1250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TRANSMISSION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1078992"/>
            <a:ext cx="7040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transmission decision is already made.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Fifteen miles from the delivery point of all three PUCT-approved 765 kV Permian import paths — this site sits downstream of a decision, not upstream of a proposal.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4297680"/>
            <a:ext cx="204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5074920"/>
            <a:ext cx="204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SOLSTICE SUBSTATION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322320" y="4297680"/>
            <a:ext cx="204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322320" y="5074920"/>
            <a:ext cx="204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765 KV IMPORT PATHS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821680" y="4297680"/>
            <a:ext cx="204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821680" y="5074920"/>
            <a:ext cx="204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SUBSTATION UPGRADES, ERCOT TPIT</a:t>
            </a:r>
            <a:endParaRPr lang="en-US" sz="1000" dirty="0"/>
          </a:p>
        </p:txBody>
      </p:sp>
      <p:pic>
        <p:nvPicPr>
          <p:cNvPr id="11" name="Image 0" descr="/home/claude/repo/outputs/reports/om_exhibits/exhibit_3_1_planned-grid-upgrad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88720"/>
            <a:ext cx="2926080" cy="1675181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B1220">
                <a:alpha val="14000"/>
              </a:srgbClr>
            </a:outerShdw>
          </a:effectLst>
        </p:spPr>
      </p:pic>
      <p:sp>
        <p:nvSpPr>
          <p:cNvPr id="12" name="Shape 9"/>
          <p:cNvSpPr/>
          <p:nvPr/>
        </p:nvSpPr>
        <p:spPr>
          <a:xfrm>
            <a:off x="8442655" y="1188720"/>
            <a:ext cx="2926080" cy="1675181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42655" y="2937053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grid upgrades (ERCOT TPIT)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C7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CARAMBA NORTH — CONFIDENTIAL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00297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7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pPr indent="0" marL="0">
              <a:buNone/>
            </a:pPr>
            <a:r>
              <a:rPr lang="en-US" sz="1250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REGIONAL POWER CLUSTER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1078992"/>
            <a:ext cx="7040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12,039 MW is already queued in Pecos County alone.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before counting the two hyperscale campuses profiled next — the cluster is county-deep before it is corridor-wide.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4526280"/>
            <a:ext cx="204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GW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5303520"/>
            <a:ext cx="204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OPERATING, PECOS CO.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322320" y="4526280"/>
            <a:ext cx="204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 GW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322320" y="5303520"/>
            <a:ext cx="204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ERCOT QUEUE, PECOS CO.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821680" y="4526280"/>
            <a:ext cx="204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24.6 GW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821680" y="5303520"/>
            <a:ext cx="204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QUEUED, 6 ADJACENT COUNTIES</a:t>
            </a:r>
            <a:endParaRPr lang="en-US" sz="1000" dirty="0"/>
          </a:p>
        </p:txBody>
      </p:sp>
      <p:pic>
        <p:nvPicPr>
          <p:cNvPr id="11" name="Image 0" descr="/home/claude/repo/outputs/reports/om_exhibits/exhibit_4_1_generation-clus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88720"/>
            <a:ext cx="2926080" cy="1675181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B1220">
                <a:alpha val="14000"/>
              </a:srgbClr>
            </a:outerShdw>
          </a:effectLst>
        </p:spPr>
      </p:pic>
      <p:sp>
        <p:nvSpPr>
          <p:cNvPr id="12" name="Shape 9"/>
          <p:cNvSpPr/>
          <p:nvPr/>
        </p:nvSpPr>
        <p:spPr>
          <a:xfrm>
            <a:off x="8442655" y="1188720"/>
            <a:ext cx="2926080" cy="1675181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42655" y="2937053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fleet + ERCOT queue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C7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CARAMBA NORTH — CONFIDENTIAL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00297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7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pPr indent="0" marL="0">
              <a:buNone/>
            </a:pPr>
            <a:r>
              <a:rPr lang="en-US" sz="1250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WATER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1078992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water conversation is closed, not open.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47,418 AF/yr — roughly two-thirds of all Middle Pecos GCD industrial water rights — is already permitted on adjacent affiliated lands, drawn from Edwards-Trinity (Plateau) aquifer recharge held through the 1950s drought of record.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47,418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5349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AF/YR PERMITTED (≈42.3 MGD)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43400" y="45720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2/3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343400" y="5349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DISTRICT INDUSTRIAL RIGHTS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362895" y="5029200"/>
            <a:ext cx="1005840" cy="100584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0" name="Image 0" descr="/home/claude/repo/outputs/reports/om_exhibits/icons/drop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5300777"/>
            <a:ext cx="462686" cy="46268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C7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CARAMBA NORTH — CONFIDENTIAL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00297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7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pPr indent="0" marL="0">
              <a:buNone/>
            </a:pPr>
            <a:r>
              <a:rPr lang="en-US" sz="1250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NATURAL GAS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1078992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signable gas quote, at a structural discount.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Twenty miles to Waha, with an indicative 200,000 MMBtu/day, 15-year, Waha-index supply quote already in hand — the same basis discount now drawing behind-the-meter generation to this corridor.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46177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5394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WAHA HUB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0" y="46177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200,000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91840" y="5394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MMBTU/DAY, QUOTED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0" y="46177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yr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760720" y="5394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INDICATIVE TERM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362895" y="5029200"/>
            <a:ext cx="1005840" cy="100584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2" name="Image 0" descr="/home/claude/repo/outputs/reports/om_exhibits/icons/gaspu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5300777"/>
            <a:ext cx="462686" cy="46268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C7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CARAMBA NORTH — CONFIDENTIAL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00297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7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pPr indent="0" marL="0">
              <a:buNone/>
            </a:pPr>
            <a:r>
              <a:rPr lang="en-US" sz="1250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FEATURE — GW RANCH (AMAZON)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1078992"/>
            <a:ext cx="6217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largest air permit issued in the US this year — fifteen miles up the same highway.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construction, not announced: 7.65 GW of TCEQ-permitted gas generation on an 8,000-acre site, disclosed as Amazon-owned in August 2026.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22960" y="4892040"/>
            <a:ext cx="176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7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15.5 mi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22960" y="5669280"/>
            <a:ext cx="176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CARAMBA NORTH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048000" y="4892040"/>
            <a:ext cx="176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7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7.65 GW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3048000" y="5669280"/>
            <a:ext cx="176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TCEQ AIR PERMIT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273040" y="4892040"/>
            <a:ext cx="176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7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79.3%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273040" y="5669280"/>
            <a:ext cx="176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ANCHOR MW U/C</a:t>
            </a:r>
            <a:endParaRPr lang="en-US" sz="1000" dirty="0"/>
          </a:p>
        </p:txBody>
      </p:sp>
      <p:pic>
        <p:nvPicPr>
          <p:cNvPr id="11" name="Image 0" descr="/home/claude/repo/outputs/reports/om_exhibits/_minimalist/exhibit_amz_gwranch_cr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3935" y="1783080"/>
            <a:ext cx="4114800" cy="1313234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B1220">
                <a:alpha val="14000"/>
              </a:srgbClr>
            </a:outerShdw>
          </a:effectLst>
        </p:spPr>
      </p:pic>
      <p:sp>
        <p:nvSpPr>
          <p:cNvPr id="12" name="Shape 9"/>
          <p:cNvSpPr/>
          <p:nvPr/>
        </p:nvSpPr>
        <p:spPr>
          <a:xfrm>
            <a:off x="7253935" y="1783080"/>
            <a:ext cx="4114800" cy="1313234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" y="5029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B42318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C7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CARAMBA NORTH — CONFIDENTIAL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00297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7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pPr indent="0" marL="0">
              <a:buNone/>
            </a:pPr>
            <a:r>
              <a:rPr lang="en-US" sz="1250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FEATURE — LONGFELLOW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1078992"/>
            <a:ext cx="6217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phased gas-generation campus, twenty miles south.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On-site natural-gas generation planned — aero-derivative turbines with SCR and carbon-capture capability, closed-loop cooling on permitted non-potable groundwater. Phase-1 site work is underway; the corridor's demand for on-site power is not one project deep.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4937760"/>
            <a:ext cx="176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7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19.3 mi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22960" y="5715000"/>
            <a:ext cx="176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CARAMBA NORTH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048000" y="4937760"/>
            <a:ext cx="176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7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GW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3048000" y="5715000"/>
            <a:ext cx="176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8-PHASE DESIGN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273040" y="4937760"/>
            <a:ext cx="176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7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20.7%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273040" y="5715000"/>
            <a:ext cx="176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ANCHOR MW, PHASE-1</a:t>
            </a:r>
            <a:endParaRPr lang="en-US" sz="1000" dirty="0"/>
          </a:p>
        </p:txBody>
      </p:sp>
      <p:pic>
        <p:nvPicPr>
          <p:cNvPr id="11" name="Image 0" descr="/home/claude/repo/outputs/reports/om_exhibits/_minimalist/exhibit_longfellow_notenan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3935" y="1783080"/>
            <a:ext cx="4114800" cy="1472911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B1220">
                <a:alpha val="14000"/>
              </a:srgbClr>
            </a:outerShdw>
          </a:effectLst>
        </p:spPr>
      </p:pic>
      <p:sp>
        <p:nvSpPr>
          <p:cNvPr id="12" name="Shape 9"/>
          <p:cNvSpPr/>
          <p:nvPr/>
        </p:nvSpPr>
        <p:spPr>
          <a:xfrm>
            <a:off x="7253935" y="1783080"/>
            <a:ext cx="4114800" cy="1472911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" y="5029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B42318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C7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CARAMBA NORTH — CONFIDENTIAL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00297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7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pPr indent="0" marL="0">
              <a:buNone/>
            </a:pPr>
            <a:r>
              <a:rPr lang="en-US" sz="1250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SUBSURFACE &amp; DRILLING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1078992"/>
            <a:ext cx="9692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lowest new-drilling count of seven comparable Permian counties.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Pecos County: 115 new-drill wells since 2020, against a peer average of 1,181 — roughly 90% below peer average, with zero new-drill wells within five miles of the tract.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46177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5394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NEW-DRILL WELLS, PECOS, SINCE 2020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0" y="46177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1,181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91840" y="5394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PEER-COUNTY AVERAGE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0" y="46177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90%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760720" y="5394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PEER AVERAGE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362895" y="5029200"/>
            <a:ext cx="1005840" cy="100584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2" name="Image 0" descr="/home/claude/repo/outputs/reports/om_exhibits/icons/gau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5300777"/>
            <a:ext cx="462686" cy="46268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C7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CARAMBA NORTH — CONFIDENTIAL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00297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7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pPr indent="0" marL="0">
              <a:buNone/>
            </a:pPr>
            <a:r>
              <a:rPr lang="en-US" sz="1250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THE DILIGENCE PLATFORM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1078992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figure here is independently re-derivable.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isn't a broker's summary — every point, line, and boundary in the underlying GIS platform traces to a cited public dataset (ERCOT, PUCT, EIA-860, TCEQ, RRC, FracFocus, Middle Pecos GCD, HIFLD, USGS, BTS, Census TIGER), refreshed on a fixed cadence and access-logged.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195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5532120"/>
            <a:ext cx="195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RRC REFRESH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30880" y="4754880"/>
            <a:ext cx="195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30880" y="5532120"/>
            <a:ext cx="195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ERCOT QUEUE / TPIT REFRESH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38800" y="4754880"/>
            <a:ext cx="195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638800" y="5532120"/>
            <a:ext cx="195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CITED PUBLIC SOURCE CLASSES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362895" y="5029200"/>
            <a:ext cx="1005840" cy="100584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2" name="Image 0" descr="/home/claude/repo/outputs/reports/om_exhibits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5300777"/>
            <a:ext cx="462686" cy="46268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C7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CARAMBA NORTH — CONFIDENTIAL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002975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7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pPr indent="0" marL="0">
              <a:buNone/>
            </a:pPr>
            <a:r>
              <a:rPr lang="en-US" sz="1250" spc="2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CLOSE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region does the selling.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42316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32.7 GW within 60 miles, a transmission position already downstream of an approved 765 kV decision, water and gas positions already contracted-ready — Caramba North is positioned to benefit from this buildout without carrying the exposure of being the marginal, unproven project in the queue.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822960" y="4114800"/>
            <a:ext cx="10515600" cy="0"/>
          </a:xfrm>
          <a:prstGeom prst="line">
            <a:avLst/>
          </a:prstGeom>
          <a:noFill/>
          <a:ln w="12700">
            <a:solidFill>
              <a:srgbClr val="1F2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315968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Offering Memorandum prepared for a limited number of prospective counterparties under NDA. Not an offer to sell or a solicitation of an offer to buy any security. Information is preliminary and indicative, from sources believed reliable; subject to revision. Public data drawn from ERCOT, PUCT, EIA, TCEQ, RRC, FracFocus, Middle Pecos GCD, HIFLD, USGS, BTS, and U.S. Census TIGER; third-party transaction items sourced to public reporting cited in the companion source register.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Land Resource Partners  ·  lrp-tx-gis.netlify.app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25535" y="5806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2026-08-24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Caramba North — Minimalist Executive Summary</dc:title>
  <dc:subject>PptxGenJS Presentation</dc:subject>
  <dc:creator>Land Resource Partners</dc:creator>
  <cp:lastModifiedBy>Land Resource Partners</cp:lastModifiedBy>
  <cp:revision>1</cp:revision>
  <dcterms:created xsi:type="dcterms:W3CDTF">2026-08-24T11:17:48Z</dcterms:created>
  <dcterms:modified xsi:type="dcterms:W3CDTF">2026-08-24T11:17:48Z</dcterms:modified>
</cp:coreProperties>
</file>